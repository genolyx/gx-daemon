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291" r:id="rId2"/>
    <p:sldId id="292" r:id="rId3"/>
    <p:sldId id="293" r:id="rId4"/>
    <p:sldId id="294" r:id="rId5"/>
    <p:sldId id="295" r:id="rId6"/>
    <p:sldId id="296" r:id="rId7"/>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0E6E229-C8AF-48D0-00DD-7C10297B2569}" name="Lab Manager" initials="LM" userId="d14a33ac0ceee803" providerId="Windows Live"/>
  <p188:author id="{CB6C2E59-5052-A676-A62D-8EC3A2F35C0D}" name="Lab Exec02" initials="LE" userId="2570120b052f3b7b" providerId="Windows Live"/>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F7FB"/>
    <a:srgbClr val="0F9ED5"/>
    <a:srgbClr val="00A6C8"/>
    <a:srgbClr val="099049"/>
    <a:srgbClr val="009A43"/>
    <a:srgbClr val="E5F6F9"/>
    <a:srgbClr val="1975C0"/>
    <a:srgbClr val="5E2E8C"/>
    <a:srgbClr val="632C8F"/>
    <a:srgbClr val="1973B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30" autoAdjust="0"/>
  </p:normalViewPr>
  <p:slideViewPr>
    <p:cSldViewPr snapToGrid="0">
      <p:cViewPr>
        <p:scale>
          <a:sx n="282" d="100"/>
          <a:sy n="282" d="100"/>
        </p:scale>
        <p:origin x="-240" y="-150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8/10/relationships/authors" Target="author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12/12/25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5</a:t>
            </a:fld>
            <a:endParaRPr lang="en-US"/>
          </a:p>
        </p:txBody>
      </p:sp>
    </p:spTree>
    <p:extLst>
      <p:ext uri="{BB962C8B-B14F-4D97-AF65-F5344CB8AC3E}">
        <p14:creationId xmlns:p14="http://schemas.microsoft.com/office/powerpoint/2010/main" val="22397163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6</a:t>
            </a:fld>
            <a:endParaRPr lang="en-US"/>
          </a:p>
        </p:txBody>
      </p:sp>
    </p:spTree>
    <p:extLst>
      <p:ext uri="{BB962C8B-B14F-4D97-AF65-F5344CB8AC3E}">
        <p14:creationId xmlns:p14="http://schemas.microsoft.com/office/powerpoint/2010/main" val="5353442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12/12/25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12/12/25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12/12/25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12/12/25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12/12/25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12/12/25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12/12/25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12/12/25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1463180845"/>
              </p:ext>
            </p:extLst>
          </p:nvPr>
        </p:nvGraphicFramePr>
        <p:xfrm>
          <a:off x="446345" y="3545404"/>
          <a:ext cx="5984582" cy="297942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9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9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9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0">
                <a:tc>
                  <a:txBody>
                    <a:bodyPr/>
                    <a:lstStyle/>
                    <a:p>
                      <a:pPr algn="ctr"/>
                      <a:r>
                        <a:rPr lang="en-US" sz="9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979932079"/>
                  </a:ext>
                </a:extLst>
              </a:tr>
              <a:tr h="0">
                <a:tc>
                  <a:txBody>
                    <a:bodyPr/>
                    <a:lstStyle/>
                    <a:p>
                      <a:pPr algn="ctr"/>
                      <a:r>
                        <a:rPr lang="en-US" sz="9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730202693"/>
                  </a:ext>
                </a:extLst>
              </a:tr>
              <a:tr h="0">
                <a:tc>
                  <a:txBody>
                    <a:bodyPr/>
                    <a:lstStyle/>
                    <a:p>
                      <a:pPr algn="ctr"/>
                      <a:r>
                        <a:rPr lang="en-US" sz="9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4447478"/>
                  </a:ext>
                </a:extLst>
              </a:tr>
              <a:tr h="0">
                <a:tc>
                  <a:txBody>
                    <a:bodyPr/>
                    <a:lstStyle/>
                    <a:p>
                      <a:pPr algn="ctr"/>
                      <a:r>
                        <a:rPr lang="en-US" sz="9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98480914"/>
                  </a:ext>
                </a:extLst>
              </a:tr>
              <a:tr h="0">
                <a:tc>
                  <a:txBody>
                    <a:bodyPr/>
                    <a:lstStyle/>
                    <a:p>
                      <a:pPr algn="ctr"/>
                      <a:r>
                        <a:rPr lang="en-US" sz="9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6551876"/>
                  </a:ext>
                </a:extLst>
              </a:tr>
              <a:tr h="0">
                <a:tc>
                  <a:txBody>
                    <a:bodyPr/>
                    <a:lstStyle/>
                    <a:p>
                      <a:pPr algn="ctr"/>
                      <a:r>
                        <a:rPr lang="en-US" sz="9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2288664"/>
                  </a:ext>
                </a:extLst>
              </a:tr>
              <a:tr h="0">
                <a:tc>
                  <a:txBody>
                    <a:bodyPr/>
                    <a:lstStyle/>
                    <a:p>
                      <a:pPr algn="ctr"/>
                      <a:r>
                        <a:rPr lang="en-US" sz="9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550806044"/>
                  </a:ext>
                </a:extLst>
              </a:tr>
              <a:tr h="0">
                <a:tc>
                  <a:txBody>
                    <a:bodyPr/>
                    <a:lstStyle/>
                    <a:p>
                      <a:pPr algn="ctr"/>
                      <a:r>
                        <a:rPr lang="en-US" sz="900" b="1" dirty="0">
                          <a:latin typeface="Calibri" panose="020F0502020204030204" pitchFamily="34" charset="0"/>
                          <a:cs typeface="Calibri" panose="020F0502020204030204" pitchFamily="34" charset="0"/>
                        </a:rPr>
                        <a:t>All other autosomal trisomy</a:t>
                      </a:r>
                      <a:endParaRPr lang="en-US" sz="900" b="1" baseline="50000"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&lt;&lt;Other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&lt;&lt;Other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08254715"/>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0CFC7714-F1E6-F101-05E5-B8BAEBB59CEE}"/>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B0F06577-050C-DA83-E796-2D16426E0577}"/>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28D2D84F-EBCB-B535-BE18-2C74C229858C}"/>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6" name="TextBox 5">
            <a:extLst>
              <a:ext uri="{FF2B5EF4-FFF2-40B4-BE49-F238E27FC236}">
                <a16:creationId xmlns:a16="http://schemas.microsoft.com/office/drawing/2014/main" id="{0DE4E1DF-FA60-64CC-CB44-295D57F987A4}"/>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2531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385061960"/>
              </p:ext>
            </p:extLst>
          </p:nvPr>
        </p:nvGraphicFramePr>
        <p:xfrm>
          <a:off x="464687" y="2286588"/>
          <a:ext cx="5984584" cy="2156298"/>
        </p:xfrm>
        <a:graphic>
          <a:graphicData uri="http://schemas.openxmlformats.org/drawingml/2006/table">
            <a:tbl>
              <a:tblPr firstRow="1" bandRow="1">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a:latin typeface="Calibri" panose="020F0502020204030204" pitchFamily="34" charset="0"/>
                          <a:cs typeface="Calibri" panose="020F0502020204030204" pitchFamily="34" charset="0"/>
                        </a:rPr>
                        <a:t>(11q23.3-q25)</a:t>
                      </a: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a:t>
                      </a:r>
                      <a:r>
                        <a:rPr lang="en-US" sz="900" b="1" dirty="0" err="1">
                          <a:latin typeface="Calibri" panose="020F0502020204030204" pitchFamily="34" charset="0"/>
                          <a:cs typeface="Calibri" panose="020F0502020204030204" pitchFamily="34" charset="0"/>
                        </a:rPr>
                        <a:t>willi</a:t>
                      </a:r>
                      <a:r>
                        <a:rPr lang="en-US" sz="900" b="1" dirty="0">
                          <a:latin typeface="Calibri" panose="020F0502020204030204" pitchFamily="34" charset="0"/>
                          <a:cs typeface="Calibri" panose="020F0502020204030204" pitchFamily="34" charset="0"/>
                        </a:rPr>
                        <a:t>/Angelman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microdeletions/duplications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a:t>
                      </a:r>
                      <a:r>
                        <a:rPr lang="en-US" sz="900" b="1" dirty="0" err="1">
                          <a:latin typeface="Calibri" panose="020F0502020204030204" pitchFamily="34" charset="0"/>
                          <a:cs typeface="Calibri" panose="020F0502020204030204" pitchFamily="34" charset="0"/>
                        </a:rPr>
                        <a:t>Beuren</a:t>
                      </a:r>
                      <a:r>
                        <a:rPr lang="en-US" sz="900" b="1" dirty="0">
                          <a:latin typeface="Calibri" panose="020F0502020204030204" pitchFamily="34" charset="0"/>
                          <a:cs typeface="Calibri" panose="020F0502020204030204" pitchFamily="34" charset="0"/>
                        </a:rPr>
                        <a:t> syndrome </a:t>
                      </a:r>
                      <a:r>
                        <a:rPr lang="en-US" sz="900" b="1">
                          <a:latin typeface="Calibri" panose="020F0502020204030204" pitchFamily="34" charset="0"/>
                          <a:cs typeface="Calibri" panose="020F0502020204030204" pitchFamily="34" charset="0"/>
                        </a:rPr>
                        <a:t>(7q11.23 deletion)</a:t>
                      </a:r>
                      <a:endParaRPr lang="en-US" sz="900" b="1"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3"/>
            <a:ext cx="5984582" cy="800297"/>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findings.</a:t>
            </a:r>
          </a:p>
          <a:p>
            <a:pPr algn="just"/>
            <a:r>
              <a:rPr lang="en-US" sz="800" dirty="0">
                <a:latin typeface="Calibri" panose="020F0502020204030204" pitchFamily="34" charset="0"/>
                <a:cs typeface="Calibri" panose="020F0502020204030204" pitchFamily="34" charset="0"/>
              </a:rPr>
              <a:t>These 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sp>
        <p:nvSpPr>
          <p:cNvPr id="31" name="TextBox 30">
            <a:extLst>
              <a:ext uri="{FF2B5EF4-FFF2-40B4-BE49-F238E27FC236}">
                <a16:creationId xmlns:a16="http://schemas.microsoft.com/office/drawing/2014/main" id="{C990F074-C607-743D-255F-A014BD71685E}"/>
              </a:ext>
            </a:extLst>
          </p:cNvPr>
          <p:cNvSpPr txBox="1"/>
          <p:nvPr/>
        </p:nvSpPr>
        <p:spPr>
          <a:xfrm>
            <a:off x="498897" y="4737128"/>
            <a:ext cx="5846298" cy="230832"/>
          </a:xfrm>
          <a:prstGeom prst="rect">
            <a:avLst/>
          </a:prstGeom>
          <a:noFill/>
        </p:spPr>
        <p:txBody>
          <a:bodyPr wrap="square">
            <a:spAutoFit/>
          </a:bodyPr>
          <a:lstStyle/>
          <a:p>
            <a:pPr marL="83820" lvl="0"/>
            <a:r>
              <a:rPr lang="en-US" sz="900">
                <a:latin typeface="Calibri" panose="020F0502020204030204" pitchFamily="34" charset="0"/>
                <a:ea typeface="Calibri"/>
                <a:cs typeface="Calibri" panose="020F0502020204030204" pitchFamily="34" charset="0"/>
                <a:sym typeface="Calibri"/>
              </a:rPr>
              <a:t>&lt;&lt;MDI&gt;&gt;</a:t>
            </a:r>
            <a:endParaRPr lang="en-US" sz="900" dirty="0">
              <a:latin typeface="Calibri" panose="020F0502020204030204" pitchFamily="34" charset="0"/>
              <a:ea typeface="Calibri"/>
              <a:cs typeface="Calibri" panose="020F0502020204030204" pitchFamily="34" charset="0"/>
              <a:sym typeface="Calibri"/>
            </a:endParaRP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C3BFBF21-18FF-5C2F-BF2D-12C0B791A9C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7D3E4179-B1B6-EE68-C94A-4209DC0C6AB6}"/>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6A5BF215-806A-3BFE-F9CD-D62EB2A7CF7B}"/>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D5BE2EE0-1DC1-3EFE-98A7-C8F885D08453}"/>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4" name="TextBox 13">
            <a:extLst>
              <a:ext uri="{FF2B5EF4-FFF2-40B4-BE49-F238E27FC236}">
                <a16:creationId xmlns:a16="http://schemas.microsoft.com/office/drawing/2014/main" id="{98EA083C-C009-FB6F-F327-CAFE0F80980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4F68ADEC-4881-12C0-72DD-48C0000A6FC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5" name="TextBox 4">
            <a:extLst>
              <a:ext uri="{FF2B5EF4-FFF2-40B4-BE49-F238E27FC236}">
                <a16:creationId xmlns:a16="http://schemas.microsoft.com/office/drawing/2014/main" id="{9D01A6CA-7C28-CEC3-1DC6-63616F850B77}"/>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4714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4ED1364F-2D63-4BE1-C34A-665BA6715115}"/>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26" name="TextBox 25">
            <a:extLst>
              <a:ext uri="{FF2B5EF4-FFF2-40B4-BE49-F238E27FC236}">
                <a16:creationId xmlns:a16="http://schemas.microsoft.com/office/drawing/2014/main" id="{0C3FE09A-7043-B615-4C39-2E64D394CB1E}"/>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39(13):1273-1282.</a:t>
            </a:r>
          </a:p>
        </p:txBody>
      </p:sp>
      <p:sp>
        <p:nvSpPr>
          <p:cNvPr id="3" name="TextBox 2">
            <a:extLst>
              <a:ext uri="{FF2B5EF4-FFF2-40B4-BE49-F238E27FC236}">
                <a16:creationId xmlns:a16="http://schemas.microsoft.com/office/drawing/2014/main" id="{D635E35A-AC9A-59F6-26EF-496641EAAF0C}"/>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29" name="Rectangle 28">
            <a:extLst>
              <a:ext uri="{FF2B5EF4-FFF2-40B4-BE49-F238E27FC236}">
                <a16:creationId xmlns:a16="http://schemas.microsoft.com/office/drawing/2014/main" id="{A40BD931-393B-2AF4-DB19-5CFC0B99CE5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26597641-8DBC-8DF4-A1E3-3F1FA01B5C6F}"/>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E1355E0E-7921-969A-2FC0-6E89A3319C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CED9B6E6-E479-9C11-2ADA-169FB7FEE772}"/>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4" name="TextBox 33">
            <a:extLst>
              <a:ext uri="{FF2B5EF4-FFF2-40B4-BE49-F238E27FC236}">
                <a16:creationId xmlns:a16="http://schemas.microsoft.com/office/drawing/2014/main" id="{49E0F059-BA4C-337E-4D4F-278C86E5B60F}"/>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CD6E33E2-92D8-CBE3-2FD2-C23D08E32BB7}"/>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2" name="TextBox 1">
            <a:extLst>
              <a:ext uri="{FF2B5EF4-FFF2-40B4-BE49-F238E27FC236}">
                <a16:creationId xmlns:a16="http://schemas.microsoft.com/office/drawing/2014/main" id="{82B48AB4-9149-0801-2B88-7EFD933C22B4}"/>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76177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1</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Autosomal Chromosomes Aneuploidies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7" name="Table 16">
            <a:extLst>
              <a:ext uri="{FF2B5EF4-FFF2-40B4-BE49-F238E27FC236}">
                <a16:creationId xmlns:a16="http://schemas.microsoft.com/office/drawing/2014/main" id="{D4D46825-2C1F-0A8F-13BB-094F3348A626}"/>
              </a:ext>
            </a:extLst>
          </p:cNvPr>
          <p:cNvGraphicFramePr>
            <a:graphicFrameLocks noGrp="1"/>
          </p:cNvGraphicFramePr>
          <p:nvPr>
            <p:extLst>
              <p:ext uri="{D42A27DB-BD31-4B8C-83A1-F6EECF244321}">
                <p14:modId xmlns:p14="http://schemas.microsoft.com/office/powerpoint/2010/main" val="2545498166"/>
              </p:ext>
            </p:extLst>
          </p:nvPr>
        </p:nvGraphicFramePr>
        <p:xfrm>
          <a:off x="446345" y="2300803"/>
          <a:ext cx="5252706" cy="4664536"/>
        </p:xfrm>
        <a:graphic>
          <a:graphicData uri="http://schemas.openxmlformats.org/drawingml/2006/table">
            <a:tbl>
              <a:tblPr firstRow="1" bandRow="1">
                <a:tableStyleId>{EB9631B5-78F2-41C9-869B-9F39066F8104}</a:tableStyleId>
              </a:tblPr>
              <a:tblGrid>
                <a:gridCol w="2758031">
                  <a:extLst>
                    <a:ext uri="{9D8B030D-6E8A-4147-A177-3AD203B41FA5}">
                      <a16:colId xmlns:a16="http://schemas.microsoft.com/office/drawing/2014/main" val="539532219"/>
                    </a:ext>
                  </a:extLst>
                </a:gridCol>
                <a:gridCol w="2494675">
                  <a:extLst>
                    <a:ext uri="{9D8B030D-6E8A-4147-A177-3AD203B41FA5}">
                      <a16:colId xmlns:a16="http://schemas.microsoft.com/office/drawing/2014/main" val="3883297624"/>
                    </a:ext>
                  </a:extLst>
                </a:gridCol>
              </a:tblGrid>
              <a:tr h="282440">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273881">
                <a:tc>
                  <a:txBody>
                    <a:bodyPr/>
                    <a:lstStyle/>
                    <a:p>
                      <a:pPr algn="ctr"/>
                      <a:r>
                        <a:rPr lang="en-US" sz="1000" b="1" dirty="0">
                          <a:latin typeface="Calibri" panose="020F0502020204030204" pitchFamily="34" charset="0"/>
                          <a:cs typeface="Calibri" panose="020F0502020204030204" pitchFamily="34" charset="0"/>
                        </a:rPr>
                        <a:t>Trisomy 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273881">
                <a:tc>
                  <a:txBody>
                    <a:bodyPr/>
                    <a:lstStyle/>
                    <a:p>
                      <a:pPr algn="ctr"/>
                      <a:r>
                        <a:rPr lang="en-US" sz="1000" b="1" dirty="0">
                          <a:latin typeface="Calibri" panose="020F0502020204030204" pitchFamily="34" charset="0"/>
                          <a:cs typeface="Calibri" panose="020F0502020204030204" pitchFamily="34" charset="0"/>
                        </a:rPr>
                        <a:t>Trisomy 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020442383"/>
                  </a:ext>
                </a:extLst>
              </a:tr>
              <a:tr h="273881">
                <a:tc>
                  <a:txBody>
                    <a:bodyPr/>
                    <a:lstStyle/>
                    <a:p>
                      <a:pPr algn="ctr"/>
                      <a:r>
                        <a:rPr lang="en-US" sz="1000" b="1" dirty="0">
                          <a:latin typeface="Calibri" panose="020F0502020204030204" pitchFamily="34" charset="0"/>
                          <a:cs typeface="Calibri" panose="020F0502020204030204" pitchFamily="34" charset="0"/>
                        </a:rPr>
                        <a:t>Trisomy 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273881">
                <a:tc>
                  <a:txBody>
                    <a:bodyPr/>
                    <a:lstStyle/>
                    <a:p>
                      <a:pPr algn="ctr"/>
                      <a:r>
                        <a:rPr lang="en-US" sz="1000" b="1" dirty="0">
                          <a:latin typeface="Calibri" panose="020F0502020204030204" pitchFamily="34" charset="0"/>
                          <a:cs typeface="Calibri" panose="020F0502020204030204" pitchFamily="34" charset="0"/>
                        </a:rPr>
                        <a:t>Trisomy 4</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&lt;&lt;T4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979932079"/>
                  </a:ext>
                </a:extLst>
              </a:tr>
              <a:tr h="273881">
                <a:tc>
                  <a:txBody>
                    <a:bodyPr/>
                    <a:lstStyle/>
                    <a:p>
                      <a:pPr algn="ctr"/>
                      <a:r>
                        <a:rPr lang="en-US" sz="1000" b="1" dirty="0">
                          <a:latin typeface="Calibri" panose="020F0502020204030204" pitchFamily="34" charset="0"/>
                          <a:cs typeface="Calibri" panose="020F0502020204030204" pitchFamily="34" charset="0"/>
                        </a:rPr>
                        <a:t>Trisomy 5</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&lt;&lt;T5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730202693"/>
                  </a:ext>
                </a:extLst>
              </a:tr>
              <a:tr h="273881">
                <a:tc>
                  <a:txBody>
                    <a:bodyPr/>
                    <a:lstStyle/>
                    <a:p>
                      <a:pPr algn="ctr"/>
                      <a:r>
                        <a:rPr lang="en-US" sz="1000" b="1" dirty="0">
                          <a:latin typeface="Calibri" panose="020F0502020204030204" pitchFamily="34" charset="0"/>
                          <a:cs typeface="Calibri" panose="020F0502020204030204" pitchFamily="34" charset="0"/>
                        </a:rPr>
                        <a:t>Trisomy 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014447478"/>
                  </a:ext>
                </a:extLst>
              </a:tr>
              <a:tr h="273881">
                <a:tc>
                  <a:txBody>
                    <a:bodyPr/>
                    <a:lstStyle/>
                    <a:p>
                      <a:pPr algn="ctr"/>
                      <a:r>
                        <a:rPr lang="en-US" sz="1000" b="1" dirty="0">
                          <a:latin typeface="Calibri" panose="020F0502020204030204" pitchFamily="34" charset="0"/>
                          <a:cs typeface="Calibri" panose="020F0502020204030204" pitchFamily="34" charset="0"/>
                        </a:rPr>
                        <a:t>Trisomy 7</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&lt;&lt;T7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598480914"/>
                  </a:ext>
                </a:extLst>
              </a:tr>
              <a:tr h="273881">
                <a:tc>
                  <a:txBody>
                    <a:bodyPr/>
                    <a:lstStyle/>
                    <a:p>
                      <a:pPr algn="ctr"/>
                      <a:r>
                        <a:rPr lang="en-US" sz="1000" b="1" dirty="0">
                          <a:latin typeface="Calibri" panose="020F0502020204030204" pitchFamily="34" charset="0"/>
                          <a:cs typeface="Calibri" panose="020F0502020204030204" pitchFamily="34" charset="0"/>
                        </a:rPr>
                        <a:t>Trisomy 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66551876"/>
                  </a:ext>
                </a:extLst>
              </a:tr>
              <a:tr h="273881">
                <a:tc>
                  <a:txBody>
                    <a:bodyPr/>
                    <a:lstStyle/>
                    <a:p>
                      <a:pPr algn="ctr"/>
                      <a:r>
                        <a:rPr lang="en-US" sz="1000" b="1" dirty="0">
                          <a:latin typeface="Calibri" panose="020F0502020204030204" pitchFamily="34" charset="0"/>
                          <a:cs typeface="Calibri" panose="020F0502020204030204" pitchFamily="34" charset="0"/>
                        </a:rPr>
                        <a:t>Trisomy 10</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&lt;&lt;T10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2288664"/>
                  </a:ext>
                </a:extLst>
              </a:tr>
              <a:tr h="273881">
                <a:tc>
                  <a:txBody>
                    <a:bodyPr/>
                    <a:lstStyle/>
                    <a:p>
                      <a:pPr algn="ctr"/>
                      <a:r>
                        <a:rPr lang="en-US" sz="1000" b="1" dirty="0">
                          <a:latin typeface="Calibri" panose="020F0502020204030204" pitchFamily="34" charset="0"/>
                          <a:cs typeface="Calibri" panose="020F0502020204030204" pitchFamily="34" charset="0"/>
                        </a:rPr>
                        <a:t>Trisomy 11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3550806044"/>
                  </a:ext>
                </a:extLst>
              </a:tr>
              <a:tr h="273881">
                <a:tc>
                  <a:txBody>
                    <a:bodyPr/>
                    <a:lstStyle/>
                    <a:p>
                      <a:pPr algn="ctr"/>
                      <a:r>
                        <a:rPr lang="en-US" sz="1000" b="1" dirty="0">
                          <a:latin typeface="Calibri" panose="020F0502020204030204" pitchFamily="34" charset="0"/>
                          <a:cs typeface="Calibri" panose="020F0502020204030204" pitchFamily="34" charset="0"/>
                        </a:rPr>
                        <a:t>Trisomy 12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08254715"/>
                  </a:ext>
                </a:extLst>
              </a:tr>
              <a:tr h="273881">
                <a:tc>
                  <a:txBody>
                    <a:bodyPr/>
                    <a:lstStyle/>
                    <a:p>
                      <a:pPr algn="ctr"/>
                      <a:r>
                        <a:rPr lang="en-US" sz="1000" b="1" dirty="0">
                          <a:latin typeface="Calibri" panose="020F0502020204030204" pitchFamily="34" charset="0"/>
                          <a:cs typeface="Calibri" panose="020F0502020204030204" pitchFamily="34" charset="0"/>
                        </a:rPr>
                        <a:t>Trisomy 14</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&lt;&lt;T14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1406997572"/>
                  </a:ext>
                </a:extLst>
              </a:tr>
              <a:tr h="273881">
                <a:tc>
                  <a:txBody>
                    <a:bodyPr/>
                    <a:lstStyle/>
                    <a:p>
                      <a:pPr algn="ctr"/>
                      <a:r>
                        <a:rPr lang="en-US" sz="1000" b="1" dirty="0">
                          <a:latin typeface="Calibri" panose="020F0502020204030204" pitchFamily="34" charset="0"/>
                          <a:cs typeface="Calibri" panose="020F0502020204030204" pitchFamily="34" charset="0"/>
                        </a:rPr>
                        <a:t>Trisomy 15</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&lt;&lt;T15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986977052"/>
                  </a:ext>
                </a:extLst>
              </a:tr>
              <a:tr h="273881">
                <a:tc>
                  <a:txBody>
                    <a:bodyPr/>
                    <a:lstStyle/>
                    <a:p>
                      <a:pPr algn="ctr"/>
                      <a:r>
                        <a:rPr lang="en-US" sz="1000" b="1" dirty="0">
                          <a:latin typeface="Calibri" panose="020F0502020204030204" pitchFamily="34" charset="0"/>
                          <a:cs typeface="Calibri" panose="020F0502020204030204" pitchFamily="34" charset="0"/>
                        </a:rPr>
                        <a:t>Trisomy 17</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&lt;&lt;T17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4273600014"/>
                  </a:ext>
                </a:extLst>
              </a:tr>
              <a:tr h="273881">
                <a:tc>
                  <a:txBody>
                    <a:bodyPr/>
                    <a:lstStyle/>
                    <a:p>
                      <a:pPr algn="ctr"/>
                      <a:r>
                        <a:rPr lang="en-US" sz="1000" b="1" dirty="0">
                          <a:latin typeface="Calibri" panose="020F0502020204030204" pitchFamily="34" charset="0"/>
                          <a:cs typeface="Calibri" panose="020F0502020204030204" pitchFamily="34" charset="0"/>
                        </a:rPr>
                        <a:t>Trisomy 19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&lt;&lt;T19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750370171"/>
                  </a:ext>
                </a:extLst>
              </a:tr>
              <a:tr h="273881">
                <a:tc>
                  <a:txBody>
                    <a:bodyPr/>
                    <a:lstStyle/>
                    <a:p>
                      <a:pPr algn="ctr"/>
                      <a:r>
                        <a:rPr lang="en-US" sz="1000" b="1" dirty="0">
                          <a:latin typeface="Calibri" panose="020F0502020204030204" pitchFamily="34" charset="0"/>
                          <a:cs typeface="Calibri" panose="020F0502020204030204" pitchFamily="34" charset="0"/>
                        </a:rPr>
                        <a:t>Trisomy 20</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tc>
                  <a:txBody>
                    <a:bodyPr/>
                    <a:lstStyle/>
                    <a:p>
                      <a:pPr algn="ctr"/>
                      <a:r>
                        <a:rPr lang="en-US" sz="1000" b="1" dirty="0">
                          <a:solidFill>
                            <a:schemeClr val="tx1"/>
                          </a:solidFill>
                          <a:latin typeface="Calibri" panose="020F0502020204030204" pitchFamily="34" charset="0"/>
                          <a:cs typeface="Calibri" panose="020F0502020204030204" pitchFamily="34" charset="0"/>
                        </a:rPr>
                        <a:t>&lt;&lt;T20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alpha val="10196"/>
                      </a:schemeClr>
                    </a:solidFill>
                  </a:tcPr>
                </a:tc>
                <a:extLst>
                  <a:ext uri="{0D108BD9-81ED-4DB2-BD59-A6C34878D82A}">
                    <a16:rowId xmlns:a16="http://schemas.microsoft.com/office/drawing/2014/main" val="617680281"/>
                  </a:ext>
                </a:extLst>
              </a:tr>
            </a:tbl>
          </a:graphicData>
        </a:graphic>
      </p:graphicFrame>
      <p:sp>
        <p:nvSpPr>
          <p:cNvPr id="15" name="TextBox 14">
            <a:extLst>
              <a:ext uri="{FF2B5EF4-FFF2-40B4-BE49-F238E27FC236}">
                <a16:creationId xmlns:a16="http://schemas.microsoft.com/office/drawing/2014/main" id="{297B99F4-C860-E3AC-84E7-8347D6F8A028}"/>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4" name="Rectangle 3">
            <a:extLst>
              <a:ext uri="{FF2B5EF4-FFF2-40B4-BE49-F238E27FC236}">
                <a16:creationId xmlns:a16="http://schemas.microsoft.com/office/drawing/2014/main" id="{749A498A-96AF-06BA-6C9F-FEE84D1E51AC}"/>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5" name="Rectangle 4">
            <a:extLst>
              <a:ext uri="{FF2B5EF4-FFF2-40B4-BE49-F238E27FC236}">
                <a16:creationId xmlns:a16="http://schemas.microsoft.com/office/drawing/2014/main" id="{CAA912D3-08FE-D409-2DCA-1C3C15C1DA73}"/>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F1DD5FEA-AD48-25A7-79DB-ADA509A8E0E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F6A5E584-E0D0-EB41-8383-797CD651DAE0}"/>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6" name="TextBox 15">
            <a:extLst>
              <a:ext uri="{FF2B5EF4-FFF2-40B4-BE49-F238E27FC236}">
                <a16:creationId xmlns:a16="http://schemas.microsoft.com/office/drawing/2014/main" id="{64EC53A5-C6C6-B27D-A007-9917725692FE}"/>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D15DD255-FBF7-2DEF-FCC7-AFBAB3F2FE9A}"/>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3" name="TextBox 2">
            <a:extLst>
              <a:ext uri="{FF2B5EF4-FFF2-40B4-BE49-F238E27FC236}">
                <a16:creationId xmlns:a16="http://schemas.microsoft.com/office/drawing/2014/main" id="{8AF61783-4E9F-6135-ACF9-97E7BDB6D88E}"/>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6358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2</a:t>
            </a: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5" name="TextBox 4">
            <a:extLst>
              <a:ext uri="{FF2B5EF4-FFF2-40B4-BE49-F238E27FC236}">
                <a16:creationId xmlns:a16="http://schemas.microsoft.com/office/drawing/2014/main" id="{10C92CBA-7626-367C-8C94-4171AEFD885D}"/>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4" name="Rectangle 3">
            <a:extLst>
              <a:ext uri="{FF2B5EF4-FFF2-40B4-BE49-F238E27FC236}">
                <a16:creationId xmlns:a16="http://schemas.microsoft.com/office/drawing/2014/main" id="{5515CD08-94EF-E556-6F1E-7AE8D89E58A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21EF4A7E-F207-ADB3-D11F-4153EE3E1171}"/>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F62C0D68-911E-B22B-2178-5B58D39EC7CF}"/>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D5700C3E-043C-94FD-6212-92BF90931ECB}"/>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8" name="TextBox 17">
            <a:extLst>
              <a:ext uri="{FF2B5EF4-FFF2-40B4-BE49-F238E27FC236}">
                <a16:creationId xmlns:a16="http://schemas.microsoft.com/office/drawing/2014/main" id="{AFFFF080-BECA-4ED0-6787-EAC4BDE8F31B}"/>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FF9D795F-AC3A-78CE-8B33-300E1F29EC0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3" name="TextBox 2">
            <a:extLst>
              <a:ext uri="{FF2B5EF4-FFF2-40B4-BE49-F238E27FC236}">
                <a16:creationId xmlns:a16="http://schemas.microsoft.com/office/drawing/2014/main" id="{2DD0B603-A52C-1368-FBC0-FA017871DBF6}"/>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18B7896A-4FD5-9ECE-C15B-867424E51E83}"/>
              </a:ext>
            </a:extLst>
          </p:cNvPr>
          <p:cNvSpPr txBox="1"/>
          <p:nvPr/>
        </p:nvSpPr>
        <p:spPr>
          <a:xfrm>
            <a:off x="427072" y="2002805"/>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21" name="TextBox 20">
            <a:extLst>
              <a:ext uri="{FF2B5EF4-FFF2-40B4-BE49-F238E27FC236}">
                <a16:creationId xmlns:a16="http://schemas.microsoft.com/office/drawing/2014/main" id="{EF4340E7-B558-482F-8301-B369CE3C8736}"/>
              </a:ext>
            </a:extLst>
          </p:cNvPr>
          <p:cNvSpPr txBox="1"/>
          <p:nvPr/>
        </p:nvSpPr>
        <p:spPr>
          <a:xfrm>
            <a:off x="430623" y="1759833"/>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6447A8C9-AC21-C3EC-3675-AAD78F2CEAE6}"/>
              </a:ext>
            </a:extLst>
          </p:cNvPr>
          <p:cNvGraphicFramePr>
            <a:graphicFrameLocks noGrp="1"/>
          </p:cNvGraphicFramePr>
          <p:nvPr>
            <p:extLst>
              <p:ext uri="{D42A27DB-BD31-4B8C-83A1-F6EECF244321}">
                <p14:modId xmlns:p14="http://schemas.microsoft.com/office/powerpoint/2010/main" val="1129218339"/>
              </p:ext>
            </p:extLst>
          </p:nvPr>
        </p:nvGraphicFramePr>
        <p:xfrm>
          <a:off x="427072" y="2224493"/>
          <a:ext cx="5996104" cy="10380243"/>
        </p:xfrm>
        <a:graphic>
          <a:graphicData uri="http://schemas.openxmlformats.org/drawingml/2006/table">
            <a:tbl>
              <a:tblPr firstRow="1" bandRow="1">
                <a:tableStyleId>{EB9631B5-78F2-41C9-869B-9F39066F8104}</a:tableStyleId>
              </a:tblPr>
              <a:tblGrid>
                <a:gridCol w="1997394">
                  <a:extLst>
                    <a:ext uri="{9D8B030D-6E8A-4147-A177-3AD203B41FA5}">
                      <a16:colId xmlns:a16="http://schemas.microsoft.com/office/drawing/2014/main" val="2337673480"/>
                    </a:ext>
                  </a:extLst>
                </a:gridCol>
                <a:gridCol w="1000658">
                  <a:extLst>
                    <a:ext uri="{9D8B030D-6E8A-4147-A177-3AD203B41FA5}">
                      <a16:colId xmlns:a16="http://schemas.microsoft.com/office/drawing/2014/main" val="2581359693"/>
                    </a:ext>
                  </a:extLst>
                </a:gridCol>
                <a:gridCol w="1993349">
                  <a:extLst>
                    <a:ext uri="{9D8B030D-6E8A-4147-A177-3AD203B41FA5}">
                      <a16:colId xmlns:a16="http://schemas.microsoft.com/office/drawing/2014/main" val="3877669906"/>
                    </a:ext>
                  </a:extLst>
                </a:gridCol>
                <a:gridCol w="1004703">
                  <a:extLst>
                    <a:ext uri="{9D8B030D-6E8A-4147-A177-3AD203B41FA5}">
                      <a16:colId xmlns:a16="http://schemas.microsoft.com/office/drawing/2014/main" val="1755932021"/>
                    </a:ext>
                  </a:extLst>
                </a:gridCol>
              </a:tblGrid>
              <a:tr h="212306">
                <a:tc>
                  <a:txBody>
                    <a:bodyPr/>
                    <a:lstStyle/>
                    <a:p>
                      <a:pPr algn="ctr"/>
                      <a:r>
                        <a:rPr lang="en-US" sz="800" dirty="0">
                          <a:latin typeface="Calibri" panose="020F0502020204030204" pitchFamily="34" charset="0"/>
                          <a:cs typeface="Calibri" panose="020F0502020204030204" pitchFamily="34" charset="0"/>
                        </a:rPr>
                        <a:t>Condition</a:t>
                      </a:r>
                    </a:p>
                  </a:txBody>
                  <a:tcPr>
                    <a:lnL>
                      <a:noFill/>
                    </a:lnL>
                    <a:lnR w="6350" cap="flat" cmpd="sng" algn="ctr">
                      <a:solidFill>
                        <a:schemeClr val="bg1"/>
                      </a:solidFill>
                      <a:prstDash val="solid"/>
                      <a:round/>
                      <a:headEnd type="none" w="med" len="med"/>
                      <a:tailEnd type="none" w="med" len="med"/>
                    </a:lnR>
                    <a:lnT w="25400" cmpd="sng">
                      <a:noFill/>
                    </a:lnT>
                    <a:lnB w="25400" cmpd="sng">
                      <a:noFill/>
                    </a:lnB>
                    <a:lnTlToBr w="12700" cmpd="sng">
                      <a:noFill/>
                      <a:prstDash val="solid"/>
                    </a:lnTlToBr>
                    <a:lnBlToTr w="12700" cmpd="sng">
                      <a:noFill/>
                      <a:prstDash val="solid"/>
                    </a:lnBlToTr>
                    <a:solidFill>
                      <a:srgbClr val="00A6C8"/>
                    </a:solidFill>
                  </a:tcPr>
                </a:tc>
                <a:tc>
                  <a:txBody>
                    <a:bodyPr/>
                    <a:lstStyle/>
                    <a:p>
                      <a:pPr algn="ctr"/>
                      <a:r>
                        <a:rPr lang="en-US" sz="800" dirty="0">
                          <a:latin typeface="Calibri" panose="020F0502020204030204" pitchFamily="34" charset="0"/>
                          <a:cs typeface="Calibri" panose="020F0502020204030204" pitchFamily="34" charset="0"/>
                        </a:rPr>
                        <a:t>Result</a:t>
                      </a:r>
                    </a:p>
                  </a:txBody>
                  <a:tcP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25400" cmpd="sng">
                      <a:noFill/>
                    </a:lnT>
                    <a:lnB w="25400" cmpd="sng">
                      <a:noFill/>
                    </a:lnB>
                    <a:lnTlToBr w="12700" cmpd="sng">
                      <a:noFill/>
                      <a:prstDash val="solid"/>
                    </a:lnTlToBr>
                    <a:lnBlToTr w="12700" cmpd="sng">
                      <a:noFill/>
                      <a:prstDash val="solid"/>
                    </a:lnBlToTr>
                    <a:solidFill>
                      <a:srgbClr val="00A6C8"/>
                    </a:solidFill>
                  </a:tcPr>
                </a:tc>
                <a:tc>
                  <a:txBody>
                    <a:bodyPr/>
                    <a:lstStyle/>
                    <a:p>
                      <a:pPr algn="ctr"/>
                      <a:r>
                        <a:rPr lang="en-US" sz="800" dirty="0">
                          <a:latin typeface="Calibri" panose="020F0502020204030204" pitchFamily="34" charset="0"/>
                          <a:cs typeface="Calibri" panose="020F0502020204030204" pitchFamily="34" charset="0"/>
                        </a:rPr>
                        <a:t>Condition</a:t>
                      </a:r>
                    </a:p>
                  </a:txBody>
                  <a:tcP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25400" cmpd="sng">
                      <a:noFill/>
                    </a:lnT>
                    <a:lnB w="25400" cmpd="sng">
                      <a:noFill/>
                    </a:lnB>
                    <a:lnTlToBr w="12700" cmpd="sng">
                      <a:noFill/>
                      <a:prstDash val="solid"/>
                    </a:lnTlToBr>
                    <a:lnBlToTr w="12700" cmpd="sng">
                      <a:noFill/>
                      <a:prstDash val="solid"/>
                    </a:lnBlToTr>
                    <a:solidFill>
                      <a:srgbClr val="00A6C8"/>
                    </a:solidFill>
                  </a:tcPr>
                </a:tc>
                <a:tc>
                  <a:txBody>
                    <a:bodyPr/>
                    <a:lstStyle/>
                    <a:p>
                      <a:pPr algn="ctr"/>
                      <a:r>
                        <a:rPr lang="en-US" sz="800" dirty="0">
                          <a:latin typeface="Calibri" panose="020F0502020204030204" pitchFamily="34" charset="0"/>
                          <a:cs typeface="Calibri" panose="020F0502020204030204" pitchFamily="34" charset="0"/>
                        </a:rPr>
                        <a:t>Result</a:t>
                      </a:r>
                    </a:p>
                  </a:txBody>
                  <a:tcPr>
                    <a:lnL w="6350" cap="flat" cmpd="sng" algn="ctr">
                      <a:solidFill>
                        <a:schemeClr val="bg1"/>
                      </a:solidFill>
                      <a:prstDash val="solid"/>
                      <a:round/>
                      <a:headEnd type="none" w="med" len="med"/>
                      <a:tailEnd type="none" w="med" len="med"/>
                    </a:lnL>
                    <a:lnR>
                      <a:noFill/>
                    </a:lnR>
                    <a:lnT w="25400" cmpd="sng">
                      <a:noFill/>
                    </a:lnT>
                    <a:lnB w="25400" cmpd="sng">
                      <a:noFill/>
                    </a:lnB>
                    <a:lnTlToBr w="12700" cmpd="sng">
                      <a:noFill/>
                      <a:prstDash val="solid"/>
                    </a:lnTlToBr>
                    <a:lnBlToTr w="12700" cmpd="sng">
                      <a:noFill/>
                      <a:prstDash val="solid"/>
                    </a:lnBlToTr>
                    <a:solidFill>
                      <a:srgbClr val="00A6C8"/>
                    </a:solidFill>
                  </a:tcPr>
                </a:tc>
                <a:extLst>
                  <a:ext uri="{0D108BD9-81ED-4DB2-BD59-A6C34878D82A}">
                    <a16:rowId xmlns:a16="http://schemas.microsoft.com/office/drawing/2014/main" val="301789798"/>
                  </a:ext>
                </a:extLst>
              </a:tr>
              <a:tr h="192817">
                <a:tc>
                  <a:txBody>
                    <a:bodyPr/>
                    <a:lstStyle/>
                    <a:p>
                      <a:pPr algn="ctr" fontAlgn="ctr">
                        <a:buNone/>
                      </a:pPr>
                      <a:r>
                        <a:rPr lang="en-US" sz="600" b="0" i="0" u="none" strike="noStrike" dirty="0">
                          <a:solidFill>
                            <a:srgbClr val="000000"/>
                          </a:solidFill>
                          <a:effectLst/>
                          <a:latin typeface="Calibri" panose="020F0502020204030204" pitchFamily="34" charset="0"/>
                        </a:rPr>
                        <a:t>1p36 terminal region (includes GABRD) gain</a:t>
                      </a:r>
                    </a:p>
                  </a:txBody>
                  <a:tcPr marL="81525" marR="81525" marT="9525" marB="0" anchor="ctr">
                    <a:lnR w="6350" cap="flat" cmpd="sng" algn="ctr">
                      <a:solidFill>
                        <a:schemeClr val="bg1"/>
                      </a:solidFill>
                      <a:prstDash val="solid"/>
                      <a:round/>
                      <a:headEnd type="none" w="med" len="med"/>
                      <a:tailEnd type="none" w="med" len="med"/>
                    </a:lnR>
                    <a:lnT w="25400" cmpd="sng">
                      <a:noFill/>
                    </a:lnT>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&lt;&lt;1p36 terminal region (includes GABRD)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25400" cmpd="sng">
                      <a:noFill/>
                    </a:lnT>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5p</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25400" cmpd="sng">
                      <a:noFill/>
                    </a:lnT>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5p&gt;&gt;</a:t>
                      </a:r>
                    </a:p>
                  </a:txBody>
                  <a:tcPr anchor="ctr">
                    <a:lnL w="6350" cap="flat" cmpd="sng" algn="ctr">
                      <a:solidFill>
                        <a:schemeClr val="bg1"/>
                      </a:solidFill>
                      <a:prstDash val="solid"/>
                      <a:round/>
                      <a:headEnd type="none" w="med" len="med"/>
                      <a:tailEnd type="none" w="med" len="med"/>
                    </a:lnL>
                    <a:lnT w="25400" cmpd="sng">
                      <a:noFill/>
                    </a:lnT>
                    <a:solidFill>
                      <a:srgbClr val="E6F6FA"/>
                    </a:solidFill>
                  </a:tcPr>
                </a:tc>
                <a:extLst>
                  <a:ext uri="{0D108BD9-81ED-4DB2-BD59-A6C34878D82A}">
                    <a16:rowId xmlns:a16="http://schemas.microsoft.com/office/drawing/2014/main" val="2171375672"/>
                  </a:ext>
                </a:extLst>
              </a:tr>
              <a:tr h="192817">
                <a:tc>
                  <a:txBody>
                    <a:bodyPr/>
                    <a:lstStyle/>
                    <a:p>
                      <a:pPr algn="ctr" fontAlgn="ctr">
                        <a:buNone/>
                      </a:pPr>
                      <a:r>
                        <a:rPr lang="en-US" sz="600" b="0" i="0" u="none" strike="noStrike" dirty="0">
                          <a:solidFill>
                            <a:srgbClr val="000000"/>
                          </a:solidFill>
                          <a:effectLst/>
                          <a:latin typeface="Calibri" panose="020F0502020204030204" pitchFamily="34" charset="0"/>
                        </a:rPr>
                        <a:t>1q21.1 recurrent region (distal, BP3-BP4) (includes GJA5) gain</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Calibri" panose="020F0502020204030204" pitchFamily="34" charset="0"/>
                        </a:rPr>
                        <a:t>&lt;&lt;1q21.1 recurrent region (distal, BP3-BP4) (includes GJA5) gain&gt;&gt;</a:t>
                      </a:r>
                    </a:p>
                  </a:txBody>
                  <a:tcPr marL="9525" marR="9525" marT="9525" marB="0"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monosomy 5q</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monosomy 5q&gt;&gt;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87788622"/>
                  </a:ext>
                </a:extLst>
              </a:tr>
              <a:tr h="192817">
                <a:tc>
                  <a:txBody>
                    <a:bodyPr/>
                    <a:lstStyle/>
                    <a:p>
                      <a:pPr algn="ctr" fontAlgn="ctr">
                        <a:buNone/>
                      </a:pPr>
                      <a:r>
                        <a:rPr lang="en-US" sz="600" b="0" i="0" u="none" strike="noStrike" dirty="0">
                          <a:solidFill>
                            <a:srgbClr val="000000"/>
                          </a:solidFill>
                          <a:effectLst/>
                          <a:latin typeface="Calibri" panose="020F0502020204030204" pitchFamily="34" charset="0"/>
                        </a:rPr>
                        <a:t>1q21.1 recurrent region (distal, BP3-BP4) (includes GJA5) loss</a:t>
                      </a:r>
                    </a:p>
                  </a:txBody>
                  <a:tcPr marL="81525" marR="81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Calibri" panose="020F0502020204030204" pitchFamily="34" charset="0"/>
                        </a:rPr>
                        <a:t>&lt;&lt;1q21.1 recurrent region (distal, BP3-BP4) (includes GJA5) loss&gt;&gt;</a:t>
                      </a:r>
                    </a:p>
                  </a:txBody>
                  <a:tcPr marL="9525" marR="9525" marT="9525" marB="0"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5q</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5q&gt;&gt;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268794827"/>
                  </a:ext>
                </a:extLst>
              </a:tr>
              <a:tr h="192817">
                <a:tc>
                  <a:txBody>
                    <a:bodyPr/>
                    <a:lstStyle/>
                    <a:p>
                      <a:pPr algn="ctr" fontAlgn="ctr">
                        <a:buNone/>
                      </a:pPr>
                      <a:r>
                        <a:rPr lang="en-US" sz="600" b="0" i="0" u="none" strike="noStrike" dirty="0">
                          <a:solidFill>
                            <a:srgbClr val="000000"/>
                          </a:solidFill>
                          <a:effectLst/>
                          <a:latin typeface="Calibri" panose="020F0502020204030204" pitchFamily="34" charset="0"/>
                        </a:rPr>
                        <a:t>1q43q44 terminal region (includes AKT3)</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&lt;&lt;1q43q44 terminal region (includes AKT3)&gt;&gt;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Calibri" panose="020F0502020204030204" pitchFamily="34" charset="0"/>
                        </a:rPr>
                        <a:t>6q24 region (includes PLAGL1)</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&lt;&lt;6q24 region (includes PLAGL1)&gt;&gt;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404084517"/>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monosomy 1p</a:t>
                      </a:r>
                    </a:p>
                  </a:txBody>
                  <a:tcPr marL="81525" marR="81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monosomy 1p&gt;&gt;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6p</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6p&gt;&gt;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170815925"/>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Monosomy 1q21-q32</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&lt;&lt;Monosomy 1q21-q32&gt;&gt;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monosomy 6q</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monosomy 6q&gt;&gt;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828381455"/>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Monosomy 1q42-qter</a:t>
                      </a:r>
                    </a:p>
                  </a:txBody>
                  <a:tcPr marL="81525" marR="81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&lt;&lt;Monosomy 1q42-qter&gt;&gt;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6q</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6q&gt;&gt;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362371862"/>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Trisomy 1q23-qter</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&lt;&lt;Trisomy 1q23-qter&gt;&gt;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Calibri" panose="020F0502020204030204" pitchFamily="34" charset="0"/>
                        </a:rPr>
                        <a:t>7p22.1 region (includes ACTB)</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&lt;&lt;7p22.1 region (includes ACTB)&gt;&gt;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318104625"/>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2p15p16.1 region (includes BCL11A)</a:t>
                      </a:r>
                    </a:p>
                  </a:txBody>
                  <a:tcPr marL="81525" marR="81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latin typeface="Calibri" panose="020F0502020204030204" pitchFamily="34" charset="0"/>
                          <a:cs typeface="Calibri" panose="020F0502020204030204" pitchFamily="34" charset="0"/>
                        </a:rPr>
                        <a:t>&lt;&lt;2p15p16.1 region (includes BCL11A)&gt;&gt;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Calibri" panose="020F0502020204030204" pitchFamily="34" charset="0"/>
                        </a:rPr>
                        <a:t>7q11.23 recurrent (Williams-Beuren syndrome) region (includes ELN) gain</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latin typeface="Calibri" panose="020F0502020204030204" pitchFamily="34" charset="0"/>
                          <a:cs typeface="Calibri" panose="020F0502020204030204" pitchFamily="34" charset="0"/>
                        </a:rPr>
                        <a:t>&lt;&lt;7q11.23 recurrent (Williams-Beuren syndrome) region (includes ELN) gain&gt;&gt;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667231018"/>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2p24.3 MYCN-DDX1 duplication region</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&lt;&lt;2p24.3 MYCN-DDX1 duplication region&gt;&gt;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Calibri" panose="020F0502020204030204" pitchFamily="34" charset="0"/>
                        </a:rPr>
                        <a:t>7q11.23 recurrent distal region (includes HIP1, YWHAG)</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&lt;&lt;7q11.23 recurrent distal region (includes HIP1, YWHAG)&gt;&gt;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671089960"/>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2q11.2 recurrent region (includes ARID5A, TMEM127)</a:t>
                      </a:r>
                    </a:p>
                  </a:txBody>
                  <a:tcPr marL="81525" marR="81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&lt;&lt;2q11.2 recurrent region (includes ARID5A, TMEM127)&gt;&gt;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Calibri" panose="020F0502020204030204" pitchFamily="34" charset="0"/>
                        </a:rPr>
                        <a:t>7q36.3 ZRS (SHH cis-regulatory) duplication region (within LMBR1 intron 5)</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&lt;&lt;7q36.3 ZRS (SHH cis-regulatory) duplication region (within LMBR1 intron 5)&gt;&gt;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2996609756"/>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2q13 recurrent region (distal) (includes BCL2L11) gain</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&lt;&lt;2q13 recurrent region (distal) (includes BCL2L11)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monosomy 7p</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monosomy 7p&gt;&gt;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4006001716"/>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2q13 recurrent region (distal) (includes BCL2L11) loss</a:t>
                      </a:r>
                    </a:p>
                  </a:txBody>
                  <a:tcPr marL="81525" marR="81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&lt;&lt;2q13 recurrent region (distal) (includes BCL2L11) loss&gt;&gt;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7p</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7p&gt;&gt;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12684205"/>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monosomy 2p</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monosomy 2p&gt;&gt;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Aptos Narrow" panose="020B0004020202020204" pitchFamily="34" charset="0"/>
                        </a:rPr>
                        <a:t>monosomy 7q32-qter</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&lt;&lt;monosomy 7q32-qter&gt;&gt;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222232125"/>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trisomy 2p</a:t>
                      </a:r>
                    </a:p>
                  </a:txBody>
                  <a:tcPr marL="81525" marR="81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2p&gt;&gt;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Trisomy 7q21-q31</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&lt;&lt;Trisomy 7q21-q31&gt;&gt;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246115"/>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monosomy 2q</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monosomy 2q&gt;&gt;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Aptos Narrow" panose="020B0004020202020204" pitchFamily="34" charset="0"/>
                        </a:rPr>
                        <a:t>Trisomy 7q32-qter</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&lt;&lt;Trisomy 7q32-qter&gt;&gt;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4228727006"/>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trisomy 2q</a:t>
                      </a:r>
                    </a:p>
                  </a:txBody>
                  <a:tcPr marL="81525" marR="81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2q&gt;&gt;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8p23.1 recurrent region (includes GATA4) gain</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&lt;&lt;8p23.1 recurrent region (includes GATA4) gain&gt;&gt;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890126958"/>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3q24 Region (includes ZIC1)</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&lt;&lt;3q24 Region (includes ZIC1)&gt;&gt;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Calibri" panose="020F0502020204030204" pitchFamily="34" charset="0"/>
                        </a:rPr>
                        <a:t>8p23.1 recurrent region (includes GATA4) loss</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&lt;&lt;8p23.1 recurrent region (includes GATA4) loss&gt;&gt;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628920137"/>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3q29 recurrent region (includes DLG1)</a:t>
                      </a:r>
                    </a:p>
                  </a:txBody>
                  <a:tcPr marL="81525" marR="81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&lt;&lt;3q29 recurrent region (includes DLG1)&gt;&gt;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8q</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8q&gt;&gt;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2768144175"/>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Monosomy 3p11-p21</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&lt;&lt;Monosomy 3p11-p21&gt;&gt;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monosomy 9p</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monosomy 9p&gt;&gt;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066142583"/>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Monosomy 3p25-pter</a:t>
                      </a:r>
                    </a:p>
                  </a:txBody>
                  <a:tcPr marL="81525" marR="81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&lt;&lt;Monosomy 3p25-pter&gt;&gt;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Partial trisomy 9p</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9p&gt;&gt;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32837646"/>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trisomy 3p</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trisomy 3p&gt;&gt;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monosomy 9q</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monosomy 9q&gt;&gt;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097329918"/>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monosomy 3q</a:t>
                      </a:r>
                    </a:p>
                  </a:txBody>
                  <a:tcPr marL="81525" marR="81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monosomy 3q&gt;&gt;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9q</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9q&gt;&gt;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452364660"/>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trisomy 3q</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trisomy 3q&gt;&gt;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Calibri" panose="020F0502020204030204" pitchFamily="34" charset="0"/>
                        </a:rPr>
                        <a:t>10q22.3q23.2 recurrent region (includes BMPR1A)</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&lt;&lt;10q22.3q23.2 recurrent region (includes BMPR1A)&gt;&gt;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711574338"/>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monosomy 3p</a:t>
                      </a:r>
                    </a:p>
                  </a:txBody>
                  <a:tcPr marL="81525" marR="81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monosomy 3p&gt;&gt;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monosomy 10p</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monosomy 10p&gt;&gt;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2160994337"/>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4p16.3 terminal (Wolf-Hirschhorn syndrome) region gain</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&lt;&lt;4p16.3 terminal (Wolf-Hirschhorn syndrome) region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10p</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trisomy 10p&gt;&gt;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071362111"/>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monosomy 4p</a:t>
                      </a:r>
                    </a:p>
                  </a:txBody>
                  <a:tcPr marL="81525" marR="81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monosomy 4p&gt;&gt;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monosomy 10q</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monosomy 10q&gt;&gt;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4061372303"/>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trisomy 4p</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trisomy 4p&gt;&gt;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10q</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trisomy 10q&gt;&gt;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620167396"/>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Monosomy 4q21-q31</a:t>
                      </a:r>
                    </a:p>
                  </a:txBody>
                  <a:tcPr marL="81525" marR="81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&lt;&lt;Monosomy 4q21-q31&gt;&gt;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Calibri" panose="020F0502020204030204" pitchFamily="34" charset="0"/>
                        </a:rPr>
                        <a:t>11p11.2 (Potocki-Shaffer syndrome) region (includes ALX4, EXT2)</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&lt;&lt;11p11.2 (Potocki-Shaffer syndrome) region (includes ALX4, EXT2)&gt;&gt;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2957068396"/>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Monosomy 4q31-qter</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&lt;&lt;Monosomy 4q31-qter&gt;&gt;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Calibri" panose="020F0502020204030204" pitchFamily="34" charset="0"/>
                        </a:rPr>
                        <a:t>11p13 (WAGR syndrome) region</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&lt;&lt;11p13 (WAGR syndrome) region&gt;&gt;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595716559"/>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trisomy 4q</a:t>
                      </a:r>
                    </a:p>
                  </a:txBody>
                  <a:tcPr marL="81525" marR="81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&lt;&lt;Partial trisomy 4q&gt;&gt;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Calibri" panose="020F0502020204030204" pitchFamily="34" charset="0"/>
                        </a:rPr>
                        <a:t>11q13.2q13.4 recurrent region (includes SHANK2, FGFs)</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&lt;&lt;11q13.2q13.4 recurrent region (includes SHANK2, FGFs)&gt;&gt;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912065329"/>
                  </a:ext>
                </a:extLst>
              </a:tr>
              <a:tr h="192817">
                <a:tc>
                  <a:txBody>
                    <a:bodyPr/>
                    <a:lstStyle/>
                    <a:p>
                      <a:pPr algn="ctr" fontAlgn="ctr">
                        <a:buNone/>
                      </a:pPr>
                      <a:r>
                        <a:rPr lang="en-US" sz="600" b="0" i="0" u="none" strike="noStrike">
                          <a:solidFill>
                            <a:srgbClr val="000000"/>
                          </a:solidFill>
                          <a:effectLst/>
                          <a:latin typeface="Aptos Narrow" panose="020B0004020202020204" pitchFamily="34" charset="0"/>
                        </a:rPr>
                        <a:t>Partial monosomy 4p</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&lt;&lt;Partial monosomy 4p&gt;&gt;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11p</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&lt;&lt;Partial trisomy 11p&gt;&gt;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400828428"/>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5p15 terminal (Cri du chat syndrome) region gain</a:t>
                      </a:r>
                    </a:p>
                  </a:txBody>
                  <a:tcPr marL="81525" marR="81525" marT="9525" marB="0" anchor="ctr">
                    <a:lnR w="6350" cap="flat" cmpd="sng" algn="ctr">
                      <a:solidFill>
                        <a:schemeClr val="bg1"/>
                      </a:solidFill>
                      <a:prstDash val="solid"/>
                      <a:round/>
                      <a:headEnd type="none" w="med" len="med"/>
                      <a:tailEnd type="none" w="med" len="med"/>
                    </a:lnR>
                    <a:lnB>
                      <a:noFill/>
                    </a:lnB>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&lt;&lt;5p15 terminal (Cri du chat syndrome) region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B>
                      <a:noFill/>
                    </a:lnB>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monosomy 11q</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a:noFill/>
                    </a:lnB>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&lt;&lt;Partial monosomy 11q&gt;&gt;</a:t>
                      </a:r>
                    </a:p>
                  </a:txBody>
                  <a:tcPr anchor="ctr">
                    <a:lnL w="6350" cap="flat" cmpd="sng" algn="ctr">
                      <a:solidFill>
                        <a:schemeClr val="bg1"/>
                      </a:solidFill>
                      <a:prstDash val="solid"/>
                      <a:round/>
                      <a:headEnd type="none" w="med" len="med"/>
                      <a:tailEnd type="none" w="med" len="med"/>
                    </a:lnL>
                    <a:lnB>
                      <a:noFill/>
                    </a:lnB>
                    <a:solidFill>
                      <a:srgbClr val="E6F6FA"/>
                    </a:solidFill>
                  </a:tcPr>
                </a:tc>
                <a:extLst>
                  <a:ext uri="{0D108BD9-81ED-4DB2-BD59-A6C34878D82A}">
                    <a16:rowId xmlns:a16="http://schemas.microsoft.com/office/drawing/2014/main" val="451148163"/>
                  </a:ext>
                </a:extLst>
              </a:tr>
              <a:tr h="192817">
                <a:tc>
                  <a:txBody>
                    <a:bodyPr/>
                    <a:lstStyle/>
                    <a:p>
                      <a:pPr algn="ctr" fontAlgn="ctr">
                        <a:buNone/>
                      </a:pPr>
                      <a:r>
                        <a:rPr lang="en-US" sz="600" b="0" i="0" u="none" strike="noStrike">
                          <a:solidFill>
                            <a:srgbClr val="000000"/>
                          </a:solidFill>
                          <a:effectLst/>
                          <a:latin typeface="Calibri" panose="020F0502020204030204" pitchFamily="34" charset="0"/>
                        </a:rPr>
                        <a:t>5q35 recurrent (Sotos syndrome) region (includes NSD1) gain</a:t>
                      </a:r>
                    </a:p>
                  </a:txBody>
                  <a:tcPr marL="81525" marR="81525" marT="9525" marB="0" anchor="ctr">
                    <a:lnL>
                      <a:noFill/>
                    </a:lnL>
                    <a:lnR w="635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&lt;&lt;5q35 recurrent (Sotos syndrome) region (includes NSD1)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trisomy 11q</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&lt;&lt;Partial trisomy 11q&gt;&gt;</a:t>
                      </a:r>
                    </a:p>
                  </a:txBody>
                  <a:tcPr anchor="ctr">
                    <a:lnL w="6350" cap="flat" cmpd="sng" algn="ctr">
                      <a:solidFill>
                        <a:schemeClr val="bg1"/>
                      </a:solidFill>
                      <a:prstDash val="solid"/>
                      <a:round/>
                      <a:headEnd type="none" w="med" len="med"/>
                      <a:tailEnd type="none" w="med" len="med"/>
                    </a:lnL>
                    <a:lnR>
                      <a:noFill/>
                    </a:lnR>
                    <a:lnT>
                      <a:noFill/>
                    </a:lnT>
                    <a:lnB w="25400" cmpd="sng">
                      <a:noFill/>
                    </a:lnB>
                    <a:lnTlToBr w="12700" cmpd="sng">
                      <a:noFill/>
                      <a:prstDash val="solid"/>
                    </a:lnTlToBr>
                    <a:lnBlToTr w="12700" cmpd="sng">
                      <a:noFill/>
                      <a:prstDash val="solid"/>
                    </a:lnBlToTr>
                  </a:tcPr>
                </a:tc>
                <a:extLst>
                  <a:ext uri="{0D108BD9-81ED-4DB2-BD59-A6C34878D82A}">
                    <a16:rowId xmlns:a16="http://schemas.microsoft.com/office/drawing/2014/main" val="3005158876"/>
                  </a:ext>
                </a:extLst>
              </a:tr>
              <a:tr h="192817">
                <a:tc>
                  <a:txBody>
                    <a:bodyPr/>
                    <a:lstStyle/>
                    <a:p>
                      <a:pPr algn="ctr" fontAlgn="ctr">
                        <a:buNone/>
                      </a:pPr>
                      <a:r>
                        <a:rPr lang="en-US" sz="600" b="0" i="0" u="none" strike="noStrike" dirty="0">
                          <a:solidFill>
                            <a:srgbClr val="000000"/>
                          </a:solidFill>
                          <a:effectLst/>
                          <a:latin typeface="Calibri" panose="020F0502020204030204" pitchFamily="34" charset="0"/>
                        </a:rPr>
                        <a:t>5q35 recurrent (Sotos syndrome) region (includes NSD1) loss</a:t>
                      </a:r>
                    </a:p>
                  </a:txBody>
                  <a:tcPr marL="81525" marR="81525" marT="9525" marB="0" anchor="ctr">
                    <a:lnL>
                      <a:noFill/>
                    </a:lnL>
                    <a:lnR w="635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&lt;&lt;5q35 recurrent (Sotos syndrome) region (includes NSD1) loss&gt;&gt;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solidFill>
                      <a:srgbClr val="E6F6FA"/>
                    </a:solidFill>
                  </a:tcPr>
                </a:tc>
                <a:tc>
                  <a:txBody>
                    <a:bodyPr/>
                    <a:lstStyle/>
                    <a:p>
                      <a:pPr algn="ctr" fontAlgn="ctr">
                        <a:buNone/>
                      </a:pPr>
                      <a:r>
                        <a:rPr lang="en-US" sz="600" b="0" i="0" u="none" strike="noStrike" dirty="0">
                          <a:solidFill>
                            <a:srgbClr val="000000"/>
                          </a:solidFill>
                          <a:effectLst/>
                          <a:latin typeface="Aptos Narrow" panose="020B0004020202020204" pitchFamily="34" charset="0"/>
                        </a:rPr>
                        <a:t>Partial monosomy 12p</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&lt;&lt;Partial monosomy 12p&gt;&gt;</a:t>
                      </a:r>
                    </a:p>
                  </a:txBody>
                  <a:tcPr anchor="ctr">
                    <a:lnL w="6350" cap="flat" cmpd="sng" algn="ctr">
                      <a:solidFill>
                        <a:schemeClr val="bg1"/>
                      </a:solidFill>
                      <a:prstDash val="solid"/>
                      <a:round/>
                      <a:headEnd type="none" w="med" len="med"/>
                      <a:tailEnd type="none" w="med" len="med"/>
                    </a:lnL>
                    <a:lnR>
                      <a:noFill/>
                    </a:lnR>
                    <a:lnT>
                      <a:noFill/>
                    </a:lnT>
                    <a:lnB w="25400" cmpd="sng">
                      <a:noFill/>
                    </a:lnB>
                    <a:lnTlToBr w="12700" cmpd="sng">
                      <a:noFill/>
                      <a:prstDash val="solid"/>
                    </a:lnTlToBr>
                    <a:lnBlToTr w="12700" cmpd="sng">
                      <a:noFill/>
                      <a:prstDash val="solid"/>
                    </a:lnBlToTr>
                    <a:solidFill>
                      <a:srgbClr val="E6F6FA"/>
                    </a:solidFill>
                  </a:tcPr>
                </a:tc>
                <a:extLst>
                  <a:ext uri="{0D108BD9-81ED-4DB2-BD59-A6C34878D82A}">
                    <a16:rowId xmlns:a16="http://schemas.microsoft.com/office/drawing/2014/main" val="871455688"/>
                  </a:ext>
                </a:extLst>
              </a:tr>
            </a:tbl>
          </a:graphicData>
        </a:graphic>
      </p:graphicFrame>
    </p:spTree>
    <p:extLst>
      <p:ext uri="{BB962C8B-B14F-4D97-AF65-F5344CB8AC3E}">
        <p14:creationId xmlns:p14="http://schemas.microsoft.com/office/powerpoint/2010/main" val="3977531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2</a:t>
            </a: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215444"/>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p:txBody>
      </p:sp>
      <p:sp>
        <p:nvSpPr>
          <p:cNvPr id="5" name="TextBox 4">
            <a:extLst>
              <a:ext uri="{FF2B5EF4-FFF2-40B4-BE49-F238E27FC236}">
                <a16:creationId xmlns:a16="http://schemas.microsoft.com/office/drawing/2014/main" id="{5B6446D6-2F7A-3F6C-48EA-C2106B038029}"/>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3" name="Rectangle 2">
            <a:extLst>
              <a:ext uri="{FF2B5EF4-FFF2-40B4-BE49-F238E27FC236}">
                <a16:creationId xmlns:a16="http://schemas.microsoft.com/office/drawing/2014/main" id="{C963D355-13CE-650E-017F-7B7CA8214976}"/>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4" name="Rectangle 3">
            <a:extLst>
              <a:ext uri="{FF2B5EF4-FFF2-40B4-BE49-F238E27FC236}">
                <a16:creationId xmlns:a16="http://schemas.microsoft.com/office/drawing/2014/main" id="{383D65BD-8205-410F-6EAD-92C942E260E3}"/>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9C072F90-3196-2A37-F307-8B4B8FC29D9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95E55613-D86F-9231-8EE8-BAA21CE9A001}"/>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6" name="TextBox 15">
            <a:extLst>
              <a:ext uri="{FF2B5EF4-FFF2-40B4-BE49-F238E27FC236}">
                <a16:creationId xmlns:a16="http://schemas.microsoft.com/office/drawing/2014/main" id="{62B6D607-3870-949B-A61F-B1F4BF950F04}"/>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9D196080-12E9-E07A-8AFB-7F64DCD6E9D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rPr>
              <a:t>DCR No.: 3382</a:t>
            </a:r>
          </a:p>
          <a:p>
            <a:pPr algn="ctr"/>
            <a:r>
              <a:rPr lang="pt-BR" sz="800" b="0" i="0" dirty="0">
                <a:solidFill>
                  <a:srgbClr val="000000"/>
                </a:solidFill>
                <a:effectLst/>
                <a:latin typeface="Calibri" panose="020F0502020204030204" pitchFamily="34" charset="0"/>
              </a:rPr>
              <a:t>QR G1.1-6-1-d</a:t>
            </a:r>
            <a:endParaRPr lang="en-ID" sz="800" dirty="0"/>
          </a:p>
        </p:txBody>
      </p:sp>
      <p:sp>
        <p:nvSpPr>
          <p:cNvPr id="7" name="TextBox 6">
            <a:extLst>
              <a:ext uri="{FF2B5EF4-FFF2-40B4-BE49-F238E27FC236}">
                <a16:creationId xmlns:a16="http://schemas.microsoft.com/office/drawing/2014/main" id="{99C11FF6-89AA-B6F7-268F-DD5A0C8EB62A}"/>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
        <p:nvSpPr>
          <p:cNvPr id="29" name="TextBox 28">
            <a:extLst>
              <a:ext uri="{FF2B5EF4-FFF2-40B4-BE49-F238E27FC236}">
                <a16:creationId xmlns:a16="http://schemas.microsoft.com/office/drawing/2014/main" id="{9E9BE66D-5B42-DDD8-D601-191C690EB95F}"/>
              </a:ext>
            </a:extLst>
          </p:cNvPr>
          <p:cNvSpPr txBox="1"/>
          <p:nvPr/>
        </p:nvSpPr>
        <p:spPr>
          <a:xfrm>
            <a:off x="427072" y="2002805"/>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06C1BEB1-CE92-E3E9-CF86-6162FF7BD310}"/>
              </a:ext>
            </a:extLst>
          </p:cNvPr>
          <p:cNvSpPr txBox="1"/>
          <p:nvPr/>
        </p:nvSpPr>
        <p:spPr>
          <a:xfrm>
            <a:off x="430623" y="1759833"/>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9" name="Table 8">
            <a:extLst>
              <a:ext uri="{FF2B5EF4-FFF2-40B4-BE49-F238E27FC236}">
                <a16:creationId xmlns:a16="http://schemas.microsoft.com/office/drawing/2014/main" id="{00DE4937-FFEC-4A90-E553-56D74E7436B8}"/>
              </a:ext>
            </a:extLst>
          </p:cNvPr>
          <p:cNvGraphicFramePr>
            <a:graphicFrameLocks noGrp="1"/>
          </p:cNvGraphicFramePr>
          <p:nvPr>
            <p:extLst>
              <p:ext uri="{D42A27DB-BD31-4B8C-83A1-F6EECF244321}">
                <p14:modId xmlns:p14="http://schemas.microsoft.com/office/powerpoint/2010/main" val="178509901"/>
              </p:ext>
            </p:extLst>
          </p:nvPr>
        </p:nvGraphicFramePr>
        <p:xfrm>
          <a:off x="427072" y="2224494"/>
          <a:ext cx="5996104" cy="13386294"/>
        </p:xfrm>
        <a:graphic>
          <a:graphicData uri="http://schemas.openxmlformats.org/drawingml/2006/table">
            <a:tbl>
              <a:tblPr firstRow="1" bandRow="1">
                <a:tableStyleId>{EB9631B5-78F2-41C9-869B-9F39066F8104}</a:tableStyleId>
              </a:tblPr>
              <a:tblGrid>
                <a:gridCol w="1981719">
                  <a:extLst>
                    <a:ext uri="{9D8B030D-6E8A-4147-A177-3AD203B41FA5}">
                      <a16:colId xmlns:a16="http://schemas.microsoft.com/office/drawing/2014/main" val="2337673480"/>
                    </a:ext>
                  </a:extLst>
                </a:gridCol>
                <a:gridCol w="1016333">
                  <a:extLst>
                    <a:ext uri="{9D8B030D-6E8A-4147-A177-3AD203B41FA5}">
                      <a16:colId xmlns:a16="http://schemas.microsoft.com/office/drawing/2014/main" val="2581359693"/>
                    </a:ext>
                  </a:extLst>
                </a:gridCol>
                <a:gridCol w="1984701">
                  <a:extLst>
                    <a:ext uri="{9D8B030D-6E8A-4147-A177-3AD203B41FA5}">
                      <a16:colId xmlns:a16="http://schemas.microsoft.com/office/drawing/2014/main" val="3877669906"/>
                    </a:ext>
                  </a:extLst>
                </a:gridCol>
                <a:gridCol w="1013351">
                  <a:extLst>
                    <a:ext uri="{9D8B030D-6E8A-4147-A177-3AD203B41FA5}">
                      <a16:colId xmlns:a16="http://schemas.microsoft.com/office/drawing/2014/main" val="1755932021"/>
                    </a:ext>
                  </a:extLst>
                </a:gridCol>
              </a:tblGrid>
              <a:tr h="214411">
                <a:tc>
                  <a:txBody>
                    <a:bodyPr/>
                    <a:lstStyle/>
                    <a:p>
                      <a:pPr algn="ctr"/>
                      <a:r>
                        <a:rPr lang="en-US" sz="800" dirty="0">
                          <a:latin typeface="Calibri" panose="020F0502020204030204" pitchFamily="34" charset="0"/>
                          <a:cs typeface="Calibri" panose="020F0502020204030204" pitchFamily="34" charset="0"/>
                        </a:rPr>
                        <a:t>Condition</a:t>
                      </a:r>
                    </a:p>
                  </a:txBody>
                  <a:tcPr>
                    <a:lnL>
                      <a:noFill/>
                    </a:lnL>
                    <a:lnR w="6350" cap="flat" cmpd="sng" algn="ctr">
                      <a:solidFill>
                        <a:schemeClr val="bg1"/>
                      </a:solidFill>
                      <a:prstDash val="solid"/>
                      <a:round/>
                      <a:headEnd type="none" w="med" len="med"/>
                      <a:tailEnd type="none" w="med" len="med"/>
                    </a:lnR>
                    <a:lnT w="25400" cmpd="sng">
                      <a:noFill/>
                    </a:lnT>
                    <a:lnB w="25400" cmpd="sng">
                      <a:noFill/>
                    </a:lnB>
                    <a:lnTlToBr w="12700" cmpd="sng">
                      <a:noFill/>
                      <a:prstDash val="solid"/>
                    </a:lnTlToBr>
                    <a:lnBlToTr w="12700" cmpd="sng">
                      <a:noFill/>
                      <a:prstDash val="solid"/>
                    </a:lnBlToTr>
                    <a:solidFill>
                      <a:srgbClr val="00A6C8"/>
                    </a:solidFill>
                  </a:tcPr>
                </a:tc>
                <a:tc>
                  <a:txBody>
                    <a:bodyPr/>
                    <a:lstStyle/>
                    <a:p>
                      <a:pPr algn="ctr"/>
                      <a:r>
                        <a:rPr lang="en-US" sz="800" dirty="0">
                          <a:latin typeface="Calibri" panose="020F0502020204030204" pitchFamily="34" charset="0"/>
                          <a:cs typeface="Calibri" panose="020F0502020204030204" pitchFamily="34" charset="0"/>
                        </a:rPr>
                        <a:t>Result</a:t>
                      </a:r>
                    </a:p>
                  </a:txBody>
                  <a:tcP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25400" cmpd="sng">
                      <a:noFill/>
                    </a:lnT>
                    <a:lnB w="25400" cmpd="sng">
                      <a:noFill/>
                    </a:lnB>
                    <a:lnTlToBr w="12700" cmpd="sng">
                      <a:noFill/>
                      <a:prstDash val="solid"/>
                    </a:lnTlToBr>
                    <a:lnBlToTr w="12700" cmpd="sng">
                      <a:noFill/>
                      <a:prstDash val="solid"/>
                    </a:lnBlToTr>
                    <a:solidFill>
                      <a:srgbClr val="00A6C8"/>
                    </a:solidFill>
                  </a:tcPr>
                </a:tc>
                <a:tc>
                  <a:txBody>
                    <a:bodyPr/>
                    <a:lstStyle/>
                    <a:p>
                      <a:pPr algn="ctr"/>
                      <a:r>
                        <a:rPr lang="en-US" sz="800" dirty="0">
                          <a:latin typeface="Calibri" panose="020F0502020204030204" pitchFamily="34" charset="0"/>
                          <a:cs typeface="Calibri" panose="020F0502020204030204" pitchFamily="34" charset="0"/>
                        </a:rPr>
                        <a:t>Condition</a:t>
                      </a:r>
                    </a:p>
                  </a:txBody>
                  <a:tcP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25400" cmpd="sng">
                      <a:noFill/>
                    </a:lnT>
                    <a:lnB w="25400" cmpd="sng">
                      <a:noFill/>
                    </a:lnB>
                    <a:lnTlToBr w="12700" cmpd="sng">
                      <a:noFill/>
                      <a:prstDash val="solid"/>
                    </a:lnTlToBr>
                    <a:lnBlToTr w="12700" cmpd="sng">
                      <a:noFill/>
                      <a:prstDash val="solid"/>
                    </a:lnBlToTr>
                    <a:solidFill>
                      <a:srgbClr val="00A6C8"/>
                    </a:solidFill>
                  </a:tcPr>
                </a:tc>
                <a:tc>
                  <a:txBody>
                    <a:bodyPr/>
                    <a:lstStyle/>
                    <a:p>
                      <a:pPr algn="ctr"/>
                      <a:r>
                        <a:rPr lang="en-US" sz="800" dirty="0">
                          <a:latin typeface="Calibri" panose="020F0502020204030204" pitchFamily="34" charset="0"/>
                          <a:cs typeface="Calibri" panose="020F0502020204030204" pitchFamily="34" charset="0"/>
                        </a:rPr>
                        <a:t>Result</a:t>
                      </a:r>
                    </a:p>
                  </a:txBody>
                  <a:tcPr>
                    <a:lnL w="6350" cap="flat" cmpd="sng" algn="ctr">
                      <a:solidFill>
                        <a:schemeClr val="bg1"/>
                      </a:solidFill>
                      <a:prstDash val="solid"/>
                      <a:round/>
                      <a:headEnd type="none" w="med" len="med"/>
                      <a:tailEnd type="none" w="med" len="med"/>
                    </a:lnL>
                    <a:lnR>
                      <a:noFill/>
                    </a:lnR>
                    <a:lnT w="25400" cmpd="sng">
                      <a:noFill/>
                    </a:lnT>
                    <a:lnB w="25400" cmpd="sng">
                      <a:noFill/>
                    </a:lnB>
                    <a:lnTlToBr w="12700" cmpd="sng">
                      <a:noFill/>
                      <a:prstDash val="solid"/>
                    </a:lnTlToBr>
                    <a:lnBlToTr w="12700" cmpd="sng">
                      <a:noFill/>
                      <a:prstDash val="solid"/>
                    </a:lnBlToTr>
                    <a:solidFill>
                      <a:srgbClr val="00A6C8"/>
                    </a:solidFill>
                  </a:tcPr>
                </a:tc>
                <a:extLst>
                  <a:ext uri="{0D108BD9-81ED-4DB2-BD59-A6C34878D82A}">
                    <a16:rowId xmlns:a16="http://schemas.microsoft.com/office/drawing/2014/main" val="301789798"/>
                  </a:ext>
                </a:extLst>
              </a:tr>
              <a:tr h="187403">
                <a:tc>
                  <a:txBody>
                    <a:bodyPr/>
                    <a:lstStyle/>
                    <a:p>
                      <a:pPr algn="ctr" fontAlgn="ctr">
                        <a:buNone/>
                      </a:pPr>
                      <a:r>
                        <a:rPr lang="en-US" sz="600" b="0" i="0" u="none" strike="noStrike" dirty="0">
                          <a:solidFill>
                            <a:srgbClr val="000000"/>
                          </a:solidFill>
                          <a:effectLst/>
                          <a:latin typeface="Calibri" panose="020F0502020204030204" pitchFamily="34" charset="0"/>
                          <a:cs typeface="Calibri" panose="020F0502020204030204" pitchFamily="34" charset="0"/>
                        </a:rPr>
                        <a:t>Partial trisomy 12p</a:t>
                      </a:r>
                    </a:p>
                  </a:txBody>
                  <a:tcPr marL="81525" marR="81525" marT="9525" marB="0" anchor="ctr">
                    <a:lnR w="6350" cap="flat" cmpd="sng" algn="ctr">
                      <a:solidFill>
                        <a:schemeClr val="bg1"/>
                      </a:solidFill>
                      <a:prstDash val="solid"/>
                      <a:round/>
                      <a:headEnd type="none" w="med" len="med"/>
                      <a:tailEnd type="none" w="med" len="med"/>
                    </a:lnR>
                    <a:lnT w="25400" cmpd="sng">
                      <a:noFill/>
                    </a:lnT>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12p&gt;&gt;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w="25400" cmpd="sng">
                      <a:noFill/>
                    </a:lnT>
                    <a:solidFill>
                      <a:srgbClr val="E6F6FA"/>
                    </a:solidFill>
                  </a:tcPr>
                </a:tc>
                <a:tc>
                  <a:txBody>
                    <a:bodyPr/>
                    <a:lstStyle/>
                    <a:p>
                      <a:pPr algn="ctr" fontAlgn="ctr">
                        <a:buNone/>
                      </a:pPr>
                      <a:r>
                        <a:rPr lang="en-US" sz="600" b="0" i="0" u="none" strike="noStrike" dirty="0">
                          <a:solidFill>
                            <a:srgbClr val="000000"/>
                          </a:solidFill>
                          <a:effectLst/>
                          <a:latin typeface="Calibri" panose="020F0502020204030204" pitchFamily="34" charset="0"/>
                        </a:rPr>
                        <a:t>17q11.2 recurrent region (includes NF1) gain</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25400" cmpd="sng">
                      <a:noFill/>
                    </a:lnT>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&lt;&lt;17q11.2 recurrent region (includes NF1) gain&gt;&gt;</a:t>
                      </a:r>
                    </a:p>
                  </a:txBody>
                  <a:tcPr anchor="ctr">
                    <a:lnL w="6350" cap="flat" cmpd="sng" algn="ctr">
                      <a:solidFill>
                        <a:schemeClr val="bg1"/>
                      </a:solidFill>
                      <a:prstDash val="solid"/>
                      <a:round/>
                      <a:headEnd type="none" w="med" len="med"/>
                      <a:tailEnd type="none" w="med" len="med"/>
                    </a:lnL>
                    <a:lnT w="25400" cmpd="sng">
                      <a:noFill/>
                    </a:lnT>
                    <a:solidFill>
                      <a:srgbClr val="E6F6FA"/>
                    </a:solidFill>
                  </a:tcPr>
                </a:tc>
                <a:extLst>
                  <a:ext uri="{0D108BD9-81ED-4DB2-BD59-A6C34878D82A}">
                    <a16:rowId xmlns:a16="http://schemas.microsoft.com/office/drawing/2014/main" val="2171375672"/>
                  </a:ext>
                </a:extLst>
              </a:tr>
              <a:tr h="187403">
                <a:tc>
                  <a:txBody>
                    <a:bodyPr/>
                    <a:lstStyle/>
                    <a:p>
                      <a:pPr algn="ctr" fontAlgn="ctr">
                        <a:buNone/>
                      </a:pPr>
                      <a:r>
                        <a:rPr lang="en-US" sz="600" b="0" i="0" u="none" strike="noStrike" dirty="0">
                          <a:solidFill>
                            <a:srgbClr val="000000"/>
                          </a:solidFill>
                          <a:effectLst/>
                          <a:latin typeface="Calibri" panose="020F0502020204030204" pitchFamily="34" charset="0"/>
                          <a:cs typeface="Calibri" panose="020F0502020204030204" pitchFamily="34" charset="0"/>
                        </a:rPr>
                        <a:t>Partial trisomy 12q</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trisomy 12q&gt;&gt;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Calibri" panose="020F0502020204030204" pitchFamily="34" charset="0"/>
                        </a:rPr>
                        <a:t>17q11.2 recurrent region (includes NF1) loss</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&lt;&lt;17q11.2 recurrent region (includes NF1) loss&gt;&gt;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87788622"/>
                  </a:ext>
                </a:extLst>
              </a:tr>
              <a:tr h="187403">
                <a:tc>
                  <a:txBody>
                    <a:bodyPr/>
                    <a:lstStyle/>
                    <a:p>
                      <a:pPr algn="ctr" fontAlgn="ctr">
                        <a:buNone/>
                      </a:pPr>
                      <a:r>
                        <a:rPr lang="en-US" sz="600" b="0" i="0" u="none" strike="noStrike" dirty="0">
                          <a:solidFill>
                            <a:srgbClr val="000000"/>
                          </a:solidFill>
                          <a:effectLst/>
                          <a:latin typeface="Calibri" panose="020F0502020204030204" pitchFamily="34" charset="0"/>
                          <a:cs typeface="Calibri" panose="020F0502020204030204" pitchFamily="34" charset="0"/>
                        </a:rPr>
                        <a:t>Monosomy 13q14</a:t>
                      </a:r>
                    </a:p>
                  </a:txBody>
                  <a:tcPr marL="81525" marR="81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&lt;&lt;Monosomy 13q14&gt;&gt;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Calibri" panose="020F0502020204030204" pitchFamily="34" charset="0"/>
                        </a:rPr>
                        <a:t>17q12 recurrent (RCAD syndrome) region (includes HNF1B) gain</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&lt;&lt;17q12 recurrent (RCAD syndrome) region (includes HNF1B) gain&gt;&gt;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268794827"/>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Monosomy 13q21-qter</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&lt;&lt;Monosomy 13q21-qter&gt;&gt;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Calibri" panose="020F0502020204030204" pitchFamily="34" charset="0"/>
                        </a:rPr>
                        <a:t>17q12 recurrent (RCAD syndrome) region (includes HNF1B) loss</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&lt;&lt;17q12 recurrent (RCAD syndrome) region (includes HNF1B) loss&gt;&gt;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404084517"/>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Trisomy 13cen-q14</a:t>
                      </a:r>
                    </a:p>
                  </a:txBody>
                  <a:tcPr marL="81525" marR="81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&lt;&lt;Trisomy 13cen-q14&gt;&gt;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17q21.31 recurrent (KdVS) region (includes KANSL1)</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&lt;&lt;17q21.31 recurrent (</a:t>
                      </a:r>
                      <a:r>
                        <a:rPr lang="en-US" sz="600" b="0" dirty="0" err="1">
                          <a:latin typeface="Calibri" panose="020F0502020204030204" pitchFamily="34" charset="0"/>
                          <a:cs typeface="Calibri" panose="020F0502020204030204" pitchFamily="34" charset="0"/>
                        </a:rPr>
                        <a:t>KdVS</a:t>
                      </a:r>
                      <a:r>
                        <a:rPr lang="en-US" sz="600" b="0" dirty="0">
                          <a:latin typeface="Calibri" panose="020F0502020204030204" pitchFamily="34" charset="0"/>
                          <a:cs typeface="Calibri" panose="020F0502020204030204" pitchFamily="34" charset="0"/>
                        </a:rPr>
                        <a:t>) region (includes KANSL1)&gt;&gt;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170815925"/>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Trisomy 13q21-qter</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&lt;&lt;Trisomy 13q21-qter&gt;&gt;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Calibri" panose="020F0502020204030204" pitchFamily="34" charset="0"/>
                        </a:rPr>
                        <a:t>17q23.1q23.2 recurrent region (includes TBX2, TBX4) gain</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&lt;&lt;17q23.1q23.2 recurrent region (includes TBX2, TBX4) gain&gt;&gt;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828381455"/>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14q11.2 region including CHD8 and SUPT16H</a:t>
                      </a:r>
                    </a:p>
                  </a:txBody>
                  <a:tcPr marL="81525" marR="81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&lt;&lt;14q11.2 region including CHD8 and SUPT16H&gt;&gt;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17q23.1q23.2 recurrent region (includes TBX2, TBX4) loss</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&lt;&lt;17q23.1q23.2 recurrent region (includes TBX2, TBX4) loss&gt;&gt;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362371862"/>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DLK1-MEG3 Intergenic Region</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&lt;&lt;DLK1-MEG3 Intergenic Region&gt;&gt;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Calibri" panose="020F0502020204030204" pitchFamily="34" charset="0"/>
                        </a:rPr>
                        <a:t>SOX9 upstream enhancer region</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&lt;&lt;SOX9 upstream enhancer region&gt;&gt;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318104625"/>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Partial trisomy 14</a:t>
                      </a:r>
                    </a:p>
                  </a:txBody>
                  <a:tcPr marL="81525" marR="81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latin typeface="Calibri" panose="020F0502020204030204" pitchFamily="34" charset="0"/>
                          <a:cs typeface="Calibri" panose="020F0502020204030204" pitchFamily="34" charset="0"/>
                        </a:rPr>
                        <a:t>&lt;&lt;Partial trisomy 14&gt;&gt;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Trisomy 17pter-q21</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latin typeface="Calibri" panose="020F0502020204030204" pitchFamily="34" charset="0"/>
                          <a:cs typeface="Calibri" panose="020F0502020204030204" pitchFamily="34" charset="0"/>
                        </a:rPr>
                        <a:t>&lt;&lt;Trisomy 17pter-q21&gt;&gt;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667231018"/>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Trisomy 14q24-qter</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&lt;&lt;Trisomy 14q24-qter&gt;&gt;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Aptos Narrow" panose="020B0004020202020204" pitchFamily="34" charset="0"/>
                        </a:rPr>
                        <a:t>Partial monosomy 18p</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monosomy 18p&gt;&gt;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671089960"/>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15q11.2q13 recurrent (PWS/AS) region (Class I, BP1-BP3 and Class II, BP2-BP3) gain</a:t>
                      </a:r>
                    </a:p>
                  </a:txBody>
                  <a:tcPr marL="81525" marR="81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&lt;&lt;15q11.2q13 recurrent (PWS/AS) region (Class I, BP1-BP3 and Class II, BP2-BP3)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Partial tetrasomy 18p</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tetrasomy 18p&gt;&gt;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2996609756"/>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15q13.3 recurrent region (BP4-BP5) (includes CHRNA7)</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&lt;&lt;15q13.3 recurrent region (BP4-BP5) (includes CHRNA7)&gt;&gt;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Aptos Narrow" panose="020B0004020202020204" pitchFamily="34" charset="0"/>
                        </a:rPr>
                        <a:t>Trisomy 18pter-q12</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&lt;&lt;Trisomy 18pter-q12&gt;&gt;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4006001716"/>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15q13.3 recurrent region (D-CHRNA7 to BP5) (includes CHRNA7, OTUD7A)</a:t>
                      </a:r>
                    </a:p>
                  </a:txBody>
                  <a:tcPr marL="81525" marR="81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&lt;&lt;15q13.3 recurrent region (D-CHRNA7 to BP5) (includes CHRNA7, OTUD7A)&gt;&gt;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Monosomy 18q21-qter</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&lt;&lt;Monosomy 18q21-qter&gt;&gt;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12684205"/>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15q24 recurrent region (LCR A-LCR C)</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&lt;&lt;15q24 recurrent region (LCR A-LCR C)&gt;&gt;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Aptos Narrow" panose="020B0004020202020204" pitchFamily="34" charset="0"/>
                        </a:rPr>
                        <a:t>Trisomy 18q12-qter</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&lt;&lt;Trisomy 18q12-qter&gt;&gt;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222232125"/>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15q24 recurrent region (LCR A-LCR D) (includes SIN3A)</a:t>
                      </a:r>
                    </a:p>
                  </a:txBody>
                  <a:tcPr marL="81525" marR="81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&lt;&lt;15q24 recurrent region (LCR A-LCR D) (includes SIN3A)&gt;&gt;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Partial monosomy 20p</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monosomy 20p&gt;&gt;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246115"/>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15q24 recurrent region (LCR C-LCR D) (includes SIN3A) </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&lt;&lt;15q24 recurrent region (LCR C-LCR D) (includes SIN3A) &gt;&gt;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Aptos Narrow" panose="020B0004020202020204" pitchFamily="34" charset="0"/>
                        </a:rPr>
                        <a:t>Trisomy 20p</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&lt;&lt;Trisomy 20p&gt;&gt;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4228727006"/>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15q25.2 recurrent region (proximal, LCR-A/B-C) (includes RPS17)</a:t>
                      </a:r>
                    </a:p>
                  </a:txBody>
                  <a:tcPr marL="81525" marR="81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&lt;&lt;15q25.2 recurrent region (proximal, LCR-A/B-C) (includes RPS17)&gt;&gt;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Aptos Narrow" panose="020B0004020202020204" pitchFamily="34" charset="0"/>
                        </a:rPr>
                        <a:t>Partial monosomy 21</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monosomy 21&gt;&gt;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890126958"/>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Supernumerary inv dup (15)</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&lt;&lt;Supernumerary inv dup (15)&gt;&gt;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Calibri" panose="020F0502020204030204" pitchFamily="34" charset="0"/>
                        </a:rPr>
                        <a:t>22q11.2 recurrent (DGS) region (proximal, A-B, A-C, or A-D) (includes TBX1) gain</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&lt;&lt;22q11.2 recurrent (DGS) region (proximal, A-B, A-C, or A-D) (includes TBX1) gain&gt;&gt;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628920137"/>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Trisomy 15q22-qter</a:t>
                      </a:r>
                    </a:p>
                  </a:txBody>
                  <a:tcPr marL="81525" marR="81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&lt;&lt;Trisomy 15q22-qter&gt;&gt;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22q11.2 recurrent region (central, B-D or C-D) (includes CRKL)</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&lt;&lt;22q11.2 recurrent region (central, B-D or C-D) (includes CRKL)&gt;&gt;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2768144175"/>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16p11.2 recurrent region (distal, BP2-BP3) (includes SH2B1)</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&lt;&lt;16p11.2 recurrent region (distal, BP2-BP3) (includes SH2B1)&gt;&gt;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Calibri" panose="020F0502020204030204" pitchFamily="34" charset="0"/>
                        </a:rPr>
                        <a:t>22q11.2 recurrent region (distal type I, D-E or D-F)</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&lt;&lt;22q11.2 recurrent region (distal type I, D-E or D-F)&gt;&gt;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066142583"/>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16p11.2 recurrent region (proximal, BP4-BP5) (includes TBX6) gain</a:t>
                      </a:r>
                    </a:p>
                  </a:txBody>
                  <a:tcPr marL="81525" marR="81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&lt;&lt;16p11.2 recurrent region (proximal, BP4-BP5) (includes TBX6)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22q11.2 recurrent region (distal type III, D-G, D-H) (includes SMARCB1)</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dirty="0">
                          <a:solidFill>
                            <a:srgbClr val="000000"/>
                          </a:solidFill>
                          <a:effectLst/>
                          <a:latin typeface="Calibri" panose="020F0502020204030204" pitchFamily="34" charset="0"/>
                        </a:rPr>
                        <a:t>&lt;&lt;22q11.2 recurrent region (distal type III, D-G, D-H) (includes SMARCB1)&gt;&gt;</a:t>
                      </a:r>
                    </a:p>
                  </a:txBody>
                  <a:tcPr marL="9525" marR="9525" marT="9525" marB="0"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32837646"/>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16p11.2 recurrent region (proximal, BP4-BP5) (includes TBX6) loss</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&lt;&lt;16p11.2 recurrent region (proximal, BP4-BP5) (includes TBX6) loss&gt;&gt;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Calibri" panose="020F0502020204030204" pitchFamily="34" charset="0"/>
                        </a:rPr>
                        <a:t>22q11.2 recurrent region (distal type III, E-H or F-H) (includes SMARCB1)</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&lt;&lt;22q11.2 recurrent region (distal type III, E-H or F-H) (includes SMARCB1)&gt;&gt;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097329918"/>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16p12.2 recurrent region (proximal) (includes EEF2K, CDR2)</a:t>
                      </a:r>
                    </a:p>
                  </a:txBody>
                  <a:tcPr marL="81525" marR="81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&lt;&lt;16p12.2 recurrent region (proximal) (includes EEF2K, CDR2)&gt;&gt;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22q11.2 recurrent region (distal type III, F-G) (includes SMARCB1)</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&lt;&lt;22q11.2 recurrent region (distal type III, F-G) (includes SMARCB1)&gt;&gt;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452364660"/>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16p13.11 recurrent region (BP1-BP3, BP2-BP3, or BP2-BP4) (includes MYH11) gain</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&lt;&lt;16p13.11 recurrent region (BP1-BP3, BP2-BP3, or BP2-BP4) (includes MYH11)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dirty="0">
                          <a:solidFill>
                            <a:srgbClr val="000000"/>
                          </a:solidFill>
                          <a:effectLst/>
                          <a:latin typeface="Calibri" panose="020F0502020204030204" pitchFamily="34" charset="0"/>
                        </a:rPr>
                        <a:t>22q11.21 recurrent (CES) region (includes CECR2)</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&lt;&lt;22q11.21 recurrent (CES) region (includes CECR2)&gt;&gt;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711574338"/>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16p13.11 recurrent region (BP1-BP3, BP2-BP3, or BP2-BP4) (includes MYH11) loss</a:t>
                      </a:r>
                    </a:p>
                  </a:txBody>
                  <a:tcPr marL="81525" marR="81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&lt;&lt;16p13.11 recurrent region (BP1-BP3, BP2-BP3, or BP2-BP4) (includes MYH11) loss&gt;&gt;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Xp22.31 recurrent region (includes STS)</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&lt;&lt;Xp22.31 recurrent region (includes STS)&gt;&gt;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2160994337"/>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16p13.3 region (includes CREBBP)</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&lt;&lt;16p13.3 region (includes CREBBP)&gt;&gt;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Calibri" panose="020F0502020204030204" pitchFamily="34" charset="0"/>
                        </a:rPr>
                        <a:t>Xp21.2 region (includes NR0B1)</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&lt;&lt;Xp21.2 region (includes NR0B1)&gt;&gt;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071362111"/>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Partial trisomy 16p</a:t>
                      </a:r>
                    </a:p>
                  </a:txBody>
                  <a:tcPr marL="81525" marR="81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16p&gt;&gt;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Xp11.23 region (includes MAOA and MAOB)</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&lt;&lt;Xp11.23 region (includes MAOA and MAOB)&gt;&gt;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4061372303"/>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Partial monosomy 16q</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&lt;&lt;Partial monosomy 16q&gt;&gt;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Calibri" panose="020F0502020204030204" pitchFamily="34" charset="0"/>
                        </a:rPr>
                        <a:t>Xp11.22p11.23 recurrent region (includes SHROOM4)</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algn="ctr"/>
                      <a:r>
                        <a:rPr lang="en-US" sz="600" b="0" dirty="0">
                          <a:latin typeface="Calibri" panose="020F0502020204030204" pitchFamily="34" charset="0"/>
                          <a:cs typeface="Calibri" panose="020F0502020204030204" pitchFamily="34" charset="0"/>
                        </a:rPr>
                        <a:t>&lt;&lt;Xp11.22p11.23 recurrent region (includes SHROOM4)&gt;&gt;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2620167396"/>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Partial trisomy 16q</a:t>
                      </a:r>
                    </a:p>
                  </a:txBody>
                  <a:tcPr marL="81525" marR="81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&lt;&lt;Partial trisomy 16q&gt;&gt;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Xp11.22 region (includes HUWE1)</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algn="ctr"/>
                      <a:r>
                        <a:rPr lang="en-US" sz="600" b="0" dirty="0">
                          <a:latin typeface="Calibri" panose="020F0502020204030204" pitchFamily="34" charset="0"/>
                          <a:cs typeface="Calibri" panose="020F0502020204030204" pitchFamily="34" charset="0"/>
                        </a:rPr>
                        <a:t>&lt;&lt;Xp11.22 region (includes HUWE1)&gt;&gt;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2957068396"/>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17p11.2 recurrent (SMS/PLS) region (includes RAI1) gain</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&lt;&lt;17p11.2 recurrent (SMS/PLS) region (includes RAI1)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Calibri" panose="020F0502020204030204" pitchFamily="34" charset="0"/>
                        </a:rPr>
                        <a:t>Xq25 region (includes STAG2) gain</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&lt;&lt;Xq25 region (includes STAG2) gain&gt;&gt;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595716559"/>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17p11.2 recurrent (SMS/PLS) region (includes RAI1) loss</a:t>
                      </a:r>
                    </a:p>
                  </a:txBody>
                  <a:tcPr marL="81525" marR="81525" marT="9525" marB="0" anchor="ctr">
                    <a:lnR w="6350" cap="flat" cmpd="sng" algn="ctr">
                      <a:solidFill>
                        <a:schemeClr val="bg1"/>
                      </a:solidFill>
                      <a:prstDash val="solid"/>
                      <a:round/>
                      <a:headEnd type="none" w="med" len="med"/>
                      <a:tailEnd type="none" w="med" len="med"/>
                    </a:ln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&lt;&lt;17p11.2 recurrent (SMS/PLS) region (includes RAI1) loss&gt;&gt;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Xq25 region (includes STAG2) loss</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&lt;&lt;Xq25 region (includes STAG2) loss&gt;&gt;</a:t>
                      </a:r>
                    </a:p>
                  </a:txBody>
                  <a:tcPr anchor="ctr">
                    <a:lnL w="6350" cap="flat" cmpd="sng" algn="ctr">
                      <a:solidFill>
                        <a:schemeClr val="bg1"/>
                      </a:solidFill>
                      <a:prstDash val="solid"/>
                      <a:round/>
                      <a:headEnd type="none" w="med" len="med"/>
                      <a:tailEnd type="none" w="med" len="med"/>
                    </a:lnL>
                    <a:solidFill>
                      <a:srgbClr val="E6F6FA"/>
                    </a:solidFill>
                  </a:tcPr>
                </a:tc>
                <a:extLst>
                  <a:ext uri="{0D108BD9-81ED-4DB2-BD59-A6C34878D82A}">
                    <a16:rowId xmlns:a16="http://schemas.microsoft.com/office/drawing/2014/main" val="3912065329"/>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17p12 recurrent (HNPP/CMT1A) region (includes PMP22) gain</a:t>
                      </a:r>
                    </a:p>
                  </a:txBody>
                  <a:tcPr marL="81525" marR="81525" marT="9525" marB="0" anchor="ctr">
                    <a:lnR w="635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&lt;&lt;17p12 recurrent (HNPP/CMT1A) region (includes PMP22)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tcPr>
                </a:tc>
                <a:tc>
                  <a:txBody>
                    <a:bodyPr/>
                    <a:lstStyle/>
                    <a:p>
                      <a:pPr algn="ctr" fontAlgn="ctr">
                        <a:buNone/>
                      </a:pPr>
                      <a:r>
                        <a:rPr lang="en-US" sz="600" b="0" i="0" u="none" strike="noStrike">
                          <a:solidFill>
                            <a:srgbClr val="000000"/>
                          </a:solidFill>
                          <a:effectLst/>
                          <a:latin typeface="Calibri" panose="020F0502020204030204" pitchFamily="34" charset="0"/>
                        </a:rPr>
                        <a:t>Xq28 recurrent region (includes GDI1)</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&lt;&lt;Xq28 recurrent region (includes GDI1)&gt;&gt;</a:t>
                      </a:r>
                    </a:p>
                  </a:txBody>
                  <a:tcPr anchor="ctr">
                    <a:lnL w="635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1400828428"/>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17p12 recurrent (HNPP/CMT1A) region (includes PMP22) loss</a:t>
                      </a:r>
                    </a:p>
                  </a:txBody>
                  <a:tcPr marL="81525" marR="81525" marT="9525" marB="0" anchor="ctr">
                    <a:lnR w="6350" cap="flat" cmpd="sng" algn="ctr">
                      <a:solidFill>
                        <a:schemeClr val="bg1"/>
                      </a:solidFill>
                      <a:prstDash val="solid"/>
                      <a:round/>
                      <a:headEnd type="none" w="med" len="med"/>
                      <a:tailEnd type="none" w="med" len="med"/>
                    </a:lnR>
                    <a:lnB>
                      <a:noFill/>
                    </a:lnB>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&lt;&lt;17p12 recurrent (HNPP/CMT1A) region (includes PMP22) loss&gt;&gt;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B>
                      <a:noFill/>
                    </a:lnB>
                    <a:solidFill>
                      <a:srgbClr val="E6F6FA"/>
                    </a:solidFill>
                  </a:tcPr>
                </a:tc>
                <a:tc>
                  <a:txBody>
                    <a:bodyPr/>
                    <a:lstStyle/>
                    <a:p>
                      <a:pPr algn="ctr" fontAlgn="ctr">
                        <a:buNone/>
                      </a:pPr>
                      <a:r>
                        <a:rPr lang="en-US" sz="600" b="0" i="0" u="none" strike="noStrike">
                          <a:solidFill>
                            <a:srgbClr val="000000"/>
                          </a:solidFill>
                          <a:effectLst/>
                          <a:latin typeface="Calibri" panose="020F0502020204030204" pitchFamily="34" charset="0"/>
                        </a:rPr>
                        <a:t>Xq28 recurrent region (int22h1/int22h2-flanked) (includes RAB39B) gain</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B>
                      <a:noFill/>
                    </a:lnB>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&lt;&lt;Xq28 recurrent region (int22h1/int22h2-flanked) (includes RAB39B) gain&gt;&gt;</a:t>
                      </a:r>
                    </a:p>
                  </a:txBody>
                  <a:tcPr anchor="ctr">
                    <a:lnL w="6350" cap="flat" cmpd="sng" algn="ctr">
                      <a:solidFill>
                        <a:schemeClr val="bg1"/>
                      </a:solidFill>
                      <a:prstDash val="solid"/>
                      <a:round/>
                      <a:headEnd type="none" w="med" len="med"/>
                      <a:tailEnd type="none" w="med" len="med"/>
                    </a:lnL>
                    <a:lnB>
                      <a:noFill/>
                    </a:lnB>
                    <a:solidFill>
                      <a:srgbClr val="E6F6FA"/>
                    </a:solidFill>
                  </a:tcPr>
                </a:tc>
                <a:extLst>
                  <a:ext uri="{0D108BD9-81ED-4DB2-BD59-A6C34878D82A}">
                    <a16:rowId xmlns:a16="http://schemas.microsoft.com/office/drawing/2014/main" val="451148163"/>
                  </a:ext>
                </a:extLst>
              </a:tr>
              <a:tr h="187403">
                <a:tc>
                  <a:txBody>
                    <a:bodyPr/>
                    <a:lstStyle/>
                    <a:p>
                      <a:pPr algn="ctr" fontAlgn="ctr">
                        <a:buNone/>
                      </a:pPr>
                      <a:r>
                        <a:rPr lang="en-US" sz="600" b="0" i="0" u="none" strike="noStrike">
                          <a:solidFill>
                            <a:srgbClr val="000000"/>
                          </a:solidFill>
                          <a:effectLst/>
                          <a:latin typeface="Calibri" panose="020F0502020204030204" pitchFamily="34" charset="0"/>
                          <a:cs typeface="Calibri" panose="020F0502020204030204" pitchFamily="34" charset="0"/>
                        </a:rPr>
                        <a:t>17p13.3 (Miller-Dieker syndrome) region (includes YWHAE and PAFAH1B1) gain</a:t>
                      </a:r>
                    </a:p>
                  </a:txBody>
                  <a:tcPr marL="81525" marR="81525" marT="9525" marB="0" anchor="ctr">
                    <a:lnL>
                      <a:noFill/>
                    </a:lnL>
                    <a:lnR w="635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&lt;&lt;17p13.3 (Miller-Dieker syndrome) region (includes YWHAE and PAFAH1B1) gain&gt;&gt;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tcPr>
                </a:tc>
                <a:tc>
                  <a:txBody>
                    <a:bodyPr/>
                    <a:lstStyle/>
                    <a:p>
                      <a:pPr algn="ctr" fontAlgn="ctr">
                        <a:buNone/>
                      </a:pPr>
                      <a:r>
                        <a:rPr lang="en-US" sz="600" b="0" i="0" u="none" strike="noStrike" dirty="0">
                          <a:solidFill>
                            <a:srgbClr val="000000"/>
                          </a:solidFill>
                          <a:effectLst/>
                          <a:latin typeface="Calibri" panose="020F0502020204030204" pitchFamily="34" charset="0"/>
                        </a:rPr>
                        <a:t>Xq28 recurrent region (int22h1/int22h2-flanked) (includes RAB39B) loss</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&lt;&lt;Xq28 recurrent region (int22h1/int22h2-flanked) (includes RAB39B) loss&gt;&gt;</a:t>
                      </a:r>
                    </a:p>
                  </a:txBody>
                  <a:tcPr anchor="ctr">
                    <a:lnL w="6350" cap="flat" cmpd="sng" algn="ctr">
                      <a:solidFill>
                        <a:schemeClr val="bg1"/>
                      </a:solidFill>
                      <a:prstDash val="solid"/>
                      <a:round/>
                      <a:headEnd type="none" w="med" len="med"/>
                      <a:tailEnd type="none" w="med" len="med"/>
                    </a:lnL>
                    <a:lnR>
                      <a:noFill/>
                    </a:lnR>
                    <a:lnT>
                      <a:noFill/>
                    </a:lnT>
                    <a:lnB w="25400" cmpd="sng">
                      <a:noFill/>
                    </a:lnB>
                    <a:lnTlToBr w="12700" cmpd="sng">
                      <a:noFill/>
                      <a:prstDash val="solid"/>
                    </a:lnTlToBr>
                    <a:lnBlToTr w="12700" cmpd="sng">
                      <a:noFill/>
                      <a:prstDash val="solid"/>
                    </a:lnBlToTr>
                  </a:tcPr>
                </a:tc>
                <a:extLst>
                  <a:ext uri="{0D108BD9-81ED-4DB2-BD59-A6C34878D82A}">
                    <a16:rowId xmlns:a16="http://schemas.microsoft.com/office/drawing/2014/main" val="3005158876"/>
                  </a:ext>
                </a:extLst>
              </a:tr>
              <a:tr h="187403">
                <a:tc>
                  <a:txBody>
                    <a:bodyPr/>
                    <a:lstStyle/>
                    <a:p>
                      <a:pPr algn="ctr" fontAlgn="ctr">
                        <a:buNone/>
                      </a:pPr>
                      <a:r>
                        <a:rPr lang="en-US" sz="600" b="0" i="0" u="none" strike="noStrike" dirty="0">
                          <a:solidFill>
                            <a:srgbClr val="000000"/>
                          </a:solidFill>
                          <a:effectLst/>
                          <a:latin typeface="Calibri" panose="020F0502020204030204" pitchFamily="34" charset="0"/>
                          <a:cs typeface="Calibri" panose="020F0502020204030204" pitchFamily="34" charset="0"/>
                        </a:rPr>
                        <a:t>17p13.3 (Miller-Dieker syndrome) region (includes YWHAE and PAFAH1B1) loss</a:t>
                      </a:r>
                    </a:p>
                  </a:txBody>
                  <a:tcPr marL="81525" marR="81525" marT="9525" marB="0" anchor="ctr">
                    <a:lnL>
                      <a:noFill/>
                    </a:lnL>
                    <a:lnR w="635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&lt;&lt;17p13.3 (Miller-Dieker syndrome) region (includes YWHAE and PAFAH1B1) loss&gt;&gt;</a:t>
                      </a: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solidFill>
                      <a:srgbClr val="E6F6FA"/>
                    </a:solidFill>
                  </a:tcPr>
                </a:tc>
                <a:tc>
                  <a:txBody>
                    <a:bodyPr/>
                    <a:lstStyle/>
                    <a:p>
                      <a:pPr algn="ctr" fontAlgn="ctr">
                        <a:buNone/>
                      </a:pPr>
                      <a:r>
                        <a:rPr lang="en-US" sz="600" b="0" i="0" u="none" strike="noStrike" dirty="0">
                          <a:solidFill>
                            <a:srgbClr val="000000"/>
                          </a:solidFill>
                          <a:effectLst/>
                          <a:latin typeface="Calibri" panose="020F0502020204030204" pitchFamily="34" charset="0"/>
                        </a:rPr>
                        <a:t>Xq28 region (includes MECP2) gain</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solidFill>
                      <a:srgbClr val="E6F6FA"/>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a:t>
                      </a:r>
                      <a:r>
                        <a:rPr lang="en-US" sz="600" b="0" i="0" u="none" strike="noStrike" dirty="0">
                          <a:solidFill>
                            <a:srgbClr val="000000"/>
                          </a:solidFill>
                          <a:effectLst/>
                          <a:latin typeface="Calibri" panose="020F0502020204030204" pitchFamily="34" charset="0"/>
                        </a:rPr>
                        <a:t>Xq28 region (includes MECP2) gain</a:t>
                      </a:r>
                      <a:r>
                        <a:rPr lang="en-US" sz="600" b="0" dirty="0">
                          <a:solidFill>
                            <a:schemeClr val="tx1"/>
                          </a:solidFill>
                          <a:latin typeface="Calibri" panose="020F0502020204030204" pitchFamily="34" charset="0"/>
                          <a:cs typeface="Calibri" panose="020F0502020204030204" pitchFamily="34" charset="0"/>
                        </a:rPr>
                        <a:t>&gt;&gt;</a:t>
                      </a:r>
                    </a:p>
                  </a:txBody>
                  <a:tcPr anchor="ctr">
                    <a:lnL w="6350" cap="flat" cmpd="sng" algn="ctr">
                      <a:solidFill>
                        <a:schemeClr val="bg1"/>
                      </a:solidFill>
                      <a:prstDash val="solid"/>
                      <a:round/>
                      <a:headEnd type="none" w="med" len="med"/>
                      <a:tailEnd type="none" w="med" len="med"/>
                    </a:lnL>
                    <a:lnR>
                      <a:noFill/>
                    </a:lnR>
                    <a:lnT>
                      <a:noFill/>
                    </a:lnT>
                    <a:lnB w="25400" cmpd="sng">
                      <a:noFill/>
                    </a:lnB>
                    <a:lnTlToBr w="12700" cmpd="sng">
                      <a:noFill/>
                      <a:prstDash val="solid"/>
                    </a:lnTlToBr>
                    <a:lnBlToTr w="12700" cmpd="sng">
                      <a:noFill/>
                      <a:prstDash val="solid"/>
                    </a:lnBlToTr>
                    <a:solidFill>
                      <a:srgbClr val="E6F6FA"/>
                    </a:solidFill>
                  </a:tcPr>
                </a:tc>
                <a:extLst>
                  <a:ext uri="{0D108BD9-81ED-4DB2-BD59-A6C34878D82A}">
                    <a16:rowId xmlns:a16="http://schemas.microsoft.com/office/drawing/2014/main" val="1606603396"/>
                  </a:ext>
                </a:extLst>
              </a:tr>
              <a:tr h="187403">
                <a:tc>
                  <a:txBody>
                    <a:bodyPr/>
                    <a:lstStyle/>
                    <a:p>
                      <a:pPr algn="ctr" fontAlgn="ctr">
                        <a:buNone/>
                      </a:pPr>
                      <a:endParaRPr lang="en-US" sz="600" b="0" i="0" u="none" strike="noStrike" dirty="0">
                        <a:solidFill>
                          <a:srgbClr val="000000"/>
                        </a:solidFill>
                        <a:effectLst/>
                        <a:latin typeface="Calibri" panose="020F0502020204030204" pitchFamily="34" charset="0"/>
                        <a:cs typeface="Calibri" panose="020F0502020204030204" pitchFamily="34" charset="0"/>
                      </a:endParaRPr>
                    </a:p>
                  </a:txBody>
                  <a:tcPr marL="9525" marR="9525" marT="9525" marB="0" anchor="ctr">
                    <a:lnL>
                      <a:noFill/>
                    </a:lnL>
                    <a:lnR w="635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solidFill>
                      <a:schemeClr val="bg1"/>
                    </a:solidFill>
                  </a:tcPr>
                </a:tc>
                <a:tc>
                  <a:txBody>
                    <a:bodyPr/>
                    <a:lstStyle/>
                    <a:p>
                      <a:pPr algn="ctr"/>
                      <a:endParaRPr lang="en-US" sz="600" b="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7620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solidFill>
                      <a:schemeClr val="bg1"/>
                    </a:solidFill>
                  </a:tcPr>
                </a:tc>
                <a:tc>
                  <a:txBody>
                    <a:bodyPr/>
                    <a:lstStyle/>
                    <a:p>
                      <a:pPr algn="ctr" fontAlgn="ctr">
                        <a:buNone/>
                      </a:pPr>
                      <a:r>
                        <a:rPr lang="en-US" sz="600" b="0" i="0" u="none" strike="noStrike" dirty="0">
                          <a:solidFill>
                            <a:srgbClr val="000000"/>
                          </a:solidFill>
                          <a:effectLst/>
                          <a:latin typeface="Calibri" panose="020F0502020204030204" pitchFamily="34" charset="0"/>
                        </a:rPr>
                        <a:t>Xq28 region (includes MECP2) loss</a:t>
                      </a:r>
                    </a:p>
                  </a:txBody>
                  <a:tcPr marL="81525" marR="81525" marT="9525" marB="0" anchor="ctr">
                    <a:lnL w="7620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a:noFill/>
                    </a:lnT>
                    <a:lnB w="25400" cmpd="sng">
                      <a:noFill/>
                    </a:lnB>
                    <a:lnTlToBr w="12700" cmpd="sng">
                      <a:noFill/>
                      <a:prstDash val="solid"/>
                    </a:lnTlToBr>
                    <a:lnBlToTr w="12700" cmpd="sng">
                      <a:noFill/>
                      <a:prstDash val="solid"/>
                    </a:lnBlToTr>
                    <a:solidFill>
                      <a:schemeClr val="bg1"/>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00" b="0" dirty="0">
                          <a:solidFill>
                            <a:schemeClr val="tx1"/>
                          </a:solidFill>
                          <a:latin typeface="Calibri" panose="020F0502020204030204" pitchFamily="34" charset="0"/>
                          <a:cs typeface="Calibri" panose="020F0502020204030204" pitchFamily="34" charset="0"/>
                        </a:rPr>
                        <a:t>&lt;&lt;</a:t>
                      </a:r>
                      <a:r>
                        <a:rPr lang="en-US" sz="600" b="0" i="0" u="none" strike="noStrike" dirty="0">
                          <a:solidFill>
                            <a:srgbClr val="000000"/>
                          </a:solidFill>
                          <a:effectLst/>
                          <a:latin typeface="Calibri" panose="020F0502020204030204" pitchFamily="34" charset="0"/>
                        </a:rPr>
                        <a:t>Xq28 region (includes MECP2) loss</a:t>
                      </a:r>
                      <a:r>
                        <a:rPr lang="en-US" sz="600" b="0" dirty="0">
                          <a:solidFill>
                            <a:schemeClr val="tx1"/>
                          </a:solidFill>
                          <a:latin typeface="Calibri" panose="020F0502020204030204" pitchFamily="34" charset="0"/>
                          <a:cs typeface="Calibri" panose="020F0502020204030204" pitchFamily="34" charset="0"/>
                        </a:rPr>
                        <a:t>&gt;&gt;</a:t>
                      </a:r>
                    </a:p>
                  </a:txBody>
                  <a:tcPr anchor="ctr">
                    <a:lnL w="6350" cap="flat" cmpd="sng" algn="ctr">
                      <a:solidFill>
                        <a:schemeClr val="bg1"/>
                      </a:solidFill>
                      <a:prstDash val="solid"/>
                      <a:round/>
                      <a:headEnd type="none" w="med" len="med"/>
                      <a:tailEnd type="none" w="med" len="med"/>
                    </a:lnL>
                    <a:lnR>
                      <a:noFill/>
                    </a:lnR>
                    <a:lnT>
                      <a:noFill/>
                    </a:lnT>
                    <a:lnB w="254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49123027"/>
                  </a:ext>
                </a:extLst>
              </a:tr>
            </a:tbl>
          </a:graphicData>
        </a:graphic>
      </p:graphicFrame>
    </p:spTree>
    <p:extLst>
      <p:ext uri="{BB962C8B-B14F-4D97-AF65-F5344CB8AC3E}">
        <p14:creationId xmlns:p14="http://schemas.microsoft.com/office/powerpoint/2010/main" val="351761256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13076</TotalTime>
  <Words>4838</Words>
  <Application>Microsoft Macintosh PowerPoint</Application>
  <PresentationFormat>A4 용지(210x297mm)</PresentationFormat>
  <Paragraphs>698</Paragraphs>
  <Slides>6</Slides>
  <Notes>3</Notes>
  <HiddenSlides>0</HiddenSlides>
  <MMClips>0</MMClips>
  <ScaleCrop>false</ScaleCrop>
  <HeadingPairs>
    <vt:vector size="6" baseType="variant">
      <vt:variant>
        <vt:lpstr>사용한 글꼴</vt:lpstr>
      </vt:variant>
      <vt:variant>
        <vt:i4>5</vt:i4>
      </vt:variant>
      <vt:variant>
        <vt:lpstr>테마</vt:lpstr>
      </vt:variant>
      <vt:variant>
        <vt:i4>1</vt:i4>
      </vt:variant>
      <vt:variant>
        <vt:lpstr>슬라이드 제목</vt:lpstr>
      </vt:variant>
      <vt:variant>
        <vt:i4>6</vt:i4>
      </vt:variant>
    </vt:vector>
  </HeadingPairs>
  <TitlesOfParts>
    <vt:vector size="12" baseType="lpstr">
      <vt:lpstr>Aptos</vt:lpstr>
      <vt:lpstr>Aptos Display</vt:lpstr>
      <vt:lpstr>Aptos Narrow</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권혁중/컴퓨터공학과</cp:lastModifiedBy>
  <cp:revision>126</cp:revision>
  <dcterms:created xsi:type="dcterms:W3CDTF">2024-06-13T04:30:46Z</dcterms:created>
  <dcterms:modified xsi:type="dcterms:W3CDTF">2025-12-12T10:52:14Z</dcterms:modified>
</cp:coreProperties>
</file>