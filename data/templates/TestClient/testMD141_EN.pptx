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91" r:id="rId2"/>
    <p:sldId id="292" r:id="rId3"/>
    <p:sldId id="293" r:id="rId4"/>
    <p:sldId id="294" r:id="rId5"/>
    <p:sldId id="295" r:id="rId6"/>
    <p:sldId id="296" r:id="rId7"/>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7FB"/>
    <a:srgbClr val="0F9ED5"/>
    <a:srgbClr val="00A6C8"/>
    <a:srgbClr val="099049"/>
    <a:srgbClr val="009A43"/>
    <a:srgbClr val="E5F6F9"/>
    <a:srgbClr val="1975C0"/>
    <a:srgbClr val="5E2E8C"/>
    <a:srgbClr val="632C8F"/>
    <a:srgbClr val="1973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7" autoAdjust="0"/>
  </p:normalViewPr>
  <p:slideViewPr>
    <p:cSldViewPr snapToGrid="0">
      <p:cViewPr varScale="1">
        <p:scale>
          <a:sx n="200" d="100"/>
          <a:sy n="200" d="100"/>
        </p:scale>
        <p:origin x="54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12/12/25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5</a:t>
            </a:fld>
            <a:endParaRPr lang="en-US"/>
          </a:p>
        </p:txBody>
      </p:sp>
    </p:spTree>
    <p:extLst>
      <p:ext uri="{BB962C8B-B14F-4D97-AF65-F5344CB8AC3E}">
        <p14:creationId xmlns:p14="http://schemas.microsoft.com/office/powerpoint/2010/main" val="2239716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6</a:t>
            </a:fld>
            <a:endParaRPr lang="en-US"/>
          </a:p>
        </p:txBody>
      </p:sp>
    </p:spTree>
    <p:extLst>
      <p:ext uri="{BB962C8B-B14F-4D97-AF65-F5344CB8AC3E}">
        <p14:creationId xmlns:p14="http://schemas.microsoft.com/office/powerpoint/2010/main" val="535344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12/12/25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12/12/25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12/12/25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12/12/25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463180845"/>
              </p:ext>
            </p:extLst>
          </p:nvPr>
        </p:nvGraphicFramePr>
        <p:xfrm>
          <a:off x="446345" y="3545404"/>
          <a:ext cx="5984582" cy="29794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r h="0">
                <a:tc>
                  <a:txBody>
                    <a:bodyPr/>
                    <a:lstStyle/>
                    <a:p>
                      <a:pPr algn="ctr"/>
                      <a:r>
                        <a:rPr lang="en-US" sz="900" b="1" dirty="0">
                          <a:latin typeface="Calibri" panose="020F0502020204030204" pitchFamily="34" charset="0"/>
                          <a:cs typeface="Calibri" panose="020F0502020204030204" pitchFamily="34" charset="0"/>
                        </a:rPr>
                        <a:t>All other autosomal trisomy</a:t>
                      </a:r>
                      <a:endParaRPr lang="en-US" sz="9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0F06577-050C-DA83-E796-2D16426E0577}"/>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8D2D84F-EBCB-B535-BE18-2C74C22985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6" name="TextBox 5">
            <a:extLst>
              <a:ext uri="{FF2B5EF4-FFF2-40B4-BE49-F238E27FC236}">
                <a16:creationId xmlns:a16="http://schemas.microsoft.com/office/drawing/2014/main" id="{0DE4E1DF-FA60-64CC-CB44-295D57F987A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85061960"/>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a:latin typeface="Calibri" panose="020F0502020204030204" pitchFamily="34" charset="0"/>
                <a:ea typeface="Calibri"/>
                <a:cs typeface="Calibri" panose="020F0502020204030204" pitchFamily="34" charset="0"/>
                <a:sym typeface="Calibri"/>
              </a:rPr>
              <a:t>&lt;&lt;MDI&gt;&gt;</a:t>
            </a:r>
            <a:endParaRPr lang="en-US" sz="900" dirty="0">
              <a:latin typeface="Calibri" panose="020F0502020204030204" pitchFamily="34" charset="0"/>
              <a:ea typeface="Calibri"/>
              <a:cs typeface="Calibri" panose="020F0502020204030204" pitchFamily="34" charset="0"/>
              <a:sym typeface="Calibri"/>
            </a:endParaRP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BE2EE0-1DC1-3EFE-98A7-C8F885D08453}"/>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4F68ADEC-4881-12C0-72DD-48C0000A6FC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5" name="TextBox 4">
            <a:extLst>
              <a:ext uri="{FF2B5EF4-FFF2-40B4-BE49-F238E27FC236}">
                <a16:creationId xmlns:a16="http://schemas.microsoft.com/office/drawing/2014/main" id="{9D01A6CA-7C28-CEC3-1DC6-63616F850B77}"/>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D6E33E2-92D8-CBE3-2FD2-C23D08E32BB7}"/>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2" name="TextBox 1">
            <a:extLst>
              <a:ext uri="{FF2B5EF4-FFF2-40B4-BE49-F238E27FC236}">
                <a16:creationId xmlns:a16="http://schemas.microsoft.com/office/drawing/2014/main" id="{82B48AB4-9149-0801-2B88-7EFD933C22B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6177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Autosomal Chromosomes Aneuploidies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7" name="Table 16">
            <a:extLst>
              <a:ext uri="{FF2B5EF4-FFF2-40B4-BE49-F238E27FC236}">
                <a16:creationId xmlns:a16="http://schemas.microsoft.com/office/drawing/2014/main" id="{D4D46825-2C1F-0A8F-13BB-094F3348A626}"/>
              </a:ext>
            </a:extLst>
          </p:cNvPr>
          <p:cNvGraphicFramePr>
            <a:graphicFrameLocks noGrp="1"/>
          </p:cNvGraphicFramePr>
          <p:nvPr>
            <p:extLst>
              <p:ext uri="{D42A27DB-BD31-4B8C-83A1-F6EECF244321}">
                <p14:modId xmlns:p14="http://schemas.microsoft.com/office/powerpoint/2010/main" val="2545498166"/>
              </p:ext>
            </p:extLst>
          </p:nvPr>
        </p:nvGraphicFramePr>
        <p:xfrm>
          <a:off x="446345" y="2300803"/>
          <a:ext cx="5252706" cy="4664536"/>
        </p:xfrm>
        <a:graphic>
          <a:graphicData uri="http://schemas.openxmlformats.org/drawingml/2006/table">
            <a:tbl>
              <a:tblPr firstRow="1" bandRow="1">
                <a:tableStyleId>{EB9631B5-78F2-41C9-869B-9F39066F8104}</a:tableStyleId>
              </a:tblPr>
              <a:tblGrid>
                <a:gridCol w="2758031">
                  <a:extLst>
                    <a:ext uri="{9D8B030D-6E8A-4147-A177-3AD203B41FA5}">
                      <a16:colId xmlns:a16="http://schemas.microsoft.com/office/drawing/2014/main" val="539532219"/>
                    </a:ext>
                  </a:extLst>
                </a:gridCol>
                <a:gridCol w="2494675">
                  <a:extLst>
                    <a:ext uri="{9D8B030D-6E8A-4147-A177-3AD203B41FA5}">
                      <a16:colId xmlns:a16="http://schemas.microsoft.com/office/drawing/2014/main" val="3883297624"/>
                    </a:ext>
                  </a:extLst>
                </a:gridCol>
              </a:tblGrid>
              <a:tr h="282440">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273881">
                <a:tc>
                  <a:txBody>
                    <a:bodyPr/>
                    <a:lstStyle/>
                    <a:p>
                      <a:pPr algn="ctr"/>
                      <a:r>
                        <a:rPr lang="en-US" sz="1000" b="1" dirty="0">
                          <a:latin typeface="Calibri" panose="020F0502020204030204" pitchFamily="34" charset="0"/>
                          <a:cs typeface="Calibri" panose="020F0502020204030204" pitchFamily="34" charset="0"/>
                        </a:rPr>
                        <a:t>Trisomy 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273881">
                <a:tc>
                  <a:txBody>
                    <a:bodyPr/>
                    <a:lstStyle/>
                    <a:p>
                      <a:pPr algn="ctr"/>
                      <a:r>
                        <a:rPr lang="en-US" sz="1000" b="1" dirty="0">
                          <a:latin typeface="Calibri" panose="020F0502020204030204" pitchFamily="34" charset="0"/>
                          <a:cs typeface="Calibri" panose="020F0502020204030204" pitchFamily="34" charset="0"/>
                        </a:rPr>
                        <a:t>Trisomy 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20442383"/>
                  </a:ext>
                </a:extLst>
              </a:tr>
              <a:tr h="273881">
                <a:tc>
                  <a:txBody>
                    <a:bodyPr/>
                    <a:lstStyle/>
                    <a:p>
                      <a:pPr algn="ctr"/>
                      <a:r>
                        <a:rPr lang="en-US" sz="1000" b="1" dirty="0">
                          <a:latin typeface="Calibri" panose="020F0502020204030204" pitchFamily="34" charset="0"/>
                          <a:cs typeface="Calibri" panose="020F0502020204030204" pitchFamily="34" charset="0"/>
                        </a:rPr>
                        <a:t>Trisomy 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273881">
                <a:tc>
                  <a:txBody>
                    <a:bodyPr/>
                    <a:lstStyle/>
                    <a:p>
                      <a:pPr algn="ctr"/>
                      <a:r>
                        <a:rPr lang="en-US" sz="1000" b="1" dirty="0">
                          <a:latin typeface="Calibri" panose="020F0502020204030204" pitchFamily="34" charset="0"/>
                          <a:cs typeface="Calibri" panose="020F0502020204030204" pitchFamily="34" charset="0"/>
                        </a:rPr>
                        <a:t>Trisomy 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979932079"/>
                  </a:ext>
                </a:extLst>
              </a:tr>
              <a:tr h="273881">
                <a:tc>
                  <a:txBody>
                    <a:bodyPr/>
                    <a:lstStyle/>
                    <a:p>
                      <a:pPr algn="ctr"/>
                      <a:r>
                        <a:rPr lang="en-US" sz="1000" b="1" dirty="0">
                          <a:latin typeface="Calibri" panose="020F0502020204030204" pitchFamily="34" charset="0"/>
                          <a:cs typeface="Calibri" panose="020F0502020204030204" pitchFamily="34" charset="0"/>
                        </a:rPr>
                        <a:t>Trisomy 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273881">
                <a:tc>
                  <a:txBody>
                    <a:bodyPr/>
                    <a:lstStyle/>
                    <a:p>
                      <a:pPr algn="ctr"/>
                      <a:r>
                        <a:rPr lang="en-US" sz="1000" b="1" dirty="0">
                          <a:latin typeface="Calibri" panose="020F0502020204030204" pitchFamily="34" charset="0"/>
                          <a:cs typeface="Calibri" panose="020F0502020204030204" pitchFamily="34" charset="0"/>
                        </a:rPr>
                        <a:t>Trisomy 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14447478"/>
                  </a:ext>
                </a:extLst>
              </a:tr>
              <a:tr h="273881">
                <a:tc>
                  <a:txBody>
                    <a:bodyPr/>
                    <a:lstStyle/>
                    <a:p>
                      <a:pPr algn="ctr"/>
                      <a:r>
                        <a:rPr lang="en-US" sz="1000" b="1" dirty="0">
                          <a:latin typeface="Calibri" panose="020F0502020204030204" pitchFamily="34" charset="0"/>
                          <a:cs typeface="Calibri" panose="020F0502020204030204" pitchFamily="34" charset="0"/>
                        </a:rPr>
                        <a:t>Trisomy 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273881">
                <a:tc>
                  <a:txBody>
                    <a:bodyPr/>
                    <a:lstStyle/>
                    <a:p>
                      <a:pPr algn="ctr"/>
                      <a:r>
                        <a:rPr lang="en-US" sz="1000" b="1" dirty="0">
                          <a:latin typeface="Calibri" panose="020F0502020204030204" pitchFamily="34" charset="0"/>
                          <a:cs typeface="Calibri" panose="020F0502020204030204" pitchFamily="34" charset="0"/>
                        </a:rPr>
                        <a:t>Trisomy 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51876"/>
                  </a:ext>
                </a:extLst>
              </a:tr>
              <a:tr h="273881">
                <a:tc>
                  <a:txBody>
                    <a:bodyPr/>
                    <a:lstStyle/>
                    <a:p>
                      <a:pPr algn="ctr"/>
                      <a:r>
                        <a:rPr lang="en-US" sz="1000" b="1" dirty="0">
                          <a:latin typeface="Calibri" panose="020F0502020204030204" pitchFamily="34" charset="0"/>
                          <a:cs typeface="Calibri" panose="020F0502020204030204" pitchFamily="34" charset="0"/>
                        </a:rPr>
                        <a:t>Trisomy 10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273881">
                <a:tc>
                  <a:txBody>
                    <a:bodyPr/>
                    <a:lstStyle/>
                    <a:p>
                      <a:pPr algn="ctr"/>
                      <a:r>
                        <a:rPr lang="en-US" sz="1000" b="1" dirty="0">
                          <a:latin typeface="Calibri" panose="020F0502020204030204" pitchFamily="34" charset="0"/>
                          <a:cs typeface="Calibri" panose="020F0502020204030204" pitchFamily="34" charset="0"/>
                        </a:rPr>
                        <a:t>Trisomy 11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550806044"/>
                  </a:ext>
                </a:extLst>
              </a:tr>
              <a:tr h="273881">
                <a:tc>
                  <a:txBody>
                    <a:bodyPr/>
                    <a:lstStyle/>
                    <a:p>
                      <a:pPr algn="ctr"/>
                      <a:r>
                        <a:rPr lang="en-US" sz="1000" b="1" dirty="0">
                          <a:latin typeface="Calibri" panose="020F0502020204030204" pitchFamily="34" charset="0"/>
                          <a:cs typeface="Calibri" panose="020F0502020204030204" pitchFamily="34" charset="0"/>
                        </a:rPr>
                        <a:t>Trisomy 12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r h="273881">
                <a:tc>
                  <a:txBody>
                    <a:bodyPr/>
                    <a:lstStyle/>
                    <a:p>
                      <a:pPr algn="ctr"/>
                      <a:r>
                        <a:rPr lang="en-US" sz="1000" b="1" dirty="0">
                          <a:latin typeface="Calibri" panose="020F0502020204030204" pitchFamily="34" charset="0"/>
                          <a:cs typeface="Calibri" panose="020F0502020204030204" pitchFamily="34" charset="0"/>
                        </a:rPr>
                        <a:t>Trisomy 14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406997572"/>
                  </a:ext>
                </a:extLst>
              </a:tr>
              <a:tr h="273881">
                <a:tc>
                  <a:txBody>
                    <a:bodyPr/>
                    <a:lstStyle/>
                    <a:p>
                      <a:pPr algn="ctr"/>
                      <a:r>
                        <a:rPr lang="en-US" sz="1000" b="1" dirty="0">
                          <a:latin typeface="Calibri" panose="020F0502020204030204" pitchFamily="34" charset="0"/>
                          <a:cs typeface="Calibri" panose="020F0502020204030204" pitchFamily="34" charset="0"/>
                        </a:rPr>
                        <a:t>Trisomy 15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986977052"/>
                  </a:ext>
                </a:extLst>
              </a:tr>
              <a:tr h="273881">
                <a:tc>
                  <a:txBody>
                    <a:bodyPr/>
                    <a:lstStyle/>
                    <a:p>
                      <a:pPr algn="ctr"/>
                      <a:r>
                        <a:rPr lang="en-US" sz="1000" b="1" dirty="0">
                          <a:latin typeface="Calibri" panose="020F0502020204030204" pitchFamily="34" charset="0"/>
                          <a:cs typeface="Calibri" panose="020F0502020204030204" pitchFamily="34" charset="0"/>
                        </a:rPr>
                        <a:t>Trisomy 17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4273600014"/>
                  </a:ext>
                </a:extLst>
              </a:tr>
              <a:tr h="273881">
                <a:tc>
                  <a:txBody>
                    <a:bodyPr/>
                    <a:lstStyle/>
                    <a:p>
                      <a:pPr algn="ctr"/>
                      <a:r>
                        <a:rPr lang="en-US" sz="1000" b="1" dirty="0">
                          <a:latin typeface="Calibri" panose="020F0502020204030204" pitchFamily="34" charset="0"/>
                          <a:cs typeface="Calibri" panose="020F0502020204030204" pitchFamily="34" charset="0"/>
                        </a:rPr>
                        <a:t>Trisomy 19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750370171"/>
                  </a:ext>
                </a:extLst>
              </a:tr>
              <a:tr h="273881">
                <a:tc>
                  <a:txBody>
                    <a:bodyPr/>
                    <a:lstStyle/>
                    <a:p>
                      <a:pPr algn="ctr"/>
                      <a:r>
                        <a:rPr lang="en-US" sz="1000" b="1" dirty="0">
                          <a:latin typeface="Calibri" panose="020F0502020204030204" pitchFamily="34" charset="0"/>
                          <a:cs typeface="Calibri" panose="020F0502020204030204" pitchFamily="34" charset="0"/>
                        </a:rPr>
                        <a:t>Trisomy 20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617680281"/>
                  </a:ext>
                </a:extLst>
              </a:tr>
            </a:tbl>
          </a:graphicData>
        </a:graphic>
      </p:graphicFrame>
      <p:sp>
        <p:nvSpPr>
          <p:cNvPr id="15" name="TextBox 14">
            <a:extLst>
              <a:ext uri="{FF2B5EF4-FFF2-40B4-BE49-F238E27FC236}">
                <a16:creationId xmlns:a16="http://schemas.microsoft.com/office/drawing/2014/main" id="{297B99F4-C860-E3AC-84E7-8347D6F8A028}"/>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749A498A-96AF-06BA-6C9F-FEE84D1E51AC}"/>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CAA912D3-08FE-D409-2DCA-1C3C15C1DA7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F1DD5FEA-AD48-25A7-79DB-ADA509A8E0E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6A5E584-E0D0-EB41-8383-797CD651DAE0}"/>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4EC53A5-C6C6-B27D-A007-9917725692FE}"/>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D15DD255-FBF7-2DEF-FCC7-AFBAB3F2FE9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8AF61783-4E9F-6135-ACF9-97E7BDB6D88E}"/>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358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2</a:t>
            </a: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5" name="TextBox 4">
            <a:extLst>
              <a:ext uri="{FF2B5EF4-FFF2-40B4-BE49-F238E27FC236}">
                <a16:creationId xmlns:a16="http://schemas.microsoft.com/office/drawing/2014/main" id="{10C92CBA-7626-367C-8C94-4171AEFD885D}"/>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5515CD08-94EF-E556-6F1E-7AE8D89E58A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1EF4A7E-F207-ADB3-D11F-4153EE3E1171}"/>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F62C0D68-911E-B22B-2178-5B58D39EC7CF}"/>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700C3E-043C-94FD-6212-92BF90931EC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8" name="TextBox 17">
            <a:extLst>
              <a:ext uri="{FF2B5EF4-FFF2-40B4-BE49-F238E27FC236}">
                <a16:creationId xmlns:a16="http://schemas.microsoft.com/office/drawing/2014/main" id="{AFFFF080-BECA-4ED0-6787-EAC4BDE8F31B}"/>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FF9D795F-AC3A-78CE-8B33-300E1F29EC0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2DD0B603-A52C-1368-FBC0-FA017871DBF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18B7896A-4FD5-9ECE-C15B-867424E51E83}"/>
              </a:ext>
            </a:extLst>
          </p:cNvPr>
          <p:cNvSpPr txBox="1"/>
          <p:nvPr/>
        </p:nvSpPr>
        <p:spPr>
          <a:xfrm>
            <a:off x="427072" y="2002805"/>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EF4340E7-B558-482F-8301-B369CE3C8736}"/>
              </a:ext>
            </a:extLst>
          </p:cNvPr>
          <p:cNvSpPr txBox="1"/>
          <p:nvPr/>
        </p:nvSpPr>
        <p:spPr>
          <a:xfrm>
            <a:off x="430623" y="175983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6447A8C9-AC21-C3EC-3675-AAD78F2CEAE6}"/>
              </a:ext>
            </a:extLst>
          </p:cNvPr>
          <p:cNvGraphicFramePr>
            <a:graphicFrameLocks noGrp="1"/>
          </p:cNvGraphicFramePr>
          <p:nvPr/>
        </p:nvGraphicFramePr>
        <p:xfrm>
          <a:off x="427072" y="2224493"/>
          <a:ext cx="5996104" cy="8438946"/>
        </p:xfrm>
        <a:graphic>
          <a:graphicData uri="http://schemas.openxmlformats.org/drawingml/2006/table">
            <a:tbl>
              <a:tblPr firstRow="1" bandRow="1">
                <a:tableStyleId>{EB9631B5-78F2-41C9-869B-9F39066F8104}</a:tableStyleId>
              </a:tblPr>
              <a:tblGrid>
                <a:gridCol w="1499026">
                  <a:extLst>
                    <a:ext uri="{9D8B030D-6E8A-4147-A177-3AD203B41FA5}">
                      <a16:colId xmlns:a16="http://schemas.microsoft.com/office/drawing/2014/main" val="2337673480"/>
                    </a:ext>
                  </a:extLst>
                </a:gridCol>
                <a:gridCol w="1499026">
                  <a:extLst>
                    <a:ext uri="{9D8B030D-6E8A-4147-A177-3AD203B41FA5}">
                      <a16:colId xmlns:a16="http://schemas.microsoft.com/office/drawing/2014/main" val="2581359693"/>
                    </a:ext>
                  </a:extLst>
                </a:gridCol>
                <a:gridCol w="1499026">
                  <a:extLst>
                    <a:ext uri="{9D8B030D-6E8A-4147-A177-3AD203B41FA5}">
                      <a16:colId xmlns:a16="http://schemas.microsoft.com/office/drawing/2014/main" val="3877669906"/>
                    </a:ext>
                  </a:extLst>
                </a:gridCol>
                <a:gridCol w="1499026">
                  <a:extLst>
                    <a:ext uri="{9D8B030D-6E8A-4147-A177-3AD203B41FA5}">
                      <a16:colId xmlns:a16="http://schemas.microsoft.com/office/drawing/2014/main" val="1755932021"/>
                    </a:ext>
                  </a:extLst>
                </a:gridCol>
              </a:tblGrid>
              <a:tr h="212306">
                <a:tc>
                  <a:txBody>
                    <a:bodyPr/>
                    <a:lstStyle/>
                    <a:p>
                      <a:pPr algn="ctr"/>
                      <a:r>
                        <a:rPr lang="en-US" sz="800" dirty="0">
                          <a:latin typeface="Calibri" panose="020F0502020204030204" pitchFamily="34" charset="0"/>
                          <a:cs typeface="Calibri" panose="020F0502020204030204" pitchFamily="34" charset="0"/>
                        </a:rPr>
                        <a:t>Condition</a:t>
                      </a:r>
                    </a:p>
                  </a:txBody>
                  <a:tcPr>
                    <a:lnL>
                      <a:noFill/>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Condition</a:t>
                      </a:r>
                    </a:p>
                  </a:txBody>
                  <a:tcP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a:noFill/>
                    </a:lnR>
                    <a:lnT w="25400" cmpd="sng">
                      <a:noFill/>
                    </a:lnT>
                    <a:lnB w="25400" cmpd="sng">
                      <a:noFill/>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301789798"/>
                  </a:ext>
                </a:extLst>
              </a:tr>
              <a:tr h="192817">
                <a:tc>
                  <a:txBody>
                    <a:bodyPr/>
                    <a:lstStyle/>
                    <a:p>
                      <a:pPr algn="ctr" fontAlgn="ctr">
                        <a:buNone/>
                      </a:pPr>
                      <a:r>
                        <a:rPr lang="en-US" sz="600" b="0" i="0" u="none" strike="noStrike" dirty="0">
                          <a:solidFill>
                            <a:srgbClr val="000000"/>
                          </a:solidFill>
                          <a:effectLst/>
                          <a:latin typeface="Calibri" panose="020F0502020204030204" pitchFamily="34" charset="0"/>
                        </a:rPr>
                        <a:t>1p36 terminal region (includes GABRD) gain</a:t>
                      </a:r>
                    </a:p>
                  </a:txBody>
                  <a:tcPr marL="9525" marR="9525" marT="9525" marB="0" anchor="ctr">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&lt;&lt;1p36 terminal region (includes GABRD)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5p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5p&gt;&gt;</a:t>
                      </a:r>
                    </a:p>
                  </a:txBody>
                  <a:tcPr anchor="ctr">
                    <a:lnL w="6350" cap="flat" cmpd="sng" algn="ctr">
                      <a:solidFill>
                        <a:schemeClr val="bg1"/>
                      </a:solidFill>
                      <a:prstDash val="solid"/>
                      <a:round/>
                      <a:headEnd type="none" w="med" len="med"/>
                      <a:tailEnd type="none" w="med" len="med"/>
                    </a:lnL>
                    <a:lnT w="25400" cmpd="sng">
                      <a:noFill/>
                    </a:lnT>
                    <a:solidFill>
                      <a:srgbClr val="E6F6FA"/>
                    </a:solidFill>
                  </a:tcPr>
                </a:tc>
                <a:extLst>
                  <a:ext uri="{0D108BD9-81ED-4DB2-BD59-A6C34878D82A}">
                    <a16:rowId xmlns:a16="http://schemas.microsoft.com/office/drawing/2014/main" val="2171375672"/>
                  </a:ext>
                </a:extLst>
              </a:tr>
              <a:tr h="192817">
                <a:tc>
                  <a:txBody>
                    <a:bodyPr/>
                    <a:lstStyle/>
                    <a:p>
                      <a:pPr algn="ctr" fontAlgn="ctr">
                        <a:buNone/>
                      </a:pPr>
                      <a:r>
                        <a:rPr lang="en-US" sz="600" b="0" i="0" u="none" strike="noStrike" dirty="0">
                          <a:solidFill>
                            <a:srgbClr val="000000"/>
                          </a:solidFill>
                          <a:effectLst/>
                          <a:latin typeface="Calibri" panose="020F0502020204030204" pitchFamily="34" charset="0"/>
                        </a:rPr>
                        <a:t>1q21.1 recurrent region (distal, BP3-BP4) (includes GJA5)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&lt;&lt;1q21.1 recurrent region (distal, BP3-BP4) (includes GJA5) gain&gt;&gt;</a:t>
                      </a:r>
                    </a:p>
                  </a:txBody>
                  <a:tcPr marL="9525" marR="9525" marT="9525" marB="0"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5q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5q&gt;&gt;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87788622"/>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1q21.1 recurrent region (distal, BP3-BP4) (includes GJA5) loss</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&lt;&lt;1q21.1 recurrent region (distal, BP3-BP4) (includes GJA5) loss&gt;&gt;</a:t>
                      </a:r>
                    </a:p>
                  </a:txBody>
                  <a:tcPr marL="9525" marR="9525" marT="9525" marB="0"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5q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5q&gt;&gt;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268794827"/>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1q43q44 terminal region (includes AKT3)</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&lt;&lt;1q43q44 terminal region (includes AKT3)&gt;&gt;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6q24 region (includes PLAGL1)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&lt;&lt;6q24 region (includes PLAGL1)&gt;&gt;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404084517"/>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1p</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1p&gt;&gt;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6p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6p&gt;&gt;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7081592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1q21-q32</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1q21-q32&gt;&gt;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6q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6q&gt;&gt;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82838145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1q42-qter</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1q42-qter&gt;&gt;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6q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6q&gt;&gt;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62371862"/>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Trisomy 1q23-qter</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1q23-qter&gt;&gt;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7p22.1 region (includes ACTB)</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&lt;&lt;7p22.1 region (includes ACTB)&gt;&gt;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318104625"/>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2p15p16.1 region (includes BCL11A)</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&lt;&lt;2p15p16.1 region (includes BCL11A)&gt;&gt;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7q11.23 recurrent (Williams-Beuren syndrome) region (includes ELN)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&lt;&lt;7q11.23 recurrent (Williams-Beuren syndrome) region (includes ELN) gain&gt;&gt;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667231018"/>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2p24.3 MYCN-DDX1 duplication region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&lt;&lt;2p24.3 MYCN-DDX1 duplication region&gt;&gt;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7q11.23 recurrent distal region (includes HIP1, YWHAG)</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&lt;&lt;7q11.23 recurrent distal region (includes HIP1, YWHAG)&gt;&gt;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671089960"/>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2q11.2 recurrent region (includes ARID5A, TMEM127)</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&lt;&lt;2q11.2 recurrent region (includes ARID5A, TMEM127)&gt;&gt;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7q36.3 ZRS (SHH cis-regulatory) duplication region (within LMBR1 intron 5)</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&lt;&lt;7q36.3 ZRS (SHH cis-regulatory) duplication region (within LMBR1 intron 5)&gt;&gt;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96609756"/>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2q13 recurrent region (distal) (includes BCL2L11)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&lt;&lt;2q13 recurrent region (distal) (includes BCL2L11)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7p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7p&gt;&gt;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006001716"/>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2q13 recurrent region (distal) (includes BCL2L11) loss</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&lt;&lt;2q13 recurrent region (distal) (includes BCL2L11)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7p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7p&gt;&gt;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268420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2p</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2p&gt;&gt;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monosomy 7q32-qter</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7q32-qter&gt;&gt;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22223212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2p</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2p&gt;&gt;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Trisomy 7q21-q31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&lt;&lt;Trisomy 7q21-q31&gt;&gt;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4611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2q</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2q&gt;&gt;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Trisomy 7q32-qter</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7q32-qter&gt;&gt;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22872700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2q</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2q&gt;&gt;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8p23.1 recurrent region (includes GATA4)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&lt;&lt;8p23.1 recurrent region (includes GATA4) gain&gt;&gt;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890126958"/>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3q24 Region (includes ZIC1)</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&lt;&lt;3q24 Region (includes ZIC1)&gt;&gt;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8p23.1 recurrent region (includes GATA4)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&lt;&lt;8p23.1 recurrent region (includes GATA4) loss&gt;&gt;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628920137"/>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3q29 recurrent region (includes DLG1)</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&lt;&lt;3q29 recurrent region (includes DLG1)&gt;&gt;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8q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8q&gt;&gt;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76814417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3p11-p21</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3p11-p21&gt;&gt;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9p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9p&gt;&gt;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66142583"/>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3p25-pter</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3p25-pter&gt;&gt;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trisomy 9p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9p&gt;&gt;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283764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3p</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3p&gt;&gt;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9q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9q&gt;&gt;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97329918"/>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3q</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3q&gt;&gt;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9q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9q&gt;&gt;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452364660"/>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3q</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3q&gt;&gt;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10q22.3q23.2 recurrent region (includes BMPR1A)</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&lt;&lt;10q22.3q23.2 recurrent region (includes BMPR1A)&gt;&gt;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711574338"/>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3p</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3p&gt;&gt;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10p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10p&gt;&gt;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160994337"/>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4p16.3 terminal (Wolf-Hirschhorn syndrome) region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&lt;&lt;4p16.3 terminal (Wolf-Hirschhorn syndrome) region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10p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10p&gt;&gt;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71362111"/>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4p</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4p&gt;&gt;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10q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10q&gt;&gt;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4061372303"/>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4p</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4p&gt;&gt;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10q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10q&gt;&gt;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62016739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4q21-q31</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4q21-q31&gt;&gt;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11p11.2 (Potocki-Shaffer syndrome) region (includes ALX4, EXT2)</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&lt;&lt;11p11.2 (Potocki-Shaffer syndrome) region (includes ALX4, EXT2)&gt;&gt;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5706839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4q31-qter</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&lt;&lt;Monosomy 4q31-qter&gt;&gt;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11p13 (WAGR syndrome) region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&lt;&lt;11p13 (WAGR syndrome) region&gt;&gt;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595716559"/>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4q</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trisomy 4q&gt;&gt;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11q13.2q13.4 recurrent region (includes SHANK2, FGFs)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&lt;&lt;11q13.2q13.4 recurrent region (includes SHANK2, FGFs)&gt;&gt;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912065329"/>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4p</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monosomy 4p&gt;&gt;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11p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trisomy 11p&gt;&gt;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400828428"/>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5p15 terminal (Cri du chat syndrome) region gain</a:t>
                      </a:r>
                    </a:p>
                  </a:txBody>
                  <a:tcPr marL="9525" marR="9525" marT="9525" marB="0" anchor="ctr">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&lt;&lt;5p15 terminal (Cri du chat syndrome) region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a:noFill/>
                    </a:lnB>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11q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monosomy 11q&gt;&gt;</a:t>
                      </a:r>
                    </a:p>
                  </a:txBody>
                  <a:tcPr anchor="ctr">
                    <a:lnL w="6350" cap="flat" cmpd="sng" algn="ctr">
                      <a:solidFill>
                        <a:schemeClr val="bg1"/>
                      </a:solidFill>
                      <a:prstDash val="solid"/>
                      <a:round/>
                      <a:headEnd type="none" w="med" len="med"/>
                      <a:tailEnd type="none" w="med" len="med"/>
                    </a:lnL>
                    <a:lnB>
                      <a:noFill/>
                    </a:lnB>
                    <a:solidFill>
                      <a:srgbClr val="E6F6FA"/>
                    </a:solidFill>
                  </a:tcPr>
                </a:tc>
                <a:extLst>
                  <a:ext uri="{0D108BD9-81ED-4DB2-BD59-A6C34878D82A}">
                    <a16:rowId xmlns:a16="http://schemas.microsoft.com/office/drawing/2014/main" val="451148163"/>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5q35 recurrent (Sotos syndrome) region (includes NSD1) gain</a:t>
                      </a:r>
                    </a:p>
                  </a:txBody>
                  <a:tcPr marL="9525" marR="9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&lt;&lt;5q35 recurrent (Sotos syndrome) region (includes NSD1)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11q</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trisomy 11q&gt;&gt;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3005158876"/>
                  </a:ext>
                </a:extLst>
              </a:tr>
              <a:tr h="192817">
                <a:tc>
                  <a:txBody>
                    <a:bodyPr/>
                    <a:lstStyle/>
                    <a:p>
                      <a:pPr algn="ctr" fontAlgn="ctr">
                        <a:buNone/>
                      </a:pPr>
                      <a:r>
                        <a:rPr lang="en-US" sz="600" b="0" i="0" u="none" strike="noStrike" dirty="0">
                          <a:solidFill>
                            <a:srgbClr val="000000"/>
                          </a:solidFill>
                          <a:effectLst/>
                          <a:latin typeface="Calibri" panose="020F0502020204030204" pitchFamily="34" charset="0"/>
                        </a:rPr>
                        <a:t>5q35 recurrent (Sotos syndrome) region (includes NSD1) loss</a:t>
                      </a:r>
                    </a:p>
                  </a:txBody>
                  <a:tcPr marL="9525" marR="9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&lt;&lt;5q35 recurrent (Sotos syndrome) region (includes NSD1)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12p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monosomy 12p&gt;&gt;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solidFill>
                      <a:srgbClr val="E6F6FA"/>
                    </a:solidFill>
                  </a:tcPr>
                </a:tc>
                <a:extLst>
                  <a:ext uri="{0D108BD9-81ED-4DB2-BD59-A6C34878D82A}">
                    <a16:rowId xmlns:a16="http://schemas.microsoft.com/office/drawing/2014/main" val="871455688"/>
                  </a:ext>
                </a:extLst>
              </a:tr>
            </a:tbl>
          </a:graphicData>
        </a:graphic>
      </p:graphicFrame>
    </p:spTree>
    <p:extLst>
      <p:ext uri="{BB962C8B-B14F-4D97-AF65-F5344CB8AC3E}">
        <p14:creationId xmlns:p14="http://schemas.microsoft.com/office/powerpoint/2010/main" val="3977531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2</a:t>
            </a: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5" name="TextBox 4">
            <a:extLst>
              <a:ext uri="{FF2B5EF4-FFF2-40B4-BE49-F238E27FC236}">
                <a16:creationId xmlns:a16="http://schemas.microsoft.com/office/drawing/2014/main" id="{5B6446D6-2F7A-3F6C-48EA-C2106B038029}"/>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Rectangle 2">
            <a:extLst>
              <a:ext uri="{FF2B5EF4-FFF2-40B4-BE49-F238E27FC236}">
                <a16:creationId xmlns:a16="http://schemas.microsoft.com/office/drawing/2014/main" id="{C963D355-13CE-650E-017F-7B7CA8214976}"/>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383D65BD-8205-410F-6EAD-92C942E260E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9C072F90-3196-2A37-F307-8B4B8FC29D9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95E55613-D86F-9231-8EE8-BAA21CE9A00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2B6D607-3870-949B-A61F-B1F4BF950F04}"/>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D196080-12E9-E07A-8AFB-7F64DCD6E9D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7" name="TextBox 6">
            <a:extLst>
              <a:ext uri="{FF2B5EF4-FFF2-40B4-BE49-F238E27FC236}">
                <a16:creationId xmlns:a16="http://schemas.microsoft.com/office/drawing/2014/main" id="{99C11FF6-89AA-B6F7-268F-DD5A0C8EB62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9E9BE66D-5B42-DDD8-D601-191C690EB95F}"/>
              </a:ext>
            </a:extLst>
          </p:cNvPr>
          <p:cNvSpPr txBox="1"/>
          <p:nvPr/>
        </p:nvSpPr>
        <p:spPr>
          <a:xfrm>
            <a:off x="427072" y="2002805"/>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06C1BEB1-CE92-E3E9-CF86-6162FF7BD310}"/>
              </a:ext>
            </a:extLst>
          </p:cNvPr>
          <p:cNvSpPr txBox="1"/>
          <p:nvPr/>
        </p:nvSpPr>
        <p:spPr>
          <a:xfrm>
            <a:off x="430623" y="175983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9" name="Table 8">
            <a:extLst>
              <a:ext uri="{FF2B5EF4-FFF2-40B4-BE49-F238E27FC236}">
                <a16:creationId xmlns:a16="http://schemas.microsoft.com/office/drawing/2014/main" id="{00DE4937-FFEC-4A90-E553-56D74E7436B8}"/>
              </a:ext>
            </a:extLst>
          </p:cNvPr>
          <p:cNvGraphicFramePr>
            <a:graphicFrameLocks noGrp="1"/>
          </p:cNvGraphicFramePr>
          <p:nvPr/>
        </p:nvGraphicFramePr>
        <p:xfrm>
          <a:off x="427072" y="2224494"/>
          <a:ext cx="5996104" cy="10208509"/>
        </p:xfrm>
        <a:graphic>
          <a:graphicData uri="http://schemas.openxmlformats.org/drawingml/2006/table">
            <a:tbl>
              <a:tblPr firstRow="1" bandRow="1">
                <a:tableStyleId>{EB9631B5-78F2-41C9-869B-9F39066F8104}</a:tableStyleId>
              </a:tblPr>
              <a:tblGrid>
                <a:gridCol w="1499026">
                  <a:extLst>
                    <a:ext uri="{9D8B030D-6E8A-4147-A177-3AD203B41FA5}">
                      <a16:colId xmlns:a16="http://schemas.microsoft.com/office/drawing/2014/main" val="2337673480"/>
                    </a:ext>
                  </a:extLst>
                </a:gridCol>
                <a:gridCol w="1499026">
                  <a:extLst>
                    <a:ext uri="{9D8B030D-6E8A-4147-A177-3AD203B41FA5}">
                      <a16:colId xmlns:a16="http://schemas.microsoft.com/office/drawing/2014/main" val="2581359693"/>
                    </a:ext>
                  </a:extLst>
                </a:gridCol>
                <a:gridCol w="1499026">
                  <a:extLst>
                    <a:ext uri="{9D8B030D-6E8A-4147-A177-3AD203B41FA5}">
                      <a16:colId xmlns:a16="http://schemas.microsoft.com/office/drawing/2014/main" val="3877669906"/>
                    </a:ext>
                  </a:extLst>
                </a:gridCol>
                <a:gridCol w="1499026">
                  <a:extLst>
                    <a:ext uri="{9D8B030D-6E8A-4147-A177-3AD203B41FA5}">
                      <a16:colId xmlns:a16="http://schemas.microsoft.com/office/drawing/2014/main" val="1755932021"/>
                    </a:ext>
                  </a:extLst>
                </a:gridCol>
              </a:tblGrid>
              <a:tr h="214411">
                <a:tc>
                  <a:txBody>
                    <a:bodyPr/>
                    <a:lstStyle/>
                    <a:p>
                      <a:pPr algn="ctr"/>
                      <a:r>
                        <a:rPr lang="en-US" sz="800" dirty="0">
                          <a:latin typeface="Calibri" panose="020F0502020204030204" pitchFamily="34" charset="0"/>
                          <a:cs typeface="Calibri" panose="020F0502020204030204" pitchFamily="34" charset="0"/>
                        </a:rPr>
                        <a:t>Condition</a:t>
                      </a:r>
                    </a:p>
                  </a:txBody>
                  <a:tcPr>
                    <a:lnL>
                      <a:noFill/>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Condition</a:t>
                      </a:r>
                    </a:p>
                  </a:txBody>
                  <a:tcP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a:noFill/>
                    </a:lnR>
                    <a:lnT w="25400" cmpd="sng">
                      <a:noFill/>
                    </a:lnT>
                    <a:lnB w="25400" cmpd="sng">
                      <a:noFill/>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301789798"/>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Partial trisomy 12p</a:t>
                      </a:r>
                    </a:p>
                  </a:txBody>
                  <a:tcPr marL="9525" marR="9525" marT="9525" marB="0" anchor="ctr">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12p&gt;&gt;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17q11.2 recurrent region (includes NF1)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&lt;&lt;17q11.2 recurrent region (includes NF1) gain&gt;&gt;</a:t>
                      </a:r>
                    </a:p>
                  </a:txBody>
                  <a:tcPr anchor="ctr">
                    <a:lnL w="6350" cap="flat" cmpd="sng" algn="ctr">
                      <a:solidFill>
                        <a:schemeClr val="bg1"/>
                      </a:solidFill>
                      <a:prstDash val="solid"/>
                      <a:round/>
                      <a:headEnd type="none" w="med" len="med"/>
                      <a:tailEnd type="none" w="med" len="med"/>
                    </a:lnL>
                    <a:lnT w="25400" cmpd="sng">
                      <a:noFill/>
                    </a:lnT>
                    <a:solidFill>
                      <a:srgbClr val="E6F6FA"/>
                    </a:solidFill>
                  </a:tcPr>
                </a:tc>
                <a:extLst>
                  <a:ext uri="{0D108BD9-81ED-4DB2-BD59-A6C34878D82A}">
                    <a16:rowId xmlns:a16="http://schemas.microsoft.com/office/drawing/2014/main" val="2171375672"/>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Partial trisomy 12q</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12q&gt;&gt;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17q11.2 recurrent region (includes NF1)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&lt;&lt;17q11.2 recurrent region (includes NF1) loss&gt;&gt;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87788622"/>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Monosomy 13q14</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13q14&gt;&gt;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17q12 recurrent (RCAD syndrome) region (includes HNF1B)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&lt;&lt;17q12 recurrent (RCAD syndrome) region (includes HNF1B) gain&gt;&gt;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26879482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Monosomy 13q21-qter</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13q21-qter&gt;&gt;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17q12 recurrent (RCAD syndrome) region (includes HNF1B)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&lt;&lt;17q12 recurrent (RCAD syndrome) region (includes HNF1B) loss&gt;&gt;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40408451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13cen-q14</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&lt;&lt;Trisomy 13cen-q14&gt;&gt;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17q21.31 recurrent (KdVS) region (includes KANSL1)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&lt;&lt;17q21.31 recurrent (</a:t>
                      </a:r>
                      <a:r>
                        <a:rPr lang="en-US" sz="600" b="0" dirty="0" err="1">
                          <a:latin typeface="Calibri" panose="020F0502020204030204" pitchFamily="34" charset="0"/>
                          <a:cs typeface="Calibri" panose="020F0502020204030204" pitchFamily="34" charset="0"/>
                        </a:rPr>
                        <a:t>KdVS</a:t>
                      </a:r>
                      <a:r>
                        <a:rPr lang="en-US" sz="600" b="0" dirty="0">
                          <a:latin typeface="Calibri" panose="020F0502020204030204" pitchFamily="34" charset="0"/>
                          <a:cs typeface="Calibri" panose="020F0502020204030204" pitchFamily="34" charset="0"/>
                        </a:rPr>
                        <a:t>) region (includes KANSL1)&gt;&gt;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7081592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13q21-qter</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13q21-qter&gt;&gt;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17q23.1q23.2 recurrent region (includes TBX2, TBX4)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&lt;&lt;17q23.1q23.2 recurrent region (includes TBX2, TBX4) gain&gt;&gt;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82838145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14q11.2 region including CHD8 and SUPT16H</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&lt;&lt;14q11.2 region including CHD8 and SUPT16H&gt;&gt;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17q23.1q23.2 recurrent region (includes TBX2, TBX4)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&lt;&lt;17q23.1q23.2 recurrent region (includes TBX2, TBX4) loss&gt;&gt;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62371862"/>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DLK1-MEG3 Intergenic Region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&lt;&lt;DLK1-MEG3 Intergenic Region&gt;&gt;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SOX9 upstream enhancer region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&lt;&lt;SOX9 upstream enhancer region&gt;&gt;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31810462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trisomy 14</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&lt;&lt;Partial trisomy 14&gt;&gt;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Trisomy 17pter-q21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&lt;&lt;Trisomy 17pter-q21&gt;&gt;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66723101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14q24-qter</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14q24-qter&gt;&gt;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Partial monosomy 18p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18p&gt;&gt;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671089960"/>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15q11.2q13 recurrent (PWS/AS) region (Class I, BP1-BP3 and Class II, BP2-BP3) gain</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&lt;&lt;15q11.2q13 recurrent (PWS/AS) region (Class I, BP1-BP3 and Class II, BP2-BP3)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tetrasomy 18p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tetrasomy 18p&gt;&gt;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9660975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15q13.3 recurrent region (BP4-BP5) (includes CHRNA7)</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&lt;&lt;15q13.3 recurrent region (BP4-BP5) (includes CHRNA7)&gt;&gt;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Trisomy 18pter-q12</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18pter-q12&gt;&gt;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00600171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15q13.3 recurrent region (D-CHRNA7 to BP5) (includes CHRNA7, OTUD7A)</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&lt;&lt;15q13.3 recurrent region (D-CHRNA7 to BP5) (includes CHRNA7, OTUD7A)&gt;&gt;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Monosomy 18q21-qter</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18q21-qter&gt;&gt;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268420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15q24 recurrent region (LCR A-LCR C)</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&lt;&lt;15q24 recurrent region (LCR A-LCR C)&gt;&gt;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Trisomy 18q12-qter</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18q12-qter&gt;&gt;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22223212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15q24 recurrent region (LCR A-LCR D) (includes SIN3A)</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&lt;&lt;15q24 recurrent region (LCR A-LCR D) (includes SIN3A)&gt;&gt;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monosomy 20p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20p&gt;&gt;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4611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15q24 recurrent region (LCR C-LCR D) (includes SIN3A) </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&lt;&lt;15q24 recurrent region (LCR C-LCR D) (includes SIN3A) &gt;&gt;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Trisomy 20p</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20p&gt;&gt;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22872700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15q25.2 recurrent region (proximal, LCR-A/B-C) (includes RPS17)</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&lt;&lt;15q25.2 recurrent region (proximal, LCR-A/B-C) (includes RPS17)&gt;&gt;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monosomy 21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21&gt;&gt;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89012695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Supernumerary inv dup (15)</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&lt;&lt;Supernumerary inv dup (15)&gt;&gt;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(DGS) region (proximal, A-B, A-C, or A-D) (includes TBX1)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 recurrent (DGS) region (proximal, A-B, A-C, or A-D) (includes TBX1) gain&gt;&gt;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62892013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15q22-qter</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&lt;&lt;Trisomy 15q22-qter&gt;&gt;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(central, B-D or C-D) (includes CRKL)</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&lt;&lt;22q11.2 recurrent region (central, B-D or C-D) (includes CRKL)&gt;&gt;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76814417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16p11.2 recurrent region (distal, BP2-BP3) (includes SH2B1)</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&lt;&lt;16p11.2 recurrent region (distal, BP2-BP3) (includes SH2B1)&gt;&gt;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 D-E or D-F)</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 recurrent region (distal type I, D-E or D-F)&gt;&gt;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66142583"/>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16p11.2 recurrent region (proximal, BP4-BP5) (includes TBX6) gain</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&lt;&lt;16p11.2 recurrent region (proximal, BP4-BP5) (includes TBX6)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III, D-G, D-H) (includes SMARCB1)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&lt;&lt;22q11.2 recurrent region (distal type III, D-G, D-H) (includes SMARCB1)&gt;&gt;</a:t>
                      </a:r>
                    </a:p>
                  </a:txBody>
                  <a:tcPr marL="9525" marR="9525" marT="9525" marB="0"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283764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16p11.2 recurrent region (proximal, BP4-BP5) (includes TBX6) loss</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&lt;&lt;16p11.2 recurrent region (proximal, BP4-BP5) (includes TBX6)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III, E-H or F-H) (includes SMARCB1)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 recurrent region (distal type III, E-H or F-H) (includes SMARCB1)&gt;&gt;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9732991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16p12.2 recurrent region (proximal) (includes EEF2K, CDR2)</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&lt;&lt;16p12.2 recurrent region (proximal) (includes EEF2K, CDR2)&gt;&gt;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III, F-G) (includes SMARCB1)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&lt;&lt;22q11.2 recurrent region (distal type III, F-G) (includes SMARCB1)&gt;&gt;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452364660"/>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16p13.11 recurrent region (BP1-BP3, BP2-BP3, or BP2-BP4) (includes MYH11)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&lt;&lt;16p13.11 recurrent region (BP1-BP3, BP2-BP3, or BP2-BP4) (includes MYH11)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22q11.21 recurrent (CES) region (includes CECR2)</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&lt;&lt;22q11.21 recurrent (CES) region (includes CECR2)&gt;&gt;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71157433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16p13.11 recurrent region (BP1-BP3, BP2-BP3, or BP2-BP4) (includes MYH11) loss</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&lt;&lt;16p13.11 recurrent region (BP1-BP3, BP2-BP3, or BP2-BP4) (includes MYH11)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Xp22.31 recurrent region (includes STS)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&lt;&lt;Xp22.31 recurrent region (includes STS)&gt;&gt;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16099433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16p13.3 region (includes CREBBP)</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&lt;&lt;16p13.3 region (includes CREBBP)&gt;&gt;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Xp21.2 region (includes NR0B1)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&lt;&lt;Xp21.2 region (includes NR0B1)&gt;&gt;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71362111"/>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trisomy 16p</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16p&gt;&gt;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Xp11.23 region (includes MAOA and MAOB)</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&lt;&lt;Xp11.23 region (includes MAOA and MAOB)&gt;&gt;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4061372303"/>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monosomy 16q</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16q&gt;&gt;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Xp11.22p11.23 recurrent region (includes SHROOM4)</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&lt;&lt;Xp11.22p11.23 recurrent region (includes SHROOM4)&gt;&gt;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62016739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trisomy 16q</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16q&gt;&gt;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Xp11.22 region (includes HUWE1)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&lt;&lt;Xp11.22 region (includes HUWE1)&gt;&gt;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5706839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17p11.2 recurrent (SMS/PLS) region (includes RAI1)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&lt;&lt;17p11.2 recurrent (SMS/PLS) region (includes RAI1)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Xq25 region (includes STAG2)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&lt;&lt;Xq25 region (includes STAG2) gain&gt;&gt;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595716559"/>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17p11.2 recurrent (SMS/PLS) region (includes RAI1) loss</a:t>
                      </a:r>
                    </a:p>
                  </a:txBody>
                  <a:tcPr marL="9525" marR="9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&lt;&lt;17p11.2 recurrent (SMS/PLS) region (includes RAI1)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Xq25 region (includes STAG2)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&lt;&lt;Xq25 region (includes STAG2) loss&gt;&gt;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912065329"/>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17p12 recurrent (HNPP/CMT1A) region (includes PMP22) gain</a:t>
                      </a:r>
                    </a:p>
                  </a:txBody>
                  <a:tcPr marL="9525" marR="9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&lt;&lt;17p12 recurrent (HNPP/CMT1A) region (includes PMP22)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Xq28 recurrent region (includes GDI1)</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&lt;&lt;Xq28 recurrent region (includes GDI1)&gt;&gt;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40082842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17p12 recurrent (HNPP/CMT1A) region (includes PMP22) loss</a:t>
                      </a:r>
                    </a:p>
                  </a:txBody>
                  <a:tcPr marL="9525" marR="9525" marT="9525" marB="0" anchor="ctr">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&lt;&lt;17p12 recurrent (HNPP/CMT1A) region (includes PMP22)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a:noFill/>
                    </a:lnB>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Xq28 recurrent region (int22h1/int22h2-flanked) (includes RAB39B)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&lt;&lt;Xq28 recurrent region (int22h1/int22h2-flanked) (includes RAB39B) gain&gt;&gt;</a:t>
                      </a:r>
                    </a:p>
                  </a:txBody>
                  <a:tcPr anchor="ctr">
                    <a:lnL w="6350" cap="flat" cmpd="sng" algn="ctr">
                      <a:solidFill>
                        <a:schemeClr val="bg1"/>
                      </a:solidFill>
                      <a:prstDash val="solid"/>
                      <a:round/>
                      <a:headEnd type="none" w="med" len="med"/>
                      <a:tailEnd type="none" w="med" len="med"/>
                    </a:lnL>
                    <a:lnB>
                      <a:noFill/>
                    </a:lnB>
                    <a:solidFill>
                      <a:srgbClr val="E6F6FA"/>
                    </a:solidFill>
                  </a:tcPr>
                </a:tc>
                <a:extLst>
                  <a:ext uri="{0D108BD9-81ED-4DB2-BD59-A6C34878D82A}">
                    <a16:rowId xmlns:a16="http://schemas.microsoft.com/office/drawing/2014/main" val="451148163"/>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17p13.3 (Miller-Dieker syndrome) region (includes YWHAE and PAFAH1B1) gain</a:t>
                      </a:r>
                    </a:p>
                  </a:txBody>
                  <a:tcPr marL="9525" marR="9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&lt;&lt;17p13.3 (Miller-Dieker syndrome) region (includes YWHAE and PAFAH1B1)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algn="ctr" fontAlgn="ctr">
                        <a:buNone/>
                      </a:pPr>
                      <a:r>
                        <a:rPr lang="en-US" sz="600" b="0" i="0" u="none" strike="noStrike" dirty="0">
                          <a:solidFill>
                            <a:srgbClr val="000000"/>
                          </a:solidFill>
                          <a:effectLst/>
                          <a:latin typeface="Calibri" panose="020F0502020204030204" pitchFamily="34" charset="0"/>
                        </a:rPr>
                        <a:t>Xq28 recurrent region (int22h1/int22h2-flanked) (includes RAB39B)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&lt;&lt;Xq28 recurrent region (int22h1/int22h2-flanked) (includes RAB39B) loss&gt;&gt;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3005158876"/>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17p13.3 (Miller-Dieker syndrome) region (includes YWHAE and PAFAH1B1) loss</a:t>
                      </a:r>
                    </a:p>
                  </a:txBody>
                  <a:tcPr marL="9525" marR="9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&lt;&lt;17p13.3 (Miller-Dieker syndrome) region (includes YWHAE and PAFAH1B1)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Xq28 region (includes MECP2) gain</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a:t>
                      </a:r>
                      <a:r>
                        <a:rPr lang="en-US" sz="600" b="0" i="0" u="none" strike="noStrike" dirty="0">
                          <a:solidFill>
                            <a:srgbClr val="000000"/>
                          </a:solidFill>
                          <a:effectLst/>
                          <a:latin typeface="Calibri" panose="020F0502020204030204" pitchFamily="34" charset="0"/>
                        </a:rPr>
                        <a:t>Xq28 region (includes MECP2) gain</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solidFill>
                      <a:srgbClr val="E6F6FA"/>
                    </a:solidFill>
                  </a:tcPr>
                </a:tc>
                <a:extLst>
                  <a:ext uri="{0D108BD9-81ED-4DB2-BD59-A6C34878D82A}">
                    <a16:rowId xmlns:a16="http://schemas.microsoft.com/office/drawing/2014/main" val="1606603396"/>
                  </a:ext>
                </a:extLst>
              </a:tr>
              <a:tr h="187403">
                <a:tc>
                  <a:txBody>
                    <a:bodyPr/>
                    <a:lstStyle/>
                    <a:p>
                      <a:pPr algn="ctr" fontAlgn="ctr">
                        <a:buNone/>
                      </a:pPr>
                      <a:endParaRPr lang="en-US" sz="6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chemeClr val="bg1"/>
                    </a:solidFill>
                  </a:tcPr>
                </a:tc>
                <a:tc>
                  <a:txBody>
                    <a:bodyPr/>
                    <a:lstStyle/>
                    <a:p>
                      <a:pPr algn="ctr"/>
                      <a:endParaRPr lang="en-US" sz="600" b="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Xq28 region (includes MECP2) loss</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a:t>
                      </a:r>
                      <a:r>
                        <a:rPr lang="en-US" sz="600" b="0" i="0" u="none" strike="noStrike" dirty="0">
                          <a:solidFill>
                            <a:srgbClr val="000000"/>
                          </a:solidFill>
                          <a:effectLst/>
                          <a:latin typeface="Calibri" panose="020F0502020204030204" pitchFamily="34" charset="0"/>
                        </a:rPr>
                        <a:t>Xq28 region (includes MECP2) loss</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9123027"/>
                  </a:ext>
                </a:extLst>
              </a:tr>
            </a:tbl>
          </a:graphicData>
        </a:graphic>
      </p:graphicFrame>
    </p:spTree>
    <p:extLst>
      <p:ext uri="{BB962C8B-B14F-4D97-AF65-F5344CB8AC3E}">
        <p14:creationId xmlns:p14="http://schemas.microsoft.com/office/powerpoint/2010/main" val="35176125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13022</TotalTime>
  <Words>4838</Words>
  <Application>Microsoft Macintosh PowerPoint</Application>
  <PresentationFormat>A4 Paper (210x297 mm)</PresentationFormat>
  <Paragraphs>700</Paragraphs>
  <Slides>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Aptos Narrow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123</cp:revision>
  <dcterms:created xsi:type="dcterms:W3CDTF">2024-06-13T04:30:46Z</dcterms:created>
  <dcterms:modified xsi:type="dcterms:W3CDTF">2025-12-12T02:49:47Z</dcterms:modified>
</cp:coreProperties>
</file>