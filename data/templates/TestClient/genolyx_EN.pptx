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60" r:id="rId4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C3C2"/>
    <a:srgbClr val="18C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8"/>
    <p:restoredTop sz="94678"/>
  </p:normalViewPr>
  <p:slideViewPr>
    <p:cSldViewPr snapToGrid="0">
      <p:cViewPr varScale="1">
        <p:scale>
          <a:sx n="187" d="100"/>
          <a:sy n="187" d="100"/>
        </p:scale>
        <p:origin x="6800" y="208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42d456b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7" name="Google Shape;127;g3542d456b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2828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1921676561"/>
              </p:ext>
            </p:extLst>
          </p:nvPr>
        </p:nvGraphicFramePr>
        <p:xfrm>
          <a:off x="443632" y="3878157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 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608899153"/>
              </p:ext>
            </p:extLst>
          </p:nvPr>
        </p:nvGraphicFramePr>
        <p:xfrm>
          <a:off x="4015475" y="3878157"/>
          <a:ext cx="3033950" cy="36581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      Conditions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1p36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deletion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Wolf-Hirschhorn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Williams-Beuren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Prader-willi/Angelman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2q33.1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deletion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Cri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Du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Chat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Jacobsen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DiGeorge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syndrome (22q11.2)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1000" b="0" i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MD&gt;&gt;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460050" y="8522826"/>
            <a:ext cx="1169400" cy="20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20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2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65C3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57408" y="8820676"/>
            <a:ext cx="6361986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5C3C2"/>
          </a:solidFill>
          <a:ln w="9525" cap="flat" cmpd="sng">
            <a:solidFill>
              <a:srgbClr val="65C3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099950" y="1130763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&lt;&lt;Draw&gt;&gt;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9B929-C3CF-6C6C-7D0F-339E5EBF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002F11-81C2-4C71-E5F9-5FC1AFAB5BFB}"/>
              </a:ext>
            </a:extLst>
          </p:cNvPr>
          <p:cNvSpPr/>
          <p:nvPr/>
        </p:nvSpPr>
        <p:spPr>
          <a:xfrm>
            <a:off x="460051" y="8785063"/>
            <a:ext cx="6589374" cy="914400"/>
          </a:xfrm>
          <a:prstGeom prst="roundRect">
            <a:avLst>
              <a:gd name="adj" fmla="val 570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6E568E-542C-0CFD-8292-C96909472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07947"/>
              </p:ext>
            </p:extLst>
          </p:nvPr>
        </p:nvGraphicFramePr>
        <p:xfrm>
          <a:off x="664550" y="3010911"/>
          <a:ext cx="6223800" cy="487680"/>
        </p:xfrm>
        <a:graphic>
          <a:graphicData uri="http://schemas.openxmlformats.org/drawingml/2006/table">
            <a:tbl>
              <a:tblPr firstRow="1" bandRow="1">
                <a:tableStyleId>{EB454651-7FEB-4C55-83AA-BDDA99F43B4F}</a:tableStyleId>
              </a:tblPr>
              <a:tblGrid>
                <a:gridCol w="2074600">
                  <a:extLst>
                    <a:ext uri="{9D8B030D-6E8A-4147-A177-3AD203B41FA5}">
                      <a16:colId xmlns:a16="http://schemas.microsoft.com/office/drawing/2014/main" val="862666288"/>
                    </a:ext>
                  </a:extLst>
                </a:gridCol>
                <a:gridCol w="2074600">
                  <a:extLst>
                    <a:ext uri="{9D8B030D-6E8A-4147-A177-3AD203B41FA5}">
                      <a16:colId xmlns:a16="http://schemas.microsoft.com/office/drawing/2014/main" val="3186182970"/>
                    </a:ext>
                  </a:extLst>
                </a:gridCol>
                <a:gridCol w="2074600">
                  <a:extLst>
                    <a:ext uri="{9D8B030D-6E8A-4147-A177-3AD203B41FA5}">
                      <a16:colId xmlns:a16="http://schemas.microsoft.com/office/drawing/2014/main" val="695368440"/>
                    </a:ext>
                  </a:extLst>
                </a:gridCol>
              </a:tblGrid>
              <a:tr h="2930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Result: &lt;&lt;Result_MDResult&gt;&gt;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Gender: &lt;&lt;Gender&gt;&gt;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Fetal Fraction: &lt;&lt;FF_YFF&gt;&gt;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695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1FFF4E-0306-E242-0EC5-DB51A2B9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8C5DF204-707C-699A-D333-24A2B12B19C7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&lt;&lt;Draw&gt;&gt;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338144" y="1229587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85175" y="952545"/>
            <a:ext cx="32913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Microdeletions/duplications</a:t>
            </a:r>
            <a:r>
              <a:rPr lang="en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syndromes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D86B8-22BD-1102-36A8-F626FEFE5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66E6B8-05F8-4E1D-051D-B1F00DAC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887839"/>
              </p:ext>
            </p:extLst>
          </p:nvPr>
        </p:nvGraphicFramePr>
        <p:xfrm>
          <a:off x="3899567" y="1304398"/>
          <a:ext cx="1389987" cy="87586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389987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45361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13cen-q14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190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14q11.2 region including CHD8 and SUPT16H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DLK1-MEG3 Intergenic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14q24-qter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15q11.2q13 recurrent (PWS/AS) region (Class I, BP1-BP3 and Class II, BP2-BP3)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(BP4-BP5) (includes CHRNA7)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(D-CHRNA7 to BP5) (includes CHRNA7, OTUD7A)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D) (includes SIN3A)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C-LCR D) (includes SIN3A)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recurrent region (proximal, LCR-A/B-C) (includes RPS17)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Supernumerary inv dup (15)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15q22-qter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(distal, BP2-BP3) (includes SH2B1)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recurrent region (proximal) (includes EEF2K, CDR2)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16p13.3 region (includes CREBBP)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63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311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2E9F22-4B58-E3E8-8B03-594119CB8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417185"/>
              </p:ext>
            </p:extLst>
          </p:nvPr>
        </p:nvGraphicFramePr>
        <p:xfrm>
          <a:off x="5397218" y="1297248"/>
          <a:ext cx="1438710" cy="876355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3871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63066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90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17q11.2 recurrent region (includes NF1)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17q11.2 recurrent region (includes NF1)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recurrent (RCAD syndrome) region (includes HNF1B)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recurrent (RCAD syndrome) region (includes HNF1B)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90317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17q21.31 recurrent region (includes KANSL1)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82316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17q23.1q23.2 recurrent region (includes TBX2, TBX4)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17q23.1q23.2 recurrent region (includes TBX2, TBX4)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SOX9 upstream enhancer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17pter-q21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tetrasomy 18p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18pter-q12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18q21-qter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18q12-qter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20p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(DGS) region (proximal, A-B, A-C, or A-D) (includes TBX1)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(central, B-D or C-D) (includes CRKL)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I, D-E or D-F)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D-G, D-H)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E-H or F-H)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recurrent region (distal type III, F-G) (includes SMARCB1)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22q11.21 recurrent (CES) region (includes CECR2)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recurrent region (includes STS)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region (includes NR0B1)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region (includes MAOA and MAOB)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Xp11.22p11.23 recurrent region (includes SHROOM4)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region (includes HUWE1)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Xq25 region (includes STAG2)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Xq25 region (includes STAG2)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recurrent region (includes GDI1)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recurrent region (int22h1/int22h2-flanked) (includes RAB39B)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recurrent region (int22h1/int22h2-flanked) (includes RAB39B)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  <a:tr h="1718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3424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4026A1-5432-CD00-5D74-7CA1BB109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74528"/>
              </p:ext>
            </p:extLst>
          </p:nvPr>
        </p:nvGraphicFramePr>
        <p:xfrm>
          <a:off x="692267" y="1304398"/>
          <a:ext cx="1495986" cy="875640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598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3748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terminal region (includes GABRD)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1q21.1 recurrent region (distal, BP3-BP4) (includes GJA5)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1q21.1 recurrent region (distal, BP3-BP4) (includes GJA5)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1q43q44 terminal region (includes AKT3)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1q21-q32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1q42-qter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1q23-qter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2p15p16.1 region (includes BCL11A)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2p24.3 MYCN-DDX1 duplication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2q11.2 recurrent region (includes ARID5A, TMEM127)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recurrent region (distal) (includes BCL2L11)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recurrent region (distal) (includes BCL2L11)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2q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3q24 Region (includes ZIC1)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recurrent region (includes DLG1)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3p11-p21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3p25-pter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3p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3q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3q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3p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4p16.3 terminal (Wolf-Hirschhorn syndrome) region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4q21-q31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4q31-qter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4q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195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5p15 terminal (Cri du chat syndrome) region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5q35 recurrent (Sotos syndrome) region (includes NSD1)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3718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5q35 recurrent (Sotos syndrome) region (includes NSD1)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5FA97B-F924-643F-9A55-06F69D5A8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61679"/>
              </p:ext>
            </p:extLst>
          </p:nvPr>
        </p:nvGraphicFramePr>
        <p:xfrm>
          <a:off x="2295917" y="1304398"/>
          <a:ext cx="1495986" cy="875640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598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</a:tblGrid>
              <a:tr h="338498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5p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5q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5q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 region (includes PLAGL1)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6p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6q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region (includes ACTB)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recurrent (Williams-Beuren syndrome) region (includes ELN)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recurrent distal region (includes HIP1, YWHAG)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ZRS (SHH cis-regulatory) duplication region (within LMBR1 intron 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7p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7p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7q32-qter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7q21-q31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7q32-qter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recurrent region (includes GATA4) gain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recurrent region (includes GATA4) loss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8q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9p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9p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9q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9q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10q22.3q23.2 recurrent region (includes BMPR1A)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10q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10q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11p11.2 (Potocki-Shaffer syndrome) region (includes ALX4, EXT2)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11p13 (WAGR syndrome) 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3967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11q13.2q13.4 recurrent region (includes SHANK2, FGFs)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11p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11q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11q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83241"/>
                  </a:ext>
                </a:extLst>
              </a:tr>
              <a:tr h="2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12p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54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1852</Words>
  <Application>Microsoft Macintosh PowerPoint</Application>
  <PresentationFormat>Custom</PresentationFormat>
  <Paragraphs>284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30</cp:revision>
  <dcterms:modified xsi:type="dcterms:W3CDTF">2025-12-10T11:31:02Z</dcterms:modified>
</cp:coreProperties>
</file>