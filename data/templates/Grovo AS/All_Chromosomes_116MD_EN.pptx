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7" r:id="rId2"/>
    <p:sldId id="258" r:id="rId3"/>
    <p:sldId id="260" r:id="rId4"/>
  </p:sldIdLst>
  <p:sldSz cx="7553325" cy="106886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747775"/>
          </p15:clr>
        </p15:guide>
        <p15:guide id="2" pos="237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CECF"/>
    <a:srgbClr val="46A5D1"/>
    <a:srgbClr val="65C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454651-7FEB-4C55-83AA-BDDA99F43B4F}">
  <a:tblStyle styleId="{EB454651-7FEB-4C55-83AA-BDDA99F43B4F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23217D6-B8C9-4485-8C75-82DFF05F406A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00"/>
    <p:restoredTop sz="94658"/>
  </p:normalViewPr>
  <p:slideViewPr>
    <p:cSldViewPr snapToGrid="0">
      <p:cViewPr varScale="1">
        <p:scale>
          <a:sx n="167" d="100"/>
          <a:sy n="167" d="100"/>
        </p:scale>
        <p:origin x="6544" y="200"/>
      </p:cViewPr>
      <p:guideLst>
        <p:guide orient="horz" pos="3367"/>
        <p:guide pos="23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877" y="685800"/>
            <a:ext cx="24228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64f091e4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564f091e4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64f091e4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64f091e4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42d456bc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42d456bc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471" y="1547391"/>
            <a:ext cx="7038000" cy="42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464" y="5889935"/>
            <a:ext cx="7038000" cy="16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464" y="4469940"/>
            <a:ext cx="7038000" cy="17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70380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33039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1566" y="2395097"/>
            <a:ext cx="33039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464" y="1154659"/>
            <a:ext cx="2319300" cy="15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464" y="2887895"/>
            <a:ext cx="2319300" cy="66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4947" y="935511"/>
            <a:ext cx="5259900" cy="85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76475" y="-260"/>
            <a:ext cx="3776400" cy="106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303" y="2562809"/>
            <a:ext cx="3341400" cy="30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303" y="5825407"/>
            <a:ext cx="3341400" cy="25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0030" y="1504787"/>
            <a:ext cx="3169500" cy="76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464" y="8792066"/>
            <a:ext cx="4955100" cy="12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464" y="2298771"/>
            <a:ext cx="7038000" cy="40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464" y="6551017"/>
            <a:ext cx="7038000" cy="27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7038000" cy="7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460050" y="816817"/>
            <a:ext cx="3422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Non-Invasive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Prenatal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Screening</a:t>
            </a:r>
            <a:endParaRPr sz="13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460050" y="1147075"/>
            <a:ext cx="2865000" cy="9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Patient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Name: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&lt;&lt;Patient Name&gt;&gt;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Date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of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Birth: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&lt;&lt;DOB&gt;&gt;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Gestational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Age: &lt;&lt;W&gt;&gt;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Weeks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Days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Pregnancy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Type: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&lt;&lt;Pregnancy Type&gt;&gt;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Medical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Record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Number: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&lt;&lt;MRN&gt;&gt;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Indication: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&lt;&lt;Indication&gt;&gt;</a:t>
            </a:r>
            <a:endParaRPr sz="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336357" y="11010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ln w="9525">
            <a:solidFill>
              <a:schemeClr val="bg2">
                <a:lumMod val="40000"/>
                <a:lumOff val="6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ln>
                <a:solidFill>
                  <a:sysClr val="windowText" lastClr="000000"/>
                </a:solidFill>
              </a:ln>
              <a:solidFill>
                <a:srgbClr val="9B9B9B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Union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Labs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No.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33,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Lane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151,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2,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S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Rd.,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Da'an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City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106,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CAP#: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endParaRPr sz="70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Lab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Lai,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PhD</a:t>
            </a:r>
            <a:endParaRPr sz="7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1" name="Google Shape;81;p14"/>
          <p:cNvGraphicFramePr/>
          <p:nvPr>
            <p:extLst>
              <p:ext uri="{D42A27DB-BD31-4B8C-83A1-F6EECF244321}">
                <p14:modId xmlns:p14="http://schemas.microsoft.com/office/powerpoint/2010/main" val="3914517016"/>
              </p:ext>
            </p:extLst>
          </p:nvPr>
        </p:nvGraphicFramePr>
        <p:xfrm>
          <a:off x="338144" y="3883168"/>
          <a:ext cx="3438518" cy="4283500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2051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Conditions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Result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21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&lt;&lt;T21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18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&lt;&lt;T18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13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&lt;&lt;T13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9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&lt;&lt;T9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16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&lt;&lt;T16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32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22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&lt;&lt;T21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XO (Turner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&lt;&lt;XO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XXX (Trisomy X)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&lt;&lt;XXX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XXY (Klinefelter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&lt;&lt;XXY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XYY (Jacob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&lt;&lt;XYY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All other autosomal trisomy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&lt;&lt;Other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2" name="Google Shape;82;p14"/>
          <p:cNvGraphicFramePr/>
          <p:nvPr>
            <p:extLst>
              <p:ext uri="{D42A27DB-BD31-4B8C-83A1-F6EECF244321}">
                <p14:modId xmlns:p14="http://schemas.microsoft.com/office/powerpoint/2010/main" val="2709978577"/>
              </p:ext>
            </p:extLst>
          </p:nvPr>
        </p:nvGraphicFramePr>
        <p:xfrm>
          <a:off x="4181231" y="3878157"/>
          <a:ext cx="3033950" cy="3946415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181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Conditions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Result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1p36 deletion syndrome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&lt;&lt;MD1&gt;&gt;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2q33.1 deletion syndrome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&lt;&lt;MD2&gt;&gt;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Wolf-Hirschhorn syndrome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(4p16.3)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&lt;&lt;MD3&gt;&gt;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Cri Du Chat syndrome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(5p-)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&lt;&lt;MD4&gt;&gt;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Williams-Beuren syndrome (7q11.23 deletion)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&lt;&lt;MD5&gt;&gt;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Jacobsen syndrome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(11q23.3-q25)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&lt;&lt;MD6&gt;&gt;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Prader-</a:t>
                      </a:r>
                      <a:r>
                        <a:rPr lang="en-US" sz="1000" b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</a:t>
                      </a: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/Angelman syndrome (15q11.2-q13)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&lt;&lt;MD7&gt;&gt;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DiGeorge syndrome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(22q11.2)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&lt;&lt;MD8&gt;&gt;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4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Other microdeletions/duplications</a:t>
                      </a:r>
                      <a:endParaRPr lang="en-US" sz="1000" b="0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&lt;&lt;Other MD&gt;&gt;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3" name="Google Shape;83;p14"/>
          <p:cNvSpPr txBox="1"/>
          <p:nvPr/>
        </p:nvSpPr>
        <p:spPr>
          <a:xfrm>
            <a:off x="664550" y="8405848"/>
            <a:ext cx="11694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" sz="1350" dirty="0"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Interpretation </a:t>
            </a:r>
            <a:endParaRPr sz="135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Arial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664562" y="2650186"/>
            <a:ext cx="6223800" cy="804900"/>
          </a:xfrm>
          <a:prstGeom prst="roundRect">
            <a:avLst>
              <a:gd name="adj" fmla="val 7917"/>
            </a:avLst>
          </a:prstGeom>
          <a:noFill/>
          <a:ln w="9525" cap="flat" cmpd="sng">
            <a:solidFill>
              <a:srgbClr val="18C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664550" y="8669550"/>
            <a:ext cx="622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&lt;&lt;Interpretation_MDI&gt;&gt;</a:t>
            </a:r>
            <a:endParaRPr sz="1000" dirty="0">
              <a:solidFill>
                <a:schemeClr val="dk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664550" y="2631061"/>
            <a:ext cx="6223800" cy="2853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8CECF"/>
          </a:solidFill>
          <a:ln w="9525" cap="flat" cmpd="sng">
            <a:solidFill>
              <a:srgbClr val="18C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2279754" y="2581261"/>
            <a:ext cx="2993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Test Summary</a:t>
            </a:r>
            <a:endParaRPr sz="1300">
              <a:solidFill>
                <a:schemeClr val="lt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cxnSp>
        <p:nvCxnSpPr>
          <p:cNvPr id="92" name="Google Shape;92;p14"/>
          <p:cNvCxnSpPr/>
          <p:nvPr/>
        </p:nvCxnSpPr>
        <p:spPr>
          <a:xfrm>
            <a:off x="3894763" y="1122438"/>
            <a:ext cx="10800" cy="101940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14"/>
          <p:cNvSpPr/>
          <p:nvPr/>
        </p:nvSpPr>
        <p:spPr>
          <a:xfrm>
            <a:off x="338157" y="2163199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9B9B9B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184425" y="1147338"/>
            <a:ext cx="286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Sample Number: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&lt;&lt;Sample Number&gt;&gt;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Physician: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&lt;&lt;Doctor&gt;&gt;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Hospital/Clinic: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&lt;&lt;Hospital&gt;&gt;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Collection Date: &lt;&lt;Collection Date&gt;&gt;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Report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Date: &lt;&lt;Report Date&gt;&gt;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Order ID: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&lt;&lt;Order ID&gt;&gt;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9F37B0-F931-EB47-AFA4-F3C0723FBB5D}"/>
              </a:ext>
            </a:extLst>
          </p:cNvPr>
          <p:cNvSpPr txBox="1"/>
          <p:nvPr/>
        </p:nvSpPr>
        <p:spPr>
          <a:xfrm>
            <a:off x="941151" y="3047943"/>
            <a:ext cx="212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Result: &lt;&lt;Result_MDResult&gt;&gt;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1DEB3-38CC-FA1E-DF3B-23E0873EB146}"/>
              </a:ext>
            </a:extLst>
          </p:cNvPr>
          <p:cNvSpPr txBox="1"/>
          <p:nvPr/>
        </p:nvSpPr>
        <p:spPr>
          <a:xfrm>
            <a:off x="3155999" y="3056383"/>
            <a:ext cx="1705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Gender: &lt;&lt;Gender&gt;&gt;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6D2007-C21F-BEAD-850B-24878B21597B}"/>
              </a:ext>
            </a:extLst>
          </p:cNvPr>
          <p:cNvSpPr txBox="1"/>
          <p:nvPr/>
        </p:nvSpPr>
        <p:spPr>
          <a:xfrm>
            <a:off x="5053994" y="3047944"/>
            <a:ext cx="18582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Fetal Fraction: &lt;&lt;FF_YFF&gt;&gt;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4A3C9F-037B-D7E0-EC18-4F0419A318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050" y="237893"/>
            <a:ext cx="1819704" cy="5682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460050" y="816817"/>
            <a:ext cx="3422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Non-Invasive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</a:t>
            </a:r>
            <a:endParaRPr sz="13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336357" y="11010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Union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No.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33,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Lane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151,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Rd.,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Da'an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City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106,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CAP#: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endParaRPr sz="700" b="0" i="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Lai,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PhD</a:t>
            </a:r>
            <a:endParaRPr sz="7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106" name="Google Shape;106;p15"/>
          <p:cNvCxnSpPr/>
          <p:nvPr/>
        </p:nvCxnSpPr>
        <p:spPr>
          <a:xfrm>
            <a:off x="3894763" y="1122438"/>
            <a:ext cx="10800" cy="101940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5"/>
          <p:cNvSpPr/>
          <p:nvPr/>
        </p:nvSpPr>
        <p:spPr>
          <a:xfrm>
            <a:off x="338157" y="2163199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109" name="Google Shape;109;p15"/>
          <p:cNvGraphicFramePr/>
          <p:nvPr>
            <p:extLst>
              <p:ext uri="{D42A27DB-BD31-4B8C-83A1-F6EECF244321}">
                <p14:modId xmlns:p14="http://schemas.microsoft.com/office/powerpoint/2010/main" val="201025445"/>
              </p:ext>
            </p:extLst>
          </p:nvPr>
        </p:nvGraphicFramePr>
        <p:xfrm>
          <a:off x="403981" y="2763354"/>
          <a:ext cx="6744975" cy="2430725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195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Condition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Sensitivity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Specificity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PPV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21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99.72%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98.72%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18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99.04%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96.49%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13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98.84%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85.71%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Monosomy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76%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XXX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XXY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XYY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T9,T16,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T22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50-99%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5664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All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Other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NA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45211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Microdeletions/duplications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20-99%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NA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0" name="Google Shape;110;p15"/>
          <p:cNvSpPr txBox="1"/>
          <p:nvPr/>
        </p:nvSpPr>
        <p:spPr>
          <a:xfrm>
            <a:off x="368300" y="5901106"/>
            <a:ext cx="6675000" cy="181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1593" marR="0" lvl="0" indent="-488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PPV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performance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was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calculated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amniocentesis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QF-PCR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1593" marR="0" lvl="0" indent="-4889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Due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insufficient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number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amniocentesis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samples,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Sensitivity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was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calculated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estimating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positive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PPV.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1593" marR="0" lvl="0" indent="-4889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sensitivity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fraction.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Minimum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0.5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MB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4%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5080" lvl="0" indent="0" algn="just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Limitations: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designed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singleton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least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weeks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gestation,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menstrual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period.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However,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important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rule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out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possibility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subchromosomal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birth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defects,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conditions.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Additionally,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intended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identify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risk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open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neural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tube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defects.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negative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mean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present.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small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chance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reflect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fetus,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but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instead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reflect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changes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placenta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mother.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7620" lvl="0" indent="0" algn="just" rtl="0">
              <a:lnSpc>
                <a:spcPct val="112500"/>
              </a:lnSpc>
              <a:spcBef>
                <a:spcPts val="87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Methods: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UCL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laboratory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preformed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low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pass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whole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genome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from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extracted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cfDNA.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data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was </a:t>
            </a:r>
            <a:r>
              <a:rPr lang="en" sz="65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validated inhouse at UCL laboratory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References: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4140" marR="10795" lvl="0" indent="-9144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Anthony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2016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update: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position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statement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American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College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Medical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Genetics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Genomics.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2016;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13:1056-65.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2235" marR="0" lvl="0" indent="-89535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Bianchi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OW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DNA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versus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standard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Engl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J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2014;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370:799-808.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2235" marR="0" lvl="0" indent="-89535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YM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Dennis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RWK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Chiu,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maternal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plasma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nucleic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acid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analysis;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chemistry,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2008.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8585" marR="8255" lvl="0" indent="-95885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Chen,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Validation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DNA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application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detection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multiple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Diagnosis,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2019.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39(13):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1273-1282.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" name="Google Shape;77;p14">
            <a:extLst>
              <a:ext uri="{FF2B5EF4-FFF2-40B4-BE49-F238E27FC236}">
                <a16:creationId xmlns:a16="http://schemas.microsoft.com/office/drawing/2014/main" id="{E4EA20DE-1805-0D79-B35F-CEDDB7C7925E}"/>
              </a:ext>
            </a:extLst>
          </p:cNvPr>
          <p:cNvSpPr txBox="1"/>
          <p:nvPr/>
        </p:nvSpPr>
        <p:spPr>
          <a:xfrm>
            <a:off x="460050" y="1147075"/>
            <a:ext cx="2865000" cy="9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Patient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Name: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&lt;&lt;Patient Name&gt;&gt;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Date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of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Birth: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&lt;&lt;DOB&gt;&gt;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Gestational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Age: &lt;&lt;W&gt;&gt;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Weeks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Days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Pregnancy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Type: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&lt;&lt;Pregnancy Type&gt;&gt;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Medical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Record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Number: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&lt;&lt;MRN&gt;&gt;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Indication: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&lt;&lt;Indication&gt;&gt;</a:t>
            </a:r>
            <a:endParaRPr sz="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Google Shape;94;p14">
            <a:extLst>
              <a:ext uri="{FF2B5EF4-FFF2-40B4-BE49-F238E27FC236}">
                <a16:creationId xmlns:a16="http://schemas.microsoft.com/office/drawing/2014/main" id="{D7D0C454-F102-4B4A-B27D-CD1E4EC34612}"/>
              </a:ext>
            </a:extLst>
          </p:cNvPr>
          <p:cNvSpPr txBox="1"/>
          <p:nvPr/>
        </p:nvSpPr>
        <p:spPr>
          <a:xfrm>
            <a:off x="4184425" y="1147338"/>
            <a:ext cx="286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Sample Number: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&lt;&lt;Sample Number&gt;&gt;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Physician: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&lt;&lt;Doctor&gt;&gt;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Hospital/Clinic: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&lt;&lt;Hospital&gt;&gt;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Collection Date: &lt;&lt;Collection Date&gt;&gt;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Report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Date: &lt;&lt;Report Date&gt;&gt;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Order ID: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&lt;&lt;Order ID&gt;&gt;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DAA58A-CF69-E164-9864-9CA68B4108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050" y="237893"/>
            <a:ext cx="1819704" cy="5682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338144" y="13736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Union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No.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33,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Lane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151,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Rd.,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Da'an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City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106,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CAP#: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endParaRPr sz="700" b="0" i="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Lai,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PhD</a:t>
            </a:r>
            <a:endParaRPr sz="7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485175" y="1096594"/>
            <a:ext cx="32913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Microdeletions/duplications</a:t>
            </a:r>
            <a:r>
              <a:rPr lang="en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syndromes</a:t>
            </a:r>
            <a:endParaRPr dirty="0"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133" name="Google Shape;133;p17"/>
          <p:cNvGraphicFramePr/>
          <p:nvPr>
            <p:extLst>
              <p:ext uri="{D42A27DB-BD31-4B8C-83A1-F6EECF244321}">
                <p14:modId xmlns:p14="http://schemas.microsoft.com/office/powerpoint/2010/main" val="2669342317"/>
              </p:ext>
            </p:extLst>
          </p:nvPr>
        </p:nvGraphicFramePr>
        <p:xfrm>
          <a:off x="657231" y="1441139"/>
          <a:ext cx="1480825" cy="8423150"/>
        </p:xfrm>
        <a:graphic>
          <a:graphicData uri="http://schemas.openxmlformats.org/drawingml/2006/table">
            <a:tbl>
              <a:tblPr firstRow="1" bandRow="1">
                <a:noFill/>
                <a:tableStyleId>{023217D6-B8C9-4485-8C75-82DFF05F406A}</a:tableStyleId>
              </a:tblPr>
              <a:tblGrid>
                <a:gridCol w="148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Conditions</a:t>
                      </a:r>
                      <a:endParaRPr sz="900" b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1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1p32-p31deletion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635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1q41-q42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1q43-q44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2p12-p11.2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2p15-p16.1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2q13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2q13 duplication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2q31.1 microdeletion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2q31.1 duplication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2q35 duplication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3p25.3 deletion syndrome</a:t>
                      </a:r>
                      <a:endParaRPr sz="7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3pter-p25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3q13.31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Dandy-Walker syndrome (DWS)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244475" lvl="0" indent="-27305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3q26 microduplication syndrome</a:t>
                      </a:r>
                      <a:endParaRPr sz="7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3q29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4q21deletion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54355" marR="62864" lvl="0" indent="-484505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Axenfeld</a:t>
                      </a: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-Rieger syndrome type 1 (RIEGl)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5p13 duplication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5q12 deletion syndrome</a:t>
                      </a:r>
                      <a:endParaRPr sz="7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168275" lvl="0" indent="-348615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5q14.3 deletion (proximal)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Sotos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6p22 microdeletion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6q11-q14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6q24-q25deletion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Coffin-Siris syndrome 1 (</a:t>
                      </a:r>
                      <a:r>
                        <a:rPr lang="en-US" sz="75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CSSl</a:t>
                      </a: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Chordoma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357505" marR="101600" lvl="0" indent="-248919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Greig </a:t>
                      </a:r>
                      <a:r>
                        <a:rPr lang="en-US" sz="75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cephalopoly</a:t>
                      </a: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syndactyly syndrome (GCPS)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203834" lvl="0" indent="-314325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7p22.1 microduplication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210184" lvl="0" indent="-306705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7q11.23 deletion (distal)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607695" marR="146685" lvl="0" indent="-454025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Williams-Beuren syndrome (WBS)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Currarino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7q36.3 duplication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</a:tbl>
          </a:graphicData>
        </a:graphic>
      </p:graphicFrame>
      <p:graphicFrame>
        <p:nvGraphicFramePr>
          <p:cNvPr id="134" name="Google Shape;134;p17"/>
          <p:cNvGraphicFramePr/>
          <p:nvPr>
            <p:extLst>
              <p:ext uri="{D42A27DB-BD31-4B8C-83A1-F6EECF244321}">
                <p14:modId xmlns:p14="http://schemas.microsoft.com/office/powerpoint/2010/main" val="3607355991"/>
              </p:ext>
            </p:extLst>
          </p:nvPr>
        </p:nvGraphicFramePr>
        <p:xfrm>
          <a:off x="2250332" y="1441139"/>
          <a:ext cx="1481450" cy="8493675"/>
        </p:xfrm>
        <a:graphic>
          <a:graphicData uri="http://schemas.openxmlformats.org/drawingml/2006/table">
            <a:tbl>
              <a:tblPr firstRow="1" bandRow="1">
                <a:noFill/>
                <a:tableStyleId>{023217D6-B8C9-4485-8C75-82DFF05F406A}</a:tableStyleId>
              </a:tblPr>
              <a:tblGrid>
                <a:gridCol w="148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Conditions</a:t>
                      </a:r>
                      <a:endParaRPr sz="900" b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1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8p11.2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635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8p23.1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244475" lvl="0" indent="-27305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8q12 microduplication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330835" marR="227329" lvl="0" indent="-95884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Nablus mask-like facial syndrome (NMLFS)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206375" marR="198755" lvl="0" indent="48259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Trichorhinophalangeal syndrome type 2 (TRPS2)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9p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9p13 microdeletion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9p24.3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122554" lvl="0" indent="-394969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9q33.3q34.11 microdeletion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275">
                <a:tc>
                  <a:txBody>
                    <a:bodyPr/>
                    <a:lstStyle/>
                    <a:p>
                      <a:pPr marL="190500" marR="182880" lvl="0" indent="57784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Early infantile epileptic encephalopathy 4 (EIEE4)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Kleefstra</a:t>
                      </a: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syndrome 1 (KLEFS1)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52069" lvl="0" indent="-465454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10p11.21-p12.31 microdeletion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62275">
                <a:tc>
                  <a:txBody>
                    <a:bodyPr/>
                    <a:lstStyle/>
                    <a:p>
                      <a:pPr marL="168275" marR="160655" lvl="0" indent="0" algn="ctr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DiGeorge syndrome/ </a:t>
                      </a:r>
                      <a:r>
                        <a:rPr lang="en-US" sz="75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velocardiofacial</a:t>
                      </a: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syndrome complex 2 (DSG2)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230504" lvl="0" indent="-287019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10q22.3-q23.2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54990" marR="64769" lvl="0" indent="-483234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Split-hand/foot malformation 3 (SHFM3)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10q26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Potocki-Shaffer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WAGR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WAGRO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230504" lvl="0" indent="-287019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11q13.2-q13.4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342275">
                <a:tc>
                  <a:txBody>
                    <a:bodyPr/>
                    <a:lstStyle/>
                    <a:p>
                      <a:pPr marL="524510" marR="105410" lvl="0" indent="-412114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11q22.2-q22.3 microdeletion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11q23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245109" lvl="0" indent="-272415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12p12.1 microdeletion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12ql4 microdeletion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161925" lvl="0" indent="-35560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12q1Sq21.1 microdeletion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13q14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14q11-q22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Frias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340350">
                <a:tc>
                  <a:txBody>
                    <a:bodyPr/>
                    <a:lstStyle/>
                    <a:p>
                      <a:pPr marL="524510" marR="105410" lvl="0" indent="-412114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14q24.1-q24.3 microdeletion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</a:tbl>
          </a:graphicData>
        </a:graphic>
      </p:graphicFrame>
      <p:graphicFrame>
        <p:nvGraphicFramePr>
          <p:cNvPr id="135" name="Google Shape;135;p17"/>
          <p:cNvGraphicFramePr/>
          <p:nvPr>
            <p:extLst>
              <p:ext uri="{D42A27DB-BD31-4B8C-83A1-F6EECF244321}">
                <p14:modId xmlns:p14="http://schemas.microsoft.com/office/powerpoint/2010/main" val="1603378309"/>
              </p:ext>
            </p:extLst>
          </p:nvPr>
        </p:nvGraphicFramePr>
        <p:xfrm>
          <a:off x="3843432" y="1441139"/>
          <a:ext cx="1481450" cy="8271425"/>
        </p:xfrm>
        <a:graphic>
          <a:graphicData uri="http://schemas.openxmlformats.org/drawingml/2006/table">
            <a:tbl>
              <a:tblPr firstRow="1" bandRow="1">
                <a:noFill/>
                <a:tableStyleId>{023217D6-B8C9-4485-8C75-82DFF05F406A}</a:tableStyleId>
              </a:tblPr>
              <a:tblGrid>
                <a:gridCol w="148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Conditions</a:t>
                      </a:r>
                      <a:endParaRPr sz="900" b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1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15q13.3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4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{BP4 to BPS} (loss)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635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15q13.3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4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{BP4 to BPS} (gain)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15q14 microdeletion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140335" lvl="0" indent="-37719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15q2S.2 deletion (proximal)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15q26-qter deletion syndrome</a:t>
                      </a:r>
                      <a:endParaRPr sz="7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16p11.2-p12.2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4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microduplication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141605" lvl="0" indent="-375919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16p12.2 deletion (proximal)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16p13.11 duplication syndrome</a:t>
                      </a:r>
                      <a:endParaRPr sz="7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16p13.11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2925">
                <a:tc>
                  <a:txBody>
                    <a:bodyPr/>
                    <a:lstStyle/>
                    <a:p>
                      <a:pPr marL="90170" marR="81915" lvl="0" indent="-634" algn="ctr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Polycystic kidney disease, infantile severe, with tuberous sclerosis (PKDTS)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Rubinstein-</a:t>
                      </a:r>
                      <a:r>
                        <a:rPr lang="en-US" sz="75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Taybi</a:t>
                      </a: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82300">
                <a:tc>
                  <a:txBody>
                    <a:bodyPr/>
                    <a:lstStyle/>
                    <a:p>
                      <a:pPr marL="71755" marR="64135" lvl="0" indent="0" algn="ctr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Alpha-thalassemia/intellectual disability syndrome, chromosome 16-related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4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(ATR-16)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16q22 deletion syndrome</a:t>
                      </a:r>
                      <a:endParaRPr sz="7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Smith-</a:t>
                      </a:r>
                      <a:r>
                        <a:rPr lang="en-US" sz="75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Magenis</a:t>
                      </a: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60070" marR="103504" lvl="0" indent="-448944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Yuan-Harel-</a:t>
                      </a:r>
                      <a:r>
                        <a:rPr lang="en-US" sz="750" u="none" strike="noStrike" cap="none" dirty="0" err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Lupski</a:t>
                      </a: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syndrome (YUHAL)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17p12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17p12 duplication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17p13.l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229234" marR="147955" lvl="0" indent="-74929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Miller-Dieker lissencephaly syndrome (MDLS) (loss)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227965" marR="147955" lvl="0" indent="-7366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Miller-Dieker lissencephaly syndrome (MDLS) (gain)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84455" lvl="0" indent="-433069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17p13.3 telomeric duplication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17q12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17q21.31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230504" lvl="0" indent="-287019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17q23.1-q23.2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Tetrasomy 18p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18p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18q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19p13 duplication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graphicFrame>
        <p:nvGraphicFramePr>
          <p:cNvPr id="136" name="Google Shape;136;p17"/>
          <p:cNvGraphicFramePr/>
          <p:nvPr>
            <p:extLst>
              <p:ext uri="{D42A27DB-BD31-4B8C-83A1-F6EECF244321}">
                <p14:modId xmlns:p14="http://schemas.microsoft.com/office/powerpoint/2010/main" val="4266128137"/>
              </p:ext>
            </p:extLst>
          </p:nvPr>
        </p:nvGraphicFramePr>
        <p:xfrm>
          <a:off x="5436533" y="1441139"/>
          <a:ext cx="1480825" cy="5683850"/>
        </p:xfrm>
        <a:graphic>
          <a:graphicData uri="http://schemas.openxmlformats.org/drawingml/2006/table">
            <a:tbl>
              <a:tblPr firstRow="1" bandRow="1">
                <a:noFill/>
                <a:tableStyleId>{023217D6-B8C9-4485-8C75-82DFF05F406A}</a:tableStyleId>
              </a:tblPr>
              <a:tblGrid>
                <a:gridCol w="148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Conditions</a:t>
                      </a:r>
                      <a:endParaRPr sz="900" b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1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50">
                <a:tc>
                  <a:txBody>
                    <a:bodyPr/>
                    <a:lstStyle/>
                    <a:p>
                      <a:pPr marL="524510" marR="218440" lvl="0" indent="-299085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19q13.11 microdeletion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065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20p13 microdeletion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52069" lvl="0" indent="-465454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21q22.11-q22.12 microdeletion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925">
                <a:tc>
                  <a:txBody>
                    <a:bodyPr/>
                    <a:lstStyle/>
                    <a:p>
                      <a:pPr marL="151130" marR="144145" lvl="0" indent="0" algn="ctr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22q11.2 deletion syndrome (distal,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4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D-E/F)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275">
                <a:tc>
                  <a:txBody>
                    <a:bodyPr/>
                    <a:lstStyle/>
                    <a:p>
                      <a:pPr marL="151130" marR="144145" lvl="0" indent="0" algn="ctr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22q11.2 deletion syndrome (LCR22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4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B/C-D)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22q13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22q13 duplication syndrome</a:t>
                      </a:r>
                      <a:endParaRPr sz="75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Xp11.22 duplication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135890" lvl="0" indent="-382905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Xp11.22-p11.23 duplication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243840" lvl="0" indent="-273685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Xp11.23 microdeletion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Xp11.3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Xp21 microdeletion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202565" lvl="0" indent="-31496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Xp21.2 microduplication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243840" lvl="0" indent="-273685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Xp22.31 microdeletion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Xq21 microdeletion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178435" lvl="0" indent="-33909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Xq22.3 telomeric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524510" marR="229234" lvl="0" indent="-288290" algn="l" rtl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Xq27.3-q28 duplication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3175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5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Xq28 deletion syndrome</a:t>
                      </a:r>
                      <a:endParaRPr sz="75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4890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09ECA9F8-160D-2444-5792-764F47CD31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050" y="237893"/>
            <a:ext cx="1819704" cy="5682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1356</Words>
  <Application>Microsoft Macintosh PowerPoint</Application>
  <PresentationFormat>Custom</PresentationFormat>
  <Paragraphs>261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Calibri</vt:lpstr>
      <vt:lpstr>Arial</vt:lpstr>
      <vt:lpstr>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 martin</cp:lastModifiedBy>
  <cp:revision>42</cp:revision>
  <dcterms:modified xsi:type="dcterms:W3CDTF">2025-08-11T11:31:24Z</dcterms:modified>
</cp:coreProperties>
</file>