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7" r:id="rId1"/>
  </p:sldMasterIdLst>
  <p:notesMasterIdLst>
    <p:notesMasterId r:id="rId4"/>
  </p:notesMasterIdLst>
  <p:sldIdLst>
    <p:sldId id="259" r:id="rId2"/>
    <p:sldId id="261" r:id="rId3"/>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3"/>
    <p:restoredTop sz="94768"/>
  </p:normalViewPr>
  <p:slideViewPr>
    <p:cSldViewPr snapToGrid="0">
      <p:cViewPr varScale="1">
        <p:scale>
          <a:sx n="128" d="100"/>
          <a:sy n="128" d="100"/>
        </p:scale>
        <p:origin x="4520" y="1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6838345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160892"/>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Calibri" panose="020F0502020204030204" pitchFamily="34" charset="0"/>
                <a:ea typeface="Noto Sans SC" panose="020B0200000000000000" pitchFamily="34" charset="-128"/>
                <a:cs typeface="Calibri" panose="020F0502020204030204" pitchFamily="34" charset="0"/>
                <a:sym typeface="Microsoft YaHei"/>
              </a:rPr>
              <a:t>Version_1_20240912</a:t>
            </a:r>
            <a:endParaRPr sz="85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SC" panose="020B02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a:extLst>
              <a:ext uri="{FF2B5EF4-FFF2-40B4-BE49-F238E27FC236}">
                <a16:creationId xmlns:a16="http://schemas.microsoft.com/office/drawing/2014/main" id="{0D93C73F-1651-CD35-E6F6-D69BA8F7618D}"/>
              </a:ext>
            </a:extLst>
          </p:cNvPr>
          <p:cNvGraphicFramePr/>
          <p:nvPr>
            <p:extLst>
              <p:ext uri="{D42A27DB-BD31-4B8C-83A1-F6EECF244321}">
                <p14:modId xmlns:p14="http://schemas.microsoft.com/office/powerpoint/2010/main" val="4148652120"/>
              </p:ext>
            </p:extLst>
          </p:nvPr>
        </p:nvGraphicFramePr>
        <p:xfrm>
          <a:off x="381000" y="1279067"/>
          <a:ext cx="6795387" cy="1914500"/>
        </p:xfrm>
        <a:graphic>
          <a:graphicData uri="http://schemas.openxmlformats.org/drawingml/2006/table">
            <a:tbl>
              <a:tblPr firstRow="1" bandRow="1">
                <a:noFill/>
                <a:tableStyleId>{F28EBD1E-F79C-4DFF-868A-0A9D0052B014}</a:tableStyleId>
              </a:tblPr>
              <a:tblGrid>
                <a:gridCol w="1164891">
                  <a:extLst>
                    <a:ext uri="{9D8B030D-6E8A-4147-A177-3AD203B41FA5}">
                      <a16:colId xmlns:a16="http://schemas.microsoft.com/office/drawing/2014/main" val="20000"/>
                    </a:ext>
                  </a:extLst>
                </a:gridCol>
                <a:gridCol w="1098753">
                  <a:extLst>
                    <a:ext uri="{9D8B030D-6E8A-4147-A177-3AD203B41FA5}">
                      <a16:colId xmlns:a16="http://schemas.microsoft.com/office/drawing/2014/main" val="20001"/>
                    </a:ext>
                  </a:extLst>
                </a:gridCol>
                <a:gridCol w="1166168">
                  <a:extLst>
                    <a:ext uri="{9D8B030D-6E8A-4147-A177-3AD203B41FA5}">
                      <a16:colId xmlns:a16="http://schemas.microsoft.com/office/drawing/2014/main" val="20002"/>
                    </a:ext>
                  </a:extLst>
                </a:gridCol>
                <a:gridCol w="1096850">
                  <a:extLst>
                    <a:ext uri="{9D8B030D-6E8A-4147-A177-3AD203B41FA5}">
                      <a16:colId xmlns:a16="http://schemas.microsoft.com/office/drawing/2014/main" val="20003"/>
                    </a:ext>
                  </a:extLst>
                </a:gridCol>
                <a:gridCol w="1167419">
                  <a:extLst>
                    <a:ext uri="{9D8B030D-6E8A-4147-A177-3AD203B41FA5}">
                      <a16:colId xmlns:a16="http://schemas.microsoft.com/office/drawing/2014/main" val="20004"/>
                    </a:ext>
                  </a:extLst>
                </a:gridCol>
                <a:gridCol w="1101306">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Name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Date of Birth:</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&lt;&lt;DOB&gt;&gt;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MR Number:</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Draw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Blood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Report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Order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Hospital</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Pregnancy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Gestational Age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&lt;&lt;W&gt;&gt;</a:t>
                      </a:r>
                      <a:r>
                        <a:rPr lang="en-US" sz="900" u="none" strike="noStrike" cap="none" dirty="0">
                          <a:latin typeface="Noto Sans SC" panose="020B0200000000000000" pitchFamily="34" charset="-128"/>
                          <a:ea typeface="Noto Sans SC" panose="020B0200000000000000" pitchFamily="34" charset="-128"/>
                          <a:cs typeface="Arial"/>
                          <a:sym typeface="Arial"/>
                        </a:rPr>
                        <a:t> W </a:t>
                      </a:r>
                      <a:r>
                        <a:rPr lang="en-US" sz="900" dirty="0">
                          <a:latin typeface="Noto Sans SC" panose="020B0200000000000000" pitchFamily="34" charset="-128"/>
                          <a:ea typeface="Noto Sans SC" panose="020B0200000000000000" pitchFamily="34" charset="-128"/>
                          <a:cs typeface="Arial"/>
                          <a:sym typeface="Arial"/>
                        </a:rPr>
                        <a:t>&lt;&lt;D&gt;&gt;</a:t>
                      </a:r>
                      <a:r>
                        <a:rPr lang="en-US" sz="900" u="none" strike="noStrike" cap="none" dirty="0">
                          <a:latin typeface="Noto Sans SC" panose="020B0200000000000000" pitchFamily="34" charset="-128"/>
                          <a:ea typeface="Noto Sans SC" panose="020B0200000000000000" pitchFamily="34" charset="-128"/>
                          <a:cs typeface="Arial"/>
                          <a:sym typeface="Arial"/>
                        </a:rPr>
                        <a:t> 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Physician</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1" name="Google Shape;61;p7">
            <a:extLst>
              <a:ext uri="{FF2B5EF4-FFF2-40B4-BE49-F238E27FC236}">
                <a16:creationId xmlns:a16="http://schemas.microsoft.com/office/drawing/2014/main" id="{902E800B-2F57-B0A7-899E-E6E4C330081C}"/>
              </a:ext>
            </a:extLst>
          </p:cNvPr>
          <p:cNvSpPr txBox="1"/>
          <p:nvPr/>
        </p:nvSpPr>
        <p:spPr>
          <a:xfrm>
            <a:off x="669848" y="5258511"/>
            <a:ext cx="88902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9</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2" name="Google Shape;62;p7">
            <a:extLst>
              <a:ext uri="{FF2B5EF4-FFF2-40B4-BE49-F238E27FC236}">
                <a16:creationId xmlns:a16="http://schemas.microsoft.com/office/drawing/2014/main" id="{0D54621B-B11B-1F2F-5513-5E7581F3AA57}"/>
              </a:ext>
            </a:extLst>
          </p:cNvPr>
          <p:cNvSpPr/>
          <p:nvPr/>
        </p:nvSpPr>
        <p:spPr>
          <a:xfrm>
            <a:off x="580071" y="518322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4" name="Google Shape;64;p7">
            <a:extLst>
              <a:ext uri="{FF2B5EF4-FFF2-40B4-BE49-F238E27FC236}">
                <a16:creationId xmlns:a16="http://schemas.microsoft.com/office/drawing/2014/main" id="{E1C4CAD8-A1E8-9D56-EBC7-D2DA492D4D5F}"/>
              </a:ext>
            </a:extLst>
          </p:cNvPr>
          <p:cNvSpPr txBox="1"/>
          <p:nvPr/>
        </p:nvSpPr>
        <p:spPr>
          <a:xfrm>
            <a:off x="669848" y="5618416"/>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16</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5" name="Google Shape;65;p7">
            <a:extLst>
              <a:ext uri="{FF2B5EF4-FFF2-40B4-BE49-F238E27FC236}">
                <a16:creationId xmlns:a16="http://schemas.microsoft.com/office/drawing/2014/main" id="{7D40E87F-7C9D-C178-E6E7-3B34CFC43E66}"/>
              </a:ext>
            </a:extLst>
          </p:cNvPr>
          <p:cNvSpPr/>
          <p:nvPr/>
        </p:nvSpPr>
        <p:spPr>
          <a:xfrm>
            <a:off x="580071" y="5543131"/>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7" name="Google Shape;67;p7">
            <a:extLst>
              <a:ext uri="{FF2B5EF4-FFF2-40B4-BE49-F238E27FC236}">
                <a16:creationId xmlns:a16="http://schemas.microsoft.com/office/drawing/2014/main" id="{D9D16BAC-1DAF-A20E-7A27-B6A91CB3607A}"/>
              </a:ext>
            </a:extLst>
          </p:cNvPr>
          <p:cNvSpPr txBox="1"/>
          <p:nvPr/>
        </p:nvSpPr>
        <p:spPr>
          <a:xfrm>
            <a:off x="669848" y="5978321"/>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22</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8" name="Google Shape;68;p7">
            <a:extLst>
              <a:ext uri="{FF2B5EF4-FFF2-40B4-BE49-F238E27FC236}">
                <a16:creationId xmlns:a16="http://schemas.microsoft.com/office/drawing/2014/main" id="{F367FC41-8CE2-1D46-DF0D-D90F17FF7BB9}"/>
              </a:ext>
            </a:extLst>
          </p:cNvPr>
          <p:cNvSpPr/>
          <p:nvPr/>
        </p:nvSpPr>
        <p:spPr>
          <a:xfrm>
            <a:off x="580071" y="5903023"/>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0" name="Google Shape;70;p7">
            <a:extLst>
              <a:ext uri="{FF2B5EF4-FFF2-40B4-BE49-F238E27FC236}">
                <a16:creationId xmlns:a16="http://schemas.microsoft.com/office/drawing/2014/main" id="{CD85AB32-1D81-0CC5-A759-E98BAE4D5681}"/>
              </a:ext>
            </a:extLst>
          </p:cNvPr>
          <p:cNvSpPr txBox="1"/>
          <p:nvPr/>
        </p:nvSpPr>
        <p:spPr>
          <a:xfrm>
            <a:off x="669847" y="6338227"/>
            <a:ext cx="207585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XO (Turner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1" name="Google Shape;71;p7">
            <a:extLst>
              <a:ext uri="{FF2B5EF4-FFF2-40B4-BE49-F238E27FC236}">
                <a16:creationId xmlns:a16="http://schemas.microsoft.com/office/drawing/2014/main" id="{4BA9847A-0231-436E-EDB2-C40FCDD31FB7}"/>
              </a:ext>
            </a:extLst>
          </p:cNvPr>
          <p:cNvSpPr/>
          <p:nvPr/>
        </p:nvSpPr>
        <p:spPr>
          <a:xfrm>
            <a:off x="580071" y="6262928"/>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3" name="Google Shape;73;p7">
            <a:extLst>
              <a:ext uri="{FF2B5EF4-FFF2-40B4-BE49-F238E27FC236}">
                <a16:creationId xmlns:a16="http://schemas.microsoft.com/office/drawing/2014/main" id="{93076459-FF99-E0CB-80B5-D5AD2799FB9A}"/>
              </a:ext>
            </a:extLst>
          </p:cNvPr>
          <p:cNvSpPr txBox="1"/>
          <p:nvPr/>
        </p:nvSpPr>
        <p:spPr>
          <a:xfrm>
            <a:off x="669848" y="6698132"/>
            <a:ext cx="124548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XXX (Trisomy X)</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4" name="Google Shape;74;p7">
            <a:extLst>
              <a:ext uri="{FF2B5EF4-FFF2-40B4-BE49-F238E27FC236}">
                <a16:creationId xmlns:a16="http://schemas.microsoft.com/office/drawing/2014/main" id="{392E029C-16BF-9909-E1A8-E23ABABC8A10}"/>
              </a:ext>
            </a:extLst>
          </p:cNvPr>
          <p:cNvSpPr/>
          <p:nvPr/>
        </p:nvSpPr>
        <p:spPr>
          <a:xfrm>
            <a:off x="580071" y="662283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6" name="Google Shape;76;p7">
            <a:extLst>
              <a:ext uri="{FF2B5EF4-FFF2-40B4-BE49-F238E27FC236}">
                <a16:creationId xmlns:a16="http://schemas.microsoft.com/office/drawing/2014/main" id="{2BE5A423-E13E-C4A9-5659-60A60FB3B219}"/>
              </a:ext>
            </a:extLst>
          </p:cNvPr>
          <p:cNvSpPr txBox="1"/>
          <p:nvPr/>
        </p:nvSpPr>
        <p:spPr>
          <a:xfrm>
            <a:off x="669848" y="7058025"/>
            <a:ext cx="1765395"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XXY (Klinefelter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7" name="Google Shape;77;p7">
            <a:extLst>
              <a:ext uri="{FF2B5EF4-FFF2-40B4-BE49-F238E27FC236}">
                <a16:creationId xmlns:a16="http://schemas.microsoft.com/office/drawing/2014/main" id="{72D64BD3-171E-9150-238D-694A71E9D86C}"/>
              </a:ext>
            </a:extLst>
          </p:cNvPr>
          <p:cNvSpPr/>
          <p:nvPr/>
        </p:nvSpPr>
        <p:spPr>
          <a:xfrm>
            <a:off x="580071" y="6982739"/>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9" name="Google Shape;79;p7">
            <a:extLst>
              <a:ext uri="{FF2B5EF4-FFF2-40B4-BE49-F238E27FC236}">
                <a16:creationId xmlns:a16="http://schemas.microsoft.com/office/drawing/2014/main" id="{44A3C4B2-6481-80A5-8968-4E062E1E357C}"/>
              </a:ext>
            </a:extLst>
          </p:cNvPr>
          <p:cNvSpPr txBox="1"/>
          <p:nvPr/>
        </p:nvSpPr>
        <p:spPr>
          <a:xfrm>
            <a:off x="669848" y="7417930"/>
            <a:ext cx="229869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XYY (Jacob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0" name="Google Shape;80;p7">
            <a:extLst>
              <a:ext uri="{FF2B5EF4-FFF2-40B4-BE49-F238E27FC236}">
                <a16:creationId xmlns:a16="http://schemas.microsoft.com/office/drawing/2014/main" id="{83B09090-3B85-C585-19AA-E8B7E0825F7C}"/>
              </a:ext>
            </a:extLst>
          </p:cNvPr>
          <p:cNvSpPr/>
          <p:nvPr/>
        </p:nvSpPr>
        <p:spPr>
          <a:xfrm>
            <a:off x="580071" y="734264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2" name="Google Shape;82;p7">
            <a:extLst>
              <a:ext uri="{FF2B5EF4-FFF2-40B4-BE49-F238E27FC236}">
                <a16:creationId xmlns:a16="http://schemas.microsoft.com/office/drawing/2014/main" id="{A1F0142A-8C1B-613B-7B34-6F8F68D1E5CF}"/>
              </a:ext>
            </a:extLst>
          </p:cNvPr>
          <p:cNvSpPr txBox="1"/>
          <p:nvPr/>
        </p:nvSpPr>
        <p:spPr>
          <a:xfrm>
            <a:off x="669847" y="7777835"/>
            <a:ext cx="1948119"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All other autosomal trisomy</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3" name="Google Shape;83;p7">
            <a:extLst>
              <a:ext uri="{FF2B5EF4-FFF2-40B4-BE49-F238E27FC236}">
                <a16:creationId xmlns:a16="http://schemas.microsoft.com/office/drawing/2014/main" id="{86E46BE7-7B48-3A07-4C55-A1394B5835EA}"/>
              </a:ext>
            </a:extLst>
          </p:cNvPr>
          <p:cNvSpPr/>
          <p:nvPr/>
        </p:nvSpPr>
        <p:spPr>
          <a:xfrm>
            <a:off x="580071" y="7702537"/>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9" name="Google Shape;119;p7">
            <a:extLst>
              <a:ext uri="{FF2B5EF4-FFF2-40B4-BE49-F238E27FC236}">
                <a16:creationId xmlns:a16="http://schemas.microsoft.com/office/drawing/2014/main" id="{4CFA9407-6E76-01FF-038B-5B3706801616}"/>
              </a:ext>
            </a:extLst>
          </p:cNvPr>
          <p:cNvSpPr/>
          <p:nvPr/>
        </p:nvSpPr>
        <p:spPr>
          <a:xfrm>
            <a:off x="5439054" y="9674606"/>
            <a:ext cx="1181471"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0" name="Google Shape;120;p7">
            <a:extLst>
              <a:ext uri="{FF2B5EF4-FFF2-40B4-BE49-F238E27FC236}">
                <a16:creationId xmlns:a16="http://schemas.microsoft.com/office/drawing/2014/main" id="{569C0687-655C-91F1-0687-3FAA4F7EF0C7}"/>
              </a:ext>
            </a:extLst>
          </p:cNvPr>
          <p:cNvSpPr txBox="1"/>
          <p:nvPr/>
        </p:nvSpPr>
        <p:spPr>
          <a:xfrm>
            <a:off x="5685688" y="9677489"/>
            <a:ext cx="646816"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latin typeface="Calibri" panose="020F0502020204030204" pitchFamily="34" charset="0"/>
                <a:ea typeface="Noto Sans SC" panose="020B0200000000000000" pitchFamily="34" charset="-128"/>
                <a:cs typeface="Calibri" panose="020F0502020204030204" pitchFamily="34" charset="0"/>
                <a:sym typeface="Microsoft YaHei"/>
              </a:rPr>
              <a:t>Signature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163501"/>
          </a:xfrm>
          <a:prstGeom prst="rect">
            <a:avLst/>
          </a:prstGeom>
          <a:noFill/>
          <a:ln>
            <a:noFill/>
          </a:ln>
        </p:spPr>
        <p:txBody>
          <a:bodyPr spcFirstLastPara="1" wrap="square" lIns="0" tIns="40000" rIns="0" bIns="0" anchor="t" anchorCtr="0">
            <a:spAutoFit/>
          </a:bodyPr>
          <a:lstStyle/>
          <a:p>
            <a:pPr marL="12700" lvl="0">
              <a:buClr>
                <a:srgbClr val="FF1317"/>
              </a:buClr>
              <a:buSzPts val="750"/>
            </a:pPr>
            <a:r>
              <a:rPr lang="en-US" sz="80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endParaRPr lang="en-US"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5" name="Google Shape;87;p7">
            <a:extLst>
              <a:ext uri="{FF2B5EF4-FFF2-40B4-BE49-F238E27FC236}">
                <a16:creationId xmlns:a16="http://schemas.microsoft.com/office/drawing/2014/main" id="{3986BFD9-A6EE-7CB9-6095-7BB74027A1B9}"/>
              </a:ext>
            </a:extLst>
          </p:cNvPr>
          <p:cNvSpPr txBox="1"/>
          <p:nvPr/>
        </p:nvSpPr>
        <p:spPr>
          <a:xfrm>
            <a:off x="5349897" y="3518204"/>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6" name="Google Shape;122;p7">
            <a:extLst>
              <a:ext uri="{FF2B5EF4-FFF2-40B4-BE49-F238E27FC236}">
                <a16:creationId xmlns:a16="http://schemas.microsoft.com/office/drawing/2014/main" id="{F812C84A-2AE1-A207-B758-9EA6390CCCEA}"/>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KR" panose="020B0500000000000000" pitchFamily="34" charset="-128"/>
                <a:cs typeface="Calibri" panose="020F0502020204030204" pitchFamily="34" charset="0"/>
                <a:sym typeface="Microsoft YaHei"/>
              </a:rPr>
              <a:t>&lt;&lt;Result_MDResult&gt;&gt;</a:t>
            </a:r>
          </a:p>
        </p:txBody>
      </p:sp>
      <p:sp>
        <p:nvSpPr>
          <p:cNvPr id="27" name="Google Shape;122;p7">
            <a:extLst>
              <a:ext uri="{FF2B5EF4-FFF2-40B4-BE49-F238E27FC236}">
                <a16:creationId xmlns:a16="http://schemas.microsoft.com/office/drawing/2014/main" id="{DA533653-3A69-A8D7-7F06-3E07D0656DD4}"/>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 name="Google Shape;54;p7">
            <a:extLst>
              <a:ext uri="{FF2B5EF4-FFF2-40B4-BE49-F238E27FC236}">
                <a16:creationId xmlns:a16="http://schemas.microsoft.com/office/drawing/2014/main" id="{8F237118-FCA8-6DA5-5643-FADB224A2F05}"/>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6" name="Google Shape;57;p7">
            <a:extLst>
              <a:ext uri="{FF2B5EF4-FFF2-40B4-BE49-F238E27FC236}">
                <a16:creationId xmlns:a16="http://schemas.microsoft.com/office/drawing/2014/main" id="{6B687AED-2B07-2D33-8FB8-C9B4F49E291E}"/>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7" name="Google Shape;60;p7">
            <a:extLst>
              <a:ext uri="{FF2B5EF4-FFF2-40B4-BE49-F238E27FC236}">
                <a16:creationId xmlns:a16="http://schemas.microsoft.com/office/drawing/2014/main" id="{8EEA8423-D551-1211-37A3-AA612449FF3A}"/>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8" name="Google Shape;63;p7">
            <a:extLst>
              <a:ext uri="{FF2B5EF4-FFF2-40B4-BE49-F238E27FC236}">
                <a16:creationId xmlns:a16="http://schemas.microsoft.com/office/drawing/2014/main" id="{BE5A91A3-1502-1EBC-87C7-4BE49634F7B9}"/>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&lt;&lt;T9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9" name="Google Shape;66;p7">
            <a:extLst>
              <a:ext uri="{FF2B5EF4-FFF2-40B4-BE49-F238E27FC236}">
                <a16:creationId xmlns:a16="http://schemas.microsoft.com/office/drawing/2014/main" id="{5CE86067-6FF9-A94D-5EF1-94799082F145}"/>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&lt;&lt;T16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0" name="Google Shape;69;p7">
            <a:extLst>
              <a:ext uri="{FF2B5EF4-FFF2-40B4-BE49-F238E27FC236}">
                <a16:creationId xmlns:a16="http://schemas.microsoft.com/office/drawing/2014/main" id="{7E99A99D-EFAA-558B-60CC-1510C5BB0E64}"/>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&lt;&lt;T22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1" name="Google Shape;72;p7">
            <a:extLst>
              <a:ext uri="{FF2B5EF4-FFF2-40B4-BE49-F238E27FC236}">
                <a16:creationId xmlns:a16="http://schemas.microsoft.com/office/drawing/2014/main" id="{D8C38E3A-F8CB-5906-D438-2FCD0E627439}"/>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&lt;&lt;XO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22" name="Google Shape;75;p7">
            <a:extLst>
              <a:ext uri="{FF2B5EF4-FFF2-40B4-BE49-F238E27FC236}">
                <a16:creationId xmlns:a16="http://schemas.microsoft.com/office/drawing/2014/main" id="{FBD1EDAA-9152-F2BA-4474-CD3C7B6BC099}"/>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&lt;&lt;XXX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23" name="Google Shape;78;p7">
            <a:extLst>
              <a:ext uri="{FF2B5EF4-FFF2-40B4-BE49-F238E27FC236}">
                <a16:creationId xmlns:a16="http://schemas.microsoft.com/office/drawing/2014/main" id="{9049D9EE-63C1-F850-9211-34326332F2E1}"/>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24" name="Google Shape;81;p7">
            <a:extLst>
              <a:ext uri="{FF2B5EF4-FFF2-40B4-BE49-F238E27FC236}">
                <a16:creationId xmlns:a16="http://schemas.microsoft.com/office/drawing/2014/main" id="{DEFBE47A-0078-D0F4-10B3-18F227B1AF6D}"/>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&lt;&lt;XYY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28" name="Google Shape;84;p7">
            <a:extLst>
              <a:ext uri="{FF2B5EF4-FFF2-40B4-BE49-F238E27FC236}">
                <a16:creationId xmlns:a16="http://schemas.microsoft.com/office/drawing/2014/main" id="{A55112BC-9083-DDAD-4AE1-3AE2E30E634F}"/>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&lt;&lt;Other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95007"/>
          </a:xfrm>
          <a:prstGeom prst="rect">
            <a:avLst/>
          </a:prstGeom>
          <a:noFill/>
          <a:ln>
            <a:noFill/>
          </a:ln>
        </p:spPr>
        <p:txBody>
          <a:bodyPr spcFirstLastPara="1" wrap="square" lIns="0" tIns="12700" rIns="0" bIns="0" anchor="t" anchorCtr="0">
            <a:spAutoFit/>
          </a:bodyPr>
          <a:lstStyle/>
          <a:p>
            <a:pPr marL="12700" marR="5080" lvl="0" latinLnBrk="0" hangingPunct="0">
              <a:lnSpc>
                <a:spcPct val="150000"/>
              </a:lnSpc>
              <a:spcBef>
                <a:spcPts val="159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test was conducted by Daan United Medical Laboratory and reviewed by genetic counselor LEE CN M.D. The laboratory is a certified laboratory for precision medicine molecular testing and is certified by the College of American Pathologists (CAP) to perform accurate genetic testing.</a:t>
            </a:r>
            <a:endParaRPr lang="en-US" sz="600" dirty="0">
              <a:latin typeface="Noto Sans SC" panose="020B0200000000000000" pitchFamily="34" charset="-128"/>
              <a:ea typeface="Noto Sans SC" panose="020B0200000000000000" pitchFamily="34" charset="-128"/>
              <a:cs typeface="Microsoft YaHei"/>
              <a:sym typeface="Microsoft YaHei"/>
            </a:endParaRP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1_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97985840-4EF0-A04E-8A23-5891941578C5}"/>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281</TotalTime>
  <Words>906</Words>
  <Application>Microsoft Macintosh PowerPoint</Application>
  <PresentationFormat>Custom</PresentationFormat>
  <Paragraphs>116</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1_디자인 사용자 지정</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51</cp:revision>
  <dcterms:modified xsi:type="dcterms:W3CDTF">2025-07-30T06:51:09Z</dcterms:modified>
</cp:coreProperties>
</file>