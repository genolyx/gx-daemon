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8"/>
    <p:restoredTop sz="94663"/>
  </p:normalViewPr>
  <p:slideViewPr>
    <p:cSldViewPr snapToGrid="0">
      <p:cViewPr varScale="1">
        <p:scale>
          <a:sx n="180" d="100"/>
          <a:sy n="180" d="100"/>
        </p:scale>
        <p:origin x="4992" y="2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39637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175115"/>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Calibri" panose="020F0502020204030204" pitchFamily="34" charset="0"/>
                <a:ea typeface="Noto Sans SC" panose="020B0200000000000000" pitchFamily="34" charset="-128"/>
                <a:cs typeface="Calibri" panose="020F0502020204030204" pitchFamily="34" charset="0"/>
                <a:sym typeface="Microsoft YaHei"/>
              </a:rPr>
              <a:t>Version_1_20240912</a:t>
            </a:r>
            <a:endParaRPr sz="85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663178372"/>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lgn="ctr">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&lt;&lt;Sample Number&gt;&gt;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145862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151241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1p36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1" name="Google Shape;91;p7">
            <a:extLst>
              <a:ext uri="{FF2B5EF4-FFF2-40B4-BE49-F238E27FC236}">
                <a16:creationId xmlns:a16="http://schemas.microsoft.com/office/drawing/2014/main" id="{052DBD0F-20EC-FB07-6A85-570618DE5002}"/>
              </a:ext>
            </a:extLst>
          </p:cNvPr>
          <p:cNvSpPr txBox="1"/>
          <p:nvPr/>
        </p:nvSpPr>
        <p:spPr>
          <a:xfrm>
            <a:off x="4059350" y="4538713"/>
            <a:ext cx="1767585"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2q33.1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2" name="Google Shape;92;p7">
            <a:extLst>
              <a:ext uri="{FF2B5EF4-FFF2-40B4-BE49-F238E27FC236}">
                <a16:creationId xmlns:a16="http://schemas.microsoft.com/office/drawing/2014/main" id="{47DFE3CC-2F59-0537-1868-CBFD8B6C7FFA}"/>
              </a:ext>
            </a:extLst>
          </p:cNvPr>
          <p:cNvSpPr/>
          <p:nvPr/>
        </p:nvSpPr>
        <p:spPr>
          <a:xfrm>
            <a:off x="3969574" y="446341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4" name="Google Shape;94;p7">
            <a:extLst>
              <a:ext uri="{FF2B5EF4-FFF2-40B4-BE49-F238E27FC236}">
                <a16:creationId xmlns:a16="http://schemas.microsoft.com/office/drawing/2014/main" id="{93D0F4B1-538C-FBAD-B33A-9A888AFE9FDB}"/>
              </a:ext>
            </a:extLst>
          </p:cNvPr>
          <p:cNvSpPr txBox="1"/>
          <p:nvPr/>
        </p:nvSpPr>
        <p:spPr>
          <a:xfrm>
            <a:off x="4059350" y="4898618"/>
            <a:ext cx="1851791"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Wolf-Hirschhorn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5" name="Google Shape;95;p7">
            <a:extLst>
              <a:ext uri="{FF2B5EF4-FFF2-40B4-BE49-F238E27FC236}">
                <a16:creationId xmlns:a16="http://schemas.microsoft.com/office/drawing/2014/main" id="{49444672-358C-6BD2-A350-AC288EC0B2E1}"/>
              </a:ext>
            </a:extLst>
          </p:cNvPr>
          <p:cNvSpPr/>
          <p:nvPr/>
        </p:nvSpPr>
        <p:spPr>
          <a:xfrm>
            <a:off x="3969574" y="4823320"/>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7" name="Google Shape;97;p7">
            <a:extLst>
              <a:ext uri="{FF2B5EF4-FFF2-40B4-BE49-F238E27FC236}">
                <a16:creationId xmlns:a16="http://schemas.microsoft.com/office/drawing/2014/main" id="{A33C98AD-977F-204E-51EA-BB8CE6229D23}"/>
              </a:ext>
            </a:extLst>
          </p:cNvPr>
          <p:cNvSpPr txBox="1"/>
          <p:nvPr/>
        </p:nvSpPr>
        <p:spPr>
          <a:xfrm>
            <a:off x="4059351" y="5258511"/>
            <a:ext cx="170926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Cri Du Chat syndrome</a:t>
            </a:r>
          </a:p>
        </p:txBody>
      </p:sp>
      <p:sp>
        <p:nvSpPr>
          <p:cNvPr id="98" name="Google Shape;98;p7">
            <a:extLst>
              <a:ext uri="{FF2B5EF4-FFF2-40B4-BE49-F238E27FC236}">
                <a16:creationId xmlns:a16="http://schemas.microsoft.com/office/drawing/2014/main" id="{94AEABB0-D29C-F906-BA26-FF58DD8ABFFA}"/>
              </a:ext>
            </a:extLst>
          </p:cNvPr>
          <p:cNvSpPr/>
          <p:nvPr/>
        </p:nvSpPr>
        <p:spPr>
          <a:xfrm>
            <a:off x="3969574" y="518322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0" name="Google Shape;100;p7">
            <a:extLst>
              <a:ext uri="{FF2B5EF4-FFF2-40B4-BE49-F238E27FC236}">
                <a16:creationId xmlns:a16="http://schemas.microsoft.com/office/drawing/2014/main" id="{9DE185EA-105A-390C-07A5-985B76C4EE4E}"/>
              </a:ext>
            </a:extLst>
          </p:cNvPr>
          <p:cNvSpPr txBox="1"/>
          <p:nvPr/>
        </p:nvSpPr>
        <p:spPr>
          <a:xfrm>
            <a:off x="4059351" y="5618416"/>
            <a:ext cx="1851790"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Williams-Beuren syndrome</a:t>
            </a:r>
          </a:p>
        </p:txBody>
      </p:sp>
      <p:sp>
        <p:nvSpPr>
          <p:cNvPr id="101" name="Google Shape;101;p7">
            <a:extLst>
              <a:ext uri="{FF2B5EF4-FFF2-40B4-BE49-F238E27FC236}">
                <a16:creationId xmlns:a16="http://schemas.microsoft.com/office/drawing/2014/main" id="{DCF4461F-8DF9-5E1F-68A2-67BAA2F430BE}"/>
              </a:ext>
            </a:extLst>
          </p:cNvPr>
          <p:cNvSpPr/>
          <p:nvPr/>
        </p:nvSpPr>
        <p:spPr>
          <a:xfrm>
            <a:off x="3969574" y="5543131"/>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3" name="Google Shape;103;p7">
            <a:extLst>
              <a:ext uri="{FF2B5EF4-FFF2-40B4-BE49-F238E27FC236}">
                <a16:creationId xmlns:a16="http://schemas.microsoft.com/office/drawing/2014/main" id="{8D9EA37F-E8AF-8450-B245-CFB4B28BBE71}"/>
              </a:ext>
            </a:extLst>
          </p:cNvPr>
          <p:cNvSpPr txBox="1"/>
          <p:nvPr/>
        </p:nvSpPr>
        <p:spPr>
          <a:xfrm>
            <a:off x="4059351" y="5978321"/>
            <a:ext cx="163837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Jacobsen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4" name="Google Shape;104;p7">
            <a:extLst>
              <a:ext uri="{FF2B5EF4-FFF2-40B4-BE49-F238E27FC236}">
                <a16:creationId xmlns:a16="http://schemas.microsoft.com/office/drawing/2014/main" id="{E927AB21-BCDA-E427-980A-E3B1099B8871}"/>
              </a:ext>
            </a:extLst>
          </p:cNvPr>
          <p:cNvSpPr/>
          <p:nvPr/>
        </p:nvSpPr>
        <p:spPr>
          <a:xfrm>
            <a:off x="3969574" y="5903023"/>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6" name="Google Shape;106;p7">
            <a:extLst>
              <a:ext uri="{FF2B5EF4-FFF2-40B4-BE49-F238E27FC236}">
                <a16:creationId xmlns:a16="http://schemas.microsoft.com/office/drawing/2014/main" id="{D0EAA1CC-B051-C161-5440-E5CFFE424B95}"/>
              </a:ext>
            </a:extLst>
          </p:cNvPr>
          <p:cNvSpPr txBox="1"/>
          <p:nvPr/>
        </p:nvSpPr>
        <p:spPr>
          <a:xfrm>
            <a:off x="4059350" y="6338227"/>
            <a:ext cx="208932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Prader-</a:t>
            </a:r>
            <a:r>
              <a:rPr lang="en-US" sz="900" dirty="0" err="1">
                <a:latin typeface="Calibri" panose="020F0502020204030204" pitchFamily="34" charset="0"/>
                <a:ea typeface="Noto Sans SC" panose="020B0200000000000000" pitchFamily="34" charset="-128"/>
                <a:cs typeface="Calibri" panose="020F0502020204030204" pitchFamily="34" charset="0"/>
              </a:rPr>
              <a:t>willi</a:t>
            </a:r>
            <a:r>
              <a:rPr lang="en-US" sz="900" dirty="0">
                <a:latin typeface="Calibri" panose="020F0502020204030204" pitchFamily="34" charset="0"/>
                <a:ea typeface="Noto Sans SC" panose="020B0200000000000000" pitchFamily="34" charset="-128"/>
                <a:cs typeface="Calibri" panose="020F0502020204030204" pitchFamily="34" charset="0"/>
              </a:rPr>
              <a:t>/Angelman syndrome</a:t>
            </a:r>
          </a:p>
        </p:txBody>
      </p:sp>
      <p:sp>
        <p:nvSpPr>
          <p:cNvPr id="107" name="Google Shape;107;p7">
            <a:extLst>
              <a:ext uri="{FF2B5EF4-FFF2-40B4-BE49-F238E27FC236}">
                <a16:creationId xmlns:a16="http://schemas.microsoft.com/office/drawing/2014/main" id="{7C3938A8-F109-1DBC-5F5E-569E77E33177}"/>
              </a:ext>
            </a:extLst>
          </p:cNvPr>
          <p:cNvSpPr/>
          <p:nvPr/>
        </p:nvSpPr>
        <p:spPr>
          <a:xfrm>
            <a:off x="3969574" y="6262928"/>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9" name="Google Shape;109;p7">
            <a:extLst>
              <a:ext uri="{FF2B5EF4-FFF2-40B4-BE49-F238E27FC236}">
                <a16:creationId xmlns:a16="http://schemas.microsoft.com/office/drawing/2014/main" id="{31C7C673-230F-FD2D-A25A-D13A7C015157}"/>
              </a:ext>
            </a:extLst>
          </p:cNvPr>
          <p:cNvSpPr txBox="1"/>
          <p:nvPr/>
        </p:nvSpPr>
        <p:spPr>
          <a:xfrm>
            <a:off x="4059350" y="6698132"/>
            <a:ext cx="191287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110" name="Google Shape;110;p7">
            <a:extLst>
              <a:ext uri="{FF2B5EF4-FFF2-40B4-BE49-F238E27FC236}">
                <a16:creationId xmlns:a16="http://schemas.microsoft.com/office/drawing/2014/main" id="{C759B0B3-FEA5-2685-A1F4-EACC35ADFD60}"/>
              </a:ext>
            </a:extLst>
          </p:cNvPr>
          <p:cNvSpPr/>
          <p:nvPr/>
        </p:nvSpPr>
        <p:spPr>
          <a:xfrm>
            <a:off x="3969574" y="6622834"/>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9" name="Google Shape;119;p7">
            <a:extLst>
              <a:ext uri="{FF2B5EF4-FFF2-40B4-BE49-F238E27FC236}">
                <a16:creationId xmlns:a16="http://schemas.microsoft.com/office/drawing/2014/main" id="{4CFA9407-6E76-01FF-038B-5B3706801616}"/>
              </a:ext>
            </a:extLst>
          </p:cNvPr>
          <p:cNvSpPr/>
          <p:nvPr/>
        </p:nvSpPr>
        <p:spPr>
          <a:xfrm>
            <a:off x="5439054" y="9674606"/>
            <a:ext cx="1181471"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0" name="Google Shape;120;p7">
            <a:extLst>
              <a:ext uri="{FF2B5EF4-FFF2-40B4-BE49-F238E27FC236}">
                <a16:creationId xmlns:a16="http://schemas.microsoft.com/office/drawing/2014/main" id="{569C0687-655C-91F1-0687-3FAA4F7EF0C7}"/>
              </a:ext>
            </a:extLst>
          </p:cNvPr>
          <p:cNvSpPr txBox="1"/>
          <p:nvPr/>
        </p:nvSpPr>
        <p:spPr>
          <a:xfrm>
            <a:off x="5685688" y="9677489"/>
            <a:ext cx="6468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latin typeface="Calibri" panose="020F0502020204030204" pitchFamily="34" charset="0"/>
                <a:ea typeface="Noto Sans SC" panose="020B0200000000000000" pitchFamily="34" charset="-128"/>
                <a:cs typeface="Calibri" panose="020F0502020204030204" pitchFamily="34" charset="0"/>
                <a:sym typeface="Microsoft YaHei"/>
              </a:rPr>
              <a:t>Signature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163501"/>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80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endPar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 name="Google Shape;122;p7">
            <a:extLst>
              <a:ext uri="{FF2B5EF4-FFF2-40B4-BE49-F238E27FC236}">
                <a16:creationId xmlns:a16="http://schemas.microsoft.com/office/drawing/2014/main" id="{B37F3756-CC4E-8D90-EF2C-FDDAA87D1A44}"/>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13" name="Google Shape;122;p7">
            <a:extLst>
              <a:ext uri="{FF2B5EF4-FFF2-40B4-BE49-F238E27FC236}">
                <a16:creationId xmlns:a16="http://schemas.microsoft.com/office/drawing/2014/main" id="{F76B881E-417E-9F11-F5D6-DE1200DBA50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4" name="Google Shape;54;p7">
            <a:extLst>
              <a:ext uri="{FF2B5EF4-FFF2-40B4-BE49-F238E27FC236}">
                <a16:creationId xmlns:a16="http://schemas.microsoft.com/office/drawing/2014/main" id="{7694FABE-BD05-866D-9444-5CB56A82916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5" name="Google Shape;57;p7">
            <a:extLst>
              <a:ext uri="{FF2B5EF4-FFF2-40B4-BE49-F238E27FC236}">
                <a16:creationId xmlns:a16="http://schemas.microsoft.com/office/drawing/2014/main" id="{3D49F16F-C925-FECC-C738-D643B6E23202}"/>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4" name="Google Shape;60;p7">
            <a:extLst>
              <a:ext uri="{FF2B5EF4-FFF2-40B4-BE49-F238E27FC236}">
                <a16:creationId xmlns:a16="http://schemas.microsoft.com/office/drawing/2014/main" id="{7BB51C03-BE0F-AF28-ABF7-D97D04BACF53}"/>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72;p7">
            <a:extLst>
              <a:ext uri="{FF2B5EF4-FFF2-40B4-BE49-F238E27FC236}">
                <a16:creationId xmlns:a16="http://schemas.microsoft.com/office/drawing/2014/main" id="{ACF417FD-B735-DEF8-3F63-59994E97A586}"/>
              </a:ext>
            </a:extLst>
          </p:cNvPr>
          <p:cNvSpPr txBox="1"/>
          <p:nvPr/>
        </p:nvSpPr>
        <p:spPr>
          <a:xfrm>
            <a:off x="2797745" y="526268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75;p7">
            <a:extLst>
              <a:ext uri="{FF2B5EF4-FFF2-40B4-BE49-F238E27FC236}">
                <a16:creationId xmlns:a16="http://schemas.microsoft.com/office/drawing/2014/main" id="{B681EC48-7FC2-5C74-63D5-63BA2DD590E8}"/>
              </a:ext>
            </a:extLst>
          </p:cNvPr>
          <p:cNvSpPr txBox="1"/>
          <p:nvPr/>
        </p:nvSpPr>
        <p:spPr>
          <a:xfrm>
            <a:off x="2797745" y="5622585"/>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7" name="Google Shape;78;p7">
            <a:extLst>
              <a:ext uri="{FF2B5EF4-FFF2-40B4-BE49-F238E27FC236}">
                <a16:creationId xmlns:a16="http://schemas.microsoft.com/office/drawing/2014/main" id="{58C568AF-C787-E5F2-4EC2-99E3F25514E4}"/>
              </a:ext>
            </a:extLst>
          </p:cNvPr>
          <p:cNvSpPr txBox="1"/>
          <p:nvPr/>
        </p:nvSpPr>
        <p:spPr>
          <a:xfrm>
            <a:off x="2797745" y="598249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8" name="Google Shape;81;p7">
            <a:extLst>
              <a:ext uri="{FF2B5EF4-FFF2-40B4-BE49-F238E27FC236}">
                <a16:creationId xmlns:a16="http://schemas.microsoft.com/office/drawing/2014/main" id="{CB65D290-0B85-14BC-1880-A12E525BBD1A}"/>
              </a:ext>
            </a:extLst>
          </p:cNvPr>
          <p:cNvSpPr txBox="1"/>
          <p:nvPr/>
        </p:nvSpPr>
        <p:spPr>
          <a:xfrm>
            <a:off x="2797745" y="634239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9" name="Google Shape;90;p7">
            <a:extLst>
              <a:ext uri="{FF2B5EF4-FFF2-40B4-BE49-F238E27FC236}">
                <a16:creationId xmlns:a16="http://schemas.microsoft.com/office/drawing/2014/main" id="{71DEBAC1-4BAC-91EE-9CB3-C737697A585C}"/>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&lt;&lt;MD1&gt;&gt;</a:t>
            </a:r>
          </a:p>
        </p:txBody>
      </p:sp>
      <p:sp>
        <p:nvSpPr>
          <p:cNvPr id="30" name="Google Shape;93;p7">
            <a:extLst>
              <a:ext uri="{FF2B5EF4-FFF2-40B4-BE49-F238E27FC236}">
                <a16:creationId xmlns:a16="http://schemas.microsoft.com/office/drawing/2014/main" id="{84600680-2E6F-2057-DF89-1B5682146188}"/>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&lt;&lt;MD2&gt;&gt;</a:t>
            </a:r>
          </a:p>
        </p:txBody>
      </p:sp>
      <p:sp>
        <p:nvSpPr>
          <p:cNvPr id="31" name="Google Shape;96;p7">
            <a:extLst>
              <a:ext uri="{FF2B5EF4-FFF2-40B4-BE49-F238E27FC236}">
                <a16:creationId xmlns:a16="http://schemas.microsoft.com/office/drawing/2014/main" id="{C89073A2-E74D-4330-FCFF-4CB8FF384DD1}"/>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&lt;&lt;MD3&gt;&gt;</a:t>
            </a:r>
          </a:p>
        </p:txBody>
      </p:sp>
      <p:sp>
        <p:nvSpPr>
          <p:cNvPr id="32" name="Google Shape;99;p7">
            <a:extLst>
              <a:ext uri="{FF2B5EF4-FFF2-40B4-BE49-F238E27FC236}">
                <a16:creationId xmlns:a16="http://schemas.microsoft.com/office/drawing/2014/main" id="{DDB7F797-6FD1-C63C-6DC1-7566AD68EEF2}"/>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Calibri" panose="020F0502020204030204" pitchFamily="34" charset="0"/>
                <a:ea typeface="Noto Sans KR" panose="020B0500000000000000" pitchFamily="34" charset="-128"/>
                <a:cs typeface="Calibri" panose="020F0502020204030204" pitchFamily="34" charset="0"/>
              </a:rPr>
              <a:t>&lt;&lt;MD4&gt;&gt;</a:t>
            </a:r>
          </a:p>
        </p:txBody>
      </p:sp>
      <p:sp>
        <p:nvSpPr>
          <p:cNvPr id="33" name="Google Shape;102;p7">
            <a:extLst>
              <a:ext uri="{FF2B5EF4-FFF2-40B4-BE49-F238E27FC236}">
                <a16:creationId xmlns:a16="http://schemas.microsoft.com/office/drawing/2014/main" id="{BCEFC8F3-2628-4041-72CF-ED30882AE8F3}"/>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&lt;&lt;MD5&gt;&gt;</a:t>
            </a:r>
          </a:p>
        </p:txBody>
      </p:sp>
      <p:sp>
        <p:nvSpPr>
          <p:cNvPr id="34" name="Google Shape;105;p7">
            <a:extLst>
              <a:ext uri="{FF2B5EF4-FFF2-40B4-BE49-F238E27FC236}">
                <a16:creationId xmlns:a16="http://schemas.microsoft.com/office/drawing/2014/main" id="{98044C4A-A037-A1EF-D1A5-5E631C6C4D0C}"/>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&lt;&lt;MD6&gt;&gt;</a:t>
            </a:r>
          </a:p>
        </p:txBody>
      </p:sp>
      <p:sp>
        <p:nvSpPr>
          <p:cNvPr id="35" name="Google Shape;108;p7">
            <a:extLst>
              <a:ext uri="{FF2B5EF4-FFF2-40B4-BE49-F238E27FC236}">
                <a16:creationId xmlns:a16="http://schemas.microsoft.com/office/drawing/2014/main" id="{F98FD6EE-8AEC-73E4-817E-EE7052BB37E2}"/>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&lt;&lt;MD7&gt;&gt;</a:t>
            </a:r>
          </a:p>
        </p:txBody>
      </p:sp>
      <p:sp>
        <p:nvSpPr>
          <p:cNvPr id="36" name="Google Shape;111;p7">
            <a:extLst>
              <a:ext uri="{FF2B5EF4-FFF2-40B4-BE49-F238E27FC236}">
                <a16:creationId xmlns:a16="http://schemas.microsoft.com/office/drawing/2014/main" id="{3C0F1753-71C0-CC30-4E3A-4DBD60EE3ECF}"/>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95007"/>
          </a:xfrm>
          <a:prstGeom prst="rect">
            <a:avLst/>
          </a:prstGeom>
          <a:noFill/>
          <a:ln>
            <a:noFill/>
          </a:ln>
        </p:spPr>
        <p:txBody>
          <a:bodyPr spcFirstLastPara="1" wrap="square" lIns="0" tIns="12700" rIns="0" bIns="0" anchor="t" anchorCtr="0">
            <a:spAutoFit/>
          </a:bodyPr>
          <a:lstStyle/>
          <a:p>
            <a:pPr marL="12700" marR="5080" lvl="0" latinLnBrk="0" hangingPunct="0">
              <a:lnSpc>
                <a:spcPct val="150000"/>
              </a:lnSpc>
              <a:spcBef>
                <a:spcPts val="159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test was conducted by Daan United Medical Laboratory and reviewed by genetic counselor LEE CN M.D. The laboratory is a certified laboratory for precision medicine molecular testing and is certified by the College of American Pathologists (CAP) to perform accurate genetic testing.</a:t>
            </a:r>
            <a:endParaRPr lang="en-US" sz="600" dirty="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506B3F26-3AB2-8A4E-A473-D09C72E4487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291</TotalTime>
  <Words>931</Words>
  <Application>Microsoft Macintosh PowerPoint</Application>
  <PresentationFormat>Custom</PresentationFormat>
  <Paragraphs>126</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50</cp:revision>
  <dcterms:modified xsi:type="dcterms:W3CDTF">2025-07-30T06:53:08Z</dcterms:modified>
</cp:coreProperties>
</file>