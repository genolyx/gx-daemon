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4" r:id="rId1"/>
  </p:sldMasterIdLst>
  <p:notesMasterIdLst>
    <p:notesMasterId r:id="rId5"/>
  </p:notesMasterIdLst>
  <p:sldIdLst>
    <p:sldId id="259" r:id="rId2"/>
    <p:sldId id="260" r:id="rId3"/>
    <p:sldId id="261" r:id="rId4"/>
  </p:sldIdLst>
  <p:sldSz cx="7556500" cy="10693400"/>
  <p:notesSz cx="7556500" cy="10693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56"/>
  </p:normalViewPr>
  <p:slideViewPr>
    <p:cSldViewPr snapToGrid="0">
      <p:cViewPr varScale="1">
        <p:scale>
          <a:sx n="207" d="100"/>
          <a:sy n="207" d="100"/>
        </p:scale>
        <p:origin x="5312" y="18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F928419-A67A-E578-2A7C-EBC4DBD1396C}"/>
            </a:ext>
          </a:extLst>
        </p:cNvPr>
        <p:cNvGrpSpPr/>
        <p:nvPr/>
      </p:nvGrpSpPr>
      <p:grpSpPr>
        <a:xfrm>
          <a:off x="0" y="0"/>
          <a:ext cx="0" cy="0"/>
          <a:chOff x="0" y="0"/>
          <a:chExt cx="0" cy="0"/>
        </a:xfrm>
      </p:grpSpPr>
      <p:sp>
        <p:nvSpPr>
          <p:cNvPr id="42" name="Google Shape;42;p1:notes">
            <a:extLst>
              <a:ext uri="{FF2B5EF4-FFF2-40B4-BE49-F238E27FC236}">
                <a16:creationId xmlns:a16="http://schemas.microsoft.com/office/drawing/2014/main" id="{CF5ED8FF-E8FD-0C20-5A88-C31967262A8A}"/>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a:extLst>
              <a:ext uri="{FF2B5EF4-FFF2-40B4-BE49-F238E27FC236}">
                <a16:creationId xmlns:a16="http://schemas.microsoft.com/office/drawing/2014/main" id="{BC29E3A5-8B73-61A9-1647-5214593C6CC6}"/>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569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A1EC7995-66F3-C094-EA31-E24ABA4B07FB}"/>
            </a:ext>
          </a:extLst>
        </p:cNvPr>
        <p:cNvGrpSpPr/>
        <p:nvPr/>
      </p:nvGrpSpPr>
      <p:grpSpPr>
        <a:xfrm>
          <a:off x="0" y="0"/>
          <a:ext cx="0" cy="0"/>
          <a:chOff x="0" y="0"/>
          <a:chExt cx="0" cy="0"/>
        </a:xfrm>
      </p:grpSpPr>
      <p:sp>
        <p:nvSpPr>
          <p:cNvPr id="124" name="Google Shape;124;p2:notes">
            <a:extLst>
              <a:ext uri="{FF2B5EF4-FFF2-40B4-BE49-F238E27FC236}">
                <a16:creationId xmlns:a16="http://schemas.microsoft.com/office/drawing/2014/main" id="{EB4D4D0F-8A00-7C54-474E-8196626778B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2:notes">
            <a:extLst>
              <a:ext uri="{FF2B5EF4-FFF2-40B4-BE49-F238E27FC236}">
                <a16:creationId xmlns:a16="http://schemas.microsoft.com/office/drawing/2014/main" id="{A822D8E7-3952-A35E-9FFE-99A14EA21AC0}"/>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82438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61CD4E5C-03BB-9E40-2718-4E60BCE7CFDC}"/>
            </a:ext>
          </a:extLst>
        </p:cNvPr>
        <p:cNvGrpSpPr/>
        <p:nvPr/>
      </p:nvGrpSpPr>
      <p:grpSpPr>
        <a:xfrm>
          <a:off x="0" y="0"/>
          <a:ext cx="0" cy="0"/>
          <a:chOff x="0" y="0"/>
          <a:chExt cx="0" cy="0"/>
        </a:xfrm>
      </p:grpSpPr>
      <p:sp>
        <p:nvSpPr>
          <p:cNvPr id="136" name="Google Shape;136;p3:notes">
            <a:extLst>
              <a:ext uri="{FF2B5EF4-FFF2-40B4-BE49-F238E27FC236}">
                <a16:creationId xmlns:a16="http://schemas.microsoft.com/office/drawing/2014/main" id="{49FB5FED-D9BF-EE6A-801A-A30D46536AE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a:extLst>
              <a:ext uri="{FF2B5EF4-FFF2-40B4-BE49-F238E27FC236}">
                <a16:creationId xmlns:a16="http://schemas.microsoft.com/office/drawing/2014/main" id="{1E60E02B-F6B9-1E75-3D67-C67FD437A5B4}"/>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00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738" y="1750055"/>
            <a:ext cx="6423025" cy="3722887"/>
          </a:xfrm>
        </p:spPr>
        <p:txBody>
          <a:bodyPr anchor="b"/>
          <a:lstStyle>
            <a:lvl1pPr algn="ctr">
              <a:defRPr sz="4958"/>
            </a:lvl1pPr>
          </a:lstStyle>
          <a:p>
            <a:r>
              <a:rPr lang="en-US"/>
              <a:t>Click to edit Master title style</a:t>
            </a:r>
            <a:endParaRPr lang="en-US" dirty="0"/>
          </a:p>
        </p:txBody>
      </p:sp>
      <p:sp>
        <p:nvSpPr>
          <p:cNvPr id="3" name="Subtitle 2"/>
          <p:cNvSpPr>
            <a:spLocks noGrp="1"/>
          </p:cNvSpPr>
          <p:nvPr>
            <p:ph type="subTitle" idx="1"/>
          </p:nvPr>
        </p:nvSpPr>
        <p:spPr>
          <a:xfrm>
            <a:off x="944563" y="5616511"/>
            <a:ext cx="5667375" cy="2581762"/>
          </a:xfrm>
        </p:spPr>
        <p:txBody>
          <a:bodyPr/>
          <a:lstStyle>
            <a:lvl1pPr marL="0" indent="0" algn="ctr">
              <a:buNone/>
              <a:defRPr sz="1983"/>
            </a:lvl1pPr>
            <a:lvl2pPr marL="377830" indent="0" algn="ctr">
              <a:buNone/>
              <a:defRPr sz="1653"/>
            </a:lvl2pPr>
            <a:lvl3pPr marL="755660" indent="0" algn="ctr">
              <a:buNone/>
              <a:defRPr sz="1488"/>
            </a:lvl3pPr>
            <a:lvl4pPr marL="1133490" indent="0" algn="ctr">
              <a:buNone/>
              <a:defRPr sz="1322"/>
            </a:lvl4pPr>
            <a:lvl5pPr marL="1511320" indent="0" algn="ctr">
              <a:buNone/>
              <a:defRPr sz="1322"/>
            </a:lvl5pPr>
            <a:lvl6pPr marL="1889150" indent="0" algn="ctr">
              <a:buNone/>
              <a:defRPr sz="1322"/>
            </a:lvl6pPr>
            <a:lvl7pPr marL="2266980" indent="0" algn="ctr">
              <a:buNone/>
              <a:defRPr sz="1322"/>
            </a:lvl7pPr>
            <a:lvl8pPr marL="2644811" indent="0" algn="ctr">
              <a:buNone/>
              <a:defRPr sz="1322"/>
            </a:lvl8pPr>
            <a:lvl9pPr marL="3022641" indent="0" algn="ctr">
              <a:buNone/>
              <a:defRPr sz="132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endParaRPr>
          </a:p>
        </p:txBody>
      </p:sp>
    </p:spTree>
    <p:extLst>
      <p:ext uri="{BB962C8B-B14F-4D97-AF65-F5344CB8AC3E}">
        <p14:creationId xmlns:p14="http://schemas.microsoft.com/office/powerpoint/2010/main" val="235164377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25311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574" y="2665927"/>
            <a:ext cx="6517481" cy="4448157"/>
          </a:xfrm>
        </p:spPr>
        <p:txBody>
          <a:bodyPr anchor="b"/>
          <a:lstStyle>
            <a:lvl1pPr>
              <a:defRPr sz="4958"/>
            </a:lvl1pPr>
          </a:lstStyle>
          <a:p>
            <a:r>
              <a:rPr lang="en-US"/>
              <a:t>Click to edit Master title style</a:t>
            </a:r>
            <a:endParaRPr lang="en-US" dirty="0"/>
          </a:p>
        </p:txBody>
      </p:sp>
      <p:sp>
        <p:nvSpPr>
          <p:cNvPr id="3" name="Text Placeholder 2"/>
          <p:cNvSpPr>
            <a:spLocks noGrp="1"/>
          </p:cNvSpPr>
          <p:nvPr>
            <p:ph type="body" idx="1"/>
          </p:nvPr>
        </p:nvSpPr>
        <p:spPr>
          <a:xfrm>
            <a:off x="515574" y="7156165"/>
            <a:ext cx="6517481" cy="2339180"/>
          </a:xfrm>
        </p:spPr>
        <p:txBody>
          <a:bodyPr/>
          <a:lstStyle>
            <a:lvl1pPr marL="0" indent="0">
              <a:buNone/>
              <a:defRPr sz="1983">
                <a:solidFill>
                  <a:schemeClr val="tx1"/>
                </a:solidFill>
              </a:defRPr>
            </a:lvl1pPr>
            <a:lvl2pPr marL="377830" indent="0">
              <a:buNone/>
              <a:defRPr sz="1653">
                <a:solidFill>
                  <a:schemeClr val="tx1">
                    <a:tint val="75000"/>
                  </a:schemeClr>
                </a:solidFill>
              </a:defRPr>
            </a:lvl2pPr>
            <a:lvl3pPr marL="755660" indent="0">
              <a:buNone/>
              <a:defRPr sz="1488">
                <a:solidFill>
                  <a:schemeClr val="tx1">
                    <a:tint val="75000"/>
                  </a:schemeClr>
                </a:solidFill>
              </a:defRPr>
            </a:lvl3pPr>
            <a:lvl4pPr marL="1133490" indent="0">
              <a:buNone/>
              <a:defRPr sz="1322">
                <a:solidFill>
                  <a:schemeClr val="tx1">
                    <a:tint val="75000"/>
                  </a:schemeClr>
                </a:solidFill>
              </a:defRPr>
            </a:lvl4pPr>
            <a:lvl5pPr marL="1511320" indent="0">
              <a:buNone/>
              <a:defRPr sz="1322">
                <a:solidFill>
                  <a:schemeClr val="tx1">
                    <a:tint val="75000"/>
                  </a:schemeClr>
                </a:solidFill>
              </a:defRPr>
            </a:lvl5pPr>
            <a:lvl6pPr marL="1889150" indent="0">
              <a:buNone/>
              <a:defRPr sz="1322">
                <a:solidFill>
                  <a:schemeClr val="tx1">
                    <a:tint val="75000"/>
                  </a:schemeClr>
                </a:solidFill>
              </a:defRPr>
            </a:lvl6pPr>
            <a:lvl7pPr marL="2266980" indent="0">
              <a:buNone/>
              <a:defRPr sz="1322">
                <a:solidFill>
                  <a:schemeClr val="tx1">
                    <a:tint val="75000"/>
                  </a:schemeClr>
                </a:solidFill>
              </a:defRPr>
            </a:lvl7pPr>
            <a:lvl8pPr marL="2644811" indent="0">
              <a:buNone/>
              <a:defRPr sz="1322">
                <a:solidFill>
                  <a:schemeClr val="tx1">
                    <a:tint val="75000"/>
                  </a:schemeClr>
                </a:solidFill>
              </a:defRPr>
            </a:lvl8pPr>
            <a:lvl9pPr marL="3022641" indent="0">
              <a:buNone/>
              <a:defRPr sz="132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endParaRPr>
          </a:p>
        </p:txBody>
      </p:sp>
    </p:spTree>
    <p:extLst>
      <p:ext uri="{BB962C8B-B14F-4D97-AF65-F5344CB8AC3E}">
        <p14:creationId xmlns:p14="http://schemas.microsoft.com/office/powerpoint/2010/main" val="356882154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509" y="2846623"/>
            <a:ext cx="321151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5478" y="2846623"/>
            <a:ext cx="321151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29902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494" y="569327"/>
            <a:ext cx="6517481" cy="2066896"/>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495" y="2621369"/>
            <a:ext cx="3196753" cy="1284692"/>
          </a:xfrm>
        </p:spPr>
        <p:txBody>
          <a:bodyPr anchor="b"/>
          <a:lstStyle>
            <a:lvl1pPr marL="0" indent="0">
              <a:buNone/>
              <a:defRPr sz="1983" b="1"/>
            </a:lvl1pPr>
            <a:lvl2pPr marL="377830" indent="0">
              <a:buNone/>
              <a:defRPr sz="1653" b="1"/>
            </a:lvl2pPr>
            <a:lvl3pPr marL="755660" indent="0">
              <a:buNone/>
              <a:defRPr sz="1488" b="1"/>
            </a:lvl3pPr>
            <a:lvl4pPr marL="1133490" indent="0">
              <a:buNone/>
              <a:defRPr sz="1322" b="1"/>
            </a:lvl4pPr>
            <a:lvl5pPr marL="1511320" indent="0">
              <a:buNone/>
              <a:defRPr sz="1322" b="1"/>
            </a:lvl5pPr>
            <a:lvl6pPr marL="1889150" indent="0">
              <a:buNone/>
              <a:defRPr sz="1322" b="1"/>
            </a:lvl6pPr>
            <a:lvl7pPr marL="2266980" indent="0">
              <a:buNone/>
              <a:defRPr sz="1322" b="1"/>
            </a:lvl7pPr>
            <a:lvl8pPr marL="2644811" indent="0">
              <a:buNone/>
              <a:defRPr sz="1322" b="1"/>
            </a:lvl8pPr>
            <a:lvl9pPr marL="3022641" indent="0">
              <a:buNone/>
              <a:defRPr sz="1322" b="1"/>
            </a:lvl9pPr>
          </a:lstStyle>
          <a:p>
            <a:pPr lvl="0"/>
            <a:r>
              <a:rPr lang="en-US"/>
              <a:t>Click to edit Master text styles</a:t>
            </a:r>
          </a:p>
        </p:txBody>
      </p:sp>
      <p:sp>
        <p:nvSpPr>
          <p:cNvPr id="4" name="Content Placeholder 3"/>
          <p:cNvSpPr>
            <a:spLocks noGrp="1"/>
          </p:cNvSpPr>
          <p:nvPr>
            <p:ph sz="half" idx="2"/>
          </p:nvPr>
        </p:nvSpPr>
        <p:spPr>
          <a:xfrm>
            <a:off x="520495" y="3906061"/>
            <a:ext cx="3196753"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5478" y="2621369"/>
            <a:ext cx="3212497" cy="1284692"/>
          </a:xfrm>
        </p:spPr>
        <p:txBody>
          <a:bodyPr anchor="b"/>
          <a:lstStyle>
            <a:lvl1pPr marL="0" indent="0">
              <a:buNone/>
              <a:defRPr sz="1983" b="1"/>
            </a:lvl1pPr>
            <a:lvl2pPr marL="377830" indent="0">
              <a:buNone/>
              <a:defRPr sz="1653" b="1"/>
            </a:lvl2pPr>
            <a:lvl3pPr marL="755660" indent="0">
              <a:buNone/>
              <a:defRPr sz="1488" b="1"/>
            </a:lvl3pPr>
            <a:lvl4pPr marL="1133490" indent="0">
              <a:buNone/>
              <a:defRPr sz="1322" b="1"/>
            </a:lvl4pPr>
            <a:lvl5pPr marL="1511320" indent="0">
              <a:buNone/>
              <a:defRPr sz="1322" b="1"/>
            </a:lvl5pPr>
            <a:lvl6pPr marL="1889150" indent="0">
              <a:buNone/>
              <a:defRPr sz="1322" b="1"/>
            </a:lvl6pPr>
            <a:lvl7pPr marL="2266980" indent="0">
              <a:buNone/>
              <a:defRPr sz="1322" b="1"/>
            </a:lvl7pPr>
            <a:lvl8pPr marL="2644811" indent="0">
              <a:buNone/>
              <a:defRPr sz="1322" b="1"/>
            </a:lvl8pPr>
            <a:lvl9pPr marL="3022641" indent="0">
              <a:buNone/>
              <a:defRPr sz="1322" b="1"/>
            </a:lvl9pPr>
          </a:lstStyle>
          <a:p>
            <a:pPr lvl="0"/>
            <a:r>
              <a:rPr lang="en-US"/>
              <a:t>Click to edit Master text styles</a:t>
            </a:r>
          </a:p>
        </p:txBody>
      </p:sp>
      <p:sp>
        <p:nvSpPr>
          <p:cNvPr id="6" name="Content Placeholder 5"/>
          <p:cNvSpPr>
            <a:spLocks noGrp="1"/>
          </p:cNvSpPr>
          <p:nvPr>
            <p:ph sz="quarter" idx="4"/>
          </p:nvPr>
        </p:nvSpPr>
        <p:spPr>
          <a:xfrm>
            <a:off x="3825478" y="3906061"/>
            <a:ext cx="3212497"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endParaRPr>
          </a:p>
        </p:txBody>
      </p:sp>
    </p:spTree>
    <p:extLst>
      <p:ext uri="{BB962C8B-B14F-4D97-AF65-F5344CB8AC3E}">
        <p14:creationId xmlns:p14="http://schemas.microsoft.com/office/powerpoint/2010/main" val="91927961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82251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28409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494" y="712893"/>
            <a:ext cx="2437168" cy="2495127"/>
          </a:xfrm>
        </p:spPr>
        <p:txBody>
          <a:bodyPr anchor="b"/>
          <a:lstStyle>
            <a:lvl1pPr>
              <a:defRPr sz="2644"/>
            </a:lvl1pPr>
          </a:lstStyle>
          <a:p>
            <a:r>
              <a:rPr lang="en-US"/>
              <a:t>Click to edit Master title style</a:t>
            </a:r>
            <a:endParaRPr lang="en-US" dirty="0"/>
          </a:p>
        </p:txBody>
      </p:sp>
      <p:sp>
        <p:nvSpPr>
          <p:cNvPr id="3" name="Content Placeholder 2"/>
          <p:cNvSpPr>
            <a:spLocks noGrp="1"/>
          </p:cNvSpPr>
          <p:nvPr>
            <p:ph idx="1"/>
          </p:nvPr>
        </p:nvSpPr>
        <p:spPr>
          <a:xfrm>
            <a:off x="3212497" y="1539654"/>
            <a:ext cx="3825478" cy="7599245"/>
          </a:xfrm>
        </p:spPr>
        <p:txBody>
          <a:bodyPr/>
          <a:lstStyle>
            <a:lvl1pPr>
              <a:defRPr sz="2644"/>
            </a:lvl1pPr>
            <a:lvl2pPr>
              <a:defRPr sz="2314"/>
            </a:lvl2pPr>
            <a:lvl3pPr>
              <a:defRPr sz="1983"/>
            </a:lvl3pPr>
            <a:lvl4pPr>
              <a:defRPr sz="1653"/>
            </a:lvl4pPr>
            <a:lvl5pPr>
              <a:defRPr sz="1653"/>
            </a:lvl5pPr>
            <a:lvl6pPr>
              <a:defRPr sz="1653"/>
            </a:lvl6pPr>
            <a:lvl7pPr>
              <a:defRPr sz="1653"/>
            </a:lvl7pPr>
            <a:lvl8pPr>
              <a:defRPr sz="1653"/>
            </a:lvl8pPr>
            <a:lvl9pPr>
              <a:defRPr sz="16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494" y="3208020"/>
            <a:ext cx="2437168" cy="5943254"/>
          </a:xfrm>
        </p:spPr>
        <p:txBody>
          <a:bodyPr/>
          <a:lstStyle>
            <a:lvl1pPr marL="0" indent="0">
              <a:buNone/>
              <a:defRPr sz="1322"/>
            </a:lvl1pPr>
            <a:lvl2pPr marL="377830" indent="0">
              <a:buNone/>
              <a:defRPr sz="1157"/>
            </a:lvl2pPr>
            <a:lvl3pPr marL="755660" indent="0">
              <a:buNone/>
              <a:defRPr sz="992"/>
            </a:lvl3pPr>
            <a:lvl4pPr marL="1133490" indent="0">
              <a:buNone/>
              <a:defRPr sz="826"/>
            </a:lvl4pPr>
            <a:lvl5pPr marL="1511320" indent="0">
              <a:buNone/>
              <a:defRPr sz="826"/>
            </a:lvl5pPr>
            <a:lvl6pPr marL="1889150" indent="0">
              <a:buNone/>
              <a:defRPr sz="826"/>
            </a:lvl6pPr>
            <a:lvl7pPr marL="2266980" indent="0">
              <a:buNone/>
              <a:defRPr sz="826"/>
            </a:lvl7pPr>
            <a:lvl8pPr marL="2644811" indent="0">
              <a:buNone/>
              <a:defRPr sz="826"/>
            </a:lvl8pPr>
            <a:lvl9pPr marL="3022641" indent="0">
              <a:buNone/>
              <a:defRPr sz="826"/>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endParaRPr>
          </a:p>
        </p:txBody>
      </p:sp>
    </p:spTree>
    <p:extLst>
      <p:ext uri="{BB962C8B-B14F-4D97-AF65-F5344CB8AC3E}">
        <p14:creationId xmlns:p14="http://schemas.microsoft.com/office/powerpoint/2010/main" val="80121757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494" y="712893"/>
            <a:ext cx="2437168" cy="2495127"/>
          </a:xfrm>
        </p:spPr>
        <p:txBody>
          <a:bodyPr anchor="b"/>
          <a:lstStyle>
            <a:lvl1pPr>
              <a:defRPr sz="2644"/>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2497" y="1539654"/>
            <a:ext cx="3825478" cy="7599245"/>
          </a:xfrm>
        </p:spPr>
        <p:txBody>
          <a:bodyPr anchor="t"/>
          <a:lstStyle>
            <a:lvl1pPr marL="0" indent="0">
              <a:buNone/>
              <a:defRPr sz="2644"/>
            </a:lvl1pPr>
            <a:lvl2pPr marL="377830" indent="0">
              <a:buNone/>
              <a:defRPr sz="2314"/>
            </a:lvl2pPr>
            <a:lvl3pPr marL="755660" indent="0">
              <a:buNone/>
              <a:defRPr sz="1983"/>
            </a:lvl3pPr>
            <a:lvl4pPr marL="1133490" indent="0">
              <a:buNone/>
              <a:defRPr sz="1653"/>
            </a:lvl4pPr>
            <a:lvl5pPr marL="1511320" indent="0">
              <a:buNone/>
              <a:defRPr sz="1653"/>
            </a:lvl5pPr>
            <a:lvl6pPr marL="1889150" indent="0">
              <a:buNone/>
              <a:defRPr sz="1653"/>
            </a:lvl6pPr>
            <a:lvl7pPr marL="2266980" indent="0">
              <a:buNone/>
              <a:defRPr sz="1653"/>
            </a:lvl7pPr>
            <a:lvl8pPr marL="2644811" indent="0">
              <a:buNone/>
              <a:defRPr sz="1653"/>
            </a:lvl8pPr>
            <a:lvl9pPr marL="3022641" indent="0">
              <a:buNone/>
              <a:defRPr sz="1653"/>
            </a:lvl9pPr>
          </a:lstStyle>
          <a:p>
            <a:r>
              <a:rPr lang="en-US"/>
              <a:t>Click icon to add picture</a:t>
            </a:r>
            <a:endParaRPr lang="en-US" dirty="0"/>
          </a:p>
        </p:txBody>
      </p:sp>
      <p:sp>
        <p:nvSpPr>
          <p:cNvPr id="4" name="Text Placeholder 3"/>
          <p:cNvSpPr>
            <a:spLocks noGrp="1"/>
          </p:cNvSpPr>
          <p:nvPr>
            <p:ph type="body" sz="half" idx="2"/>
          </p:nvPr>
        </p:nvSpPr>
        <p:spPr>
          <a:xfrm>
            <a:off x="520494" y="3208020"/>
            <a:ext cx="2437168" cy="5943254"/>
          </a:xfrm>
        </p:spPr>
        <p:txBody>
          <a:bodyPr/>
          <a:lstStyle>
            <a:lvl1pPr marL="0" indent="0">
              <a:buNone/>
              <a:defRPr sz="1322"/>
            </a:lvl1pPr>
            <a:lvl2pPr marL="377830" indent="0">
              <a:buNone/>
              <a:defRPr sz="1157"/>
            </a:lvl2pPr>
            <a:lvl3pPr marL="755660" indent="0">
              <a:buNone/>
              <a:defRPr sz="992"/>
            </a:lvl3pPr>
            <a:lvl4pPr marL="1133490" indent="0">
              <a:buNone/>
              <a:defRPr sz="826"/>
            </a:lvl4pPr>
            <a:lvl5pPr marL="1511320" indent="0">
              <a:buNone/>
              <a:defRPr sz="826"/>
            </a:lvl5pPr>
            <a:lvl6pPr marL="1889150" indent="0">
              <a:buNone/>
              <a:defRPr sz="826"/>
            </a:lvl6pPr>
            <a:lvl7pPr marL="2266980" indent="0">
              <a:buNone/>
              <a:defRPr sz="826"/>
            </a:lvl7pPr>
            <a:lvl8pPr marL="2644811" indent="0">
              <a:buNone/>
              <a:defRPr sz="826"/>
            </a:lvl8pPr>
            <a:lvl9pPr marL="3022641" indent="0">
              <a:buNone/>
              <a:defRPr sz="826"/>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endParaRPr>
          </a:p>
        </p:txBody>
      </p:sp>
    </p:spTree>
    <p:extLst>
      <p:ext uri="{BB962C8B-B14F-4D97-AF65-F5344CB8AC3E}">
        <p14:creationId xmlns:p14="http://schemas.microsoft.com/office/powerpoint/2010/main" val="78771394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endParaRPr>
          </a:p>
        </p:txBody>
      </p:sp>
    </p:spTree>
    <p:extLst>
      <p:ext uri="{BB962C8B-B14F-4D97-AF65-F5344CB8AC3E}">
        <p14:creationId xmlns:p14="http://schemas.microsoft.com/office/powerpoint/2010/main" val="115606477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7621" y="569325"/>
            <a:ext cx="1629370" cy="90621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510" y="569325"/>
            <a:ext cx="4793655" cy="90621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endParaRPr>
          </a:p>
        </p:txBody>
      </p:sp>
    </p:spTree>
    <p:extLst>
      <p:ext uri="{BB962C8B-B14F-4D97-AF65-F5344CB8AC3E}">
        <p14:creationId xmlns:p14="http://schemas.microsoft.com/office/powerpoint/2010/main" val="271711279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obj">
  <p:cSld name="1_Blank">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19443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510" y="569327"/>
            <a:ext cx="6517481" cy="206689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510" y="2846623"/>
            <a:ext cx="6517481" cy="67848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509" y="9911200"/>
            <a:ext cx="1700213" cy="569325"/>
          </a:xfrm>
          <a:prstGeom prst="rect">
            <a:avLst/>
          </a:prstGeom>
        </p:spPr>
        <p:txBody>
          <a:bodyPr vert="horz" lIns="91440" tIns="45720" rIns="91440" bIns="45720" rtlCol="0" anchor="ctr"/>
          <a:lstStyle>
            <a:lvl1pPr algn="l">
              <a:defRPr sz="992">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2503091" y="9911200"/>
            <a:ext cx="2550319" cy="569325"/>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36778" y="9911200"/>
            <a:ext cx="1700213" cy="569325"/>
          </a:xfrm>
          <a:prstGeom prst="rect">
            <a:avLst/>
          </a:prstGeom>
        </p:spPr>
        <p:txBody>
          <a:bodyPr vert="horz" lIns="91440" tIns="45720" rIns="91440" bIns="45720" rtlCol="0" anchor="ctr"/>
          <a:lstStyle>
            <a:lvl1pPr algn="r">
              <a:defRPr sz="992">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sz="1400">
              <a:solidFill>
                <a:srgbClr val="000000"/>
              </a:solidFill>
            </a:endParaRPr>
          </a:p>
        </p:txBody>
      </p:sp>
    </p:spTree>
    <p:extLst>
      <p:ext uri="{BB962C8B-B14F-4D97-AF65-F5344CB8AC3E}">
        <p14:creationId xmlns:p14="http://schemas.microsoft.com/office/powerpoint/2010/main" val="1865313554"/>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Lst>
  <p:hf sldNum="0" hdr="0" ftr="0" dt="0"/>
  <p:txStyles>
    <p:titleStyle>
      <a:lvl1pPr algn="l" defTabSz="755660" rtl="0" eaLnBrk="1" latinLnBrk="0" hangingPunct="1">
        <a:lnSpc>
          <a:spcPct val="90000"/>
        </a:lnSpc>
        <a:spcBef>
          <a:spcPct val="0"/>
        </a:spcBef>
        <a:buNone/>
        <a:defRPr sz="3636" kern="1200">
          <a:solidFill>
            <a:schemeClr val="tx1"/>
          </a:solidFill>
          <a:latin typeface="+mj-lt"/>
          <a:ea typeface="+mj-ea"/>
          <a:cs typeface="+mj-cs"/>
        </a:defRPr>
      </a:lvl1pPr>
    </p:titleStyle>
    <p:bodyStyle>
      <a:lvl1pPr marL="188915" indent="-188915" algn="l" defTabSz="755660" rtl="0" eaLnBrk="1" latinLnBrk="0" hangingPunct="1">
        <a:lnSpc>
          <a:spcPct val="90000"/>
        </a:lnSpc>
        <a:spcBef>
          <a:spcPts val="826"/>
        </a:spcBef>
        <a:buFont typeface="Arial" panose="020B0604020202020204" pitchFamily="34" charset="0"/>
        <a:buChar char="•"/>
        <a:defRPr sz="2314" kern="1200">
          <a:solidFill>
            <a:schemeClr val="tx1"/>
          </a:solidFill>
          <a:latin typeface="+mn-lt"/>
          <a:ea typeface="+mn-ea"/>
          <a:cs typeface="+mn-cs"/>
        </a:defRPr>
      </a:lvl1pPr>
      <a:lvl2pPr marL="566745" indent="-188915" algn="l" defTabSz="755660" rtl="0" eaLnBrk="1" latinLnBrk="0" hangingPunct="1">
        <a:lnSpc>
          <a:spcPct val="90000"/>
        </a:lnSpc>
        <a:spcBef>
          <a:spcPts val="413"/>
        </a:spcBef>
        <a:buFont typeface="Arial" panose="020B0604020202020204" pitchFamily="34" charset="0"/>
        <a:buChar char="•"/>
        <a:defRPr sz="1983" kern="1200">
          <a:solidFill>
            <a:schemeClr val="tx1"/>
          </a:solidFill>
          <a:latin typeface="+mn-lt"/>
          <a:ea typeface="+mn-ea"/>
          <a:cs typeface="+mn-cs"/>
        </a:defRPr>
      </a:lvl2pPr>
      <a:lvl3pPr marL="944575" indent="-188915" algn="l" defTabSz="755660"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405" indent="-188915" algn="l" defTabSz="755660"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235" indent="-188915" algn="l" defTabSz="755660"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065" indent="-188915" algn="l" defTabSz="755660"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5896" indent="-188915" algn="l" defTabSz="755660"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3726" indent="-188915" algn="l" defTabSz="755660"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1556" indent="-188915" algn="l" defTabSz="755660"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660" rtl="0" eaLnBrk="1" latinLnBrk="0" hangingPunct="1">
        <a:defRPr sz="1488" kern="1200">
          <a:solidFill>
            <a:schemeClr val="tx1"/>
          </a:solidFill>
          <a:latin typeface="+mn-lt"/>
          <a:ea typeface="+mn-ea"/>
          <a:cs typeface="+mn-cs"/>
        </a:defRPr>
      </a:lvl1pPr>
      <a:lvl2pPr marL="377830" algn="l" defTabSz="755660" rtl="0" eaLnBrk="1" latinLnBrk="0" hangingPunct="1">
        <a:defRPr sz="1488" kern="1200">
          <a:solidFill>
            <a:schemeClr val="tx1"/>
          </a:solidFill>
          <a:latin typeface="+mn-lt"/>
          <a:ea typeface="+mn-ea"/>
          <a:cs typeface="+mn-cs"/>
        </a:defRPr>
      </a:lvl2pPr>
      <a:lvl3pPr marL="755660" algn="l" defTabSz="755660" rtl="0" eaLnBrk="1" latinLnBrk="0" hangingPunct="1">
        <a:defRPr sz="1488" kern="1200">
          <a:solidFill>
            <a:schemeClr val="tx1"/>
          </a:solidFill>
          <a:latin typeface="+mn-lt"/>
          <a:ea typeface="+mn-ea"/>
          <a:cs typeface="+mn-cs"/>
        </a:defRPr>
      </a:lvl3pPr>
      <a:lvl4pPr marL="1133490" algn="l" defTabSz="755660" rtl="0" eaLnBrk="1" latinLnBrk="0" hangingPunct="1">
        <a:defRPr sz="1488" kern="1200">
          <a:solidFill>
            <a:schemeClr val="tx1"/>
          </a:solidFill>
          <a:latin typeface="+mn-lt"/>
          <a:ea typeface="+mn-ea"/>
          <a:cs typeface="+mn-cs"/>
        </a:defRPr>
      </a:lvl4pPr>
      <a:lvl5pPr marL="1511320" algn="l" defTabSz="755660" rtl="0" eaLnBrk="1" latinLnBrk="0" hangingPunct="1">
        <a:defRPr sz="1488" kern="1200">
          <a:solidFill>
            <a:schemeClr val="tx1"/>
          </a:solidFill>
          <a:latin typeface="+mn-lt"/>
          <a:ea typeface="+mn-ea"/>
          <a:cs typeface="+mn-cs"/>
        </a:defRPr>
      </a:lvl5pPr>
      <a:lvl6pPr marL="1889150" algn="l" defTabSz="755660" rtl="0" eaLnBrk="1" latinLnBrk="0" hangingPunct="1">
        <a:defRPr sz="1488" kern="1200">
          <a:solidFill>
            <a:schemeClr val="tx1"/>
          </a:solidFill>
          <a:latin typeface="+mn-lt"/>
          <a:ea typeface="+mn-ea"/>
          <a:cs typeface="+mn-cs"/>
        </a:defRPr>
      </a:lvl6pPr>
      <a:lvl7pPr marL="2266980" algn="l" defTabSz="755660" rtl="0" eaLnBrk="1" latinLnBrk="0" hangingPunct="1">
        <a:defRPr sz="1488" kern="1200">
          <a:solidFill>
            <a:schemeClr val="tx1"/>
          </a:solidFill>
          <a:latin typeface="+mn-lt"/>
          <a:ea typeface="+mn-ea"/>
          <a:cs typeface="+mn-cs"/>
        </a:defRPr>
      </a:lvl7pPr>
      <a:lvl8pPr marL="2644811" algn="l" defTabSz="755660" rtl="0" eaLnBrk="1" latinLnBrk="0" hangingPunct="1">
        <a:defRPr sz="1488" kern="1200">
          <a:solidFill>
            <a:schemeClr val="tx1"/>
          </a:solidFill>
          <a:latin typeface="+mn-lt"/>
          <a:ea typeface="+mn-ea"/>
          <a:cs typeface="+mn-cs"/>
        </a:defRPr>
      </a:lvl8pPr>
      <a:lvl9pPr marL="3022641" algn="l" defTabSz="755660"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a:extLst>
            <a:ext uri="{FF2B5EF4-FFF2-40B4-BE49-F238E27FC236}">
              <a16:creationId xmlns:a16="http://schemas.microsoft.com/office/drawing/2014/main" id="{A26BFEE5-B093-8912-C49B-ED62C4C542D2}"/>
            </a:ext>
          </a:extLst>
        </p:cNvPr>
        <p:cNvGrpSpPr/>
        <p:nvPr/>
      </p:nvGrpSpPr>
      <p:grpSpPr>
        <a:xfrm>
          <a:off x="0" y="0"/>
          <a:ext cx="0" cy="0"/>
          <a:chOff x="0" y="0"/>
          <a:chExt cx="0" cy="0"/>
        </a:xfrm>
      </p:grpSpPr>
      <p:sp>
        <p:nvSpPr>
          <p:cNvPr id="45" name="Google Shape;45;p7">
            <a:extLst>
              <a:ext uri="{FF2B5EF4-FFF2-40B4-BE49-F238E27FC236}">
                <a16:creationId xmlns:a16="http://schemas.microsoft.com/office/drawing/2014/main" id="{48BA2DF1-76FD-A5D1-5C29-D423209553A9}"/>
              </a:ext>
            </a:extLst>
          </p:cNvPr>
          <p:cNvSpPr txBox="1"/>
          <p:nvPr/>
        </p:nvSpPr>
        <p:spPr>
          <a:xfrm>
            <a:off x="6047892" y="427405"/>
            <a:ext cx="1187664" cy="144891"/>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Calibri" panose="020F0502020204030204" pitchFamily="34" charset="0"/>
                <a:ea typeface="Noto Sans SC" panose="020B0200000000000000" pitchFamily="34" charset="-128"/>
                <a:cs typeface="Calibri" panose="020F0502020204030204" pitchFamily="34" charset="0"/>
                <a:sym typeface="Microsoft YaHei"/>
              </a:rPr>
              <a:t>Version_1_20240912</a:t>
            </a:r>
            <a:endParaRPr sz="85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6" name="Google Shape;46;p7">
            <a:extLst>
              <a:ext uri="{FF2B5EF4-FFF2-40B4-BE49-F238E27FC236}">
                <a16:creationId xmlns:a16="http://schemas.microsoft.com/office/drawing/2014/main" id="{EE2755D7-25D5-6795-6346-3220472C4F64}"/>
              </a:ext>
            </a:extLst>
          </p:cNvPr>
          <p:cNvSpPr txBox="1"/>
          <p:nvPr/>
        </p:nvSpPr>
        <p:spPr>
          <a:xfrm>
            <a:off x="1672462" y="785215"/>
            <a:ext cx="4950894" cy="201958"/>
          </a:xfrm>
          <a:prstGeom prst="rect">
            <a:avLst/>
          </a:prstGeom>
          <a:noFill/>
          <a:ln>
            <a:noFill/>
          </a:ln>
        </p:spPr>
        <p:txBody>
          <a:bodyPr spcFirstLastPara="1" wrap="square" lIns="0" tIns="17125" rIns="0" bIns="0" anchor="t" anchorCtr="0">
            <a:spAutoFit/>
          </a:bodyPr>
          <a:lstStyle/>
          <a:p>
            <a:pPr marL="12700" lvl="0"/>
            <a:r>
              <a:rPr lang="en-US" sz="1200" dirty="0">
                <a:latin typeface="Calibri" panose="020F0502020204030204" pitchFamily="34" charset="0"/>
                <a:ea typeface="Noto Sans SC" panose="020B0200000000000000" pitchFamily="34" charset="-128"/>
                <a:cs typeface="Calibri" panose="020F0502020204030204" pitchFamily="34" charset="0"/>
                <a:sym typeface="Microsoft YaHei"/>
              </a:rPr>
              <a:t>Non-invasive maternal blood fetal chromosome test report</a:t>
            </a:r>
            <a:endParaRPr sz="12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grpSp>
        <p:nvGrpSpPr>
          <p:cNvPr id="47" name="Google Shape;47;p7">
            <a:extLst>
              <a:ext uri="{FF2B5EF4-FFF2-40B4-BE49-F238E27FC236}">
                <a16:creationId xmlns:a16="http://schemas.microsoft.com/office/drawing/2014/main" id="{093D9445-9A9A-32C6-1D6B-3A17E5BADC0E}"/>
              </a:ext>
            </a:extLst>
          </p:cNvPr>
          <p:cNvGrpSpPr/>
          <p:nvPr/>
        </p:nvGrpSpPr>
        <p:grpSpPr>
          <a:xfrm>
            <a:off x="1344744" y="781507"/>
            <a:ext cx="274553" cy="253365"/>
            <a:chOff x="1344744" y="781507"/>
            <a:chExt cx="253365" cy="253365"/>
          </a:xfrm>
        </p:grpSpPr>
        <p:sp>
          <p:nvSpPr>
            <p:cNvPr id="48" name="Google Shape;48;p7">
              <a:extLst>
                <a:ext uri="{FF2B5EF4-FFF2-40B4-BE49-F238E27FC236}">
                  <a16:creationId xmlns:a16="http://schemas.microsoft.com/office/drawing/2014/main" id="{E6A11658-7148-7A17-6BE5-68DB53A82335}"/>
                </a:ext>
              </a:extLst>
            </p:cNvPr>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pic>
          <p:nvPicPr>
            <p:cNvPr id="49" name="Google Shape;49;p7">
              <a:extLst>
                <a:ext uri="{FF2B5EF4-FFF2-40B4-BE49-F238E27FC236}">
                  <a16:creationId xmlns:a16="http://schemas.microsoft.com/office/drawing/2014/main" id="{CC803B81-ABAE-DE55-58E6-29ECDE58E4CE}"/>
                </a:ext>
              </a:extLst>
            </p:cNvPr>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a:extLst>
              <a:ext uri="{FF2B5EF4-FFF2-40B4-BE49-F238E27FC236}">
                <a16:creationId xmlns:a16="http://schemas.microsoft.com/office/drawing/2014/main" id="{0D93C73F-1651-CD35-E6F6-D69BA8F7618D}"/>
              </a:ext>
            </a:extLst>
          </p:cNvPr>
          <p:cNvGraphicFramePr/>
          <p:nvPr>
            <p:extLst>
              <p:ext uri="{D42A27DB-BD31-4B8C-83A1-F6EECF244321}">
                <p14:modId xmlns:p14="http://schemas.microsoft.com/office/powerpoint/2010/main" val="193614212"/>
              </p:ext>
            </p:extLst>
          </p:nvPr>
        </p:nvGraphicFramePr>
        <p:xfrm>
          <a:off x="381000" y="1279067"/>
          <a:ext cx="6795387" cy="1914500"/>
        </p:xfrm>
        <a:graphic>
          <a:graphicData uri="http://schemas.openxmlformats.org/drawingml/2006/table">
            <a:tbl>
              <a:tblPr firstRow="1" bandRow="1">
                <a:noFill/>
                <a:tableStyleId>{F28EBD1E-F79C-4DFF-868A-0A9D0052B014}</a:tableStyleId>
              </a:tblPr>
              <a:tblGrid>
                <a:gridCol w="1164891">
                  <a:extLst>
                    <a:ext uri="{9D8B030D-6E8A-4147-A177-3AD203B41FA5}">
                      <a16:colId xmlns:a16="http://schemas.microsoft.com/office/drawing/2014/main" val="20000"/>
                    </a:ext>
                  </a:extLst>
                </a:gridCol>
                <a:gridCol w="1098753">
                  <a:extLst>
                    <a:ext uri="{9D8B030D-6E8A-4147-A177-3AD203B41FA5}">
                      <a16:colId xmlns:a16="http://schemas.microsoft.com/office/drawing/2014/main" val="20001"/>
                    </a:ext>
                  </a:extLst>
                </a:gridCol>
                <a:gridCol w="1166168">
                  <a:extLst>
                    <a:ext uri="{9D8B030D-6E8A-4147-A177-3AD203B41FA5}">
                      <a16:colId xmlns:a16="http://schemas.microsoft.com/office/drawing/2014/main" val="20002"/>
                    </a:ext>
                  </a:extLst>
                </a:gridCol>
                <a:gridCol w="1096850">
                  <a:extLst>
                    <a:ext uri="{9D8B030D-6E8A-4147-A177-3AD203B41FA5}">
                      <a16:colId xmlns:a16="http://schemas.microsoft.com/office/drawing/2014/main" val="20003"/>
                    </a:ext>
                  </a:extLst>
                </a:gridCol>
                <a:gridCol w="1167419">
                  <a:extLst>
                    <a:ext uri="{9D8B030D-6E8A-4147-A177-3AD203B41FA5}">
                      <a16:colId xmlns:a16="http://schemas.microsoft.com/office/drawing/2014/main" val="20004"/>
                    </a:ext>
                  </a:extLst>
                </a:gridCol>
                <a:gridCol w="1101306">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Name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Date of Birth:</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&lt;&lt;DOB&gt;&gt;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MR Number:</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&lt;&lt;MRN&gt;&gt;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Draw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Blood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Report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Order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Hospital</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dirty="0">
                          <a:latin typeface="Noto Sans SC" panose="020B0200000000000000" pitchFamily="34" charset="-128"/>
                          <a:ea typeface="Noto Sans SC" panose="020B0200000000000000" pitchFamily="34" charset="-128"/>
                          <a:cs typeface="Arial"/>
                          <a:sym typeface="Arial"/>
                        </a:rPr>
                        <a:t>&lt;&lt;Hospital&gt;&gt;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Pregnancy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Gestational Age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&lt;&lt;W&gt;&gt;</a:t>
                      </a:r>
                      <a:r>
                        <a:rPr lang="en-US" sz="900" u="none" strike="noStrike" cap="none" dirty="0">
                          <a:latin typeface="Noto Sans SC" panose="020B0200000000000000" pitchFamily="34" charset="-128"/>
                          <a:ea typeface="Noto Sans SC" panose="020B0200000000000000" pitchFamily="34" charset="-128"/>
                          <a:cs typeface="Arial"/>
                          <a:sym typeface="Arial"/>
                        </a:rPr>
                        <a:t> W </a:t>
                      </a:r>
                      <a:r>
                        <a:rPr lang="en-US" sz="900" dirty="0">
                          <a:latin typeface="Noto Sans SC" panose="020B0200000000000000" pitchFamily="34" charset="-128"/>
                          <a:ea typeface="Noto Sans SC" panose="020B0200000000000000" pitchFamily="34" charset="-128"/>
                          <a:cs typeface="Arial"/>
                          <a:sym typeface="Arial"/>
                        </a:rPr>
                        <a:t>&lt;&lt;D&gt;&gt;</a:t>
                      </a:r>
                      <a:r>
                        <a:rPr lang="en-US" sz="900" u="none" strike="noStrike" cap="none" dirty="0">
                          <a:latin typeface="Noto Sans SC" panose="020B0200000000000000" pitchFamily="34" charset="-128"/>
                          <a:ea typeface="Noto Sans SC" panose="020B0200000000000000" pitchFamily="34" charset="-128"/>
                          <a:cs typeface="Arial"/>
                          <a:sym typeface="Arial"/>
                        </a:rPr>
                        <a:t> 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Physician</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&lt;&lt;Doctor&gt;&gt;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a:extLst>
              <a:ext uri="{FF2B5EF4-FFF2-40B4-BE49-F238E27FC236}">
                <a16:creationId xmlns:a16="http://schemas.microsoft.com/office/drawing/2014/main" id="{CFA83C28-B69D-0E15-9E86-AC4CD3735D41}"/>
              </a:ext>
            </a:extLst>
          </p:cNvPr>
          <p:cNvSpPr txBox="1"/>
          <p:nvPr/>
        </p:nvSpPr>
        <p:spPr>
          <a:xfrm>
            <a:off x="2797750" y="3831425"/>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2" name="Google Shape;52;p7">
            <a:extLst>
              <a:ext uri="{FF2B5EF4-FFF2-40B4-BE49-F238E27FC236}">
                <a16:creationId xmlns:a16="http://schemas.microsoft.com/office/drawing/2014/main" id="{A3175548-6C80-A6C5-CEF7-97C6A20F29C1}"/>
              </a:ext>
            </a:extLst>
          </p:cNvPr>
          <p:cNvSpPr txBox="1"/>
          <p:nvPr/>
        </p:nvSpPr>
        <p:spPr>
          <a:xfrm>
            <a:off x="669847" y="4178808"/>
            <a:ext cx="110137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21</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3" name="Google Shape;53;p7">
            <a:extLst>
              <a:ext uri="{FF2B5EF4-FFF2-40B4-BE49-F238E27FC236}">
                <a16:creationId xmlns:a16="http://schemas.microsoft.com/office/drawing/2014/main" id="{5E5B2398-D23D-21EA-E857-456B08FAFF71}"/>
              </a:ext>
            </a:extLst>
          </p:cNvPr>
          <p:cNvSpPr/>
          <p:nvPr/>
        </p:nvSpPr>
        <p:spPr>
          <a:xfrm>
            <a:off x="580071" y="4103522"/>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5" name="Google Shape;55;p7">
            <a:extLst>
              <a:ext uri="{FF2B5EF4-FFF2-40B4-BE49-F238E27FC236}">
                <a16:creationId xmlns:a16="http://schemas.microsoft.com/office/drawing/2014/main" id="{ACB5B20D-D5AA-19B5-34E9-5084C3F0FEDE}"/>
              </a:ext>
            </a:extLst>
          </p:cNvPr>
          <p:cNvSpPr txBox="1"/>
          <p:nvPr/>
        </p:nvSpPr>
        <p:spPr>
          <a:xfrm>
            <a:off x="669848" y="4538713"/>
            <a:ext cx="116193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18</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6" name="Google Shape;56;p7">
            <a:extLst>
              <a:ext uri="{FF2B5EF4-FFF2-40B4-BE49-F238E27FC236}">
                <a16:creationId xmlns:a16="http://schemas.microsoft.com/office/drawing/2014/main" id="{E39F346E-1BB5-6869-8AEE-18E0B8F7C947}"/>
              </a:ext>
            </a:extLst>
          </p:cNvPr>
          <p:cNvSpPr/>
          <p:nvPr/>
        </p:nvSpPr>
        <p:spPr>
          <a:xfrm>
            <a:off x="580071" y="446341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8" name="Google Shape;58;p7">
            <a:extLst>
              <a:ext uri="{FF2B5EF4-FFF2-40B4-BE49-F238E27FC236}">
                <a16:creationId xmlns:a16="http://schemas.microsoft.com/office/drawing/2014/main" id="{82215C73-804B-EDC7-653C-D1372E2C4D6D}"/>
              </a:ext>
            </a:extLst>
          </p:cNvPr>
          <p:cNvSpPr txBox="1"/>
          <p:nvPr/>
        </p:nvSpPr>
        <p:spPr>
          <a:xfrm>
            <a:off x="669847" y="4898618"/>
            <a:ext cx="117803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Trisomy 13</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9" name="Google Shape;59;p7">
            <a:extLst>
              <a:ext uri="{FF2B5EF4-FFF2-40B4-BE49-F238E27FC236}">
                <a16:creationId xmlns:a16="http://schemas.microsoft.com/office/drawing/2014/main" id="{7F359FD2-DAB1-8B7B-D569-C270A6CEFC42}"/>
              </a:ext>
            </a:extLst>
          </p:cNvPr>
          <p:cNvSpPr/>
          <p:nvPr/>
        </p:nvSpPr>
        <p:spPr>
          <a:xfrm>
            <a:off x="580071" y="4823320"/>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1" name="Google Shape;61;p7">
            <a:extLst>
              <a:ext uri="{FF2B5EF4-FFF2-40B4-BE49-F238E27FC236}">
                <a16:creationId xmlns:a16="http://schemas.microsoft.com/office/drawing/2014/main" id="{902E800B-2F57-B0A7-899E-E6E4C330081C}"/>
              </a:ext>
            </a:extLst>
          </p:cNvPr>
          <p:cNvSpPr txBox="1"/>
          <p:nvPr/>
        </p:nvSpPr>
        <p:spPr>
          <a:xfrm>
            <a:off x="669848" y="5258511"/>
            <a:ext cx="88902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9</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2" name="Google Shape;62;p7">
            <a:extLst>
              <a:ext uri="{FF2B5EF4-FFF2-40B4-BE49-F238E27FC236}">
                <a16:creationId xmlns:a16="http://schemas.microsoft.com/office/drawing/2014/main" id="{0D54621B-B11B-1F2F-5513-5E7581F3AA57}"/>
              </a:ext>
            </a:extLst>
          </p:cNvPr>
          <p:cNvSpPr/>
          <p:nvPr/>
        </p:nvSpPr>
        <p:spPr>
          <a:xfrm>
            <a:off x="580071" y="518322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4" name="Google Shape;64;p7">
            <a:extLst>
              <a:ext uri="{FF2B5EF4-FFF2-40B4-BE49-F238E27FC236}">
                <a16:creationId xmlns:a16="http://schemas.microsoft.com/office/drawing/2014/main" id="{E1C4CAD8-A1E8-9D56-EBC7-D2DA492D4D5F}"/>
              </a:ext>
            </a:extLst>
          </p:cNvPr>
          <p:cNvSpPr txBox="1"/>
          <p:nvPr/>
        </p:nvSpPr>
        <p:spPr>
          <a:xfrm>
            <a:off x="669848" y="5618416"/>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16</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5" name="Google Shape;65;p7">
            <a:extLst>
              <a:ext uri="{FF2B5EF4-FFF2-40B4-BE49-F238E27FC236}">
                <a16:creationId xmlns:a16="http://schemas.microsoft.com/office/drawing/2014/main" id="{7D40E87F-7C9D-C178-E6E7-3B34CFC43E66}"/>
              </a:ext>
            </a:extLst>
          </p:cNvPr>
          <p:cNvSpPr/>
          <p:nvPr/>
        </p:nvSpPr>
        <p:spPr>
          <a:xfrm>
            <a:off x="580071" y="5543131"/>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7" name="Google Shape;67;p7">
            <a:extLst>
              <a:ext uri="{FF2B5EF4-FFF2-40B4-BE49-F238E27FC236}">
                <a16:creationId xmlns:a16="http://schemas.microsoft.com/office/drawing/2014/main" id="{D9D16BAC-1DAF-A20E-7A27-B6A91CB3607A}"/>
              </a:ext>
            </a:extLst>
          </p:cNvPr>
          <p:cNvSpPr txBox="1"/>
          <p:nvPr/>
        </p:nvSpPr>
        <p:spPr>
          <a:xfrm>
            <a:off x="669848" y="5978321"/>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22</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8" name="Google Shape;68;p7">
            <a:extLst>
              <a:ext uri="{FF2B5EF4-FFF2-40B4-BE49-F238E27FC236}">
                <a16:creationId xmlns:a16="http://schemas.microsoft.com/office/drawing/2014/main" id="{F367FC41-8CE2-1D46-DF0D-D90F17FF7BB9}"/>
              </a:ext>
            </a:extLst>
          </p:cNvPr>
          <p:cNvSpPr/>
          <p:nvPr/>
        </p:nvSpPr>
        <p:spPr>
          <a:xfrm>
            <a:off x="580071" y="5903023"/>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0" name="Google Shape;70;p7">
            <a:extLst>
              <a:ext uri="{FF2B5EF4-FFF2-40B4-BE49-F238E27FC236}">
                <a16:creationId xmlns:a16="http://schemas.microsoft.com/office/drawing/2014/main" id="{CD85AB32-1D81-0CC5-A759-E98BAE4D5681}"/>
              </a:ext>
            </a:extLst>
          </p:cNvPr>
          <p:cNvSpPr txBox="1"/>
          <p:nvPr/>
        </p:nvSpPr>
        <p:spPr>
          <a:xfrm>
            <a:off x="669847" y="6338227"/>
            <a:ext cx="207585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XO (Turner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1" name="Google Shape;71;p7">
            <a:extLst>
              <a:ext uri="{FF2B5EF4-FFF2-40B4-BE49-F238E27FC236}">
                <a16:creationId xmlns:a16="http://schemas.microsoft.com/office/drawing/2014/main" id="{4BA9847A-0231-436E-EDB2-C40FCDD31FB7}"/>
              </a:ext>
            </a:extLst>
          </p:cNvPr>
          <p:cNvSpPr/>
          <p:nvPr/>
        </p:nvSpPr>
        <p:spPr>
          <a:xfrm>
            <a:off x="580071" y="6262928"/>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3" name="Google Shape;73;p7">
            <a:extLst>
              <a:ext uri="{FF2B5EF4-FFF2-40B4-BE49-F238E27FC236}">
                <a16:creationId xmlns:a16="http://schemas.microsoft.com/office/drawing/2014/main" id="{93076459-FF99-E0CB-80B5-D5AD2799FB9A}"/>
              </a:ext>
            </a:extLst>
          </p:cNvPr>
          <p:cNvSpPr txBox="1"/>
          <p:nvPr/>
        </p:nvSpPr>
        <p:spPr>
          <a:xfrm>
            <a:off x="669848" y="6698132"/>
            <a:ext cx="124548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XXX (Trisomy X)</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4" name="Google Shape;74;p7">
            <a:extLst>
              <a:ext uri="{FF2B5EF4-FFF2-40B4-BE49-F238E27FC236}">
                <a16:creationId xmlns:a16="http://schemas.microsoft.com/office/drawing/2014/main" id="{392E029C-16BF-9909-E1A8-E23ABABC8A10}"/>
              </a:ext>
            </a:extLst>
          </p:cNvPr>
          <p:cNvSpPr/>
          <p:nvPr/>
        </p:nvSpPr>
        <p:spPr>
          <a:xfrm>
            <a:off x="580071" y="6622834"/>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6" name="Google Shape;76;p7">
            <a:extLst>
              <a:ext uri="{FF2B5EF4-FFF2-40B4-BE49-F238E27FC236}">
                <a16:creationId xmlns:a16="http://schemas.microsoft.com/office/drawing/2014/main" id="{2BE5A423-E13E-C4A9-5659-60A60FB3B219}"/>
              </a:ext>
            </a:extLst>
          </p:cNvPr>
          <p:cNvSpPr txBox="1"/>
          <p:nvPr/>
        </p:nvSpPr>
        <p:spPr>
          <a:xfrm>
            <a:off x="669848" y="7058025"/>
            <a:ext cx="1765395"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XXY (Klinefelter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7" name="Google Shape;77;p7">
            <a:extLst>
              <a:ext uri="{FF2B5EF4-FFF2-40B4-BE49-F238E27FC236}">
                <a16:creationId xmlns:a16="http://schemas.microsoft.com/office/drawing/2014/main" id="{72D64BD3-171E-9150-238D-694A71E9D86C}"/>
              </a:ext>
            </a:extLst>
          </p:cNvPr>
          <p:cNvSpPr/>
          <p:nvPr/>
        </p:nvSpPr>
        <p:spPr>
          <a:xfrm>
            <a:off x="580071" y="6982739"/>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9" name="Google Shape;79;p7">
            <a:extLst>
              <a:ext uri="{FF2B5EF4-FFF2-40B4-BE49-F238E27FC236}">
                <a16:creationId xmlns:a16="http://schemas.microsoft.com/office/drawing/2014/main" id="{44A3C4B2-6481-80A5-8968-4E062E1E357C}"/>
              </a:ext>
            </a:extLst>
          </p:cNvPr>
          <p:cNvSpPr txBox="1"/>
          <p:nvPr/>
        </p:nvSpPr>
        <p:spPr>
          <a:xfrm>
            <a:off x="669848" y="7417930"/>
            <a:ext cx="229869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XYY (Jacob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0" name="Google Shape;80;p7">
            <a:extLst>
              <a:ext uri="{FF2B5EF4-FFF2-40B4-BE49-F238E27FC236}">
                <a16:creationId xmlns:a16="http://schemas.microsoft.com/office/drawing/2014/main" id="{83B09090-3B85-C585-19AA-E8B7E0825F7C}"/>
              </a:ext>
            </a:extLst>
          </p:cNvPr>
          <p:cNvSpPr/>
          <p:nvPr/>
        </p:nvSpPr>
        <p:spPr>
          <a:xfrm>
            <a:off x="580071" y="7342644"/>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2" name="Google Shape;82;p7">
            <a:extLst>
              <a:ext uri="{FF2B5EF4-FFF2-40B4-BE49-F238E27FC236}">
                <a16:creationId xmlns:a16="http://schemas.microsoft.com/office/drawing/2014/main" id="{A1F0142A-8C1B-613B-7B34-6F8F68D1E5CF}"/>
              </a:ext>
            </a:extLst>
          </p:cNvPr>
          <p:cNvSpPr txBox="1"/>
          <p:nvPr/>
        </p:nvSpPr>
        <p:spPr>
          <a:xfrm>
            <a:off x="669847" y="7777835"/>
            <a:ext cx="1948119"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All other autosomal trisomy</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3" name="Google Shape;83;p7">
            <a:extLst>
              <a:ext uri="{FF2B5EF4-FFF2-40B4-BE49-F238E27FC236}">
                <a16:creationId xmlns:a16="http://schemas.microsoft.com/office/drawing/2014/main" id="{86E46BE7-7B48-3A07-4C55-A1394B5835EA}"/>
              </a:ext>
            </a:extLst>
          </p:cNvPr>
          <p:cNvSpPr/>
          <p:nvPr/>
        </p:nvSpPr>
        <p:spPr>
          <a:xfrm>
            <a:off x="580071" y="7702537"/>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5" name="Google Shape;85;p7">
            <a:extLst>
              <a:ext uri="{FF2B5EF4-FFF2-40B4-BE49-F238E27FC236}">
                <a16:creationId xmlns:a16="http://schemas.microsoft.com/office/drawing/2014/main" id="{4EDAD288-7B3A-6020-5279-1CCF9D5A1673}"/>
              </a:ext>
            </a:extLst>
          </p:cNvPr>
          <p:cNvSpPr/>
          <p:nvPr/>
        </p:nvSpPr>
        <p:spPr>
          <a:xfrm>
            <a:off x="535786" y="4054462"/>
            <a:ext cx="3538907"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6" name="Google Shape;86;p7">
            <a:extLst>
              <a:ext uri="{FF2B5EF4-FFF2-40B4-BE49-F238E27FC236}">
                <a16:creationId xmlns:a16="http://schemas.microsoft.com/office/drawing/2014/main" id="{3EA21A35-C566-C0B7-1D99-1F397AD9C074}"/>
              </a:ext>
            </a:extLst>
          </p:cNvPr>
          <p:cNvSpPr txBox="1"/>
          <p:nvPr/>
        </p:nvSpPr>
        <p:spPr>
          <a:xfrm>
            <a:off x="3956875" y="3831425"/>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Microdeletion</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8" name="Google Shape;88;p7">
            <a:extLst>
              <a:ext uri="{FF2B5EF4-FFF2-40B4-BE49-F238E27FC236}">
                <a16:creationId xmlns:a16="http://schemas.microsoft.com/office/drawing/2014/main" id="{CE41E459-F309-7C00-AA7D-12249C74DFBD}"/>
              </a:ext>
            </a:extLst>
          </p:cNvPr>
          <p:cNvSpPr txBox="1"/>
          <p:nvPr/>
        </p:nvSpPr>
        <p:spPr>
          <a:xfrm>
            <a:off x="4059349" y="4178808"/>
            <a:ext cx="170926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1p36 deletion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9" name="Google Shape;89;p7">
            <a:extLst>
              <a:ext uri="{FF2B5EF4-FFF2-40B4-BE49-F238E27FC236}">
                <a16:creationId xmlns:a16="http://schemas.microsoft.com/office/drawing/2014/main" id="{1DC7AA4A-7190-7DB8-8CBA-F4F250E3FD19}"/>
              </a:ext>
            </a:extLst>
          </p:cNvPr>
          <p:cNvSpPr/>
          <p:nvPr/>
        </p:nvSpPr>
        <p:spPr>
          <a:xfrm>
            <a:off x="3969574" y="4103522"/>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91" name="Google Shape;91;p7">
            <a:extLst>
              <a:ext uri="{FF2B5EF4-FFF2-40B4-BE49-F238E27FC236}">
                <a16:creationId xmlns:a16="http://schemas.microsoft.com/office/drawing/2014/main" id="{052DBD0F-20EC-FB07-6A85-570618DE5002}"/>
              </a:ext>
            </a:extLst>
          </p:cNvPr>
          <p:cNvSpPr txBox="1"/>
          <p:nvPr/>
        </p:nvSpPr>
        <p:spPr>
          <a:xfrm>
            <a:off x="4059350" y="4538713"/>
            <a:ext cx="1767585"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2q33.1 deletion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92" name="Google Shape;92;p7">
            <a:extLst>
              <a:ext uri="{FF2B5EF4-FFF2-40B4-BE49-F238E27FC236}">
                <a16:creationId xmlns:a16="http://schemas.microsoft.com/office/drawing/2014/main" id="{47DFE3CC-2F59-0537-1868-CBFD8B6C7FFA}"/>
              </a:ext>
            </a:extLst>
          </p:cNvPr>
          <p:cNvSpPr/>
          <p:nvPr/>
        </p:nvSpPr>
        <p:spPr>
          <a:xfrm>
            <a:off x="3969574" y="4463415"/>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94" name="Google Shape;94;p7">
            <a:extLst>
              <a:ext uri="{FF2B5EF4-FFF2-40B4-BE49-F238E27FC236}">
                <a16:creationId xmlns:a16="http://schemas.microsoft.com/office/drawing/2014/main" id="{93D0F4B1-538C-FBAD-B33A-9A888AFE9FDB}"/>
              </a:ext>
            </a:extLst>
          </p:cNvPr>
          <p:cNvSpPr txBox="1"/>
          <p:nvPr/>
        </p:nvSpPr>
        <p:spPr>
          <a:xfrm>
            <a:off x="4059350" y="4898618"/>
            <a:ext cx="1851791"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Wolf-Hirschhorn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95" name="Google Shape;95;p7">
            <a:extLst>
              <a:ext uri="{FF2B5EF4-FFF2-40B4-BE49-F238E27FC236}">
                <a16:creationId xmlns:a16="http://schemas.microsoft.com/office/drawing/2014/main" id="{49444672-358C-6BD2-A350-AC288EC0B2E1}"/>
              </a:ext>
            </a:extLst>
          </p:cNvPr>
          <p:cNvSpPr/>
          <p:nvPr/>
        </p:nvSpPr>
        <p:spPr>
          <a:xfrm>
            <a:off x="3969574" y="4823320"/>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97" name="Google Shape;97;p7">
            <a:extLst>
              <a:ext uri="{FF2B5EF4-FFF2-40B4-BE49-F238E27FC236}">
                <a16:creationId xmlns:a16="http://schemas.microsoft.com/office/drawing/2014/main" id="{A33C98AD-977F-204E-51EA-BB8CE6229D23}"/>
              </a:ext>
            </a:extLst>
          </p:cNvPr>
          <p:cNvSpPr txBox="1"/>
          <p:nvPr/>
        </p:nvSpPr>
        <p:spPr>
          <a:xfrm>
            <a:off x="4059351" y="5258511"/>
            <a:ext cx="1709268"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Cri Du Chat syndrome</a:t>
            </a:r>
          </a:p>
        </p:txBody>
      </p:sp>
      <p:sp>
        <p:nvSpPr>
          <p:cNvPr id="98" name="Google Shape;98;p7">
            <a:extLst>
              <a:ext uri="{FF2B5EF4-FFF2-40B4-BE49-F238E27FC236}">
                <a16:creationId xmlns:a16="http://schemas.microsoft.com/office/drawing/2014/main" id="{94AEABB0-D29C-F906-BA26-FF58DD8ABFFA}"/>
              </a:ext>
            </a:extLst>
          </p:cNvPr>
          <p:cNvSpPr/>
          <p:nvPr/>
        </p:nvSpPr>
        <p:spPr>
          <a:xfrm>
            <a:off x="3969574" y="5183225"/>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00" name="Google Shape;100;p7">
            <a:extLst>
              <a:ext uri="{FF2B5EF4-FFF2-40B4-BE49-F238E27FC236}">
                <a16:creationId xmlns:a16="http://schemas.microsoft.com/office/drawing/2014/main" id="{9DE185EA-105A-390C-07A5-985B76C4EE4E}"/>
              </a:ext>
            </a:extLst>
          </p:cNvPr>
          <p:cNvSpPr txBox="1"/>
          <p:nvPr/>
        </p:nvSpPr>
        <p:spPr>
          <a:xfrm>
            <a:off x="4059351" y="5618416"/>
            <a:ext cx="1851790"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Williams-Beuren syndrome</a:t>
            </a:r>
          </a:p>
        </p:txBody>
      </p:sp>
      <p:sp>
        <p:nvSpPr>
          <p:cNvPr id="101" name="Google Shape;101;p7">
            <a:extLst>
              <a:ext uri="{FF2B5EF4-FFF2-40B4-BE49-F238E27FC236}">
                <a16:creationId xmlns:a16="http://schemas.microsoft.com/office/drawing/2014/main" id="{DCF4461F-8DF9-5E1F-68A2-67BAA2F430BE}"/>
              </a:ext>
            </a:extLst>
          </p:cNvPr>
          <p:cNvSpPr/>
          <p:nvPr/>
        </p:nvSpPr>
        <p:spPr>
          <a:xfrm>
            <a:off x="3969574" y="5543131"/>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03" name="Google Shape;103;p7">
            <a:extLst>
              <a:ext uri="{FF2B5EF4-FFF2-40B4-BE49-F238E27FC236}">
                <a16:creationId xmlns:a16="http://schemas.microsoft.com/office/drawing/2014/main" id="{8D9EA37F-E8AF-8450-B245-CFB4B28BBE71}"/>
              </a:ext>
            </a:extLst>
          </p:cNvPr>
          <p:cNvSpPr txBox="1"/>
          <p:nvPr/>
        </p:nvSpPr>
        <p:spPr>
          <a:xfrm>
            <a:off x="4059351" y="5978321"/>
            <a:ext cx="163837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Jacobsen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04" name="Google Shape;104;p7">
            <a:extLst>
              <a:ext uri="{FF2B5EF4-FFF2-40B4-BE49-F238E27FC236}">
                <a16:creationId xmlns:a16="http://schemas.microsoft.com/office/drawing/2014/main" id="{E927AB21-BCDA-E427-980A-E3B1099B8871}"/>
              </a:ext>
            </a:extLst>
          </p:cNvPr>
          <p:cNvSpPr/>
          <p:nvPr/>
        </p:nvSpPr>
        <p:spPr>
          <a:xfrm>
            <a:off x="3969574" y="5903023"/>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06" name="Google Shape;106;p7">
            <a:extLst>
              <a:ext uri="{FF2B5EF4-FFF2-40B4-BE49-F238E27FC236}">
                <a16:creationId xmlns:a16="http://schemas.microsoft.com/office/drawing/2014/main" id="{D0EAA1CC-B051-C161-5440-E5CFFE424B95}"/>
              </a:ext>
            </a:extLst>
          </p:cNvPr>
          <p:cNvSpPr txBox="1"/>
          <p:nvPr/>
        </p:nvSpPr>
        <p:spPr>
          <a:xfrm>
            <a:off x="4059350" y="6338227"/>
            <a:ext cx="2089328"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Prader-</a:t>
            </a:r>
            <a:r>
              <a:rPr lang="en-US" sz="900" dirty="0" err="1">
                <a:latin typeface="Calibri" panose="020F0502020204030204" pitchFamily="34" charset="0"/>
                <a:ea typeface="Noto Sans SC" panose="020B0200000000000000" pitchFamily="34" charset="-128"/>
                <a:cs typeface="Calibri" panose="020F0502020204030204" pitchFamily="34" charset="0"/>
              </a:rPr>
              <a:t>willi</a:t>
            </a:r>
            <a:r>
              <a:rPr lang="en-US" sz="900" dirty="0">
                <a:latin typeface="Calibri" panose="020F0502020204030204" pitchFamily="34" charset="0"/>
                <a:ea typeface="Noto Sans SC" panose="020B0200000000000000" pitchFamily="34" charset="-128"/>
                <a:cs typeface="Calibri" panose="020F0502020204030204" pitchFamily="34" charset="0"/>
              </a:rPr>
              <a:t>/Angelman syndrome</a:t>
            </a:r>
          </a:p>
        </p:txBody>
      </p:sp>
      <p:sp>
        <p:nvSpPr>
          <p:cNvPr id="107" name="Google Shape;107;p7">
            <a:extLst>
              <a:ext uri="{FF2B5EF4-FFF2-40B4-BE49-F238E27FC236}">
                <a16:creationId xmlns:a16="http://schemas.microsoft.com/office/drawing/2014/main" id="{7C3938A8-F109-1DBC-5F5E-569E77E33177}"/>
              </a:ext>
            </a:extLst>
          </p:cNvPr>
          <p:cNvSpPr/>
          <p:nvPr/>
        </p:nvSpPr>
        <p:spPr>
          <a:xfrm>
            <a:off x="3969574" y="6262928"/>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09" name="Google Shape;109;p7">
            <a:extLst>
              <a:ext uri="{FF2B5EF4-FFF2-40B4-BE49-F238E27FC236}">
                <a16:creationId xmlns:a16="http://schemas.microsoft.com/office/drawing/2014/main" id="{31C7C673-230F-FD2D-A25A-D13A7C015157}"/>
              </a:ext>
            </a:extLst>
          </p:cNvPr>
          <p:cNvSpPr txBox="1"/>
          <p:nvPr/>
        </p:nvSpPr>
        <p:spPr>
          <a:xfrm>
            <a:off x="4059350" y="6698132"/>
            <a:ext cx="191287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DiGeorge syndrome (22q11.2)</a:t>
            </a:r>
          </a:p>
        </p:txBody>
      </p:sp>
      <p:sp>
        <p:nvSpPr>
          <p:cNvPr id="110" name="Google Shape;110;p7">
            <a:extLst>
              <a:ext uri="{FF2B5EF4-FFF2-40B4-BE49-F238E27FC236}">
                <a16:creationId xmlns:a16="http://schemas.microsoft.com/office/drawing/2014/main" id="{C759B0B3-FEA5-2685-A1F4-EACC35ADFD60}"/>
              </a:ext>
            </a:extLst>
          </p:cNvPr>
          <p:cNvSpPr/>
          <p:nvPr/>
        </p:nvSpPr>
        <p:spPr>
          <a:xfrm>
            <a:off x="3969574" y="6622834"/>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2" name="Google Shape;112;p7">
            <a:extLst>
              <a:ext uri="{FF2B5EF4-FFF2-40B4-BE49-F238E27FC236}">
                <a16:creationId xmlns:a16="http://schemas.microsoft.com/office/drawing/2014/main" id="{A33ABAC2-7B8F-CF5F-CBC9-F2FFE26DC3E9}"/>
              </a:ext>
            </a:extLst>
          </p:cNvPr>
          <p:cNvSpPr txBox="1"/>
          <p:nvPr/>
        </p:nvSpPr>
        <p:spPr>
          <a:xfrm>
            <a:off x="4059349" y="7005844"/>
            <a:ext cx="1692457"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Other microdeletions/duplications</a:t>
            </a:r>
          </a:p>
        </p:txBody>
      </p:sp>
      <p:sp>
        <p:nvSpPr>
          <p:cNvPr id="113" name="Google Shape;113;p7">
            <a:extLst>
              <a:ext uri="{FF2B5EF4-FFF2-40B4-BE49-F238E27FC236}">
                <a16:creationId xmlns:a16="http://schemas.microsoft.com/office/drawing/2014/main" id="{8309C2D1-A4A4-25A3-F0BB-DDCE8004C10E}"/>
              </a:ext>
            </a:extLst>
          </p:cNvPr>
          <p:cNvSpPr/>
          <p:nvPr/>
        </p:nvSpPr>
        <p:spPr>
          <a:xfrm>
            <a:off x="3969574" y="6982739"/>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5" name="Google Shape;115;p7">
            <a:extLst>
              <a:ext uri="{FF2B5EF4-FFF2-40B4-BE49-F238E27FC236}">
                <a16:creationId xmlns:a16="http://schemas.microsoft.com/office/drawing/2014/main" id="{2CD2CC7B-A460-95EA-434B-EB13A9037E43}"/>
              </a:ext>
            </a:extLst>
          </p:cNvPr>
          <p:cNvSpPr/>
          <p:nvPr/>
        </p:nvSpPr>
        <p:spPr>
          <a:xfrm flipV="1">
            <a:off x="3806215" y="4008743"/>
            <a:ext cx="3214500" cy="45719"/>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6" name="Google Shape;116;p7">
            <a:extLst>
              <a:ext uri="{FF2B5EF4-FFF2-40B4-BE49-F238E27FC236}">
                <a16:creationId xmlns:a16="http://schemas.microsoft.com/office/drawing/2014/main" id="{5D517653-6193-DC27-1335-6290ED8488C3}"/>
              </a:ext>
            </a:extLst>
          </p:cNvPr>
          <p:cNvSpPr/>
          <p:nvPr/>
        </p:nvSpPr>
        <p:spPr>
          <a:xfrm>
            <a:off x="533400" y="8136203"/>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7" name="Google Shape;117;p7">
            <a:extLst>
              <a:ext uri="{FF2B5EF4-FFF2-40B4-BE49-F238E27FC236}">
                <a16:creationId xmlns:a16="http://schemas.microsoft.com/office/drawing/2014/main" id="{E0DD199D-156B-E47C-126B-D50B9042AEDE}"/>
              </a:ext>
            </a:extLst>
          </p:cNvPr>
          <p:cNvSpPr txBox="1"/>
          <p:nvPr/>
        </p:nvSpPr>
        <p:spPr>
          <a:xfrm>
            <a:off x="580072" y="8772553"/>
            <a:ext cx="6440643" cy="386639"/>
          </a:xfrm>
          <a:prstGeom prst="rect">
            <a:avLst/>
          </a:prstGeom>
          <a:noFill/>
          <a:ln>
            <a:noFill/>
          </a:ln>
        </p:spPr>
        <p:txBody>
          <a:bodyPr spcFirstLastPara="1" wrap="square" lIns="0" tIns="40000" rIns="0" bIns="0" anchor="t" anchorCtr="0">
            <a:spAutoFit/>
          </a:bodyPr>
          <a:lstStyle/>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NIPT is only a screening test, not a final diagnosis. The report results are only for reference by medical personnel. Its clinical significance and recommendations need to be comprehensively evaluated by clinical physicians.</a:t>
            </a:r>
          </a:p>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After the screening test, it is recommended to combine it with a high-level ultrasound examination to confirm whether the fetus has structural abnormalities.</a:t>
            </a:r>
            <a:endParaRPr sz="75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8" name="Google Shape;118;p7">
            <a:extLst>
              <a:ext uri="{FF2B5EF4-FFF2-40B4-BE49-F238E27FC236}">
                <a16:creationId xmlns:a16="http://schemas.microsoft.com/office/drawing/2014/main" id="{8E341A31-8C76-1D04-C050-AEE46DA75BFF}"/>
              </a:ext>
            </a:extLst>
          </p:cNvPr>
          <p:cNvSpPr/>
          <p:nvPr/>
        </p:nvSpPr>
        <p:spPr>
          <a:xfrm flipV="1">
            <a:off x="533400" y="8680407"/>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9" name="Google Shape;119;p7">
            <a:extLst>
              <a:ext uri="{FF2B5EF4-FFF2-40B4-BE49-F238E27FC236}">
                <a16:creationId xmlns:a16="http://schemas.microsoft.com/office/drawing/2014/main" id="{4CFA9407-6E76-01FF-038B-5B3706801616}"/>
              </a:ext>
            </a:extLst>
          </p:cNvPr>
          <p:cNvSpPr/>
          <p:nvPr/>
        </p:nvSpPr>
        <p:spPr>
          <a:xfrm>
            <a:off x="5439054" y="9674606"/>
            <a:ext cx="1181471" cy="0"/>
          </a:xfrm>
          <a:custGeom>
            <a:avLst/>
            <a:gdLst/>
            <a:ahLst/>
            <a:cxnLst/>
            <a:rect l="l" t="t" r="r" b="b"/>
            <a:pathLst>
              <a:path w="1090295" h="120000" extrusionOk="0">
                <a:moveTo>
                  <a:pt x="0" y="0"/>
                </a:moveTo>
                <a:lnTo>
                  <a:pt x="1090155"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0" name="Google Shape;120;p7">
            <a:extLst>
              <a:ext uri="{FF2B5EF4-FFF2-40B4-BE49-F238E27FC236}">
                <a16:creationId xmlns:a16="http://schemas.microsoft.com/office/drawing/2014/main" id="{569C0687-655C-91F1-0687-3FAA4F7EF0C7}"/>
              </a:ext>
            </a:extLst>
          </p:cNvPr>
          <p:cNvSpPr txBox="1"/>
          <p:nvPr/>
        </p:nvSpPr>
        <p:spPr>
          <a:xfrm>
            <a:off x="5685688" y="9677489"/>
            <a:ext cx="646816"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latin typeface="Calibri" panose="020F0502020204030204" pitchFamily="34" charset="0"/>
                <a:ea typeface="Noto Sans SC" panose="020B0200000000000000" pitchFamily="34" charset="-128"/>
                <a:cs typeface="Calibri" panose="020F0502020204030204" pitchFamily="34" charset="0"/>
                <a:sym typeface="Microsoft YaHei"/>
              </a:rPr>
              <a:t>Signature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21" name="Google Shape;121;p7">
            <a:extLst>
              <a:ext uri="{FF2B5EF4-FFF2-40B4-BE49-F238E27FC236}">
                <a16:creationId xmlns:a16="http://schemas.microsoft.com/office/drawing/2014/main" id="{A9144709-5AD3-B52E-33DA-1C651DE19C00}"/>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2" name="Google Shape;117;p7">
            <a:extLst>
              <a:ext uri="{FF2B5EF4-FFF2-40B4-BE49-F238E27FC236}">
                <a16:creationId xmlns:a16="http://schemas.microsoft.com/office/drawing/2014/main" id="{8CD06160-D9E8-9C14-4084-5BEC82FC7A73}"/>
              </a:ext>
            </a:extLst>
          </p:cNvPr>
          <p:cNvSpPr txBox="1"/>
          <p:nvPr/>
        </p:nvSpPr>
        <p:spPr>
          <a:xfrm>
            <a:off x="580072" y="8179439"/>
            <a:ext cx="6388175" cy="286612"/>
          </a:xfrm>
          <a:prstGeom prst="rect">
            <a:avLst/>
          </a:prstGeom>
          <a:noFill/>
          <a:ln>
            <a:noFill/>
          </a:ln>
        </p:spPr>
        <p:txBody>
          <a:bodyPr spcFirstLastPara="1" wrap="square" lIns="0" tIns="40000" rIns="0" bIns="0" anchor="t" anchorCtr="0">
            <a:spAutoFit/>
          </a:bodyPr>
          <a:lstStyle/>
          <a:p>
            <a:pPr marL="12700" lvl="0">
              <a:buClr>
                <a:srgbClr val="FF1317"/>
              </a:buClr>
              <a:buSzPts val="750"/>
            </a:pPr>
            <a:r>
              <a:rPr lang="en-US" sz="80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&lt;&lt;Interpretation_MDI&gt;&gt;</a:t>
            </a:r>
          </a:p>
          <a:p>
            <a:pPr marL="12700" lvl="0">
              <a:buClr>
                <a:srgbClr val="FF1317"/>
              </a:buClr>
              <a:buSzPts val="750"/>
            </a:pPr>
            <a:endParaRPr lang="en-US" sz="8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 name="Google Shape;51;p7">
            <a:extLst>
              <a:ext uri="{FF2B5EF4-FFF2-40B4-BE49-F238E27FC236}">
                <a16:creationId xmlns:a16="http://schemas.microsoft.com/office/drawing/2014/main" id="{C7FA23E5-969B-D177-5628-7CF31EA7414B}"/>
              </a:ext>
            </a:extLst>
          </p:cNvPr>
          <p:cNvSpPr txBox="1"/>
          <p:nvPr/>
        </p:nvSpPr>
        <p:spPr>
          <a:xfrm>
            <a:off x="6187248" y="3814470"/>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 name="Google Shape;86;p7">
            <a:extLst>
              <a:ext uri="{FF2B5EF4-FFF2-40B4-BE49-F238E27FC236}">
                <a16:creationId xmlns:a16="http://schemas.microsoft.com/office/drawing/2014/main" id="{1F8DC045-F183-CF28-BB7D-37A69396E00B}"/>
              </a:ext>
            </a:extLst>
          </p:cNvPr>
          <p:cNvSpPr txBox="1"/>
          <p:nvPr/>
        </p:nvSpPr>
        <p:spPr>
          <a:xfrm>
            <a:off x="578530" y="3820716"/>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Chromosome</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5" name="Google Shape;87;p7">
            <a:extLst>
              <a:ext uri="{FF2B5EF4-FFF2-40B4-BE49-F238E27FC236}">
                <a16:creationId xmlns:a16="http://schemas.microsoft.com/office/drawing/2014/main" id="{E7CBE50E-BEE1-2AFF-BB96-FB8CDE3C03D6}"/>
              </a:ext>
            </a:extLst>
          </p:cNvPr>
          <p:cNvSpPr txBox="1"/>
          <p:nvPr/>
        </p:nvSpPr>
        <p:spPr>
          <a:xfrm>
            <a:off x="5349897" y="3518204"/>
            <a:ext cx="1957597"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Fetal Fraction: &lt;&lt;FF_YFF&gt;&gt;%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6" name="Google Shape;122;p7">
            <a:extLst>
              <a:ext uri="{FF2B5EF4-FFF2-40B4-BE49-F238E27FC236}">
                <a16:creationId xmlns:a16="http://schemas.microsoft.com/office/drawing/2014/main" id="{8AB9E942-3D38-EC8D-DEDC-1657D2D0BA10}"/>
              </a:ext>
            </a:extLst>
          </p:cNvPr>
          <p:cNvSpPr txBox="1"/>
          <p:nvPr/>
        </p:nvSpPr>
        <p:spPr>
          <a:xfrm>
            <a:off x="533400" y="3518204"/>
            <a:ext cx="2016518"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Calibri" panose="020F0502020204030204" pitchFamily="34" charset="0"/>
                <a:ea typeface="Noto Sans KR" panose="020B0500000000000000" pitchFamily="34" charset="-128"/>
                <a:cs typeface="Calibri" panose="020F0502020204030204" pitchFamily="34" charset="0"/>
                <a:sym typeface="Microsoft YaHei"/>
              </a:rPr>
              <a:t>&lt;&lt;Result_MDResult&gt;&gt;</a:t>
            </a:r>
          </a:p>
        </p:txBody>
      </p:sp>
      <p:sp>
        <p:nvSpPr>
          <p:cNvPr id="27" name="Google Shape;122;p7">
            <a:extLst>
              <a:ext uri="{FF2B5EF4-FFF2-40B4-BE49-F238E27FC236}">
                <a16:creationId xmlns:a16="http://schemas.microsoft.com/office/drawing/2014/main" id="{6C7E8B19-BC70-8826-D970-82AA261D3821}"/>
              </a:ext>
            </a:extLst>
          </p:cNvPr>
          <p:cNvSpPr txBox="1"/>
          <p:nvPr/>
        </p:nvSpPr>
        <p:spPr>
          <a:xfrm>
            <a:off x="3378200" y="3523523"/>
            <a:ext cx="1638233" cy="183363"/>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Gender: &lt;&lt;Gender&gt;&gt;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8" name="Google Shape;54;p7">
            <a:extLst>
              <a:ext uri="{FF2B5EF4-FFF2-40B4-BE49-F238E27FC236}">
                <a16:creationId xmlns:a16="http://schemas.microsoft.com/office/drawing/2014/main" id="{D81E629C-49AC-1AAE-8621-9781ED260342}"/>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&lt;&lt;T21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9" name="Google Shape;57;p7">
            <a:extLst>
              <a:ext uri="{FF2B5EF4-FFF2-40B4-BE49-F238E27FC236}">
                <a16:creationId xmlns:a16="http://schemas.microsoft.com/office/drawing/2014/main" id="{205A3B8D-2D29-09A8-ECD1-3E0EAA73B63B}"/>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&lt;&lt;T18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0" name="Google Shape;60;p7">
            <a:extLst>
              <a:ext uri="{FF2B5EF4-FFF2-40B4-BE49-F238E27FC236}">
                <a16:creationId xmlns:a16="http://schemas.microsoft.com/office/drawing/2014/main" id="{F00778DB-9638-63B0-8720-52F608941AAE}"/>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&lt;&lt;T13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1" name="Google Shape;63;p7">
            <a:extLst>
              <a:ext uri="{FF2B5EF4-FFF2-40B4-BE49-F238E27FC236}">
                <a16:creationId xmlns:a16="http://schemas.microsoft.com/office/drawing/2014/main" id="{DCD3856B-442F-0590-3B16-398E3C2B90D8}"/>
              </a:ext>
            </a:extLst>
          </p:cNvPr>
          <p:cNvSpPr txBox="1"/>
          <p:nvPr/>
        </p:nvSpPr>
        <p:spPr>
          <a:xfrm>
            <a:off x="2797745" y="525852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&lt;&lt;T9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2" name="Google Shape;66;p7">
            <a:extLst>
              <a:ext uri="{FF2B5EF4-FFF2-40B4-BE49-F238E27FC236}">
                <a16:creationId xmlns:a16="http://schemas.microsoft.com/office/drawing/2014/main" id="{FCEC4290-D618-6B08-2E3C-7DB25192E0CC}"/>
              </a:ext>
            </a:extLst>
          </p:cNvPr>
          <p:cNvSpPr txBox="1"/>
          <p:nvPr/>
        </p:nvSpPr>
        <p:spPr>
          <a:xfrm>
            <a:off x="2797745" y="561842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&lt;&lt;T16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3" name="Google Shape;69;p7">
            <a:extLst>
              <a:ext uri="{FF2B5EF4-FFF2-40B4-BE49-F238E27FC236}">
                <a16:creationId xmlns:a16="http://schemas.microsoft.com/office/drawing/2014/main" id="{6815E03D-5956-CB23-000F-2F6EF8CB9893}"/>
              </a:ext>
            </a:extLst>
          </p:cNvPr>
          <p:cNvSpPr txBox="1"/>
          <p:nvPr/>
        </p:nvSpPr>
        <p:spPr>
          <a:xfrm>
            <a:off x="2797745" y="5978321"/>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&lt;&lt;T22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4" name="Google Shape;72;p7">
            <a:extLst>
              <a:ext uri="{FF2B5EF4-FFF2-40B4-BE49-F238E27FC236}">
                <a16:creationId xmlns:a16="http://schemas.microsoft.com/office/drawing/2014/main" id="{8CA5AF06-F31D-5D71-CBDC-DC88767008A6}"/>
              </a:ext>
            </a:extLst>
          </p:cNvPr>
          <p:cNvSpPr txBox="1"/>
          <p:nvPr/>
        </p:nvSpPr>
        <p:spPr>
          <a:xfrm>
            <a:off x="2797745" y="633822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&lt;&lt;XO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5" name="Google Shape;75;p7">
            <a:extLst>
              <a:ext uri="{FF2B5EF4-FFF2-40B4-BE49-F238E27FC236}">
                <a16:creationId xmlns:a16="http://schemas.microsoft.com/office/drawing/2014/main" id="{BE459866-7517-9F73-5AC5-5CD4A28E2885}"/>
              </a:ext>
            </a:extLst>
          </p:cNvPr>
          <p:cNvSpPr txBox="1"/>
          <p:nvPr/>
        </p:nvSpPr>
        <p:spPr>
          <a:xfrm>
            <a:off x="2797745" y="6698130"/>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&lt;&lt;XXX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6" name="Google Shape;78;p7">
            <a:extLst>
              <a:ext uri="{FF2B5EF4-FFF2-40B4-BE49-F238E27FC236}">
                <a16:creationId xmlns:a16="http://schemas.microsoft.com/office/drawing/2014/main" id="{13D2E86D-07C1-6DAF-AB28-17755F90EA84}"/>
              </a:ext>
            </a:extLst>
          </p:cNvPr>
          <p:cNvSpPr txBox="1"/>
          <p:nvPr/>
        </p:nvSpPr>
        <p:spPr>
          <a:xfrm>
            <a:off x="2797745" y="705803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&lt;&lt;XXY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7" name="Google Shape;81;p7">
            <a:extLst>
              <a:ext uri="{FF2B5EF4-FFF2-40B4-BE49-F238E27FC236}">
                <a16:creationId xmlns:a16="http://schemas.microsoft.com/office/drawing/2014/main" id="{CF485DD1-D204-6AFC-ED41-B27EA261CE2E}"/>
              </a:ext>
            </a:extLst>
          </p:cNvPr>
          <p:cNvSpPr txBox="1"/>
          <p:nvPr/>
        </p:nvSpPr>
        <p:spPr>
          <a:xfrm>
            <a:off x="2797745" y="741794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&lt;&lt;XYY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8" name="Google Shape;84;p7">
            <a:extLst>
              <a:ext uri="{FF2B5EF4-FFF2-40B4-BE49-F238E27FC236}">
                <a16:creationId xmlns:a16="http://schemas.microsoft.com/office/drawing/2014/main" id="{92A40A07-13DA-A710-B382-1EE8D84E88A1}"/>
              </a:ext>
            </a:extLst>
          </p:cNvPr>
          <p:cNvSpPr txBox="1"/>
          <p:nvPr/>
        </p:nvSpPr>
        <p:spPr>
          <a:xfrm>
            <a:off x="2797745" y="7777833"/>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&lt;&lt;Other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9" name="Google Shape;90;p7">
            <a:extLst>
              <a:ext uri="{FF2B5EF4-FFF2-40B4-BE49-F238E27FC236}">
                <a16:creationId xmlns:a16="http://schemas.microsoft.com/office/drawing/2014/main" id="{4D62B4D3-B5C9-13BB-E900-C2D76F64ACF2}"/>
              </a:ext>
            </a:extLst>
          </p:cNvPr>
          <p:cNvSpPr txBox="1"/>
          <p:nvPr/>
        </p:nvSpPr>
        <p:spPr>
          <a:xfrm>
            <a:off x="6187248" y="415442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&lt;&lt;MD1&gt;&gt;</a:t>
            </a:r>
          </a:p>
        </p:txBody>
      </p:sp>
      <p:sp>
        <p:nvSpPr>
          <p:cNvPr id="40" name="Google Shape;93;p7">
            <a:extLst>
              <a:ext uri="{FF2B5EF4-FFF2-40B4-BE49-F238E27FC236}">
                <a16:creationId xmlns:a16="http://schemas.microsoft.com/office/drawing/2014/main" id="{8F2FF501-0A6B-8291-2D88-92A77578898D}"/>
              </a:ext>
            </a:extLst>
          </p:cNvPr>
          <p:cNvSpPr txBox="1"/>
          <p:nvPr/>
        </p:nvSpPr>
        <p:spPr>
          <a:xfrm>
            <a:off x="6187248" y="451433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&lt;&lt;MD2&gt;&gt;</a:t>
            </a:r>
          </a:p>
        </p:txBody>
      </p:sp>
      <p:sp>
        <p:nvSpPr>
          <p:cNvPr id="41" name="Google Shape;96;p7">
            <a:extLst>
              <a:ext uri="{FF2B5EF4-FFF2-40B4-BE49-F238E27FC236}">
                <a16:creationId xmlns:a16="http://schemas.microsoft.com/office/drawing/2014/main" id="{E8780917-9CCE-11E3-4AD2-EBBB7D17D725}"/>
              </a:ext>
            </a:extLst>
          </p:cNvPr>
          <p:cNvSpPr txBox="1"/>
          <p:nvPr/>
        </p:nvSpPr>
        <p:spPr>
          <a:xfrm>
            <a:off x="6187248" y="487423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&lt;&lt;MD3&gt;&gt;</a:t>
            </a:r>
          </a:p>
        </p:txBody>
      </p:sp>
      <p:sp>
        <p:nvSpPr>
          <p:cNvPr id="42" name="Google Shape;99;p7">
            <a:extLst>
              <a:ext uri="{FF2B5EF4-FFF2-40B4-BE49-F238E27FC236}">
                <a16:creationId xmlns:a16="http://schemas.microsoft.com/office/drawing/2014/main" id="{6639BB09-6C7F-E3C5-96E5-C6BC628ABBDE}"/>
              </a:ext>
            </a:extLst>
          </p:cNvPr>
          <p:cNvSpPr txBox="1"/>
          <p:nvPr/>
        </p:nvSpPr>
        <p:spPr>
          <a:xfrm>
            <a:off x="6187248" y="52341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kern="1200" dirty="0">
                <a:solidFill>
                  <a:prstClr val="black"/>
                </a:solidFill>
                <a:latin typeface="Calibri" panose="020F0502020204030204" pitchFamily="34" charset="0"/>
                <a:ea typeface="Noto Sans KR" panose="020B0500000000000000" pitchFamily="34" charset="-128"/>
                <a:cs typeface="Calibri" panose="020F0502020204030204" pitchFamily="34" charset="0"/>
              </a:rPr>
              <a:t>&lt;&lt;MD4&gt;&gt;</a:t>
            </a:r>
          </a:p>
        </p:txBody>
      </p:sp>
      <p:sp>
        <p:nvSpPr>
          <p:cNvPr id="43" name="Google Shape;102;p7">
            <a:extLst>
              <a:ext uri="{FF2B5EF4-FFF2-40B4-BE49-F238E27FC236}">
                <a16:creationId xmlns:a16="http://schemas.microsoft.com/office/drawing/2014/main" id="{CABB68E8-3947-5BF2-8837-5DA60A5A6DDB}"/>
              </a:ext>
            </a:extLst>
          </p:cNvPr>
          <p:cNvSpPr txBox="1"/>
          <p:nvPr/>
        </p:nvSpPr>
        <p:spPr>
          <a:xfrm>
            <a:off x="6187248" y="55940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&lt;&lt;MD5&gt;&gt;</a:t>
            </a:r>
          </a:p>
        </p:txBody>
      </p:sp>
      <p:sp>
        <p:nvSpPr>
          <p:cNvPr id="44" name="Google Shape;105;p7">
            <a:extLst>
              <a:ext uri="{FF2B5EF4-FFF2-40B4-BE49-F238E27FC236}">
                <a16:creationId xmlns:a16="http://schemas.microsoft.com/office/drawing/2014/main" id="{8EF848F1-91C3-9232-2296-D6AD860BED0A}"/>
              </a:ext>
            </a:extLst>
          </p:cNvPr>
          <p:cNvSpPr txBox="1"/>
          <p:nvPr/>
        </p:nvSpPr>
        <p:spPr>
          <a:xfrm>
            <a:off x="6187248" y="59539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&lt;&lt;MD6&gt;&gt;</a:t>
            </a:r>
          </a:p>
        </p:txBody>
      </p:sp>
      <p:sp>
        <p:nvSpPr>
          <p:cNvPr id="54" name="Google Shape;108;p7">
            <a:extLst>
              <a:ext uri="{FF2B5EF4-FFF2-40B4-BE49-F238E27FC236}">
                <a16:creationId xmlns:a16="http://schemas.microsoft.com/office/drawing/2014/main" id="{70C56381-6F5B-8231-CECF-7E4D5CC573B2}"/>
              </a:ext>
            </a:extLst>
          </p:cNvPr>
          <p:cNvSpPr txBox="1"/>
          <p:nvPr/>
        </p:nvSpPr>
        <p:spPr>
          <a:xfrm>
            <a:off x="6187248" y="63138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&lt;&lt;MD7&gt;&gt;</a:t>
            </a:r>
          </a:p>
        </p:txBody>
      </p:sp>
      <p:sp>
        <p:nvSpPr>
          <p:cNvPr id="57" name="Google Shape;111;p7">
            <a:extLst>
              <a:ext uri="{FF2B5EF4-FFF2-40B4-BE49-F238E27FC236}">
                <a16:creationId xmlns:a16="http://schemas.microsoft.com/office/drawing/2014/main" id="{E5C53C88-7DCE-B6E7-E900-F709ACE50421}"/>
              </a:ext>
            </a:extLst>
          </p:cNvPr>
          <p:cNvSpPr txBox="1"/>
          <p:nvPr/>
        </p:nvSpPr>
        <p:spPr>
          <a:xfrm>
            <a:off x="6187248" y="667375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&lt;&lt;MD8&gt;&gt;</a:t>
            </a:r>
          </a:p>
        </p:txBody>
      </p:sp>
      <p:sp>
        <p:nvSpPr>
          <p:cNvPr id="60" name="Google Shape;114;p7">
            <a:extLst>
              <a:ext uri="{FF2B5EF4-FFF2-40B4-BE49-F238E27FC236}">
                <a16:creationId xmlns:a16="http://schemas.microsoft.com/office/drawing/2014/main" id="{BFF8115B-3046-A4F9-BEB0-02336AC326CB}"/>
              </a:ext>
            </a:extLst>
          </p:cNvPr>
          <p:cNvSpPr txBox="1"/>
          <p:nvPr/>
        </p:nvSpPr>
        <p:spPr>
          <a:xfrm>
            <a:off x="6187248" y="7033664"/>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&lt;&lt;Other MD&gt;&gt;</a:t>
            </a:r>
          </a:p>
        </p:txBody>
      </p:sp>
    </p:spTree>
    <p:extLst>
      <p:ext uri="{BB962C8B-B14F-4D97-AF65-F5344CB8AC3E}">
        <p14:creationId xmlns:p14="http://schemas.microsoft.com/office/powerpoint/2010/main" val="2181750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26">
          <a:extLst>
            <a:ext uri="{FF2B5EF4-FFF2-40B4-BE49-F238E27FC236}">
              <a16:creationId xmlns:a16="http://schemas.microsoft.com/office/drawing/2014/main" id="{F4B175E6-0EB4-FE7B-C8F8-49A70333DF82}"/>
            </a:ext>
          </a:extLst>
        </p:cNvPr>
        <p:cNvGrpSpPr/>
        <p:nvPr/>
      </p:nvGrpSpPr>
      <p:grpSpPr>
        <a:xfrm>
          <a:off x="0" y="0"/>
          <a:ext cx="0" cy="0"/>
          <a:chOff x="0" y="0"/>
          <a:chExt cx="0" cy="0"/>
        </a:xfrm>
      </p:grpSpPr>
      <p:sp>
        <p:nvSpPr>
          <p:cNvPr id="127" name="Google Shape;127;p8">
            <a:extLst>
              <a:ext uri="{FF2B5EF4-FFF2-40B4-BE49-F238E27FC236}">
                <a16:creationId xmlns:a16="http://schemas.microsoft.com/office/drawing/2014/main" id="{1B88AA07-FA88-3AA9-F40A-1DF7F977667D}"/>
              </a:ext>
            </a:extLst>
          </p:cNvPr>
          <p:cNvSpPr txBox="1"/>
          <p:nvPr/>
        </p:nvSpPr>
        <p:spPr>
          <a:xfrm>
            <a:off x="520700" y="765264"/>
            <a:ext cx="3738149" cy="197490"/>
          </a:xfrm>
          <a:prstGeom prst="rect">
            <a:avLst/>
          </a:prstGeom>
          <a:noFill/>
          <a:ln>
            <a:noFill/>
          </a:ln>
        </p:spPr>
        <p:txBody>
          <a:bodyPr spcFirstLastPara="1" wrap="square" lIns="0" tIns="12700" rIns="0" bIns="0" anchor="t" anchorCtr="0">
            <a:spAutoFit/>
          </a:bodyPr>
          <a:lstStyle/>
          <a:p>
            <a:pPr marL="12700" lvl="0"/>
            <a:r>
              <a:rPr lang="en-US" sz="1200" dirty="0">
                <a:latin typeface="Microsoft YaHei"/>
                <a:ea typeface="Microsoft YaHei"/>
                <a:cs typeface="Microsoft YaHei"/>
                <a:sym typeface="Microsoft YaHei"/>
              </a:rPr>
              <a:t>Other 108 microdeletion/duplication syndromes</a:t>
            </a:r>
            <a:endParaRPr sz="1200" dirty="0">
              <a:latin typeface="Microsoft YaHei"/>
              <a:ea typeface="Microsoft YaHei"/>
              <a:cs typeface="Microsoft YaHei"/>
              <a:sym typeface="Microsoft YaHei"/>
            </a:endParaRPr>
          </a:p>
        </p:txBody>
      </p:sp>
      <p:graphicFrame>
        <p:nvGraphicFramePr>
          <p:cNvPr id="128" name="Google Shape;128;p8">
            <a:extLst>
              <a:ext uri="{FF2B5EF4-FFF2-40B4-BE49-F238E27FC236}">
                <a16:creationId xmlns:a16="http://schemas.microsoft.com/office/drawing/2014/main" id="{BAB2C7D1-EEAE-D6E8-09DD-52C51CD2DF69}"/>
              </a:ext>
            </a:extLst>
          </p:cNvPr>
          <p:cNvGraphicFramePr/>
          <p:nvPr/>
        </p:nvGraphicFramePr>
        <p:xfrm>
          <a:off x="533406" y="1120210"/>
          <a:ext cx="1480825" cy="8423150"/>
        </p:xfrm>
        <a:graphic>
          <a:graphicData uri="http://schemas.openxmlformats.org/drawingml/2006/table">
            <a:tbl>
              <a:tblPr firstRow="1" bandRow="1">
                <a:noFill/>
                <a:tableStyleId>{F28EBD1E-F79C-4DFF-868A-0A9D0052B014}</a:tableStyleId>
              </a:tblPr>
              <a:tblGrid>
                <a:gridCol w="1480825">
                  <a:extLst>
                    <a:ext uri="{9D8B030D-6E8A-4147-A177-3AD203B41FA5}">
                      <a16:colId xmlns:a16="http://schemas.microsoft.com/office/drawing/2014/main" val="20000"/>
                    </a:ext>
                  </a:extLst>
                </a:gridCol>
              </a:tblGrid>
              <a:tr h="240025">
                <a:tc>
                  <a:txBody>
                    <a:bodyPr/>
                    <a:lstStyle/>
                    <a:p>
                      <a:pPr marL="0" marR="0" lvl="0" indent="0" algn="ctr" rtl="0">
                        <a:lnSpc>
                          <a:spcPct val="100000"/>
                        </a:lnSpc>
                        <a:spcBef>
                          <a:spcPts val="0"/>
                        </a:spcBef>
                        <a:spcAft>
                          <a:spcPts val="0"/>
                        </a:spcAft>
                        <a:buNone/>
                      </a:pPr>
                      <a:r>
                        <a:rPr lang="en-US" sz="900" b="1" u="none" strike="noStrike" cap="none">
                          <a:solidFill>
                            <a:srgbClr val="FFFFFF"/>
                          </a:solidFill>
                          <a:latin typeface="Calibri"/>
                          <a:ea typeface="Calibri"/>
                          <a:cs typeface="Calibri"/>
                          <a:sym typeface="Calibri"/>
                        </a:rPr>
                        <a:t>Conditions</a:t>
                      </a:r>
                      <a:endParaRPr sz="900" u="none" strike="noStrike" cap="none">
                        <a:latin typeface="Calibri"/>
                        <a:ea typeface="Calibri"/>
                        <a:cs typeface="Calibri"/>
                        <a:sym typeface="Calibri"/>
                      </a:endParaRPr>
                    </a:p>
                  </a:txBody>
                  <a:tcPr marL="0" marR="0" marT="41900" marB="0">
                    <a:lnB w="9525" cap="flat" cmpd="sng">
                      <a:solidFill>
                        <a:srgbClr val="DEDFFD"/>
                      </a:solidFill>
                      <a:prstDash val="solid"/>
                      <a:round/>
                      <a:headEnd type="none" w="sm" len="sm"/>
                      <a:tailEnd type="none" w="sm" len="sm"/>
                    </a:lnB>
                    <a:solidFill>
                      <a:srgbClr val="999DC0"/>
                    </a:solidFill>
                  </a:tcPr>
                </a:tc>
                <a:extLst>
                  <a:ext uri="{0D108BD9-81ED-4DB2-BD59-A6C34878D82A}">
                    <a16:rowId xmlns:a16="http://schemas.microsoft.com/office/drawing/2014/main" val="10000"/>
                  </a:ext>
                </a:extLst>
              </a:tr>
              <a:tr h="2203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1p32-p31deletion syndrome</a:t>
                      </a:r>
                      <a:endParaRPr sz="750" u="none" strike="noStrike" cap="none">
                        <a:latin typeface="Calibri"/>
                        <a:ea typeface="Calibri"/>
                        <a:cs typeface="Calibri"/>
                        <a:sym typeface="Calibri"/>
                      </a:endParaRPr>
                    </a:p>
                  </a:txBody>
                  <a:tcPr marL="0" marR="0" marT="4635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1q41-q42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2"/>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1q43-q44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3"/>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2p12-p11.2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4"/>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2p15-p16.1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5"/>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2q13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2q13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7"/>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2q31.1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8"/>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2q31.1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9"/>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2q35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0"/>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3p25.3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3pter-p25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2"/>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3q13.31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3"/>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Dandy-Walker syndrome (DWS)</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4"/>
                  </a:ext>
                </a:extLst>
              </a:tr>
              <a:tr h="342900">
                <a:tc>
                  <a:txBody>
                    <a:bodyPr/>
                    <a:lstStyle/>
                    <a:p>
                      <a:pPr marL="524510" marR="244475" lvl="0" indent="-273050" algn="l" rtl="0">
                        <a:lnSpc>
                          <a:spcPct val="105000"/>
                        </a:lnSpc>
                        <a:spcBef>
                          <a:spcPts val="0"/>
                        </a:spcBef>
                        <a:spcAft>
                          <a:spcPts val="0"/>
                        </a:spcAft>
                        <a:buNone/>
                      </a:pPr>
                      <a:r>
                        <a:rPr lang="en-US" sz="750" u="none" strike="noStrike" cap="none">
                          <a:latin typeface="Calibri"/>
                          <a:ea typeface="Calibri"/>
                          <a:cs typeface="Calibri"/>
                          <a:sym typeface="Calibri"/>
                        </a:rPr>
                        <a:t>3q26 microduplication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3q29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6"/>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4q21deletion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7"/>
                  </a:ext>
                </a:extLst>
              </a:tr>
              <a:tr h="342900">
                <a:tc>
                  <a:txBody>
                    <a:bodyPr/>
                    <a:lstStyle/>
                    <a:p>
                      <a:pPr marL="554355" marR="62864" lvl="0" indent="-484505" algn="l" rtl="0">
                        <a:lnSpc>
                          <a:spcPct val="105000"/>
                        </a:lnSpc>
                        <a:spcBef>
                          <a:spcPts val="0"/>
                        </a:spcBef>
                        <a:spcAft>
                          <a:spcPts val="0"/>
                        </a:spcAft>
                        <a:buNone/>
                      </a:pPr>
                      <a:r>
                        <a:rPr lang="en-US" sz="750" u="none" strike="noStrike" cap="none">
                          <a:latin typeface="Calibri"/>
                          <a:ea typeface="Calibri"/>
                          <a:cs typeface="Calibri"/>
                          <a:sym typeface="Calibri"/>
                        </a:rPr>
                        <a:t>Axenfeld-Rieger syndrome type 1 (RIEGl)</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8"/>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5p13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9"/>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5q12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0"/>
                  </a:ext>
                </a:extLst>
              </a:tr>
              <a:tr h="342900">
                <a:tc>
                  <a:txBody>
                    <a:bodyPr/>
                    <a:lstStyle/>
                    <a:p>
                      <a:pPr marL="524510" marR="168275" lvl="0" indent="-348615" algn="l" rtl="0">
                        <a:lnSpc>
                          <a:spcPct val="105000"/>
                        </a:lnSpc>
                        <a:spcBef>
                          <a:spcPts val="0"/>
                        </a:spcBef>
                        <a:spcAft>
                          <a:spcPts val="0"/>
                        </a:spcAft>
                        <a:buNone/>
                      </a:pPr>
                      <a:r>
                        <a:rPr lang="en-US" sz="750" u="none" strike="noStrike" cap="none">
                          <a:latin typeface="Calibri"/>
                          <a:ea typeface="Calibri"/>
                          <a:cs typeface="Calibri"/>
                          <a:sym typeface="Calibri"/>
                        </a:rPr>
                        <a:t>5q14.3 deletion (proximal)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1"/>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Sotos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2"/>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6p22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3"/>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6q11-q14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4"/>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6q24-q25deletion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5"/>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Coffin-Siris syndrome 1 (CSSl)</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Chordoma</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7"/>
                  </a:ext>
                </a:extLst>
              </a:tr>
              <a:tr h="342900">
                <a:tc>
                  <a:txBody>
                    <a:bodyPr/>
                    <a:lstStyle/>
                    <a:p>
                      <a:pPr marL="357505" marR="101600" lvl="0" indent="-248919" algn="l" rtl="0">
                        <a:lnSpc>
                          <a:spcPct val="105000"/>
                        </a:lnSpc>
                        <a:spcBef>
                          <a:spcPts val="0"/>
                        </a:spcBef>
                        <a:spcAft>
                          <a:spcPts val="0"/>
                        </a:spcAft>
                        <a:buNone/>
                      </a:pPr>
                      <a:r>
                        <a:rPr lang="en-US" sz="750" u="none" strike="noStrike" cap="none">
                          <a:latin typeface="Calibri"/>
                          <a:ea typeface="Calibri"/>
                          <a:cs typeface="Calibri"/>
                          <a:sym typeface="Calibri"/>
                        </a:rPr>
                        <a:t>Greig cephalopoly syndactyly syndrome (GCPS)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8"/>
                  </a:ext>
                </a:extLst>
              </a:tr>
              <a:tr h="342900">
                <a:tc>
                  <a:txBody>
                    <a:bodyPr/>
                    <a:lstStyle/>
                    <a:p>
                      <a:pPr marL="524510" marR="203834" lvl="0" indent="-314325" algn="l" rtl="0">
                        <a:lnSpc>
                          <a:spcPct val="105000"/>
                        </a:lnSpc>
                        <a:spcBef>
                          <a:spcPts val="0"/>
                        </a:spcBef>
                        <a:spcAft>
                          <a:spcPts val="0"/>
                        </a:spcAft>
                        <a:buNone/>
                      </a:pPr>
                      <a:r>
                        <a:rPr lang="en-US" sz="750" u="none" strike="noStrike" cap="none">
                          <a:latin typeface="Calibri"/>
                          <a:ea typeface="Calibri"/>
                          <a:cs typeface="Calibri"/>
                          <a:sym typeface="Calibri"/>
                        </a:rPr>
                        <a:t>7p22.1 microduplication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9"/>
                  </a:ext>
                </a:extLst>
              </a:tr>
              <a:tr h="342900">
                <a:tc>
                  <a:txBody>
                    <a:bodyPr/>
                    <a:lstStyle/>
                    <a:p>
                      <a:pPr marL="524510" marR="210184" lvl="0" indent="-306705" algn="l" rtl="0">
                        <a:lnSpc>
                          <a:spcPct val="105000"/>
                        </a:lnSpc>
                        <a:spcBef>
                          <a:spcPts val="0"/>
                        </a:spcBef>
                        <a:spcAft>
                          <a:spcPts val="0"/>
                        </a:spcAft>
                        <a:buNone/>
                      </a:pPr>
                      <a:r>
                        <a:rPr lang="en-US" sz="750" u="none" strike="noStrike" cap="none">
                          <a:latin typeface="Calibri"/>
                          <a:ea typeface="Calibri"/>
                          <a:cs typeface="Calibri"/>
                          <a:sym typeface="Calibri"/>
                        </a:rPr>
                        <a:t>7q11.23 deletion (distal)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30"/>
                  </a:ext>
                </a:extLst>
              </a:tr>
              <a:tr h="342900">
                <a:tc>
                  <a:txBody>
                    <a:bodyPr/>
                    <a:lstStyle/>
                    <a:p>
                      <a:pPr marL="607695" marR="146685" lvl="0" indent="-454025" algn="l" rtl="0">
                        <a:lnSpc>
                          <a:spcPct val="105000"/>
                        </a:lnSpc>
                        <a:spcBef>
                          <a:spcPts val="0"/>
                        </a:spcBef>
                        <a:spcAft>
                          <a:spcPts val="0"/>
                        </a:spcAft>
                        <a:buNone/>
                      </a:pPr>
                      <a:r>
                        <a:rPr lang="en-US" sz="750" u="none" strike="noStrike" cap="none">
                          <a:latin typeface="Calibri"/>
                          <a:ea typeface="Calibri"/>
                          <a:cs typeface="Calibri"/>
                          <a:sym typeface="Calibri"/>
                        </a:rPr>
                        <a:t>Williams-Beuren syndrome (WBS)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3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Currarino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32"/>
                  </a:ext>
                </a:extLst>
              </a:tr>
              <a:tr h="220350">
                <a:tc>
                  <a:txBody>
                    <a:bodyPr/>
                    <a:lstStyle/>
                    <a:p>
                      <a:pPr marL="0" marR="0" lvl="0" indent="0" algn="ctr" rtl="0">
                        <a:lnSpc>
                          <a:spcPct val="100000"/>
                        </a:lnSpc>
                        <a:spcBef>
                          <a:spcPts val="0"/>
                        </a:spcBef>
                        <a:spcAft>
                          <a:spcPts val="0"/>
                        </a:spcAft>
                        <a:buNone/>
                      </a:pPr>
                      <a:r>
                        <a:rPr lang="en-US" sz="750" u="none" strike="noStrike" cap="none" dirty="0">
                          <a:latin typeface="Calibri"/>
                          <a:ea typeface="Calibri"/>
                          <a:cs typeface="Calibri"/>
                          <a:sym typeface="Calibri"/>
                        </a:rPr>
                        <a:t>7q36.3 duplication syndrome</a:t>
                      </a:r>
                      <a:endParaRPr sz="750" u="none" strike="noStrike" cap="none" dirty="0">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33"/>
                  </a:ext>
                </a:extLst>
              </a:tr>
            </a:tbl>
          </a:graphicData>
        </a:graphic>
      </p:graphicFrame>
      <p:graphicFrame>
        <p:nvGraphicFramePr>
          <p:cNvPr id="129" name="Google Shape;129;p8">
            <a:extLst>
              <a:ext uri="{FF2B5EF4-FFF2-40B4-BE49-F238E27FC236}">
                <a16:creationId xmlns:a16="http://schemas.microsoft.com/office/drawing/2014/main" id="{ECDB8FD3-4414-9F25-514A-CCFF65CD2DE3}"/>
              </a:ext>
            </a:extLst>
          </p:cNvPr>
          <p:cNvGraphicFramePr/>
          <p:nvPr/>
        </p:nvGraphicFramePr>
        <p:xfrm>
          <a:off x="2150217" y="1120210"/>
          <a:ext cx="1480825" cy="8494300"/>
        </p:xfrm>
        <a:graphic>
          <a:graphicData uri="http://schemas.openxmlformats.org/drawingml/2006/table">
            <a:tbl>
              <a:tblPr firstRow="1" bandRow="1">
                <a:noFill/>
                <a:tableStyleId>{F28EBD1E-F79C-4DFF-868A-0A9D0052B014}</a:tableStyleId>
              </a:tblPr>
              <a:tblGrid>
                <a:gridCol w="1480825">
                  <a:extLst>
                    <a:ext uri="{9D8B030D-6E8A-4147-A177-3AD203B41FA5}">
                      <a16:colId xmlns:a16="http://schemas.microsoft.com/office/drawing/2014/main" val="20000"/>
                    </a:ext>
                  </a:extLst>
                </a:gridCol>
              </a:tblGrid>
              <a:tr h="240025">
                <a:tc>
                  <a:txBody>
                    <a:bodyPr/>
                    <a:lstStyle/>
                    <a:p>
                      <a:pPr marL="0" marR="0" lvl="0" indent="0" algn="ctr" rtl="0">
                        <a:lnSpc>
                          <a:spcPct val="100000"/>
                        </a:lnSpc>
                        <a:spcBef>
                          <a:spcPts val="0"/>
                        </a:spcBef>
                        <a:spcAft>
                          <a:spcPts val="0"/>
                        </a:spcAft>
                        <a:buNone/>
                      </a:pPr>
                      <a:r>
                        <a:rPr lang="en-US" sz="900" b="1" u="none" strike="noStrike" cap="none">
                          <a:solidFill>
                            <a:srgbClr val="FFFFFF"/>
                          </a:solidFill>
                          <a:latin typeface="Calibri"/>
                          <a:ea typeface="Calibri"/>
                          <a:cs typeface="Calibri"/>
                          <a:sym typeface="Calibri"/>
                        </a:rPr>
                        <a:t>Conditions</a:t>
                      </a:r>
                      <a:endParaRPr sz="900" u="none" strike="noStrike" cap="none">
                        <a:latin typeface="Calibri"/>
                        <a:ea typeface="Calibri"/>
                        <a:cs typeface="Calibri"/>
                        <a:sym typeface="Calibri"/>
                      </a:endParaRPr>
                    </a:p>
                  </a:txBody>
                  <a:tcPr marL="0" marR="0" marT="41900" marB="0">
                    <a:lnB w="9525" cap="flat" cmpd="sng">
                      <a:solidFill>
                        <a:srgbClr val="DEDFFD"/>
                      </a:solidFill>
                      <a:prstDash val="solid"/>
                      <a:round/>
                      <a:headEnd type="none" w="sm" len="sm"/>
                      <a:tailEnd type="none" w="sm" len="sm"/>
                    </a:lnB>
                    <a:solidFill>
                      <a:srgbClr val="999DC0"/>
                    </a:solidFill>
                  </a:tcPr>
                </a:tc>
                <a:extLst>
                  <a:ext uri="{0D108BD9-81ED-4DB2-BD59-A6C34878D82A}">
                    <a16:rowId xmlns:a16="http://schemas.microsoft.com/office/drawing/2014/main" val="10000"/>
                  </a:ext>
                </a:extLst>
              </a:tr>
              <a:tr h="2203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8p11.2 deletion syndrome</a:t>
                      </a:r>
                      <a:endParaRPr sz="750" u="none" strike="noStrike" cap="none">
                        <a:latin typeface="Calibri"/>
                        <a:ea typeface="Calibri"/>
                        <a:cs typeface="Calibri"/>
                        <a:sym typeface="Calibri"/>
                      </a:endParaRPr>
                    </a:p>
                  </a:txBody>
                  <a:tcPr marL="0" marR="0" marT="4635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8p23.1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2"/>
                  </a:ext>
                </a:extLst>
              </a:tr>
              <a:tr h="342900">
                <a:tc>
                  <a:txBody>
                    <a:bodyPr/>
                    <a:lstStyle/>
                    <a:p>
                      <a:pPr marL="524510" marR="244475" lvl="0" indent="-273050" algn="l" rtl="0">
                        <a:lnSpc>
                          <a:spcPct val="105000"/>
                        </a:lnSpc>
                        <a:spcBef>
                          <a:spcPts val="0"/>
                        </a:spcBef>
                        <a:spcAft>
                          <a:spcPts val="0"/>
                        </a:spcAft>
                        <a:buNone/>
                      </a:pPr>
                      <a:r>
                        <a:rPr lang="en-US" sz="750" u="none" strike="noStrike" cap="none">
                          <a:latin typeface="Calibri"/>
                          <a:ea typeface="Calibri"/>
                          <a:cs typeface="Calibri"/>
                          <a:sym typeface="Calibri"/>
                        </a:rPr>
                        <a:t>8q12 microduplication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3"/>
                  </a:ext>
                </a:extLst>
              </a:tr>
              <a:tr h="342900">
                <a:tc>
                  <a:txBody>
                    <a:bodyPr/>
                    <a:lstStyle/>
                    <a:p>
                      <a:pPr marL="330835" marR="227329" lvl="0" indent="-95884" algn="l" rtl="0">
                        <a:lnSpc>
                          <a:spcPct val="105000"/>
                        </a:lnSpc>
                        <a:spcBef>
                          <a:spcPts val="0"/>
                        </a:spcBef>
                        <a:spcAft>
                          <a:spcPts val="0"/>
                        </a:spcAft>
                        <a:buNone/>
                      </a:pPr>
                      <a:r>
                        <a:rPr lang="en-US" sz="750" u="none" strike="noStrike" cap="none">
                          <a:latin typeface="Calibri"/>
                          <a:ea typeface="Calibri"/>
                          <a:cs typeface="Calibri"/>
                          <a:sym typeface="Calibri"/>
                        </a:rPr>
                        <a:t>Nablus mask-like facial syndrome (NMLFS)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4"/>
                  </a:ext>
                </a:extLst>
              </a:tr>
              <a:tr h="342900">
                <a:tc>
                  <a:txBody>
                    <a:bodyPr/>
                    <a:lstStyle/>
                    <a:p>
                      <a:pPr marL="206375" marR="198755" lvl="0" indent="48259" algn="l" rtl="0">
                        <a:lnSpc>
                          <a:spcPct val="105000"/>
                        </a:lnSpc>
                        <a:spcBef>
                          <a:spcPts val="0"/>
                        </a:spcBef>
                        <a:spcAft>
                          <a:spcPts val="0"/>
                        </a:spcAft>
                        <a:buNone/>
                      </a:pPr>
                      <a:r>
                        <a:rPr lang="en-US" sz="750" u="none" strike="noStrike" cap="none">
                          <a:latin typeface="Calibri"/>
                          <a:ea typeface="Calibri"/>
                          <a:cs typeface="Calibri"/>
                          <a:sym typeface="Calibri"/>
                        </a:rPr>
                        <a:t>Trichorhinophalangeal syndrome type 2 (TRPS2)</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9p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9p13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7"/>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9p24.3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8"/>
                  </a:ext>
                </a:extLst>
              </a:tr>
              <a:tr h="342900">
                <a:tc>
                  <a:txBody>
                    <a:bodyPr/>
                    <a:lstStyle/>
                    <a:p>
                      <a:pPr marL="524510" marR="122554" lvl="0" indent="-394969" algn="l" rtl="0">
                        <a:lnSpc>
                          <a:spcPct val="105000"/>
                        </a:lnSpc>
                        <a:spcBef>
                          <a:spcPts val="0"/>
                        </a:spcBef>
                        <a:spcAft>
                          <a:spcPts val="0"/>
                        </a:spcAft>
                        <a:buNone/>
                      </a:pPr>
                      <a:r>
                        <a:rPr lang="en-US" sz="750" u="none" strike="noStrike" cap="none">
                          <a:latin typeface="Calibri"/>
                          <a:ea typeface="Calibri"/>
                          <a:cs typeface="Calibri"/>
                          <a:sym typeface="Calibri"/>
                        </a:rPr>
                        <a:t>9q33.3q34.11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9"/>
                  </a:ext>
                </a:extLst>
              </a:tr>
              <a:tr h="342900">
                <a:tc>
                  <a:txBody>
                    <a:bodyPr/>
                    <a:lstStyle/>
                    <a:p>
                      <a:pPr marL="190500" marR="182880" lvl="0" indent="57784" algn="l" rtl="0">
                        <a:lnSpc>
                          <a:spcPct val="105000"/>
                        </a:lnSpc>
                        <a:spcBef>
                          <a:spcPts val="0"/>
                        </a:spcBef>
                        <a:spcAft>
                          <a:spcPts val="0"/>
                        </a:spcAft>
                        <a:buNone/>
                      </a:pPr>
                      <a:r>
                        <a:rPr lang="en-US" sz="750" u="none" strike="noStrike" cap="none">
                          <a:latin typeface="Calibri"/>
                          <a:ea typeface="Calibri"/>
                          <a:cs typeface="Calibri"/>
                          <a:sym typeface="Calibri"/>
                        </a:rPr>
                        <a:t>Early infantile epileptic encephalopathy 4 (EIEE4)</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0"/>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Kleefstra syndrome 1 (KLEFS1)</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1"/>
                  </a:ext>
                </a:extLst>
              </a:tr>
              <a:tr h="342900">
                <a:tc>
                  <a:txBody>
                    <a:bodyPr/>
                    <a:lstStyle/>
                    <a:p>
                      <a:pPr marL="524510" marR="52069" lvl="0" indent="-465454" algn="l" rtl="0">
                        <a:lnSpc>
                          <a:spcPct val="105000"/>
                        </a:lnSpc>
                        <a:spcBef>
                          <a:spcPts val="0"/>
                        </a:spcBef>
                        <a:spcAft>
                          <a:spcPts val="0"/>
                        </a:spcAft>
                        <a:buNone/>
                      </a:pPr>
                      <a:r>
                        <a:rPr lang="en-US" sz="750" u="none" strike="noStrike" cap="none">
                          <a:latin typeface="Calibri"/>
                          <a:ea typeface="Calibri"/>
                          <a:cs typeface="Calibri"/>
                          <a:sym typeface="Calibri"/>
                        </a:rPr>
                        <a:t>10p11.21-p12.31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2"/>
                  </a:ext>
                </a:extLst>
              </a:tr>
              <a:tr h="462275">
                <a:tc>
                  <a:txBody>
                    <a:bodyPr/>
                    <a:lstStyle/>
                    <a:p>
                      <a:pPr marL="168275" marR="160655" lvl="0" indent="0" algn="ctr" rtl="0">
                        <a:lnSpc>
                          <a:spcPct val="105000"/>
                        </a:lnSpc>
                        <a:spcBef>
                          <a:spcPts val="0"/>
                        </a:spcBef>
                        <a:spcAft>
                          <a:spcPts val="0"/>
                        </a:spcAft>
                        <a:buNone/>
                      </a:pPr>
                      <a:r>
                        <a:rPr lang="en-US" sz="750" u="none" strike="noStrike" cap="none">
                          <a:latin typeface="Calibri"/>
                          <a:ea typeface="Calibri"/>
                          <a:cs typeface="Calibri"/>
                          <a:sym typeface="Calibri"/>
                        </a:rPr>
                        <a:t>DiGeorge syndrome/ velocardiofacial syndrome complex 2 (DSG2)</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3"/>
                  </a:ext>
                </a:extLst>
              </a:tr>
              <a:tr h="342900">
                <a:tc>
                  <a:txBody>
                    <a:bodyPr/>
                    <a:lstStyle/>
                    <a:p>
                      <a:pPr marL="524510" marR="230504" lvl="0" indent="-287019" algn="l" rtl="0">
                        <a:lnSpc>
                          <a:spcPct val="105000"/>
                        </a:lnSpc>
                        <a:spcBef>
                          <a:spcPts val="0"/>
                        </a:spcBef>
                        <a:spcAft>
                          <a:spcPts val="0"/>
                        </a:spcAft>
                        <a:buNone/>
                      </a:pPr>
                      <a:r>
                        <a:rPr lang="en-US" sz="750" u="none" strike="noStrike" cap="none">
                          <a:latin typeface="Calibri"/>
                          <a:ea typeface="Calibri"/>
                          <a:cs typeface="Calibri"/>
                          <a:sym typeface="Calibri"/>
                        </a:rPr>
                        <a:t>10q22.3-q23.2 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4"/>
                  </a:ext>
                </a:extLst>
              </a:tr>
              <a:tr h="342900">
                <a:tc>
                  <a:txBody>
                    <a:bodyPr/>
                    <a:lstStyle/>
                    <a:p>
                      <a:pPr marL="554990" marR="64769" lvl="0" indent="-483234" algn="l" rtl="0">
                        <a:lnSpc>
                          <a:spcPct val="105000"/>
                        </a:lnSpc>
                        <a:spcBef>
                          <a:spcPts val="0"/>
                        </a:spcBef>
                        <a:spcAft>
                          <a:spcPts val="0"/>
                        </a:spcAft>
                        <a:buNone/>
                      </a:pPr>
                      <a:r>
                        <a:rPr lang="en-US" sz="750" u="none" strike="noStrike" cap="none">
                          <a:latin typeface="Calibri"/>
                          <a:ea typeface="Calibri"/>
                          <a:cs typeface="Calibri"/>
                          <a:sym typeface="Calibri"/>
                        </a:rPr>
                        <a:t>Split-hand/foot malformation 3 (SHFM3)</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10q26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6"/>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Potocki-Shaffer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7"/>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WAGR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8"/>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WAGRO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9"/>
                  </a:ext>
                </a:extLst>
              </a:tr>
              <a:tr h="342900">
                <a:tc>
                  <a:txBody>
                    <a:bodyPr/>
                    <a:lstStyle/>
                    <a:p>
                      <a:pPr marL="524510" marR="230504" lvl="0" indent="-287019" algn="l" rtl="0">
                        <a:lnSpc>
                          <a:spcPct val="105000"/>
                        </a:lnSpc>
                        <a:spcBef>
                          <a:spcPts val="0"/>
                        </a:spcBef>
                        <a:spcAft>
                          <a:spcPts val="0"/>
                        </a:spcAft>
                        <a:buNone/>
                      </a:pPr>
                      <a:r>
                        <a:rPr lang="en-US" sz="750" u="none" strike="noStrike" cap="none">
                          <a:latin typeface="Calibri"/>
                          <a:ea typeface="Calibri"/>
                          <a:cs typeface="Calibri"/>
                          <a:sym typeface="Calibri"/>
                        </a:rPr>
                        <a:t>11q13.2-q13.4 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0"/>
                  </a:ext>
                </a:extLst>
              </a:tr>
              <a:tr h="342900">
                <a:tc>
                  <a:txBody>
                    <a:bodyPr/>
                    <a:lstStyle/>
                    <a:p>
                      <a:pPr marL="524510" marR="105410" lvl="0" indent="-412114" algn="l" rtl="0">
                        <a:lnSpc>
                          <a:spcPct val="105000"/>
                        </a:lnSpc>
                        <a:spcBef>
                          <a:spcPts val="0"/>
                        </a:spcBef>
                        <a:spcAft>
                          <a:spcPts val="0"/>
                        </a:spcAft>
                        <a:buNone/>
                      </a:pPr>
                      <a:r>
                        <a:rPr lang="en-US" sz="750" u="none" strike="noStrike" cap="none">
                          <a:latin typeface="Calibri"/>
                          <a:ea typeface="Calibri"/>
                          <a:cs typeface="Calibri"/>
                          <a:sym typeface="Calibri"/>
                        </a:rPr>
                        <a:t>11q22.2-q22.3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1"/>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11q23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2"/>
                  </a:ext>
                </a:extLst>
              </a:tr>
              <a:tr h="342900">
                <a:tc>
                  <a:txBody>
                    <a:bodyPr/>
                    <a:lstStyle/>
                    <a:p>
                      <a:pPr marL="524510" marR="245109" lvl="0" indent="-272415" algn="l" rtl="0">
                        <a:lnSpc>
                          <a:spcPct val="105000"/>
                        </a:lnSpc>
                        <a:spcBef>
                          <a:spcPts val="0"/>
                        </a:spcBef>
                        <a:spcAft>
                          <a:spcPts val="0"/>
                        </a:spcAft>
                        <a:buNone/>
                      </a:pPr>
                      <a:r>
                        <a:rPr lang="en-US" sz="750" u="none" strike="noStrike" cap="none">
                          <a:latin typeface="Calibri"/>
                          <a:ea typeface="Calibri"/>
                          <a:cs typeface="Calibri"/>
                          <a:sym typeface="Calibri"/>
                        </a:rPr>
                        <a:t>12p12.1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3"/>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12ql4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4"/>
                  </a:ext>
                </a:extLst>
              </a:tr>
              <a:tr h="342900">
                <a:tc>
                  <a:txBody>
                    <a:bodyPr/>
                    <a:lstStyle/>
                    <a:p>
                      <a:pPr marL="524510" marR="161925" lvl="0" indent="-355600" algn="l" rtl="0">
                        <a:lnSpc>
                          <a:spcPct val="105000"/>
                        </a:lnSpc>
                        <a:spcBef>
                          <a:spcPts val="0"/>
                        </a:spcBef>
                        <a:spcAft>
                          <a:spcPts val="0"/>
                        </a:spcAft>
                        <a:buNone/>
                      </a:pPr>
                      <a:r>
                        <a:rPr lang="en-US" sz="750" u="none" strike="noStrike" cap="none">
                          <a:latin typeface="Calibri"/>
                          <a:ea typeface="Calibri"/>
                          <a:cs typeface="Calibri"/>
                          <a:sym typeface="Calibri"/>
                        </a:rPr>
                        <a:t>12q1Sq21.1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5"/>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13q14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6"/>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14q11-q22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7"/>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Frias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8"/>
                  </a:ext>
                </a:extLst>
              </a:tr>
              <a:tr h="340350">
                <a:tc>
                  <a:txBody>
                    <a:bodyPr/>
                    <a:lstStyle/>
                    <a:p>
                      <a:pPr marL="524510" marR="105410" lvl="0" indent="-412114" algn="l" rtl="0">
                        <a:lnSpc>
                          <a:spcPct val="105000"/>
                        </a:lnSpc>
                        <a:spcBef>
                          <a:spcPts val="0"/>
                        </a:spcBef>
                        <a:spcAft>
                          <a:spcPts val="0"/>
                        </a:spcAft>
                        <a:buNone/>
                      </a:pPr>
                      <a:r>
                        <a:rPr lang="en-US" sz="750" u="none" strike="noStrike" cap="none">
                          <a:latin typeface="Calibri"/>
                          <a:ea typeface="Calibri"/>
                          <a:cs typeface="Calibri"/>
                          <a:sym typeface="Calibri"/>
                        </a:rPr>
                        <a:t>14q24.1-q24.3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9"/>
                  </a:ext>
                </a:extLst>
              </a:tr>
            </a:tbl>
          </a:graphicData>
        </a:graphic>
      </p:graphicFrame>
      <p:graphicFrame>
        <p:nvGraphicFramePr>
          <p:cNvPr id="130" name="Google Shape;130;p8">
            <a:extLst>
              <a:ext uri="{FF2B5EF4-FFF2-40B4-BE49-F238E27FC236}">
                <a16:creationId xmlns:a16="http://schemas.microsoft.com/office/drawing/2014/main" id="{7B1C481C-69A7-D9DD-6372-79595BEE1E26}"/>
              </a:ext>
            </a:extLst>
          </p:cNvPr>
          <p:cNvGraphicFramePr/>
          <p:nvPr/>
        </p:nvGraphicFramePr>
        <p:xfrm>
          <a:off x="3767042" y="1120210"/>
          <a:ext cx="1481450" cy="8270775"/>
        </p:xfrm>
        <a:graphic>
          <a:graphicData uri="http://schemas.openxmlformats.org/drawingml/2006/table">
            <a:tbl>
              <a:tblPr firstRow="1" bandRow="1">
                <a:noFill/>
                <a:tableStyleId>{F28EBD1E-F79C-4DFF-868A-0A9D0052B014}</a:tableStyleId>
              </a:tblPr>
              <a:tblGrid>
                <a:gridCol w="1481450">
                  <a:extLst>
                    <a:ext uri="{9D8B030D-6E8A-4147-A177-3AD203B41FA5}">
                      <a16:colId xmlns:a16="http://schemas.microsoft.com/office/drawing/2014/main" val="20000"/>
                    </a:ext>
                  </a:extLst>
                </a:gridCol>
              </a:tblGrid>
              <a:tr h="240025">
                <a:tc>
                  <a:txBody>
                    <a:bodyPr/>
                    <a:lstStyle/>
                    <a:p>
                      <a:pPr marL="0" marR="0" lvl="0" indent="0" algn="ctr" rtl="0">
                        <a:lnSpc>
                          <a:spcPct val="100000"/>
                        </a:lnSpc>
                        <a:spcBef>
                          <a:spcPts val="0"/>
                        </a:spcBef>
                        <a:spcAft>
                          <a:spcPts val="0"/>
                        </a:spcAft>
                        <a:buNone/>
                      </a:pPr>
                      <a:r>
                        <a:rPr lang="en-US" sz="900" b="1" u="none" strike="noStrike" cap="none">
                          <a:solidFill>
                            <a:srgbClr val="FFFFFF"/>
                          </a:solidFill>
                          <a:latin typeface="Calibri"/>
                          <a:ea typeface="Calibri"/>
                          <a:cs typeface="Calibri"/>
                          <a:sym typeface="Calibri"/>
                        </a:rPr>
                        <a:t>Conditions</a:t>
                      </a:r>
                      <a:endParaRPr sz="900" u="none" strike="noStrike" cap="none">
                        <a:latin typeface="Calibri"/>
                        <a:ea typeface="Calibri"/>
                        <a:cs typeface="Calibri"/>
                        <a:sym typeface="Calibri"/>
                      </a:endParaRPr>
                    </a:p>
                  </a:txBody>
                  <a:tcPr marL="0" marR="0" marT="41900" marB="0">
                    <a:lnB w="9525" cap="flat" cmpd="sng">
                      <a:solidFill>
                        <a:srgbClr val="DEDFFD"/>
                      </a:solidFill>
                      <a:prstDash val="solid"/>
                      <a:round/>
                      <a:headEnd type="none" w="sm" len="sm"/>
                      <a:tailEnd type="none" w="sm" len="sm"/>
                    </a:lnB>
                    <a:solidFill>
                      <a:srgbClr val="999DC0"/>
                    </a:solidFill>
                  </a:tcPr>
                </a:tc>
                <a:extLst>
                  <a:ext uri="{0D108BD9-81ED-4DB2-BD59-A6C34878D82A}">
                    <a16:rowId xmlns:a16="http://schemas.microsoft.com/office/drawing/2014/main" val="10000"/>
                  </a:ext>
                </a:extLst>
              </a:tr>
              <a:tr h="3403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15q13.3 deletion syndrome</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{BP4 to BPS} (loss)</a:t>
                      </a:r>
                      <a:endParaRPr sz="750" u="none" strike="noStrike" cap="none">
                        <a:latin typeface="Calibri"/>
                        <a:ea typeface="Calibri"/>
                        <a:cs typeface="Calibri"/>
                        <a:sym typeface="Calibri"/>
                      </a:endParaRPr>
                    </a:p>
                  </a:txBody>
                  <a:tcPr marL="0" marR="0" marT="4635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1"/>
                  </a:ext>
                </a:extLst>
              </a:tr>
              <a:tr h="34290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15q13.3 deletion syndrome</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{BP4 to BPS} (gain)</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2"/>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15q14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3"/>
                  </a:ext>
                </a:extLst>
              </a:tr>
              <a:tr h="342900">
                <a:tc>
                  <a:txBody>
                    <a:bodyPr/>
                    <a:lstStyle/>
                    <a:p>
                      <a:pPr marL="524510" marR="140335" lvl="0" indent="-377190" algn="l" rtl="0">
                        <a:lnSpc>
                          <a:spcPct val="105000"/>
                        </a:lnSpc>
                        <a:spcBef>
                          <a:spcPts val="0"/>
                        </a:spcBef>
                        <a:spcAft>
                          <a:spcPts val="0"/>
                        </a:spcAft>
                        <a:buNone/>
                      </a:pPr>
                      <a:r>
                        <a:rPr lang="en-US" sz="750" u="none" strike="noStrike" cap="none">
                          <a:latin typeface="Calibri"/>
                          <a:ea typeface="Calibri"/>
                          <a:cs typeface="Calibri"/>
                          <a:sym typeface="Calibri"/>
                        </a:rPr>
                        <a:t>15q2S.2 deletion (proximal)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4"/>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15q26-qter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5"/>
                  </a:ext>
                </a:extLst>
              </a:tr>
              <a:tr h="34290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16p11.2-p12.2</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microduplication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6"/>
                  </a:ext>
                </a:extLst>
              </a:tr>
              <a:tr h="342900">
                <a:tc>
                  <a:txBody>
                    <a:bodyPr/>
                    <a:lstStyle/>
                    <a:p>
                      <a:pPr marL="524510" marR="141605" lvl="0" indent="-375919" algn="l" rtl="0">
                        <a:lnSpc>
                          <a:spcPct val="105000"/>
                        </a:lnSpc>
                        <a:spcBef>
                          <a:spcPts val="0"/>
                        </a:spcBef>
                        <a:spcAft>
                          <a:spcPts val="0"/>
                        </a:spcAft>
                        <a:buNone/>
                      </a:pPr>
                      <a:r>
                        <a:rPr lang="en-US" sz="750" u="none" strike="noStrike" cap="none">
                          <a:latin typeface="Calibri"/>
                          <a:ea typeface="Calibri"/>
                          <a:cs typeface="Calibri"/>
                          <a:sym typeface="Calibri"/>
                        </a:rPr>
                        <a:t>16p12.2 deletion (proximal)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7"/>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16p13.11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8"/>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16p13.11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9"/>
                  </a:ext>
                </a:extLst>
              </a:tr>
              <a:tr h="462275">
                <a:tc>
                  <a:txBody>
                    <a:bodyPr/>
                    <a:lstStyle/>
                    <a:p>
                      <a:pPr marL="90170" marR="81915" lvl="0" indent="-634" algn="ctr" rtl="0">
                        <a:lnSpc>
                          <a:spcPct val="105000"/>
                        </a:lnSpc>
                        <a:spcBef>
                          <a:spcPts val="0"/>
                        </a:spcBef>
                        <a:spcAft>
                          <a:spcPts val="0"/>
                        </a:spcAft>
                        <a:buNone/>
                      </a:pPr>
                      <a:r>
                        <a:rPr lang="en-US" sz="750" u="none" strike="noStrike" cap="none">
                          <a:latin typeface="Calibri"/>
                          <a:ea typeface="Calibri"/>
                          <a:cs typeface="Calibri"/>
                          <a:sym typeface="Calibri"/>
                        </a:rPr>
                        <a:t>Polycystic kidney disease, infantile severe, with tuberous sclerosis (PKDTS)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0"/>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Rubinstein-Taybi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1"/>
                  </a:ext>
                </a:extLst>
              </a:tr>
              <a:tr h="582925">
                <a:tc>
                  <a:txBody>
                    <a:bodyPr/>
                    <a:lstStyle/>
                    <a:p>
                      <a:pPr marL="71755" marR="64135" lvl="0" indent="0" algn="ctr" rtl="0">
                        <a:lnSpc>
                          <a:spcPct val="105000"/>
                        </a:lnSpc>
                        <a:spcBef>
                          <a:spcPts val="0"/>
                        </a:spcBef>
                        <a:spcAft>
                          <a:spcPts val="0"/>
                        </a:spcAft>
                        <a:buNone/>
                      </a:pPr>
                      <a:r>
                        <a:rPr lang="en-US" sz="750" u="none" strike="noStrike" cap="none">
                          <a:latin typeface="Calibri"/>
                          <a:ea typeface="Calibri"/>
                          <a:cs typeface="Calibri"/>
                          <a:sym typeface="Calibri"/>
                        </a:rPr>
                        <a:t>Alpha-thalassemia/intellectual disability syndrome, chromosome 16-related</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(ATR-16)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2"/>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16q22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3"/>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Smith-Magenis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4"/>
                  </a:ext>
                </a:extLst>
              </a:tr>
              <a:tr h="342900">
                <a:tc>
                  <a:txBody>
                    <a:bodyPr/>
                    <a:lstStyle/>
                    <a:p>
                      <a:pPr marL="560070" marR="103504" lvl="0" indent="-448944" algn="l" rtl="0">
                        <a:lnSpc>
                          <a:spcPct val="105000"/>
                        </a:lnSpc>
                        <a:spcBef>
                          <a:spcPts val="0"/>
                        </a:spcBef>
                        <a:spcAft>
                          <a:spcPts val="0"/>
                        </a:spcAft>
                        <a:buNone/>
                      </a:pPr>
                      <a:r>
                        <a:rPr lang="en-US" sz="750" u="none" strike="noStrike" cap="none">
                          <a:latin typeface="Calibri"/>
                          <a:ea typeface="Calibri"/>
                          <a:cs typeface="Calibri"/>
                          <a:sym typeface="Calibri"/>
                        </a:rPr>
                        <a:t>Yuan-Harel-Lupski syndrome (YUHAL)</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17p12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6"/>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17p12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7"/>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17p13.l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8"/>
                  </a:ext>
                </a:extLst>
              </a:tr>
              <a:tr h="342900">
                <a:tc>
                  <a:txBody>
                    <a:bodyPr/>
                    <a:lstStyle/>
                    <a:p>
                      <a:pPr marL="229234" marR="147955" lvl="0" indent="-74929" algn="l" rtl="0">
                        <a:lnSpc>
                          <a:spcPct val="105000"/>
                        </a:lnSpc>
                        <a:spcBef>
                          <a:spcPts val="0"/>
                        </a:spcBef>
                        <a:spcAft>
                          <a:spcPts val="0"/>
                        </a:spcAft>
                        <a:buNone/>
                      </a:pPr>
                      <a:r>
                        <a:rPr lang="en-US" sz="750" u="none" strike="noStrike" cap="none">
                          <a:latin typeface="Calibri"/>
                          <a:ea typeface="Calibri"/>
                          <a:cs typeface="Calibri"/>
                          <a:sym typeface="Calibri"/>
                        </a:rPr>
                        <a:t>Miller-Dieker lissencephaly syndrome (MDLS) (loss)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9"/>
                  </a:ext>
                </a:extLst>
              </a:tr>
              <a:tr h="342900">
                <a:tc>
                  <a:txBody>
                    <a:bodyPr/>
                    <a:lstStyle/>
                    <a:p>
                      <a:pPr marL="227965" marR="147955" lvl="0" indent="-73660" algn="l" rtl="0">
                        <a:lnSpc>
                          <a:spcPct val="105000"/>
                        </a:lnSpc>
                        <a:spcBef>
                          <a:spcPts val="0"/>
                        </a:spcBef>
                        <a:spcAft>
                          <a:spcPts val="0"/>
                        </a:spcAft>
                        <a:buNone/>
                      </a:pPr>
                      <a:r>
                        <a:rPr lang="en-US" sz="750" u="none" strike="noStrike" cap="none">
                          <a:latin typeface="Calibri"/>
                          <a:ea typeface="Calibri"/>
                          <a:cs typeface="Calibri"/>
                          <a:sym typeface="Calibri"/>
                        </a:rPr>
                        <a:t>Miller-Dieker lissencephaly syndrome (MDLS) (gain)</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0"/>
                  </a:ext>
                </a:extLst>
              </a:tr>
              <a:tr h="342275">
                <a:tc>
                  <a:txBody>
                    <a:bodyPr/>
                    <a:lstStyle/>
                    <a:p>
                      <a:pPr marL="524510" marR="84455" lvl="0" indent="-433069" algn="l" rtl="0">
                        <a:lnSpc>
                          <a:spcPct val="105000"/>
                        </a:lnSpc>
                        <a:spcBef>
                          <a:spcPts val="0"/>
                        </a:spcBef>
                        <a:spcAft>
                          <a:spcPts val="0"/>
                        </a:spcAft>
                        <a:buNone/>
                      </a:pPr>
                      <a:r>
                        <a:rPr lang="en-US" sz="750" u="none" strike="noStrike" cap="none">
                          <a:latin typeface="Calibri"/>
                          <a:ea typeface="Calibri"/>
                          <a:cs typeface="Calibri"/>
                          <a:sym typeface="Calibri"/>
                        </a:rPr>
                        <a:t>17p13.3 telomeric 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1"/>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17q12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2"/>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17q21.31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3"/>
                  </a:ext>
                </a:extLst>
              </a:tr>
              <a:tr h="342900">
                <a:tc>
                  <a:txBody>
                    <a:bodyPr/>
                    <a:lstStyle/>
                    <a:p>
                      <a:pPr marL="524510" marR="230504" lvl="0" indent="-287019" algn="l" rtl="0">
                        <a:lnSpc>
                          <a:spcPct val="105000"/>
                        </a:lnSpc>
                        <a:spcBef>
                          <a:spcPts val="0"/>
                        </a:spcBef>
                        <a:spcAft>
                          <a:spcPts val="0"/>
                        </a:spcAft>
                        <a:buNone/>
                      </a:pPr>
                      <a:r>
                        <a:rPr lang="en-US" sz="750" u="none" strike="noStrike" cap="none">
                          <a:latin typeface="Calibri"/>
                          <a:ea typeface="Calibri"/>
                          <a:cs typeface="Calibri"/>
                          <a:sym typeface="Calibri"/>
                        </a:rPr>
                        <a:t>17q23.1-q23.2 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4"/>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Tetrasomy 18p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18p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18q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7"/>
                  </a:ext>
                </a:extLst>
              </a:tr>
              <a:tr h="2203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19p13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8"/>
                  </a:ext>
                </a:extLst>
              </a:tr>
            </a:tbl>
          </a:graphicData>
        </a:graphic>
      </p:graphicFrame>
      <p:graphicFrame>
        <p:nvGraphicFramePr>
          <p:cNvPr id="131" name="Google Shape;131;p8">
            <a:extLst>
              <a:ext uri="{FF2B5EF4-FFF2-40B4-BE49-F238E27FC236}">
                <a16:creationId xmlns:a16="http://schemas.microsoft.com/office/drawing/2014/main" id="{E95D8CCD-BBCA-65DD-9B6F-17FED4C3F7D6}"/>
              </a:ext>
            </a:extLst>
          </p:cNvPr>
          <p:cNvGraphicFramePr/>
          <p:nvPr/>
        </p:nvGraphicFramePr>
        <p:xfrm>
          <a:off x="5383866" y="1120210"/>
          <a:ext cx="1481450" cy="5683850"/>
        </p:xfrm>
        <a:graphic>
          <a:graphicData uri="http://schemas.openxmlformats.org/drawingml/2006/table">
            <a:tbl>
              <a:tblPr firstRow="1" bandRow="1">
                <a:noFill/>
                <a:tableStyleId>{F28EBD1E-F79C-4DFF-868A-0A9D0052B014}</a:tableStyleId>
              </a:tblPr>
              <a:tblGrid>
                <a:gridCol w="1481450">
                  <a:extLst>
                    <a:ext uri="{9D8B030D-6E8A-4147-A177-3AD203B41FA5}">
                      <a16:colId xmlns:a16="http://schemas.microsoft.com/office/drawing/2014/main" val="20000"/>
                    </a:ext>
                  </a:extLst>
                </a:gridCol>
              </a:tblGrid>
              <a:tr h="240025">
                <a:tc>
                  <a:txBody>
                    <a:bodyPr/>
                    <a:lstStyle/>
                    <a:p>
                      <a:pPr marL="0" marR="0" lvl="0" indent="0" algn="ctr" rtl="0">
                        <a:lnSpc>
                          <a:spcPct val="100000"/>
                        </a:lnSpc>
                        <a:spcBef>
                          <a:spcPts val="0"/>
                        </a:spcBef>
                        <a:spcAft>
                          <a:spcPts val="0"/>
                        </a:spcAft>
                        <a:buNone/>
                      </a:pPr>
                      <a:r>
                        <a:rPr lang="en-US" sz="900" u="none" strike="noStrike" cap="none">
                          <a:solidFill>
                            <a:srgbClr val="FFFFFF"/>
                          </a:solidFill>
                          <a:latin typeface="Calibri"/>
                          <a:ea typeface="Calibri"/>
                          <a:cs typeface="Calibri"/>
                          <a:sym typeface="Calibri"/>
                        </a:rPr>
                        <a:t>Conditions</a:t>
                      </a:r>
                      <a:endParaRPr sz="900" u="none" strike="noStrike" cap="none">
                        <a:latin typeface="Calibri"/>
                        <a:ea typeface="Calibri"/>
                        <a:cs typeface="Calibri"/>
                        <a:sym typeface="Calibri"/>
                      </a:endParaRPr>
                    </a:p>
                  </a:txBody>
                  <a:tcPr marL="0" marR="0" marT="41900" marB="0">
                    <a:lnB w="9525" cap="flat" cmpd="sng">
                      <a:solidFill>
                        <a:srgbClr val="DEDFFD"/>
                      </a:solidFill>
                      <a:prstDash val="solid"/>
                      <a:round/>
                      <a:headEnd type="none" w="sm" len="sm"/>
                      <a:tailEnd type="none" w="sm" len="sm"/>
                    </a:lnB>
                    <a:solidFill>
                      <a:srgbClr val="999DC0"/>
                    </a:solidFill>
                  </a:tcPr>
                </a:tc>
                <a:extLst>
                  <a:ext uri="{0D108BD9-81ED-4DB2-BD59-A6C34878D82A}">
                    <a16:rowId xmlns:a16="http://schemas.microsoft.com/office/drawing/2014/main" val="10000"/>
                  </a:ext>
                </a:extLst>
              </a:tr>
              <a:tr h="340350">
                <a:tc>
                  <a:txBody>
                    <a:bodyPr/>
                    <a:lstStyle/>
                    <a:p>
                      <a:pPr marL="524510" marR="218440" lvl="0" indent="-299085" algn="l" rtl="0">
                        <a:lnSpc>
                          <a:spcPct val="105000"/>
                        </a:lnSpc>
                        <a:spcBef>
                          <a:spcPts val="0"/>
                        </a:spcBef>
                        <a:spcAft>
                          <a:spcPts val="0"/>
                        </a:spcAft>
                        <a:buNone/>
                      </a:pPr>
                      <a:r>
                        <a:rPr lang="en-US" sz="750" u="none" strike="noStrike" cap="none">
                          <a:latin typeface="Calibri"/>
                          <a:ea typeface="Calibri"/>
                          <a:cs typeface="Calibri"/>
                          <a:sym typeface="Calibri"/>
                        </a:rPr>
                        <a:t>19q13.11 microdeletion syndrome</a:t>
                      </a:r>
                      <a:endParaRPr sz="750" u="none" strike="noStrike" cap="none">
                        <a:latin typeface="Calibri"/>
                        <a:ea typeface="Calibri"/>
                        <a:cs typeface="Calibri"/>
                        <a:sym typeface="Calibri"/>
                      </a:endParaRPr>
                    </a:p>
                  </a:txBody>
                  <a:tcPr marL="0" marR="0" marT="4065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20p13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2"/>
                  </a:ext>
                </a:extLst>
              </a:tr>
              <a:tr h="342900">
                <a:tc>
                  <a:txBody>
                    <a:bodyPr/>
                    <a:lstStyle/>
                    <a:p>
                      <a:pPr marL="524510" marR="52069" lvl="0" indent="-465454" algn="l" rtl="0">
                        <a:lnSpc>
                          <a:spcPct val="105000"/>
                        </a:lnSpc>
                        <a:spcBef>
                          <a:spcPts val="0"/>
                        </a:spcBef>
                        <a:spcAft>
                          <a:spcPts val="0"/>
                        </a:spcAft>
                        <a:buNone/>
                      </a:pPr>
                      <a:r>
                        <a:rPr lang="en-US" sz="750" u="none" strike="noStrike" cap="none">
                          <a:latin typeface="Calibri"/>
                          <a:ea typeface="Calibri"/>
                          <a:cs typeface="Calibri"/>
                          <a:sym typeface="Calibri"/>
                        </a:rPr>
                        <a:t>21q22.11-q22.12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3"/>
                  </a:ext>
                </a:extLst>
              </a:tr>
              <a:tr h="462925">
                <a:tc>
                  <a:txBody>
                    <a:bodyPr/>
                    <a:lstStyle/>
                    <a:p>
                      <a:pPr marL="151130" marR="144145" lvl="0" indent="0" algn="ctr" rtl="0">
                        <a:lnSpc>
                          <a:spcPct val="105000"/>
                        </a:lnSpc>
                        <a:spcBef>
                          <a:spcPts val="0"/>
                        </a:spcBef>
                        <a:spcAft>
                          <a:spcPts val="0"/>
                        </a:spcAft>
                        <a:buNone/>
                      </a:pPr>
                      <a:r>
                        <a:rPr lang="en-US" sz="750" u="none" strike="noStrike" cap="none">
                          <a:latin typeface="Calibri"/>
                          <a:ea typeface="Calibri"/>
                          <a:cs typeface="Calibri"/>
                          <a:sym typeface="Calibri"/>
                        </a:rPr>
                        <a:t>22q11.2 deletion syndrome (distal,</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D-E/F)</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4"/>
                  </a:ext>
                </a:extLst>
              </a:tr>
              <a:tr h="462275">
                <a:tc>
                  <a:txBody>
                    <a:bodyPr/>
                    <a:lstStyle/>
                    <a:p>
                      <a:pPr marL="151130" marR="144145" lvl="0" indent="0" algn="ctr" rtl="0">
                        <a:lnSpc>
                          <a:spcPct val="105000"/>
                        </a:lnSpc>
                        <a:spcBef>
                          <a:spcPts val="0"/>
                        </a:spcBef>
                        <a:spcAft>
                          <a:spcPts val="0"/>
                        </a:spcAft>
                        <a:buNone/>
                      </a:pPr>
                      <a:r>
                        <a:rPr lang="en-US" sz="750" u="none" strike="noStrike" cap="none">
                          <a:latin typeface="Calibri"/>
                          <a:ea typeface="Calibri"/>
                          <a:cs typeface="Calibri"/>
                          <a:sym typeface="Calibri"/>
                        </a:rPr>
                        <a:t>22q11.2 deletion syndrome (LCR22</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B/C-D)</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22q13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22q13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7"/>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Xp11.22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8"/>
                  </a:ext>
                </a:extLst>
              </a:tr>
              <a:tr h="342900">
                <a:tc>
                  <a:txBody>
                    <a:bodyPr/>
                    <a:lstStyle/>
                    <a:p>
                      <a:pPr marL="524510" marR="135890" lvl="0" indent="-382905" algn="l" rtl="0">
                        <a:lnSpc>
                          <a:spcPct val="105000"/>
                        </a:lnSpc>
                        <a:spcBef>
                          <a:spcPts val="0"/>
                        </a:spcBef>
                        <a:spcAft>
                          <a:spcPts val="0"/>
                        </a:spcAft>
                        <a:buNone/>
                      </a:pPr>
                      <a:r>
                        <a:rPr lang="en-US" sz="750" u="none" strike="noStrike" cap="none">
                          <a:latin typeface="Calibri"/>
                          <a:ea typeface="Calibri"/>
                          <a:cs typeface="Calibri"/>
                          <a:sym typeface="Calibri"/>
                        </a:rPr>
                        <a:t>Xp11.22-p11.23 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9"/>
                  </a:ext>
                </a:extLst>
              </a:tr>
              <a:tr h="342900">
                <a:tc>
                  <a:txBody>
                    <a:bodyPr/>
                    <a:lstStyle/>
                    <a:p>
                      <a:pPr marL="524510" marR="243840" lvl="0" indent="-273685" algn="l" rtl="0">
                        <a:lnSpc>
                          <a:spcPct val="105000"/>
                        </a:lnSpc>
                        <a:spcBef>
                          <a:spcPts val="0"/>
                        </a:spcBef>
                        <a:spcAft>
                          <a:spcPts val="0"/>
                        </a:spcAft>
                        <a:buNone/>
                      </a:pPr>
                      <a:r>
                        <a:rPr lang="en-US" sz="750" u="none" strike="noStrike" cap="none">
                          <a:latin typeface="Calibri"/>
                          <a:ea typeface="Calibri"/>
                          <a:cs typeface="Calibri"/>
                          <a:sym typeface="Calibri"/>
                        </a:rPr>
                        <a:t>Xp11.23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0"/>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Xp11.3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1"/>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Xp21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2"/>
                  </a:ext>
                </a:extLst>
              </a:tr>
              <a:tr h="342900">
                <a:tc>
                  <a:txBody>
                    <a:bodyPr/>
                    <a:lstStyle/>
                    <a:p>
                      <a:pPr marL="524510" marR="202565" lvl="0" indent="-314960" algn="l" rtl="0">
                        <a:lnSpc>
                          <a:spcPct val="105000"/>
                        </a:lnSpc>
                        <a:spcBef>
                          <a:spcPts val="0"/>
                        </a:spcBef>
                        <a:spcAft>
                          <a:spcPts val="0"/>
                        </a:spcAft>
                        <a:buNone/>
                      </a:pPr>
                      <a:r>
                        <a:rPr lang="en-US" sz="750" u="none" strike="noStrike" cap="none">
                          <a:latin typeface="Calibri"/>
                          <a:ea typeface="Calibri"/>
                          <a:cs typeface="Calibri"/>
                          <a:sym typeface="Calibri"/>
                        </a:rPr>
                        <a:t>Xp21.2 microduplication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3"/>
                  </a:ext>
                </a:extLst>
              </a:tr>
              <a:tr h="342900">
                <a:tc>
                  <a:txBody>
                    <a:bodyPr/>
                    <a:lstStyle/>
                    <a:p>
                      <a:pPr marL="524510" marR="243840" lvl="0" indent="-273685" algn="l" rtl="0">
                        <a:lnSpc>
                          <a:spcPct val="105000"/>
                        </a:lnSpc>
                        <a:spcBef>
                          <a:spcPts val="0"/>
                        </a:spcBef>
                        <a:spcAft>
                          <a:spcPts val="0"/>
                        </a:spcAft>
                        <a:buNone/>
                      </a:pPr>
                      <a:r>
                        <a:rPr lang="en-US" sz="750" u="none" strike="noStrike" cap="none">
                          <a:latin typeface="Calibri"/>
                          <a:ea typeface="Calibri"/>
                          <a:cs typeface="Calibri"/>
                          <a:sym typeface="Calibri"/>
                        </a:rPr>
                        <a:t>Xp22.31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4"/>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Xq21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5"/>
                  </a:ext>
                </a:extLst>
              </a:tr>
              <a:tr h="342900">
                <a:tc>
                  <a:txBody>
                    <a:bodyPr/>
                    <a:lstStyle/>
                    <a:p>
                      <a:pPr marL="524510" marR="178435" lvl="0" indent="-339090" algn="l" rtl="0">
                        <a:lnSpc>
                          <a:spcPct val="105000"/>
                        </a:lnSpc>
                        <a:spcBef>
                          <a:spcPts val="0"/>
                        </a:spcBef>
                        <a:spcAft>
                          <a:spcPts val="0"/>
                        </a:spcAft>
                        <a:buNone/>
                      </a:pPr>
                      <a:r>
                        <a:rPr lang="en-US" sz="750" u="none" strike="noStrike" cap="none">
                          <a:latin typeface="Calibri"/>
                          <a:ea typeface="Calibri"/>
                          <a:cs typeface="Calibri"/>
                          <a:sym typeface="Calibri"/>
                        </a:rPr>
                        <a:t>Xq22.3 telomeric 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6"/>
                  </a:ext>
                </a:extLst>
              </a:tr>
              <a:tr h="342900">
                <a:tc>
                  <a:txBody>
                    <a:bodyPr/>
                    <a:lstStyle/>
                    <a:p>
                      <a:pPr marL="524510" marR="229234" lvl="0" indent="-288290" algn="l" rtl="0">
                        <a:lnSpc>
                          <a:spcPct val="105000"/>
                        </a:lnSpc>
                        <a:spcBef>
                          <a:spcPts val="0"/>
                        </a:spcBef>
                        <a:spcAft>
                          <a:spcPts val="0"/>
                        </a:spcAft>
                        <a:buNone/>
                      </a:pPr>
                      <a:r>
                        <a:rPr lang="en-US" sz="750" u="none" strike="noStrike" cap="none">
                          <a:latin typeface="Calibri"/>
                          <a:ea typeface="Calibri"/>
                          <a:cs typeface="Calibri"/>
                          <a:sym typeface="Calibri"/>
                        </a:rPr>
                        <a:t>Xq27.3-q28 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7"/>
                  </a:ext>
                </a:extLst>
              </a:tr>
              <a:tr h="2203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Xq28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8"/>
                  </a:ext>
                </a:extLst>
              </a:tr>
            </a:tbl>
          </a:graphicData>
        </a:graphic>
      </p:graphicFrame>
      <p:grpSp>
        <p:nvGrpSpPr>
          <p:cNvPr id="132" name="Google Shape;132;p8">
            <a:extLst>
              <a:ext uri="{FF2B5EF4-FFF2-40B4-BE49-F238E27FC236}">
                <a16:creationId xmlns:a16="http://schemas.microsoft.com/office/drawing/2014/main" id="{DE732257-ACEE-DD7A-E8DD-792E2B480272}"/>
              </a:ext>
            </a:extLst>
          </p:cNvPr>
          <p:cNvGrpSpPr/>
          <p:nvPr/>
        </p:nvGrpSpPr>
        <p:grpSpPr>
          <a:xfrm>
            <a:off x="385762" y="357187"/>
            <a:ext cx="6788784" cy="9477375"/>
            <a:chOff x="385762" y="357187"/>
            <a:chExt cx="6788784" cy="9477375"/>
          </a:xfrm>
        </p:grpSpPr>
        <p:sp>
          <p:nvSpPr>
            <p:cNvPr id="133" name="Google Shape;133;p8">
              <a:extLst>
                <a:ext uri="{FF2B5EF4-FFF2-40B4-BE49-F238E27FC236}">
                  <a16:creationId xmlns:a16="http://schemas.microsoft.com/office/drawing/2014/main" id="{33C2904E-1869-0BF2-988F-AB683F17E833}"/>
                </a:ext>
              </a:extLst>
            </p:cNvPr>
            <p:cNvSpPr/>
            <p:nvPr/>
          </p:nvSpPr>
          <p:spPr>
            <a:xfrm>
              <a:off x="425742" y="357187"/>
              <a:ext cx="6708775" cy="9477375"/>
            </a:xfrm>
            <a:custGeom>
              <a:avLst/>
              <a:gdLst/>
              <a:ahLst/>
              <a:cxnLst/>
              <a:rect l="l" t="t" r="r" b="b"/>
              <a:pathLst>
                <a:path w="6708775" h="9477375" extrusionOk="0">
                  <a:moveTo>
                    <a:pt x="6708571" y="20929"/>
                  </a:moveTo>
                  <a:lnTo>
                    <a:pt x="6671997" y="1374"/>
                  </a:lnTo>
                  <a:lnTo>
                    <a:pt x="6658063" y="0"/>
                  </a:lnTo>
                  <a:lnTo>
                    <a:pt x="50507" y="0"/>
                  </a:lnTo>
                  <a:lnTo>
                    <a:pt x="10820" y="12044"/>
                  </a:lnTo>
                  <a:lnTo>
                    <a:pt x="5191" y="16220"/>
                  </a:lnTo>
                  <a:lnTo>
                    <a:pt x="0" y="20929"/>
                  </a:lnTo>
                </a:path>
                <a:path w="6708775" h="9477375" extrusionOk="0">
                  <a:moveTo>
                    <a:pt x="0" y="9456445"/>
                  </a:moveTo>
                  <a:lnTo>
                    <a:pt x="36574" y="9476000"/>
                  </a:lnTo>
                  <a:lnTo>
                    <a:pt x="50507" y="9477375"/>
                  </a:lnTo>
                  <a:lnTo>
                    <a:pt x="6634251" y="9477375"/>
                  </a:lnTo>
                  <a:lnTo>
                    <a:pt x="6678428" y="9474299"/>
                  </a:lnTo>
                  <a:lnTo>
                    <a:pt x="6703380" y="9461154"/>
                  </a:lnTo>
                  <a:lnTo>
                    <a:pt x="6708571" y="94564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4" name="Google Shape;134;p8">
              <a:extLst>
                <a:ext uri="{FF2B5EF4-FFF2-40B4-BE49-F238E27FC236}">
                  <a16:creationId xmlns:a16="http://schemas.microsoft.com/office/drawing/2014/main" id="{9CED7607-88F1-3DF5-7C8C-E814D3D91C37}"/>
                </a:ext>
              </a:extLst>
            </p:cNvPr>
            <p:cNvSpPr/>
            <p:nvPr/>
          </p:nvSpPr>
          <p:spPr>
            <a:xfrm>
              <a:off x="385762" y="364642"/>
              <a:ext cx="6788784" cy="9462770"/>
            </a:xfrm>
            <a:custGeom>
              <a:avLst/>
              <a:gdLst/>
              <a:ahLst/>
              <a:cxnLst/>
              <a:rect l="l" t="t" r="r" b="b"/>
              <a:pathLst>
                <a:path w="6788784" h="9462770" extrusionOk="0">
                  <a:moveTo>
                    <a:pt x="26504" y="0"/>
                  </a:moveTo>
                  <a:lnTo>
                    <a:pt x="3895" y="37713"/>
                  </a:lnTo>
                  <a:lnTo>
                    <a:pt x="0" y="63982"/>
                  </a:lnTo>
                  <a:lnTo>
                    <a:pt x="0" y="9393720"/>
                  </a:lnTo>
                  <a:lnTo>
                    <a:pt x="6883" y="9433115"/>
                  </a:lnTo>
                  <a:lnTo>
                    <a:pt x="20540" y="9455886"/>
                  </a:lnTo>
                  <a:lnTo>
                    <a:pt x="26504" y="9462465"/>
                  </a:lnTo>
                </a:path>
                <a:path w="6788784" h="9462770" extrusionOk="0">
                  <a:moveTo>
                    <a:pt x="6762026" y="9462465"/>
                  </a:moveTo>
                  <a:lnTo>
                    <a:pt x="6784635" y="9424751"/>
                  </a:lnTo>
                  <a:lnTo>
                    <a:pt x="6788531" y="93984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00129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AD11C19-1CF7-FECF-7966-0EBE79E709B1}"/>
            </a:ext>
          </a:extLst>
        </p:cNvPr>
        <p:cNvGrpSpPr/>
        <p:nvPr/>
      </p:nvGrpSpPr>
      <p:grpSpPr>
        <a:xfrm>
          <a:off x="0" y="0"/>
          <a:ext cx="0" cy="0"/>
          <a:chOff x="0" y="0"/>
          <a:chExt cx="0" cy="0"/>
        </a:xfrm>
      </p:grpSpPr>
      <p:sp>
        <p:nvSpPr>
          <p:cNvPr id="140" name="Google Shape;140;p9">
            <a:extLst>
              <a:ext uri="{FF2B5EF4-FFF2-40B4-BE49-F238E27FC236}">
                <a16:creationId xmlns:a16="http://schemas.microsoft.com/office/drawing/2014/main" id="{6F0D1D67-8424-4A12-4E5E-5D23C70996AB}"/>
              </a:ext>
            </a:extLst>
          </p:cNvPr>
          <p:cNvSpPr txBox="1"/>
          <p:nvPr/>
        </p:nvSpPr>
        <p:spPr>
          <a:xfrm>
            <a:off x="525144" y="556501"/>
            <a:ext cx="6518909" cy="141064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4B5285"/>
                </a:solidFill>
                <a:latin typeface="Noto Sans SC" panose="020B0200000000000000" pitchFamily="34" charset="-128"/>
                <a:ea typeface="Noto Sans SC" panose="020B0200000000000000" pitchFamily="34" charset="-128"/>
                <a:cs typeface="Microsoft YaHei"/>
                <a:sym typeface="Microsoft YaHei"/>
              </a:rPr>
              <a:t>Next Step</a:t>
            </a:r>
            <a:endParaRPr sz="100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80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A negative (no abnormality detected) result means that your fetus has a very low risk of chromosomal abnormalities, but it still cannot completely rule out the possibility of chromosomal abnormalities in the fetus. It is recommended to conduct a comprehensive evaluation with other examinations (such as high-level ultrasound).</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During subsequent prenatal examinations, if abnormal fetal ultrasound is found, please follow the medical treatment recommended by the prenatal physician (such as invasive examination) to confirm whether the fetus is abnormal.</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results of this screening test should not be used alone as any diagnostic basis that affects the pregnancy process. It is only applicable to clinical reference. For clinical advice and related consultation, please consult a professional physician.</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NIPT assesses the risk of specific diseases (see the results table), but it does not detect all possible genetic conditions or other congenital defects. Your attending physician may recommend other types of genetic testing during or after pregnancy.</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3" name="Google Shape;143;p9">
            <a:extLst>
              <a:ext uri="{FF2B5EF4-FFF2-40B4-BE49-F238E27FC236}">
                <a16:creationId xmlns:a16="http://schemas.microsoft.com/office/drawing/2014/main" id="{5C018E79-30FA-F26E-B910-78FAACDF8D56}"/>
              </a:ext>
            </a:extLst>
          </p:cNvPr>
          <p:cNvSpPr txBox="1"/>
          <p:nvPr/>
        </p:nvSpPr>
        <p:spPr>
          <a:xfrm>
            <a:off x="506116" y="2122429"/>
            <a:ext cx="6520180" cy="664284"/>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Method</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hangingPunct="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Peripheral blood is drawn from pregnant women, and free DNA from fetal cells in the plasma is extracted for large-scale parallel sequencing and analysis of the sequencing results to determine the fetal chromosomes.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6" name="Google Shape;146;p9">
            <a:extLst>
              <a:ext uri="{FF2B5EF4-FFF2-40B4-BE49-F238E27FC236}">
                <a16:creationId xmlns:a16="http://schemas.microsoft.com/office/drawing/2014/main" id="{2C14E591-329C-D440-4489-F171B3780B24}"/>
              </a:ext>
            </a:extLst>
          </p:cNvPr>
          <p:cNvSpPr txBox="1"/>
          <p:nvPr/>
        </p:nvSpPr>
        <p:spPr>
          <a:xfrm>
            <a:off x="506116" y="3008531"/>
            <a:ext cx="6520180" cy="1513235"/>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Limitations</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algn="just" fontAlgn="t" latinLnBrk="0" hangingPunct="0">
              <a:lnSpc>
                <a:spcPct val="150000"/>
              </a:lnSpc>
              <a:spcBef>
                <a:spcPts val="177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Non-Invasive Maternal Blood Fetal Chromosome Testing &lt;NIPT Test&gt; This test mainly analyzes fetal chromosomal aneuploidy from cell-free DNA and is performed on singleton pregnancies with a gestational age of at least 10 weeks (estimated based on the last menstrual period). These results do not exclude the possibility that this pregnancy may have other chromosomal abnormalities, birth defects, or other diseases. This test cannot identify pregnancies at risk of open neural tube defects. A negative test result does not completely eliminate the possibility of chromosomal abnormalities. There is a small probability that the test results will not present the chromosome situation of the fetus, but may present chromosomal changes in the placenta (restricted placental mosaicism) or the mother (chromosomal mosaicism). Potential sources of inaccurate test results may include, but are not limited to: maternal, fetal or placental mosaicism, low fetal free DNA concentration, blood transfusion, transplant surgery, and stem cell therapy. In particular, situations such as embryonic atrophy and fetal death may lead to false negative or false positive results. If a clear diagnosis is required, chorionic villus sampling or amniocentesis should be performed according to the clinician's advice.</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9" name="Google Shape;149;p9">
            <a:extLst>
              <a:ext uri="{FF2B5EF4-FFF2-40B4-BE49-F238E27FC236}">
                <a16:creationId xmlns:a16="http://schemas.microsoft.com/office/drawing/2014/main" id="{34531925-D8C0-57BC-E83D-B8CD6EF6B1A4}"/>
              </a:ext>
            </a:extLst>
          </p:cNvPr>
          <p:cNvSpPr txBox="1"/>
          <p:nvPr/>
        </p:nvSpPr>
        <p:spPr>
          <a:xfrm>
            <a:off x="492465" y="4752307"/>
            <a:ext cx="6651943" cy="594393"/>
          </a:xfrm>
          <a:prstGeom prst="rect">
            <a:avLst/>
          </a:prstGeom>
          <a:noFill/>
          <a:ln>
            <a:noFill/>
          </a:ln>
        </p:spPr>
        <p:txBody>
          <a:bodyPr spcFirstLastPara="1" wrap="square" lIns="0" tIns="12700" rIns="0" bIns="0" anchor="t" anchorCtr="0">
            <a:spAutoFit/>
          </a:bodyPr>
          <a:lstStyle/>
          <a:p>
            <a:pPr marL="12700" lvl="0" indent="0" algn="just" rtl="0" fontAlgn="t" latinLnBrk="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a:lnSpc>
                <a:spcPct val="1333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This test detects small chromosomal deletions in the chromosomal regions - 1p36, 2q33.1, 4p16.3, 5p-, 7q11.23, 11q23, 15q11.2-913, 22q11.2 or other regions (see Test Report Items for details) and is suitable for singleton pregnancies of at least 10 weeks of gestational age, which is estimated based on the last menstrual period, hip length or other appropriate methods.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52" name="Google Shape;152;p9">
            <a:extLst>
              <a:ext uri="{FF2B5EF4-FFF2-40B4-BE49-F238E27FC236}">
                <a16:creationId xmlns:a16="http://schemas.microsoft.com/office/drawing/2014/main" id="{5FA00B5C-CBB7-425E-E2BA-C79D671A96D5}"/>
              </a:ext>
            </a:extLst>
          </p:cNvPr>
          <p:cNvSpPr txBox="1"/>
          <p:nvPr/>
        </p:nvSpPr>
        <p:spPr>
          <a:xfrm>
            <a:off x="559933" y="8657628"/>
            <a:ext cx="6517005" cy="495007"/>
          </a:xfrm>
          <a:prstGeom prst="rect">
            <a:avLst/>
          </a:prstGeom>
          <a:noFill/>
          <a:ln>
            <a:noFill/>
          </a:ln>
        </p:spPr>
        <p:txBody>
          <a:bodyPr spcFirstLastPara="1" wrap="square" lIns="0" tIns="12700" rIns="0" bIns="0" anchor="t" anchorCtr="0">
            <a:spAutoFit/>
          </a:bodyPr>
          <a:lstStyle/>
          <a:p>
            <a:pPr marL="12700" marR="5080" lvl="0" latinLnBrk="0" hangingPunct="0">
              <a:lnSpc>
                <a:spcPct val="150000"/>
              </a:lnSpc>
              <a:spcBef>
                <a:spcPts val="159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test was conducted by Daan United Medical Laboratory and reviewed by genetic counselor LEE CN M.D. The laboratory is a certified laboratory for precision medicine molecular testing and is certified by the College of American Pathologists (CAP) to perform accurate genetic testing.</a:t>
            </a:r>
            <a:endParaRPr lang="en-US" sz="600" dirty="0">
              <a:latin typeface="Noto Sans SC" panose="020B0200000000000000" pitchFamily="34" charset="-128"/>
              <a:ea typeface="Noto Sans SC" panose="020B0200000000000000" pitchFamily="34" charset="-128"/>
              <a:cs typeface="Microsoft YaHei"/>
              <a:sym typeface="Microsoft YaHei"/>
            </a:endParaRPr>
          </a:p>
        </p:txBody>
      </p:sp>
      <p:grpSp>
        <p:nvGrpSpPr>
          <p:cNvPr id="153" name="Google Shape;153;p9">
            <a:extLst>
              <a:ext uri="{FF2B5EF4-FFF2-40B4-BE49-F238E27FC236}">
                <a16:creationId xmlns:a16="http://schemas.microsoft.com/office/drawing/2014/main" id="{DB7DD5EB-D810-F885-537C-CA39710183E3}"/>
              </a:ext>
            </a:extLst>
          </p:cNvPr>
          <p:cNvGrpSpPr/>
          <p:nvPr/>
        </p:nvGrpSpPr>
        <p:grpSpPr>
          <a:xfrm>
            <a:off x="385762" y="261937"/>
            <a:ext cx="6788784" cy="9667875"/>
            <a:chOff x="385762" y="261937"/>
            <a:chExt cx="6788784" cy="9667875"/>
          </a:xfrm>
        </p:grpSpPr>
        <p:sp>
          <p:nvSpPr>
            <p:cNvPr id="154" name="Google Shape;154;p9">
              <a:extLst>
                <a:ext uri="{FF2B5EF4-FFF2-40B4-BE49-F238E27FC236}">
                  <a16:creationId xmlns:a16="http://schemas.microsoft.com/office/drawing/2014/main" id="{8E45CDD7-613C-D54D-8CF2-A5AD07AD4A89}"/>
                </a:ext>
              </a:extLst>
            </p:cNvPr>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a:extLst>
                <a:ext uri="{FF2B5EF4-FFF2-40B4-BE49-F238E27FC236}">
                  <a16:creationId xmlns:a16="http://schemas.microsoft.com/office/drawing/2014/main" id="{09E79C01-475F-0986-D3A3-77EF2CE14613}"/>
                </a:ext>
              </a:extLst>
            </p:cNvPr>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graphicFrame>
        <p:nvGraphicFramePr>
          <p:cNvPr id="2" name="Google Shape;109;p15">
            <a:extLst>
              <a:ext uri="{FF2B5EF4-FFF2-40B4-BE49-F238E27FC236}">
                <a16:creationId xmlns:a16="http://schemas.microsoft.com/office/drawing/2014/main" id="{1C1BE86C-5428-538A-8217-177E898675D2}"/>
              </a:ext>
            </a:extLst>
          </p:cNvPr>
          <p:cNvGraphicFramePr/>
          <p:nvPr/>
        </p:nvGraphicFramePr>
        <p:xfrm>
          <a:off x="506116" y="5972994"/>
          <a:ext cx="6624642" cy="2409616"/>
        </p:xfrm>
        <a:graphic>
          <a:graphicData uri="http://schemas.openxmlformats.org/drawingml/2006/table">
            <a:tbl>
              <a:tblPr firstRow="1" bandRow="1">
                <a:noFill/>
              </a:tblPr>
              <a:tblGrid>
                <a:gridCol w="1918403">
                  <a:extLst>
                    <a:ext uri="{9D8B030D-6E8A-4147-A177-3AD203B41FA5}">
                      <a16:colId xmlns:a16="http://schemas.microsoft.com/office/drawing/2014/main" val="20000"/>
                    </a:ext>
                  </a:extLst>
                </a:gridCol>
                <a:gridCol w="1535484">
                  <a:extLst>
                    <a:ext uri="{9D8B030D-6E8A-4147-A177-3AD203B41FA5}">
                      <a16:colId xmlns:a16="http://schemas.microsoft.com/office/drawing/2014/main" val="20001"/>
                    </a:ext>
                  </a:extLst>
                </a:gridCol>
                <a:gridCol w="1591614">
                  <a:extLst>
                    <a:ext uri="{9D8B030D-6E8A-4147-A177-3AD203B41FA5}">
                      <a16:colId xmlns:a16="http://schemas.microsoft.com/office/drawing/2014/main" val="20002"/>
                    </a:ext>
                  </a:extLst>
                </a:gridCol>
                <a:gridCol w="1579141">
                  <a:extLst>
                    <a:ext uri="{9D8B030D-6E8A-4147-A177-3AD203B41FA5}">
                      <a16:colId xmlns:a16="http://schemas.microsoft.com/office/drawing/2014/main" val="20003"/>
                    </a:ext>
                  </a:extLst>
                </a:gridCol>
              </a:tblGrid>
              <a:tr h="219056">
                <a:tc>
                  <a:txBody>
                    <a:bodyPr/>
                    <a:lstStyle/>
                    <a:p>
                      <a:pPr marL="0" marR="4508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Condition</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Sensitivity</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Specificity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PPV</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21</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99.72%</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98.72%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18</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99.04%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96.49%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2"/>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13</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98.84%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85.71%</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3"/>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Monosomy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76%</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4"/>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5"/>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6"/>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XYY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7"/>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T9,T16,</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T22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50-99%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8"/>
                  </a:ext>
                </a:extLst>
              </a:tr>
              <a:tr h="219056">
                <a:tc>
                  <a:txBody>
                    <a:bodyPr/>
                    <a:lstStyle/>
                    <a:p>
                      <a:pPr marL="566420"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All</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Other</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9"/>
                  </a:ext>
                </a:extLst>
              </a:tr>
              <a:tr h="219056">
                <a:tc>
                  <a:txBody>
                    <a:bodyPr/>
                    <a:lstStyle/>
                    <a:p>
                      <a:pPr marL="452118"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Microdeletions/duplications</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20-99%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81640256"/>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342</TotalTime>
  <Words>1409</Words>
  <Application>Microsoft Macintosh PowerPoint</Application>
  <PresentationFormat>Custom</PresentationFormat>
  <Paragraphs>255</Paragraphs>
  <Slides>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Microsoft YaHei</vt:lpstr>
      <vt:lpstr>Noto Sans SC</vt:lpstr>
      <vt:lpstr>Arial</vt:lpstr>
      <vt:lpstr>Calibri</vt:lpstr>
      <vt:lpstr>Calibri Light</vt:lpstr>
      <vt:lpstr>Office 2013 - 2022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51</cp:revision>
  <dcterms:modified xsi:type="dcterms:W3CDTF">2025-07-30T06:59:06Z</dcterms:modified>
</cp:coreProperties>
</file>