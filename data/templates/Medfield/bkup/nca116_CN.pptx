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3" r:id="rId1"/>
  </p:sldMasterIdLst>
  <p:notesMasterIdLst>
    <p:notesMasterId r:id="rId5"/>
  </p:notesMasterIdLst>
  <p:sldIdLst>
    <p:sldId id="256" r:id="rId2"/>
    <p:sldId id="257" r:id="rId3"/>
    <p:sldId id="258" r:id="rId4"/>
  </p:sldIdLst>
  <p:sldSz cx="7556500" cy="10693400"/>
  <p:notesSz cx="7556500" cy="106934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28EBD1E-F79C-4DFF-868A-0A9D0052B014}">
  <a:tblStyle styleId="{F28EBD1E-F79C-4DFF-868A-0A9D0052B014}"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p:restoredTop sz="94648"/>
  </p:normalViewPr>
  <p:slideViewPr>
    <p:cSldViewPr snapToGrid="0">
      <p:cViewPr varScale="1">
        <p:scale>
          <a:sx n="201" d="100"/>
          <a:sy n="201" d="100"/>
        </p:scale>
        <p:origin x="4528" y="192"/>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259650" y="802000"/>
            <a:ext cx="5037900" cy="40100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55650" y="5079350"/>
            <a:ext cx="6045200" cy="4812025"/>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p1:notes"/>
          <p:cNvSpPr txBox="1">
            <a:spLocks noGrp="1"/>
          </p:cNvSpPr>
          <p:nvPr>
            <p:ph type="body" idx="1"/>
          </p:nvPr>
        </p:nvSpPr>
        <p:spPr>
          <a:xfrm>
            <a:off x="755650" y="5079350"/>
            <a:ext cx="6045200" cy="48120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3" name="Google Shape;43;p1:notes"/>
          <p:cNvSpPr>
            <a:spLocks noGrp="1" noRot="1" noChangeAspect="1"/>
          </p:cNvSpPr>
          <p:nvPr>
            <p:ph type="sldImg" idx="2"/>
          </p:nvPr>
        </p:nvSpPr>
        <p:spPr>
          <a:xfrm>
            <a:off x="2360613" y="801688"/>
            <a:ext cx="2835275"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2:notes"/>
          <p:cNvSpPr txBox="1">
            <a:spLocks noGrp="1"/>
          </p:cNvSpPr>
          <p:nvPr>
            <p:ph type="body" idx="1"/>
          </p:nvPr>
        </p:nvSpPr>
        <p:spPr>
          <a:xfrm>
            <a:off x="755650" y="5079350"/>
            <a:ext cx="6045200" cy="48120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5" name="Google Shape;125;p2:notes"/>
          <p:cNvSpPr>
            <a:spLocks noGrp="1" noRot="1" noChangeAspect="1"/>
          </p:cNvSpPr>
          <p:nvPr>
            <p:ph type="sldImg" idx="2"/>
          </p:nvPr>
        </p:nvSpPr>
        <p:spPr>
          <a:xfrm>
            <a:off x="2360613" y="801688"/>
            <a:ext cx="2835275"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3:notes"/>
          <p:cNvSpPr txBox="1">
            <a:spLocks noGrp="1"/>
          </p:cNvSpPr>
          <p:nvPr>
            <p:ph type="body" idx="1"/>
          </p:nvPr>
        </p:nvSpPr>
        <p:spPr>
          <a:xfrm>
            <a:off x="755650" y="5079350"/>
            <a:ext cx="6045200" cy="48120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7" name="Google Shape;137;p3:notes"/>
          <p:cNvSpPr>
            <a:spLocks noGrp="1" noRot="1" noChangeAspect="1"/>
          </p:cNvSpPr>
          <p:nvPr>
            <p:ph type="sldImg" idx="2"/>
          </p:nvPr>
        </p:nvSpPr>
        <p:spPr>
          <a:xfrm>
            <a:off x="2360613" y="801688"/>
            <a:ext cx="2835275"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obj">
  <p:cSld name="OBJECT">
    <p:spTree>
      <p:nvGrpSpPr>
        <p:cNvPr id="1" name="Shape 13"/>
        <p:cNvGrpSpPr/>
        <p:nvPr/>
      </p:nvGrpSpPr>
      <p:grpSpPr>
        <a:xfrm>
          <a:off x="0" y="0"/>
          <a:ext cx="0" cy="0"/>
          <a:chOff x="0" y="0"/>
          <a:chExt cx="0" cy="0"/>
        </a:xfrm>
      </p:grpSpPr>
      <p:sp>
        <p:nvSpPr>
          <p:cNvPr id="14" name="Google Shape;14;p2"/>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 name="Google Shape;15;p2"/>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 name="Google Shape;16;p2"/>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7"/>
        <p:cNvGrpSpPr/>
        <p:nvPr/>
      </p:nvGrpSpPr>
      <p:grpSpPr>
        <a:xfrm>
          <a:off x="0" y="0"/>
          <a:ext cx="0" cy="0"/>
          <a:chOff x="0" y="0"/>
          <a:chExt cx="0" cy="0"/>
        </a:xfrm>
      </p:grpSpPr>
      <p:sp>
        <p:nvSpPr>
          <p:cNvPr id="18" name="Google Shape;18;p3"/>
          <p:cNvSpPr txBox="1">
            <a:spLocks noGrp="1"/>
          </p:cNvSpPr>
          <p:nvPr>
            <p:ph type="ctrTitle"/>
          </p:nvPr>
        </p:nvSpPr>
        <p:spPr>
          <a:xfrm>
            <a:off x="567213" y="3314954"/>
            <a:ext cx="6428422" cy="224561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3"/>
          <p:cNvSpPr txBox="1">
            <a:spLocks noGrp="1"/>
          </p:cNvSpPr>
          <p:nvPr>
            <p:ph type="subTitle" idx="1"/>
          </p:nvPr>
        </p:nvSpPr>
        <p:spPr>
          <a:xfrm>
            <a:off x="1134427" y="5988304"/>
            <a:ext cx="5293995" cy="267335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3"/>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3"/>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3"/>
        <p:cNvGrpSpPr/>
        <p:nvPr/>
      </p:nvGrpSpPr>
      <p:grpSpPr>
        <a:xfrm>
          <a:off x="0" y="0"/>
          <a:ext cx="0" cy="0"/>
          <a:chOff x="0" y="0"/>
          <a:chExt cx="0" cy="0"/>
        </a:xfrm>
      </p:grpSpPr>
      <p:sp>
        <p:nvSpPr>
          <p:cNvPr id="24" name="Google Shape;24;p4"/>
          <p:cNvSpPr txBox="1">
            <a:spLocks noGrp="1"/>
          </p:cNvSpPr>
          <p:nvPr>
            <p:ph type="title"/>
          </p:nvPr>
        </p:nvSpPr>
        <p:spPr>
          <a:xfrm>
            <a:off x="378142" y="427736"/>
            <a:ext cx="6806565" cy="171094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4"/>
          <p:cNvSpPr txBox="1">
            <a:spLocks noGrp="1"/>
          </p:cNvSpPr>
          <p:nvPr>
            <p:ph type="body" idx="1"/>
          </p:nvPr>
        </p:nvSpPr>
        <p:spPr>
          <a:xfrm>
            <a:off x="378142" y="2459482"/>
            <a:ext cx="6806565" cy="7057644"/>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6" name="Google Shape;26;p4"/>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4"/>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4"/>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378142" y="427736"/>
            <a:ext cx="6806565" cy="171094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5"/>
          <p:cNvSpPr txBox="1">
            <a:spLocks noGrp="1"/>
          </p:cNvSpPr>
          <p:nvPr>
            <p:ph type="body" idx="1"/>
          </p:nvPr>
        </p:nvSpPr>
        <p:spPr>
          <a:xfrm>
            <a:off x="378142" y="2459482"/>
            <a:ext cx="3289839" cy="7057644"/>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2" name="Google Shape;32;p5"/>
          <p:cNvSpPr txBox="1">
            <a:spLocks noGrp="1"/>
          </p:cNvSpPr>
          <p:nvPr>
            <p:ph type="body" idx="2"/>
          </p:nvPr>
        </p:nvSpPr>
        <p:spPr>
          <a:xfrm>
            <a:off x="3894867" y="2459482"/>
            <a:ext cx="3289839" cy="7057644"/>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3" name="Google Shape;33;p5"/>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5"/>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5"/>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378142" y="427736"/>
            <a:ext cx="6806565" cy="171094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6"/>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6"/>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p:nvPr/>
        </p:nvSpPr>
        <p:spPr>
          <a:xfrm>
            <a:off x="381000" y="10008266"/>
            <a:ext cx="6864984" cy="0"/>
          </a:xfrm>
          <a:custGeom>
            <a:avLst/>
            <a:gdLst/>
            <a:ahLst/>
            <a:cxnLst/>
            <a:rect l="l" t="t" r="r" b="b"/>
            <a:pathLst>
              <a:path w="6864984" h="120000" extrusionOk="0">
                <a:moveTo>
                  <a:pt x="0" y="0"/>
                </a:moveTo>
                <a:lnTo>
                  <a:pt x="6864731" y="0"/>
                </a:lnTo>
              </a:path>
            </a:pathLst>
          </a:custGeom>
          <a:noFill/>
          <a:ln w="9525" cap="flat" cmpd="sng">
            <a:solidFill>
              <a:srgbClr val="083B92"/>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pic>
        <p:nvPicPr>
          <p:cNvPr id="7" name="Google Shape;7;p1"/>
          <p:cNvPicPr preferRelativeResize="0"/>
          <p:nvPr/>
        </p:nvPicPr>
        <p:blipFill rotWithShape="1">
          <a:blip r:embed="rId7">
            <a:alphaModFix/>
          </a:blip>
          <a:srcRect/>
          <a:stretch/>
        </p:blipFill>
        <p:spPr>
          <a:xfrm>
            <a:off x="2141930" y="10333136"/>
            <a:ext cx="199695" cy="178037"/>
          </a:xfrm>
          <a:prstGeom prst="rect">
            <a:avLst/>
          </a:prstGeom>
          <a:noFill/>
          <a:ln>
            <a:noFill/>
          </a:ln>
        </p:spPr>
      </p:pic>
      <p:sp>
        <p:nvSpPr>
          <p:cNvPr id="8" name="Google Shape;8;p1"/>
          <p:cNvSpPr txBox="1">
            <a:spLocks noGrp="1"/>
          </p:cNvSpPr>
          <p:nvPr>
            <p:ph type="title"/>
          </p:nvPr>
        </p:nvSpPr>
        <p:spPr>
          <a:xfrm>
            <a:off x="378142" y="427736"/>
            <a:ext cx="6806565" cy="1710944"/>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1800" b="0" i="0" u="none" strike="noStrike" cap="none">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9" name="Google Shape;9;p1"/>
          <p:cNvSpPr txBox="1">
            <a:spLocks noGrp="1"/>
          </p:cNvSpPr>
          <p:nvPr>
            <p:ph type="body" idx="1"/>
          </p:nvPr>
        </p:nvSpPr>
        <p:spPr>
          <a:xfrm>
            <a:off x="378142" y="2459482"/>
            <a:ext cx="6806565" cy="7057644"/>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1800" b="0" i="0" u="none" strike="noStrike" cap="none">
                <a:latin typeface="Calibri"/>
                <a:ea typeface="Calibri"/>
                <a:cs typeface="Calibri"/>
                <a:sym typeface="Calibri"/>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10" name="Google Shape;10;p1"/>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 name="Google Shape;12;p1"/>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sz="1800">
                <a:solidFill>
                  <a:srgbClr val="888888"/>
                </a:solidFill>
              </a:defRPr>
            </a:lvl1pPr>
            <a:lvl2pPr lvl="1" indent="0" algn="r">
              <a:spcBef>
                <a:spcPts val="0"/>
              </a:spcBef>
              <a:buNone/>
              <a:defRPr sz="1800">
                <a:solidFill>
                  <a:srgbClr val="888888"/>
                </a:solidFill>
              </a:defRPr>
            </a:lvl2pPr>
            <a:lvl3pPr lvl="2" indent="0" algn="r">
              <a:spcBef>
                <a:spcPts val="0"/>
              </a:spcBef>
              <a:buNone/>
              <a:defRPr sz="1800">
                <a:solidFill>
                  <a:srgbClr val="888888"/>
                </a:solidFill>
              </a:defRPr>
            </a:lvl3pPr>
            <a:lvl4pPr lvl="3" indent="0" algn="r">
              <a:spcBef>
                <a:spcPts val="0"/>
              </a:spcBef>
              <a:buNone/>
              <a:defRPr sz="1800">
                <a:solidFill>
                  <a:srgbClr val="888888"/>
                </a:solidFill>
              </a:defRPr>
            </a:lvl4pPr>
            <a:lvl5pPr lvl="4" indent="0" algn="r">
              <a:spcBef>
                <a:spcPts val="0"/>
              </a:spcBef>
              <a:buNone/>
              <a:defRPr sz="1800">
                <a:solidFill>
                  <a:srgbClr val="888888"/>
                </a:solidFill>
              </a:defRPr>
            </a:lvl5pPr>
            <a:lvl6pPr lvl="5" indent="0" algn="r">
              <a:spcBef>
                <a:spcPts val="0"/>
              </a:spcBef>
              <a:buNone/>
              <a:defRPr sz="1800">
                <a:solidFill>
                  <a:srgbClr val="888888"/>
                </a:solidFill>
              </a:defRPr>
            </a:lvl6pPr>
            <a:lvl7pPr lvl="6" indent="0" algn="r">
              <a:spcBef>
                <a:spcPts val="0"/>
              </a:spcBef>
              <a:buNone/>
              <a:defRPr sz="1800">
                <a:solidFill>
                  <a:srgbClr val="888888"/>
                </a:solidFill>
              </a:defRPr>
            </a:lvl7pPr>
            <a:lvl8pPr lvl="7" indent="0" algn="r">
              <a:spcBef>
                <a:spcPts val="0"/>
              </a:spcBef>
              <a:buNone/>
              <a:defRPr sz="1800">
                <a:solidFill>
                  <a:srgbClr val="888888"/>
                </a:solidFill>
              </a:defRPr>
            </a:lvl8pPr>
            <a:lvl9pPr lvl="8" indent="0" algn="r">
              <a:spcBef>
                <a:spcPts val="0"/>
              </a:spcBef>
              <a:buNone/>
              <a:defRPr sz="1800">
                <a:solidFill>
                  <a:srgbClr val="888888"/>
                </a:solidFil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44"/>
        <p:cNvGrpSpPr/>
        <p:nvPr/>
      </p:nvGrpSpPr>
      <p:grpSpPr>
        <a:xfrm>
          <a:off x="0" y="0"/>
          <a:ext cx="0" cy="0"/>
          <a:chOff x="0" y="0"/>
          <a:chExt cx="0" cy="0"/>
        </a:xfrm>
      </p:grpSpPr>
      <p:sp>
        <p:nvSpPr>
          <p:cNvPr id="45" name="Google Shape;45;p7"/>
          <p:cNvSpPr txBox="1"/>
          <p:nvPr/>
        </p:nvSpPr>
        <p:spPr>
          <a:xfrm>
            <a:off x="6047892" y="427405"/>
            <a:ext cx="1096010" cy="144891"/>
          </a:xfrm>
          <a:prstGeom prst="rect">
            <a:avLst/>
          </a:prstGeom>
          <a:noFill/>
          <a:ln>
            <a:noFill/>
          </a:ln>
        </p:spPr>
        <p:txBody>
          <a:bodyPr spcFirstLastPara="1" wrap="square" lIns="0" tIns="13950" rIns="0" bIns="0" anchor="t" anchorCtr="0">
            <a:spAutoFit/>
          </a:bodyPr>
          <a:lstStyle/>
          <a:p>
            <a:pPr marL="12700" lvl="0" indent="0" algn="l" rtl="0">
              <a:lnSpc>
                <a:spcPct val="100000"/>
              </a:lnSpc>
              <a:spcBef>
                <a:spcPts val="0"/>
              </a:spcBef>
              <a:spcAft>
                <a:spcPts val="0"/>
              </a:spcAft>
              <a:buNone/>
            </a:pPr>
            <a:r>
              <a:rPr lang="en-US" sz="850">
                <a:latin typeface="Noto Sans SC" panose="020B0200000000000000" pitchFamily="34" charset="-128"/>
                <a:ea typeface="Noto Sans SC" panose="020B0200000000000000" pitchFamily="34" charset="-128"/>
                <a:cs typeface="Calibri" panose="020F0502020204030204" pitchFamily="34" charset="0"/>
                <a:sym typeface="Microsoft YaHei"/>
              </a:rPr>
              <a:t>Version_1_20240912</a:t>
            </a:r>
            <a:endParaRPr sz="85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46" name="Google Shape;46;p7"/>
          <p:cNvSpPr txBox="1"/>
          <p:nvPr/>
        </p:nvSpPr>
        <p:spPr>
          <a:xfrm>
            <a:off x="1675892" y="741730"/>
            <a:ext cx="4568825" cy="328295"/>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r>
              <a:rPr lang="en-US" sz="1950" dirty="0" err="1">
                <a:latin typeface="Noto Sans SC" panose="020B0200000000000000" pitchFamily="34" charset="-128"/>
                <a:ea typeface="Noto Sans SC" panose="020B0200000000000000" pitchFamily="34" charset="-128"/>
                <a:cs typeface="Calibri" panose="020F0502020204030204" pitchFamily="34" charset="0"/>
                <a:sym typeface="Microsoft YaHei"/>
              </a:rPr>
              <a:t>孕唯諾非侵入性母血胎兒染色體檢測報告</a:t>
            </a:r>
            <a:endParaRPr sz="195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grpSp>
        <p:nvGrpSpPr>
          <p:cNvPr id="47" name="Google Shape;47;p7"/>
          <p:cNvGrpSpPr/>
          <p:nvPr/>
        </p:nvGrpSpPr>
        <p:grpSpPr>
          <a:xfrm>
            <a:off x="1344744" y="781507"/>
            <a:ext cx="253365" cy="253365"/>
            <a:chOff x="1344744" y="781507"/>
            <a:chExt cx="253365" cy="253365"/>
          </a:xfrm>
        </p:grpSpPr>
        <p:sp>
          <p:nvSpPr>
            <p:cNvPr id="48" name="Google Shape;48;p7"/>
            <p:cNvSpPr/>
            <p:nvPr/>
          </p:nvSpPr>
          <p:spPr>
            <a:xfrm>
              <a:off x="1344744" y="781507"/>
              <a:ext cx="253365" cy="253365"/>
            </a:xfrm>
            <a:custGeom>
              <a:avLst/>
              <a:gdLst/>
              <a:ahLst/>
              <a:cxnLst/>
              <a:rect l="l" t="t" r="r" b="b"/>
              <a:pathLst>
                <a:path w="253365" h="253365" extrusionOk="0">
                  <a:moveTo>
                    <a:pt x="252979" y="126822"/>
                  </a:moveTo>
                  <a:lnTo>
                    <a:pt x="231584" y="197253"/>
                  </a:lnTo>
                  <a:lnTo>
                    <a:pt x="174671" y="243928"/>
                  </a:lnTo>
                  <a:lnTo>
                    <a:pt x="138190" y="252992"/>
                  </a:lnTo>
                  <a:lnTo>
                    <a:pt x="101414" y="251105"/>
                  </a:lnTo>
                  <a:lnTo>
                    <a:pt x="36520" y="216382"/>
                  </a:lnTo>
                  <a:lnTo>
                    <a:pt x="1851" y="151447"/>
                  </a:lnTo>
                  <a:lnTo>
                    <a:pt x="0" y="114673"/>
                  </a:lnTo>
                  <a:lnTo>
                    <a:pt x="9101" y="78206"/>
                  </a:lnTo>
                  <a:lnTo>
                    <a:pt x="28487" y="45998"/>
                  </a:lnTo>
                  <a:lnTo>
                    <a:pt x="55827" y="21329"/>
                  </a:lnTo>
                  <a:lnTo>
                    <a:pt x="89097" y="5547"/>
                  </a:lnTo>
                  <a:lnTo>
                    <a:pt x="126271" y="0"/>
                  </a:lnTo>
                  <a:lnTo>
                    <a:pt x="175610" y="9987"/>
                  </a:lnTo>
                  <a:lnTo>
                    <a:pt x="215890" y="37174"/>
                  </a:lnTo>
                  <a:lnTo>
                    <a:pt x="243037" y="77479"/>
                  </a:lnTo>
                  <a:lnTo>
                    <a:pt x="252979" y="126822"/>
                  </a:lnTo>
                </a:path>
              </a:pathLst>
            </a:custGeom>
            <a:noFill/>
            <a:ln w="9525" cap="flat" cmpd="sng">
              <a:solidFill>
                <a:srgbClr val="2C6BA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Calibri" panose="020F0502020204030204" pitchFamily="34" charset="0"/>
              </a:endParaRPr>
            </a:p>
          </p:txBody>
        </p:sp>
        <p:pic>
          <p:nvPicPr>
            <p:cNvPr id="49" name="Google Shape;49;p7"/>
            <p:cNvPicPr preferRelativeResize="0"/>
            <p:nvPr/>
          </p:nvPicPr>
          <p:blipFill rotWithShape="1">
            <a:blip r:embed="rId3">
              <a:alphaModFix/>
            </a:blip>
            <a:srcRect/>
            <a:stretch/>
          </p:blipFill>
          <p:spPr>
            <a:xfrm>
              <a:off x="1404308" y="810266"/>
              <a:ext cx="133299" cy="180339"/>
            </a:xfrm>
            <a:prstGeom prst="rect">
              <a:avLst/>
            </a:prstGeom>
            <a:noFill/>
            <a:ln>
              <a:noFill/>
            </a:ln>
          </p:spPr>
        </p:pic>
      </p:grpSp>
      <p:graphicFrame>
        <p:nvGraphicFramePr>
          <p:cNvPr id="50" name="Google Shape;50;p7"/>
          <p:cNvGraphicFramePr/>
          <p:nvPr>
            <p:extLst>
              <p:ext uri="{D42A27DB-BD31-4B8C-83A1-F6EECF244321}">
                <p14:modId xmlns:p14="http://schemas.microsoft.com/office/powerpoint/2010/main" val="4164589894"/>
              </p:ext>
            </p:extLst>
          </p:nvPr>
        </p:nvGraphicFramePr>
        <p:xfrm>
          <a:off x="381000" y="1279067"/>
          <a:ext cx="6786250" cy="1914500"/>
        </p:xfrm>
        <a:graphic>
          <a:graphicData uri="http://schemas.openxmlformats.org/drawingml/2006/table">
            <a:tbl>
              <a:tblPr firstRow="1" bandRow="1">
                <a:noFill/>
                <a:tableStyleId>{F28EBD1E-F79C-4DFF-868A-0A9D0052B014}</a:tableStyleId>
              </a:tblPr>
              <a:tblGrid>
                <a:gridCol w="1163325">
                  <a:extLst>
                    <a:ext uri="{9D8B030D-6E8A-4147-A177-3AD203B41FA5}">
                      <a16:colId xmlns:a16="http://schemas.microsoft.com/office/drawing/2014/main" val="20000"/>
                    </a:ext>
                  </a:extLst>
                </a:gridCol>
                <a:gridCol w="1097275">
                  <a:extLst>
                    <a:ext uri="{9D8B030D-6E8A-4147-A177-3AD203B41FA5}">
                      <a16:colId xmlns:a16="http://schemas.microsoft.com/office/drawing/2014/main" val="20001"/>
                    </a:ext>
                  </a:extLst>
                </a:gridCol>
                <a:gridCol w="1164600">
                  <a:extLst>
                    <a:ext uri="{9D8B030D-6E8A-4147-A177-3AD203B41FA5}">
                      <a16:colId xmlns:a16="http://schemas.microsoft.com/office/drawing/2014/main" val="20002"/>
                    </a:ext>
                  </a:extLst>
                </a:gridCol>
                <a:gridCol w="1095375">
                  <a:extLst>
                    <a:ext uri="{9D8B030D-6E8A-4147-A177-3AD203B41FA5}">
                      <a16:colId xmlns:a16="http://schemas.microsoft.com/office/drawing/2014/main" val="20003"/>
                    </a:ext>
                  </a:extLst>
                </a:gridCol>
                <a:gridCol w="1165850">
                  <a:extLst>
                    <a:ext uri="{9D8B030D-6E8A-4147-A177-3AD203B41FA5}">
                      <a16:colId xmlns:a16="http://schemas.microsoft.com/office/drawing/2014/main" val="20004"/>
                    </a:ext>
                  </a:extLst>
                </a:gridCol>
                <a:gridCol w="1099825">
                  <a:extLst>
                    <a:ext uri="{9D8B030D-6E8A-4147-A177-3AD203B41FA5}">
                      <a16:colId xmlns:a16="http://schemas.microsoft.com/office/drawing/2014/main" val="20005"/>
                    </a:ext>
                  </a:extLst>
                </a:gridCol>
              </a:tblGrid>
              <a:tr h="480050">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姓名</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&lt;&lt;Patient Name&gt;&gt;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出⽣年</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&lt;&lt;DOB&gt;&gt;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病歷號/⾝分證號</a:t>
                      </a:r>
                      <a:r>
                        <a:rPr lang="en-US" sz="900" b="0" i="0" u="none" strike="noStrike" cap="none">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rPr>
                        <a:t>&lt;&lt;MRN&gt;&gt;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0"/>
                  </a:ext>
                </a:extLst>
              </a:tr>
              <a:tr h="479425">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採檢⽇期</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&lt;&lt;Collection Date&gt;&gt;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檢體來源</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b="0" i="0" u="none" strike="noStrike" cap="none" dirty="0" err="1">
                          <a:latin typeface="Noto Sans SC" panose="020B0200000000000000" pitchFamily="34" charset="-128"/>
                          <a:ea typeface="Noto Sans SC" panose="020B0200000000000000" pitchFamily="34" charset="-128"/>
                          <a:cs typeface="Noto Sans Kannada" panose="020B0502040504020204" pitchFamily="34" charset="0"/>
                          <a:sym typeface="Arial"/>
                        </a:rPr>
                        <a:t>血液</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報告⽇期</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&lt;&lt;Report Date&gt;&gt;</a:t>
                      </a:r>
                      <a:endParaRPr lang="en-US"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1"/>
                  </a:ext>
                </a:extLst>
              </a:tr>
              <a:tr h="480050">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檢體編號</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a:latin typeface="Noto Sans SC" panose="020B0200000000000000" pitchFamily="34" charset="-128"/>
                          <a:ea typeface="Noto Sans SC" panose="020B0200000000000000" pitchFamily="34" charset="-128"/>
                          <a:cs typeface="Arial"/>
                          <a:sym typeface="Arial"/>
                        </a:rPr>
                        <a:t>&lt;&lt;Sample Number&gt;&gt;</a:t>
                      </a:r>
                      <a:endParaRPr lang="en-US"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檔案編號</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a:latin typeface="Noto Sans SC" panose="020B0200000000000000" pitchFamily="34" charset="-128"/>
                          <a:ea typeface="Noto Sans SC" panose="020B0200000000000000" pitchFamily="34" charset="-128"/>
                          <a:cs typeface="Arial"/>
                          <a:sym typeface="Arial"/>
                        </a:rPr>
                        <a:t>&lt;&lt;Order ID&gt;&gt;</a:t>
                      </a:r>
                      <a:endParaRPr lang="en-US"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產檢醫院</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lvl="0" indent="0" algn="ctr" rtl="0">
                        <a:spcBef>
                          <a:spcPts val="0"/>
                        </a:spcBef>
                        <a:spcAft>
                          <a:spcPts val="0"/>
                        </a:spcAft>
                        <a:buClr>
                          <a:schemeClr val="dk1"/>
                        </a:buClr>
                        <a:buFont typeface="Arial"/>
                        <a:buNone/>
                      </a:pP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&lt;&lt;Hospital&gt;&gt;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2"/>
                  </a:ext>
                </a:extLst>
              </a:tr>
              <a:tr h="474975">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懷孕胎數</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u="none" strike="noStrike" cap="none" dirty="0">
                          <a:latin typeface="Noto Sans SC" panose="020B0200000000000000" pitchFamily="34" charset="-128"/>
                          <a:ea typeface="Noto Sans SC" panose="020B0200000000000000" pitchFamily="34" charset="-128"/>
                          <a:cs typeface="Arial"/>
                          <a:sym typeface="Arial"/>
                        </a:rPr>
                        <a:t>&lt;&lt;Pregnancy Type&gt;&gt;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懷孕週數</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&lt;&lt;W&gt;&gt;</a:t>
                      </a:r>
                      <a:r>
                        <a:rPr lang="en-US" sz="900" b="0" i="0" u="none" strike="noStrike" cap="none" dirty="0" err="1">
                          <a:latin typeface="Noto Sans SC" panose="020B0200000000000000" pitchFamily="34" charset="-128"/>
                          <a:ea typeface="Noto Sans SC" panose="020B0200000000000000" pitchFamily="34" charset="-128"/>
                          <a:cs typeface="Noto Sans Kannada" panose="020B0502040504020204" pitchFamily="34" charset="0"/>
                          <a:sym typeface="Arial"/>
                        </a:rPr>
                        <a:t>週</a:t>
                      </a:r>
                      <a:r>
                        <a:rPr lang="en-US"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rPr>
                        <a:t> </a:t>
                      </a: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&lt;&lt;D&gt;&gt;</a:t>
                      </a:r>
                      <a:r>
                        <a:rPr lang="en-US" sz="900" b="0" i="0" u="none" strike="noStrike" cap="none" dirty="0" err="1">
                          <a:latin typeface="Noto Sans SC" panose="020B0200000000000000" pitchFamily="34" charset="-128"/>
                          <a:ea typeface="Noto Sans SC" panose="020B0200000000000000" pitchFamily="34" charset="-128"/>
                          <a:cs typeface="Noto Sans Kannada" panose="020B0502040504020204" pitchFamily="34" charset="0"/>
                          <a:sym typeface="Arial"/>
                        </a:rPr>
                        <a:t>天</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產檢醫師</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&lt;&lt;Doctor&gt;&gt;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51" name="Google Shape;51;p7"/>
          <p:cNvSpPr txBox="1"/>
          <p:nvPr/>
        </p:nvSpPr>
        <p:spPr>
          <a:xfrm>
            <a:off x="2719043" y="3831425"/>
            <a:ext cx="454051" cy="18210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100" dirty="0" err="1">
                <a:solidFill>
                  <a:schemeClr val="tx1"/>
                </a:solidFill>
                <a:latin typeface="Noto Sans SC" panose="020B0200000000000000" pitchFamily="34" charset="-128"/>
                <a:ea typeface="Noto Sans SC" panose="020B0200000000000000" pitchFamily="34" charset="-128"/>
                <a:cs typeface="Calibri" panose="020F0502020204030204" pitchFamily="34" charset="0"/>
                <a:sym typeface="Microsoft YaHei"/>
              </a:rPr>
              <a:t>結果</a:t>
            </a:r>
            <a:endParaRPr sz="1100" dirty="0">
              <a:solidFill>
                <a:schemeClr val="tx1"/>
              </a:solidFill>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52" name="Google Shape;52;p7"/>
          <p:cNvSpPr txBox="1"/>
          <p:nvPr/>
        </p:nvSpPr>
        <p:spPr>
          <a:xfrm>
            <a:off x="669848" y="4178808"/>
            <a:ext cx="793192"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Calibri" panose="020F0502020204030204" pitchFamily="34" charset="0"/>
                <a:sym typeface="Microsoft YaHei"/>
              </a:rPr>
              <a:t>唐⽒症</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53" name="Google Shape;53;p7"/>
          <p:cNvSpPr/>
          <p:nvPr/>
        </p:nvSpPr>
        <p:spPr>
          <a:xfrm>
            <a:off x="580072" y="4103522"/>
            <a:ext cx="67310"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Calibri" panose="020F0502020204030204" pitchFamily="34" charset="0"/>
            </a:endParaRPr>
          </a:p>
        </p:txBody>
      </p:sp>
      <p:sp>
        <p:nvSpPr>
          <p:cNvPr id="55" name="Google Shape;55;p7"/>
          <p:cNvSpPr txBox="1"/>
          <p:nvPr/>
        </p:nvSpPr>
        <p:spPr>
          <a:xfrm>
            <a:off x="669848" y="4538713"/>
            <a:ext cx="928261"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Calibri" panose="020F0502020204030204" pitchFamily="34" charset="0"/>
                <a:sym typeface="Microsoft YaHei"/>
              </a:rPr>
              <a:t>愛德華⽒症</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56" name="Google Shape;56;p7"/>
          <p:cNvSpPr/>
          <p:nvPr/>
        </p:nvSpPr>
        <p:spPr>
          <a:xfrm>
            <a:off x="580072" y="4463415"/>
            <a:ext cx="67310"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Calibri" panose="020F0502020204030204" pitchFamily="34" charset="0"/>
            </a:endParaRPr>
          </a:p>
        </p:txBody>
      </p:sp>
      <p:sp>
        <p:nvSpPr>
          <p:cNvPr id="58" name="Google Shape;58;p7"/>
          <p:cNvSpPr txBox="1"/>
          <p:nvPr/>
        </p:nvSpPr>
        <p:spPr>
          <a:xfrm>
            <a:off x="669847" y="4898618"/>
            <a:ext cx="867759"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Calibri" panose="020F0502020204030204" pitchFamily="34" charset="0"/>
                <a:sym typeface="Microsoft YaHei"/>
              </a:rPr>
              <a:t>巴陶⽒症</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59" name="Google Shape;59;p7"/>
          <p:cNvSpPr/>
          <p:nvPr/>
        </p:nvSpPr>
        <p:spPr>
          <a:xfrm>
            <a:off x="580072" y="4823320"/>
            <a:ext cx="67310"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Calibri" panose="020F0502020204030204" pitchFamily="34" charset="0"/>
            </a:endParaRPr>
          </a:p>
        </p:txBody>
      </p:sp>
      <p:sp>
        <p:nvSpPr>
          <p:cNvPr id="61" name="Google Shape;61;p7"/>
          <p:cNvSpPr txBox="1"/>
          <p:nvPr/>
        </p:nvSpPr>
        <p:spPr>
          <a:xfrm>
            <a:off x="669848" y="5258511"/>
            <a:ext cx="1385975"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rPr>
              <a:t>9號染⾊體三倍體</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62" name="Google Shape;62;p7"/>
          <p:cNvSpPr/>
          <p:nvPr/>
        </p:nvSpPr>
        <p:spPr>
          <a:xfrm>
            <a:off x="580072" y="5183225"/>
            <a:ext cx="67310"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Calibri" panose="020F0502020204030204" pitchFamily="34" charset="0"/>
            </a:endParaRPr>
          </a:p>
        </p:txBody>
      </p:sp>
      <p:sp>
        <p:nvSpPr>
          <p:cNvPr id="64" name="Google Shape;64;p7"/>
          <p:cNvSpPr txBox="1"/>
          <p:nvPr/>
        </p:nvSpPr>
        <p:spPr>
          <a:xfrm>
            <a:off x="669848" y="5618416"/>
            <a:ext cx="1385975"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rPr>
              <a:t>16號染⾊體三倍體</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65" name="Google Shape;65;p7"/>
          <p:cNvSpPr/>
          <p:nvPr/>
        </p:nvSpPr>
        <p:spPr>
          <a:xfrm>
            <a:off x="580072" y="5543131"/>
            <a:ext cx="67310"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Calibri" panose="020F0502020204030204" pitchFamily="34" charset="0"/>
            </a:endParaRPr>
          </a:p>
        </p:txBody>
      </p:sp>
      <p:sp>
        <p:nvSpPr>
          <p:cNvPr id="67" name="Google Shape;67;p7"/>
          <p:cNvSpPr txBox="1"/>
          <p:nvPr/>
        </p:nvSpPr>
        <p:spPr>
          <a:xfrm>
            <a:off x="669848" y="5978321"/>
            <a:ext cx="1451381"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rPr>
              <a:t>22號染⾊體三倍體</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68" name="Google Shape;68;p7"/>
          <p:cNvSpPr/>
          <p:nvPr/>
        </p:nvSpPr>
        <p:spPr>
          <a:xfrm>
            <a:off x="580072" y="5903023"/>
            <a:ext cx="67310"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Calibri" panose="020F0502020204030204" pitchFamily="34" charset="0"/>
            </a:endParaRPr>
          </a:p>
        </p:txBody>
      </p:sp>
      <p:sp>
        <p:nvSpPr>
          <p:cNvPr id="70" name="Google Shape;70;p7"/>
          <p:cNvSpPr txBox="1"/>
          <p:nvPr/>
        </p:nvSpPr>
        <p:spPr>
          <a:xfrm>
            <a:off x="669848" y="6338227"/>
            <a:ext cx="1543432"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Calibri" panose="020F0502020204030204" pitchFamily="34" charset="0"/>
                <a:sym typeface="Microsoft YaHei"/>
              </a:rPr>
              <a:t>性染色體XO</a:t>
            </a:r>
            <a:r>
              <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rPr>
              <a:t>(</a:t>
            </a:r>
            <a:r>
              <a:rPr lang="en-US" sz="900" dirty="0" err="1">
                <a:latin typeface="Noto Sans SC" panose="020B0200000000000000" pitchFamily="34" charset="-128"/>
                <a:ea typeface="Noto Sans SC" panose="020B0200000000000000" pitchFamily="34" charset="-128"/>
                <a:cs typeface="Calibri" panose="020F0502020204030204" pitchFamily="34" charset="0"/>
                <a:sym typeface="Microsoft YaHei"/>
              </a:rPr>
              <a:t>透納氏症</a:t>
            </a:r>
            <a:r>
              <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rPr>
              <a:t>)</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71" name="Google Shape;71;p7"/>
          <p:cNvSpPr/>
          <p:nvPr/>
        </p:nvSpPr>
        <p:spPr>
          <a:xfrm>
            <a:off x="580072" y="6262928"/>
            <a:ext cx="67310" cy="304165"/>
          </a:xfrm>
          <a:custGeom>
            <a:avLst/>
            <a:gdLst/>
            <a:ahLst/>
            <a:cxnLst/>
            <a:rect l="l" t="t" r="r" b="b"/>
            <a:pathLst>
              <a:path w="67309"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Calibri" panose="020F0502020204030204" pitchFamily="34" charset="0"/>
            </a:endParaRPr>
          </a:p>
        </p:txBody>
      </p:sp>
      <p:sp>
        <p:nvSpPr>
          <p:cNvPr id="73" name="Google Shape;73;p7"/>
          <p:cNvSpPr txBox="1"/>
          <p:nvPr/>
        </p:nvSpPr>
        <p:spPr>
          <a:xfrm>
            <a:off x="669848" y="6698132"/>
            <a:ext cx="1581468"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Calibri" panose="020F0502020204030204" pitchFamily="34" charset="0"/>
                <a:sym typeface="Microsoft YaHei"/>
              </a:rPr>
              <a:t>性染色體XXX</a:t>
            </a:r>
            <a:r>
              <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rPr>
              <a:t>(</a:t>
            </a:r>
            <a:r>
              <a:rPr lang="en-US" sz="900" dirty="0" err="1">
                <a:latin typeface="Noto Sans SC" panose="020B0200000000000000" pitchFamily="34" charset="-128"/>
                <a:ea typeface="Noto Sans SC" panose="020B0200000000000000" pitchFamily="34" charset="-128"/>
                <a:cs typeface="Calibri" panose="020F0502020204030204" pitchFamily="34" charset="0"/>
                <a:sym typeface="Microsoft YaHei"/>
              </a:rPr>
              <a:t>三體X症</a:t>
            </a:r>
            <a:r>
              <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rPr>
              <a:t>)</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74" name="Google Shape;74;p7"/>
          <p:cNvSpPr/>
          <p:nvPr/>
        </p:nvSpPr>
        <p:spPr>
          <a:xfrm>
            <a:off x="580072" y="6622834"/>
            <a:ext cx="67310" cy="304165"/>
          </a:xfrm>
          <a:custGeom>
            <a:avLst/>
            <a:gdLst/>
            <a:ahLst/>
            <a:cxnLst/>
            <a:rect l="l" t="t" r="r" b="b"/>
            <a:pathLst>
              <a:path w="67309"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Calibri" panose="020F0502020204030204" pitchFamily="34" charset="0"/>
            </a:endParaRPr>
          </a:p>
        </p:txBody>
      </p:sp>
      <p:sp>
        <p:nvSpPr>
          <p:cNvPr id="76" name="Google Shape;76;p7"/>
          <p:cNvSpPr txBox="1"/>
          <p:nvPr/>
        </p:nvSpPr>
        <p:spPr>
          <a:xfrm>
            <a:off x="669848" y="7058025"/>
            <a:ext cx="1696467"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Calibri" panose="020F0502020204030204" pitchFamily="34" charset="0"/>
                <a:sym typeface="Microsoft YaHei"/>
              </a:rPr>
              <a:t>性染色體XXY</a:t>
            </a:r>
            <a:r>
              <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rPr>
              <a:t>(</a:t>
            </a:r>
            <a:r>
              <a:rPr lang="en-US" sz="900" dirty="0" err="1">
                <a:latin typeface="Noto Sans SC" panose="020B0200000000000000" pitchFamily="34" charset="-128"/>
                <a:ea typeface="Noto Sans SC" panose="020B0200000000000000" pitchFamily="34" charset="-128"/>
                <a:cs typeface="Calibri" panose="020F0502020204030204" pitchFamily="34" charset="0"/>
                <a:sym typeface="Microsoft YaHei"/>
              </a:rPr>
              <a:t>柯林菲特氏症</a:t>
            </a:r>
            <a:r>
              <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rPr>
              <a:t>)</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77" name="Google Shape;77;p7"/>
          <p:cNvSpPr/>
          <p:nvPr/>
        </p:nvSpPr>
        <p:spPr>
          <a:xfrm>
            <a:off x="580072" y="6982739"/>
            <a:ext cx="67310" cy="304165"/>
          </a:xfrm>
          <a:custGeom>
            <a:avLst/>
            <a:gdLst/>
            <a:ahLst/>
            <a:cxnLst/>
            <a:rect l="l" t="t" r="r" b="b"/>
            <a:pathLst>
              <a:path w="67309"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Calibri" panose="020F0502020204030204" pitchFamily="34" charset="0"/>
            </a:endParaRPr>
          </a:p>
        </p:txBody>
      </p:sp>
      <p:sp>
        <p:nvSpPr>
          <p:cNvPr id="79" name="Google Shape;79;p7"/>
          <p:cNvSpPr txBox="1"/>
          <p:nvPr/>
        </p:nvSpPr>
        <p:spPr>
          <a:xfrm>
            <a:off x="669848" y="7417930"/>
            <a:ext cx="1581468"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Calibri" panose="020F0502020204030204" pitchFamily="34" charset="0"/>
                <a:sym typeface="Microsoft YaHei"/>
              </a:rPr>
              <a:t>性染色體XYY</a:t>
            </a:r>
            <a:r>
              <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rPr>
              <a:t>(</a:t>
            </a:r>
            <a:r>
              <a:rPr lang="en-US" sz="900" dirty="0" err="1">
                <a:latin typeface="Noto Sans SC" panose="020B0200000000000000" pitchFamily="34" charset="-128"/>
                <a:ea typeface="Noto Sans SC" panose="020B0200000000000000" pitchFamily="34" charset="-128"/>
                <a:cs typeface="Calibri" panose="020F0502020204030204" pitchFamily="34" charset="0"/>
                <a:sym typeface="Microsoft YaHei"/>
              </a:rPr>
              <a:t>XYY綜合症</a:t>
            </a:r>
            <a:r>
              <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rPr>
              <a:t>)</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80" name="Google Shape;80;p7"/>
          <p:cNvSpPr/>
          <p:nvPr/>
        </p:nvSpPr>
        <p:spPr>
          <a:xfrm>
            <a:off x="580072" y="7342644"/>
            <a:ext cx="67310" cy="304165"/>
          </a:xfrm>
          <a:custGeom>
            <a:avLst/>
            <a:gdLst/>
            <a:ahLst/>
            <a:cxnLst/>
            <a:rect l="l" t="t" r="r" b="b"/>
            <a:pathLst>
              <a:path w="67309"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Calibri" panose="020F0502020204030204" pitchFamily="34" charset="0"/>
            </a:endParaRPr>
          </a:p>
        </p:txBody>
      </p:sp>
      <p:sp>
        <p:nvSpPr>
          <p:cNvPr id="82" name="Google Shape;82;p7"/>
          <p:cNvSpPr txBox="1"/>
          <p:nvPr/>
        </p:nvSpPr>
        <p:spPr>
          <a:xfrm>
            <a:off x="669848" y="7777835"/>
            <a:ext cx="1087200"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Calibri" panose="020F0502020204030204" pitchFamily="34" charset="0"/>
                <a:sym typeface="Microsoft YaHei"/>
              </a:rPr>
              <a:t>其他體染⾊體</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83" name="Google Shape;83;p7"/>
          <p:cNvSpPr/>
          <p:nvPr/>
        </p:nvSpPr>
        <p:spPr>
          <a:xfrm>
            <a:off x="580072" y="7702537"/>
            <a:ext cx="67310" cy="304165"/>
          </a:xfrm>
          <a:custGeom>
            <a:avLst/>
            <a:gdLst/>
            <a:ahLst/>
            <a:cxnLst/>
            <a:rect l="l" t="t" r="r" b="b"/>
            <a:pathLst>
              <a:path w="67309"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Calibri" panose="020F0502020204030204" pitchFamily="34" charset="0"/>
            </a:endParaRPr>
          </a:p>
        </p:txBody>
      </p:sp>
      <p:sp>
        <p:nvSpPr>
          <p:cNvPr id="85" name="Google Shape;85;p7"/>
          <p:cNvSpPr/>
          <p:nvPr/>
        </p:nvSpPr>
        <p:spPr>
          <a:xfrm>
            <a:off x="535787" y="4054462"/>
            <a:ext cx="3265804" cy="0"/>
          </a:xfrm>
          <a:custGeom>
            <a:avLst/>
            <a:gdLst/>
            <a:ahLst/>
            <a:cxnLst/>
            <a:rect l="l" t="t" r="r" b="b"/>
            <a:pathLst>
              <a:path w="3265804" h="120000" extrusionOk="0">
                <a:moveTo>
                  <a:pt x="0" y="0"/>
                </a:moveTo>
                <a:lnTo>
                  <a:pt x="1507236" y="0"/>
                </a:lnTo>
              </a:path>
              <a:path w="3265804" h="120000" extrusionOk="0">
                <a:moveTo>
                  <a:pt x="1511998" y="0"/>
                </a:moveTo>
                <a:lnTo>
                  <a:pt x="3146602" y="0"/>
                </a:lnTo>
              </a:path>
              <a:path w="3265804" h="120000" extrusionOk="0">
                <a:moveTo>
                  <a:pt x="3151365" y="0"/>
                </a:moveTo>
                <a:lnTo>
                  <a:pt x="3265665"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Calibri" panose="020F0502020204030204" pitchFamily="34" charset="0"/>
            </a:endParaRPr>
          </a:p>
        </p:txBody>
      </p:sp>
      <p:sp>
        <p:nvSpPr>
          <p:cNvPr id="86" name="Google Shape;86;p7"/>
          <p:cNvSpPr txBox="1"/>
          <p:nvPr/>
        </p:nvSpPr>
        <p:spPr>
          <a:xfrm>
            <a:off x="3956874" y="3831425"/>
            <a:ext cx="588483" cy="18210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100" dirty="0" err="1">
                <a:solidFill>
                  <a:schemeClr val="tx1"/>
                </a:solidFill>
                <a:latin typeface="Noto Sans SC" panose="020B0200000000000000" pitchFamily="34" charset="-128"/>
                <a:ea typeface="Noto Sans SC" panose="020B0200000000000000" pitchFamily="34" charset="-128"/>
                <a:cs typeface="Calibri" panose="020F0502020204030204" pitchFamily="34" charset="0"/>
                <a:sym typeface="Microsoft YaHei"/>
              </a:rPr>
              <a:t>染色體</a:t>
            </a:r>
            <a:endParaRPr sz="1100" dirty="0">
              <a:solidFill>
                <a:schemeClr val="tx1"/>
              </a:solidFill>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87" name="Google Shape;87;p7"/>
          <p:cNvSpPr txBox="1"/>
          <p:nvPr/>
        </p:nvSpPr>
        <p:spPr>
          <a:xfrm>
            <a:off x="5337375" y="3550325"/>
            <a:ext cx="2129174" cy="185307"/>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100" dirty="0" err="1">
                <a:solidFill>
                  <a:schemeClr val="tx1"/>
                </a:solidFill>
                <a:latin typeface="Noto Sans SC" panose="020B0200000000000000" pitchFamily="34" charset="-128"/>
                <a:ea typeface="Noto Sans SC" panose="020B0200000000000000" pitchFamily="34" charset="-128"/>
                <a:cs typeface="Calibri" panose="020F0502020204030204" pitchFamily="34" charset="0"/>
                <a:sym typeface="Microsoft YaHei"/>
              </a:rPr>
              <a:t>胎兒染⾊體濃度</a:t>
            </a:r>
            <a:r>
              <a:rPr lang="en-US" sz="1100" dirty="0">
                <a:solidFill>
                  <a:schemeClr val="tx1"/>
                </a:solidFill>
                <a:latin typeface="Noto Sans SC" panose="020B0200000000000000" pitchFamily="34" charset="-128"/>
                <a:ea typeface="Noto Sans SC" panose="020B0200000000000000" pitchFamily="34" charset="-128"/>
                <a:cs typeface="Calibri" panose="020F0502020204030204" pitchFamily="34" charset="0"/>
                <a:sym typeface="Microsoft YaHei"/>
              </a:rPr>
              <a:t> &lt;&lt;FF_YFF&gt;&gt;%</a:t>
            </a:r>
            <a:endParaRPr sz="1100" dirty="0">
              <a:solidFill>
                <a:schemeClr val="tx1"/>
              </a:solidFill>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88" name="Google Shape;88;p7"/>
          <p:cNvSpPr txBox="1"/>
          <p:nvPr/>
        </p:nvSpPr>
        <p:spPr>
          <a:xfrm>
            <a:off x="4059351" y="4178808"/>
            <a:ext cx="1155882"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rPr>
              <a:t>1p36</a:t>
            </a:r>
            <a:r>
              <a:rPr lang="en-US" sz="900" dirty="0">
                <a:latin typeface="Noto Sans SC" panose="020B0200000000000000" pitchFamily="34" charset="-128"/>
                <a:ea typeface="Noto Sans SC" panose="020B0200000000000000" pitchFamily="34" charset="-128"/>
                <a:cs typeface="Calibri" panose="020F0502020204030204" pitchFamily="34" charset="0"/>
                <a:sym typeface="Times New Roman"/>
              </a:rPr>
              <a:t> </a:t>
            </a:r>
            <a:r>
              <a:rPr lang="en-US" sz="900" dirty="0" err="1">
                <a:latin typeface="Noto Sans SC" panose="020B0200000000000000" pitchFamily="34" charset="-128"/>
                <a:ea typeface="Noto Sans SC" panose="020B0200000000000000" pitchFamily="34" charset="-128"/>
                <a:cs typeface="Calibri" panose="020F0502020204030204" pitchFamily="34" charset="0"/>
                <a:sym typeface="Microsoft YaHei"/>
              </a:rPr>
              <a:t>缺失症候群</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89" name="Google Shape;89;p7"/>
          <p:cNvSpPr/>
          <p:nvPr/>
        </p:nvSpPr>
        <p:spPr>
          <a:xfrm>
            <a:off x="3969575" y="4103522"/>
            <a:ext cx="67310" cy="304165"/>
          </a:xfrm>
          <a:custGeom>
            <a:avLst/>
            <a:gdLst/>
            <a:ahLst/>
            <a:cxnLst/>
            <a:rect l="l" t="t" r="r" b="b"/>
            <a:pathLst>
              <a:path w="67310"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Calibri" panose="020F0502020204030204" pitchFamily="34" charset="0"/>
            </a:endParaRPr>
          </a:p>
        </p:txBody>
      </p:sp>
      <p:sp>
        <p:nvSpPr>
          <p:cNvPr id="91" name="Google Shape;91;p7"/>
          <p:cNvSpPr txBox="1"/>
          <p:nvPr/>
        </p:nvSpPr>
        <p:spPr>
          <a:xfrm>
            <a:off x="4059351" y="4538713"/>
            <a:ext cx="1278024"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rPr>
              <a:t>2q33.1缺失症候群</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92" name="Google Shape;92;p7"/>
          <p:cNvSpPr/>
          <p:nvPr/>
        </p:nvSpPr>
        <p:spPr>
          <a:xfrm>
            <a:off x="3969575" y="4463415"/>
            <a:ext cx="67310" cy="304165"/>
          </a:xfrm>
          <a:custGeom>
            <a:avLst/>
            <a:gdLst/>
            <a:ahLst/>
            <a:cxnLst/>
            <a:rect l="l" t="t" r="r" b="b"/>
            <a:pathLst>
              <a:path w="67310"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Calibri" panose="020F0502020204030204" pitchFamily="34" charset="0"/>
            </a:endParaRPr>
          </a:p>
        </p:txBody>
      </p:sp>
      <p:sp>
        <p:nvSpPr>
          <p:cNvPr id="94" name="Google Shape;94;p7"/>
          <p:cNvSpPr txBox="1"/>
          <p:nvPr/>
        </p:nvSpPr>
        <p:spPr>
          <a:xfrm>
            <a:off x="4059350" y="4898618"/>
            <a:ext cx="1626337"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Calibri" panose="020F0502020204030204" pitchFamily="34" charset="0"/>
                <a:sym typeface="Microsoft YaHei"/>
              </a:rPr>
              <a:t>沃夫.賀許宏⽒症候群</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95" name="Google Shape;95;p7"/>
          <p:cNvSpPr/>
          <p:nvPr/>
        </p:nvSpPr>
        <p:spPr>
          <a:xfrm>
            <a:off x="3969575" y="4823320"/>
            <a:ext cx="67310" cy="304165"/>
          </a:xfrm>
          <a:custGeom>
            <a:avLst/>
            <a:gdLst/>
            <a:ahLst/>
            <a:cxnLst/>
            <a:rect l="l" t="t" r="r" b="b"/>
            <a:pathLst>
              <a:path w="67310"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Calibri" panose="020F0502020204030204" pitchFamily="34" charset="0"/>
            </a:endParaRPr>
          </a:p>
        </p:txBody>
      </p:sp>
      <p:sp>
        <p:nvSpPr>
          <p:cNvPr id="97" name="Google Shape;97;p7"/>
          <p:cNvSpPr txBox="1"/>
          <p:nvPr/>
        </p:nvSpPr>
        <p:spPr>
          <a:xfrm>
            <a:off x="4059351" y="5258511"/>
            <a:ext cx="1048677"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Calibri" panose="020F0502020204030204" pitchFamily="34" charset="0"/>
                <a:sym typeface="Microsoft YaHei"/>
              </a:rPr>
              <a:t>猫哭症候群</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98" name="Google Shape;98;p7"/>
          <p:cNvSpPr/>
          <p:nvPr/>
        </p:nvSpPr>
        <p:spPr>
          <a:xfrm>
            <a:off x="3969575" y="5183225"/>
            <a:ext cx="67310" cy="304165"/>
          </a:xfrm>
          <a:custGeom>
            <a:avLst/>
            <a:gdLst/>
            <a:ahLst/>
            <a:cxnLst/>
            <a:rect l="l" t="t" r="r" b="b"/>
            <a:pathLst>
              <a:path w="67310"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Calibri" panose="020F0502020204030204" pitchFamily="34" charset="0"/>
            </a:endParaRPr>
          </a:p>
        </p:txBody>
      </p:sp>
      <p:sp>
        <p:nvSpPr>
          <p:cNvPr id="100" name="Google Shape;100;p7"/>
          <p:cNvSpPr txBox="1"/>
          <p:nvPr/>
        </p:nvSpPr>
        <p:spPr>
          <a:xfrm>
            <a:off x="4059350" y="5618416"/>
            <a:ext cx="1155881"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Calibri" panose="020F0502020204030204" pitchFamily="34" charset="0"/>
                <a:sym typeface="Microsoft YaHei"/>
              </a:rPr>
              <a:t>威廉⽒症候群</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101" name="Google Shape;101;p7"/>
          <p:cNvSpPr/>
          <p:nvPr/>
        </p:nvSpPr>
        <p:spPr>
          <a:xfrm>
            <a:off x="3969575" y="5543131"/>
            <a:ext cx="67310" cy="304165"/>
          </a:xfrm>
          <a:custGeom>
            <a:avLst/>
            <a:gdLst/>
            <a:ahLst/>
            <a:cxnLst/>
            <a:rect l="l" t="t" r="r" b="b"/>
            <a:pathLst>
              <a:path w="67310"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Calibri" panose="020F0502020204030204" pitchFamily="34" charset="0"/>
            </a:endParaRPr>
          </a:p>
        </p:txBody>
      </p:sp>
      <p:sp>
        <p:nvSpPr>
          <p:cNvPr id="103" name="Google Shape;103;p7"/>
          <p:cNvSpPr txBox="1"/>
          <p:nvPr/>
        </p:nvSpPr>
        <p:spPr>
          <a:xfrm>
            <a:off x="4059351" y="5978321"/>
            <a:ext cx="1206332"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Calibri" panose="020F0502020204030204" pitchFamily="34" charset="0"/>
                <a:sym typeface="Microsoft YaHei"/>
              </a:rPr>
              <a:t>雅各森症候群</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104" name="Google Shape;104;p7"/>
          <p:cNvSpPr/>
          <p:nvPr/>
        </p:nvSpPr>
        <p:spPr>
          <a:xfrm>
            <a:off x="3969575" y="5903023"/>
            <a:ext cx="67310" cy="304165"/>
          </a:xfrm>
          <a:custGeom>
            <a:avLst/>
            <a:gdLst/>
            <a:ahLst/>
            <a:cxnLst/>
            <a:rect l="l" t="t" r="r" b="b"/>
            <a:pathLst>
              <a:path w="67310"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Calibri" panose="020F0502020204030204" pitchFamily="34" charset="0"/>
            </a:endParaRPr>
          </a:p>
        </p:txBody>
      </p:sp>
      <p:sp>
        <p:nvSpPr>
          <p:cNvPr id="106" name="Google Shape;106;p7"/>
          <p:cNvSpPr txBox="1"/>
          <p:nvPr/>
        </p:nvSpPr>
        <p:spPr>
          <a:xfrm>
            <a:off x="4059351" y="6338227"/>
            <a:ext cx="1975962"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rPr>
              <a:t>⼩</a:t>
            </a:r>
            <a:r>
              <a:rPr lang="en-US" sz="900" dirty="0" err="1">
                <a:latin typeface="Noto Sans SC" panose="020B0200000000000000" pitchFamily="34" charset="-128"/>
                <a:ea typeface="Noto Sans SC" panose="020B0200000000000000" pitchFamily="34" charset="-128"/>
                <a:cs typeface="Calibri" panose="020F0502020204030204" pitchFamily="34" charset="0"/>
                <a:sym typeface="Microsoft YaHei"/>
              </a:rPr>
              <a:t>胖威⼒症候群</a:t>
            </a:r>
            <a:r>
              <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rPr>
              <a:t>/</a:t>
            </a:r>
            <a:r>
              <a:rPr lang="en-US" sz="900" dirty="0" err="1">
                <a:latin typeface="Noto Sans SC" panose="020B0200000000000000" pitchFamily="34" charset="-128"/>
                <a:ea typeface="Noto Sans SC" panose="020B0200000000000000" pitchFamily="34" charset="-128"/>
                <a:cs typeface="Calibri" panose="020F0502020204030204" pitchFamily="34" charset="0"/>
                <a:sym typeface="Microsoft YaHei"/>
              </a:rPr>
              <a:t>天使</a:t>
            </a:r>
            <a:r>
              <a:rPr lang="en-US" sz="900" dirty="0">
                <a:latin typeface="Noto Sans SC" panose="020B0200000000000000" pitchFamily="34" charset="-128"/>
                <a:ea typeface="Noto Sans SC" panose="020B0200000000000000" pitchFamily="34" charset="-128"/>
                <a:cs typeface="Calibri" panose="020F0502020204030204" pitchFamily="34" charset="0"/>
                <a:sym typeface="Times New Roman"/>
              </a:rPr>
              <a:t> </a:t>
            </a:r>
            <a:r>
              <a:rPr lang="en-US" sz="900" dirty="0" err="1">
                <a:latin typeface="Noto Sans SC" panose="020B0200000000000000" pitchFamily="34" charset="-128"/>
                <a:ea typeface="Noto Sans SC" panose="020B0200000000000000" pitchFamily="34" charset="-128"/>
                <a:cs typeface="Calibri" panose="020F0502020204030204" pitchFamily="34" charset="0"/>
                <a:sym typeface="Microsoft YaHei"/>
              </a:rPr>
              <a:t>症候群</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107" name="Google Shape;107;p7"/>
          <p:cNvSpPr/>
          <p:nvPr/>
        </p:nvSpPr>
        <p:spPr>
          <a:xfrm>
            <a:off x="3969575" y="6262928"/>
            <a:ext cx="67310" cy="304165"/>
          </a:xfrm>
          <a:custGeom>
            <a:avLst/>
            <a:gdLst/>
            <a:ahLst/>
            <a:cxnLst/>
            <a:rect l="l" t="t" r="r" b="b"/>
            <a:pathLst>
              <a:path w="67310"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Calibri" panose="020F0502020204030204" pitchFamily="34" charset="0"/>
            </a:endParaRPr>
          </a:p>
        </p:txBody>
      </p:sp>
      <p:sp>
        <p:nvSpPr>
          <p:cNvPr id="109" name="Google Shape;109;p7"/>
          <p:cNvSpPr txBox="1"/>
          <p:nvPr/>
        </p:nvSpPr>
        <p:spPr>
          <a:xfrm>
            <a:off x="4059351" y="6698132"/>
            <a:ext cx="1155880"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Calibri" panose="020F0502020204030204" pitchFamily="34" charset="0"/>
                <a:sym typeface="Microsoft YaHei"/>
              </a:rPr>
              <a:t>迪喬治症候群</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110" name="Google Shape;110;p7"/>
          <p:cNvSpPr/>
          <p:nvPr/>
        </p:nvSpPr>
        <p:spPr>
          <a:xfrm>
            <a:off x="3969575" y="6622834"/>
            <a:ext cx="67310" cy="304165"/>
          </a:xfrm>
          <a:custGeom>
            <a:avLst/>
            <a:gdLst/>
            <a:ahLst/>
            <a:cxnLst/>
            <a:rect l="l" t="t" r="r" b="b"/>
            <a:pathLst>
              <a:path w="67310"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Calibri" panose="020F0502020204030204" pitchFamily="34" charset="0"/>
            </a:endParaRPr>
          </a:p>
        </p:txBody>
      </p:sp>
      <p:sp>
        <p:nvSpPr>
          <p:cNvPr id="112" name="Google Shape;112;p7"/>
          <p:cNvSpPr txBox="1"/>
          <p:nvPr/>
        </p:nvSpPr>
        <p:spPr>
          <a:xfrm>
            <a:off x="4059351" y="7058025"/>
            <a:ext cx="2039316"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rPr>
              <a:t>其他108項微片段缺失/</a:t>
            </a:r>
            <a:r>
              <a:rPr lang="en-US" sz="900" dirty="0" err="1">
                <a:latin typeface="Noto Sans SC" panose="020B0200000000000000" pitchFamily="34" charset="-128"/>
                <a:ea typeface="Noto Sans SC" panose="020B0200000000000000" pitchFamily="34" charset="-128"/>
                <a:cs typeface="Calibri" panose="020F0502020204030204" pitchFamily="34" charset="0"/>
                <a:sym typeface="Microsoft YaHei"/>
              </a:rPr>
              <a:t>重複疾病</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113" name="Google Shape;113;p7"/>
          <p:cNvSpPr/>
          <p:nvPr/>
        </p:nvSpPr>
        <p:spPr>
          <a:xfrm>
            <a:off x="3969575" y="6982739"/>
            <a:ext cx="67310" cy="304165"/>
          </a:xfrm>
          <a:custGeom>
            <a:avLst/>
            <a:gdLst/>
            <a:ahLst/>
            <a:cxnLst/>
            <a:rect l="l" t="t" r="r" b="b"/>
            <a:pathLst>
              <a:path w="67310"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Calibri" panose="020F0502020204030204" pitchFamily="34" charset="0"/>
            </a:endParaRPr>
          </a:p>
        </p:txBody>
      </p:sp>
      <p:sp>
        <p:nvSpPr>
          <p:cNvPr id="115" name="Google Shape;115;p7"/>
          <p:cNvSpPr/>
          <p:nvPr/>
        </p:nvSpPr>
        <p:spPr>
          <a:xfrm>
            <a:off x="3806215" y="4054462"/>
            <a:ext cx="3265804" cy="0"/>
          </a:xfrm>
          <a:custGeom>
            <a:avLst/>
            <a:gdLst/>
            <a:ahLst/>
            <a:cxnLst/>
            <a:rect l="l" t="t" r="r" b="b"/>
            <a:pathLst>
              <a:path w="3265804" h="120000" extrusionOk="0">
                <a:moveTo>
                  <a:pt x="0" y="0"/>
                </a:moveTo>
                <a:lnTo>
                  <a:pt x="114300" y="0"/>
                </a:lnTo>
              </a:path>
              <a:path w="3265804" h="120000" extrusionOk="0">
                <a:moveTo>
                  <a:pt x="119062" y="0"/>
                </a:moveTo>
                <a:lnTo>
                  <a:pt x="1796364" y="0"/>
                </a:lnTo>
              </a:path>
              <a:path w="3265804" h="120000" extrusionOk="0">
                <a:moveTo>
                  <a:pt x="1801126" y="0"/>
                </a:moveTo>
                <a:lnTo>
                  <a:pt x="3265678"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Calibri" panose="020F0502020204030204" pitchFamily="34" charset="0"/>
            </a:endParaRPr>
          </a:p>
        </p:txBody>
      </p:sp>
      <p:sp>
        <p:nvSpPr>
          <p:cNvPr id="116" name="Google Shape;116;p7"/>
          <p:cNvSpPr/>
          <p:nvPr/>
        </p:nvSpPr>
        <p:spPr>
          <a:xfrm>
            <a:off x="533400" y="8136204"/>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Calibri" panose="020F0502020204030204" pitchFamily="34" charset="0"/>
            </a:endParaRPr>
          </a:p>
        </p:txBody>
      </p:sp>
      <p:sp>
        <p:nvSpPr>
          <p:cNvPr id="117" name="Google Shape;117;p7"/>
          <p:cNvSpPr txBox="1"/>
          <p:nvPr/>
        </p:nvSpPr>
        <p:spPr>
          <a:xfrm>
            <a:off x="568325" y="8209978"/>
            <a:ext cx="4830445" cy="296871"/>
          </a:xfrm>
          <a:prstGeom prst="rect">
            <a:avLst/>
          </a:prstGeom>
          <a:noFill/>
          <a:ln>
            <a:noFill/>
          </a:ln>
        </p:spPr>
        <p:txBody>
          <a:bodyPr spcFirstLastPara="1" wrap="square" lIns="0" tIns="40000" rIns="0" bIns="0" anchor="t" anchorCtr="0">
            <a:spAutoFit/>
          </a:bodyPr>
          <a:lstStyle/>
          <a:p>
            <a:pPr marL="87630" lvl="0" indent="-74930" algn="l" rtl="0">
              <a:lnSpc>
                <a:spcPct val="100000"/>
              </a:lnSpc>
              <a:spcBef>
                <a:spcPts val="0"/>
              </a:spcBef>
              <a:spcAft>
                <a:spcPts val="0"/>
              </a:spcAft>
              <a:buClr>
                <a:srgbClr val="FF1317"/>
              </a:buClr>
              <a:buSzPts val="750"/>
              <a:buFont typeface="Microsoft YaHei"/>
              <a:buChar char="*"/>
            </a:pPr>
            <a:r>
              <a:rPr lang="en-US" sz="750">
                <a:solidFill>
                  <a:srgbClr val="FF1317"/>
                </a:solidFill>
                <a:latin typeface="Noto Sans SC" panose="020B0200000000000000" pitchFamily="34" charset="-128"/>
                <a:ea typeface="Noto Sans SC" panose="020B0200000000000000" pitchFamily="34" charset="-128"/>
                <a:cs typeface="Calibri" panose="020F0502020204030204" pitchFamily="34" charset="0"/>
                <a:sym typeface="Microsoft YaHei"/>
              </a:rPr>
              <a:t>NIPT僅是篩檢，並非最終診斷，報告結果僅供醫療人員參考，其臨床意義及建議需由臨床醫師做綜合評估。</a:t>
            </a:r>
            <a:endParaRPr sz="750">
              <a:latin typeface="Noto Sans SC" panose="020B0200000000000000" pitchFamily="34" charset="-128"/>
              <a:ea typeface="Noto Sans SC" panose="020B0200000000000000" pitchFamily="34" charset="-128"/>
              <a:cs typeface="Calibri" panose="020F0502020204030204" pitchFamily="34" charset="0"/>
              <a:sym typeface="Microsoft YaHei"/>
            </a:endParaRPr>
          </a:p>
          <a:p>
            <a:pPr marL="87630" lvl="0" indent="-74930" algn="l" rtl="0">
              <a:lnSpc>
                <a:spcPct val="100000"/>
              </a:lnSpc>
              <a:spcBef>
                <a:spcPts val="225"/>
              </a:spcBef>
              <a:spcAft>
                <a:spcPts val="0"/>
              </a:spcAft>
              <a:buClr>
                <a:srgbClr val="FF1317"/>
              </a:buClr>
              <a:buSzPts val="750"/>
              <a:buFont typeface="Microsoft YaHei"/>
              <a:buChar char="*"/>
            </a:pPr>
            <a:r>
              <a:rPr lang="en-US" sz="750">
                <a:solidFill>
                  <a:srgbClr val="FF1317"/>
                </a:solidFill>
                <a:latin typeface="Noto Sans SC" panose="020B0200000000000000" pitchFamily="34" charset="-128"/>
                <a:ea typeface="Noto Sans SC" panose="020B0200000000000000" pitchFamily="34" charset="-128"/>
                <a:cs typeface="Calibri" panose="020F0502020204030204" pitchFamily="34" charset="0"/>
                <a:sym typeface="Microsoft YaHei"/>
              </a:rPr>
              <a:t>篩檢後，建議搭配高層次超音波檢查，才能確認胎兒是否具有構造異常。</a:t>
            </a:r>
            <a:endParaRPr sz="75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118" name="Google Shape;118;p7"/>
          <p:cNvSpPr/>
          <p:nvPr/>
        </p:nvSpPr>
        <p:spPr>
          <a:xfrm>
            <a:off x="533400" y="8619655"/>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Calibri" panose="020F0502020204030204" pitchFamily="34" charset="0"/>
            </a:endParaRPr>
          </a:p>
        </p:txBody>
      </p:sp>
      <p:sp>
        <p:nvSpPr>
          <p:cNvPr id="119" name="Google Shape;119;p7"/>
          <p:cNvSpPr/>
          <p:nvPr/>
        </p:nvSpPr>
        <p:spPr>
          <a:xfrm>
            <a:off x="5439054" y="9674606"/>
            <a:ext cx="1090295" cy="0"/>
          </a:xfrm>
          <a:custGeom>
            <a:avLst/>
            <a:gdLst/>
            <a:ahLst/>
            <a:cxnLst/>
            <a:rect l="l" t="t" r="r" b="b"/>
            <a:pathLst>
              <a:path w="1090295" h="120000" extrusionOk="0">
                <a:moveTo>
                  <a:pt x="0" y="0"/>
                </a:moveTo>
                <a:lnTo>
                  <a:pt x="1090155"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Calibri" panose="020F0502020204030204" pitchFamily="34" charset="0"/>
            </a:endParaRPr>
          </a:p>
        </p:txBody>
      </p:sp>
      <p:sp>
        <p:nvSpPr>
          <p:cNvPr id="120" name="Google Shape;120;p7"/>
          <p:cNvSpPr txBox="1"/>
          <p:nvPr/>
        </p:nvSpPr>
        <p:spPr>
          <a:xfrm>
            <a:off x="5685688" y="9677489"/>
            <a:ext cx="5969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a:latin typeface="Noto Sans SC" panose="020B0200000000000000" pitchFamily="34" charset="-128"/>
                <a:ea typeface="Noto Sans SC" panose="020B0200000000000000" pitchFamily="34" charset="-128"/>
                <a:cs typeface="Calibri" panose="020F0502020204030204" pitchFamily="34" charset="0"/>
                <a:sym typeface="Microsoft YaHei"/>
              </a:rPr>
              <a:t>報告簽署人</a:t>
            </a:r>
            <a:endParaRPr sz="90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121" name="Google Shape;121;p7"/>
          <p:cNvSpPr/>
          <p:nvPr/>
        </p:nvSpPr>
        <p:spPr>
          <a:xfrm>
            <a:off x="385762" y="3399332"/>
            <a:ext cx="6788784" cy="6562725"/>
          </a:xfrm>
          <a:custGeom>
            <a:avLst/>
            <a:gdLst/>
            <a:ahLst/>
            <a:cxnLst/>
            <a:rect l="l" t="t" r="r" b="b"/>
            <a:pathLst>
              <a:path w="6788784" h="6562725" extrusionOk="0">
                <a:moveTo>
                  <a:pt x="6762026" y="26504"/>
                </a:moveTo>
                <a:lnTo>
                  <a:pt x="6724312" y="3905"/>
                </a:lnTo>
                <a:lnTo>
                  <a:pt x="6698043" y="0"/>
                </a:lnTo>
                <a:lnTo>
                  <a:pt x="90487" y="0"/>
                </a:lnTo>
                <a:lnTo>
                  <a:pt x="47832" y="10695"/>
                </a:lnTo>
                <a:lnTo>
                  <a:pt x="33083" y="20547"/>
                </a:lnTo>
                <a:lnTo>
                  <a:pt x="26504" y="26504"/>
                </a:lnTo>
              </a:path>
              <a:path w="6788784" h="6562725" extrusionOk="0">
                <a:moveTo>
                  <a:pt x="26504" y="6535686"/>
                </a:moveTo>
                <a:lnTo>
                  <a:pt x="64218" y="6558296"/>
                </a:lnTo>
                <a:lnTo>
                  <a:pt x="90487" y="6562191"/>
                </a:lnTo>
                <a:lnTo>
                  <a:pt x="6693281" y="6562191"/>
                </a:lnTo>
                <a:lnTo>
                  <a:pt x="6732676" y="6555308"/>
                </a:lnTo>
                <a:lnTo>
                  <a:pt x="6755447" y="6541651"/>
                </a:lnTo>
                <a:lnTo>
                  <a:pt x="6762026" y="6535686"/>
                </a:lnTo>
              </a:path>
              <a:path w="6788784" h="6562725" extrusionOk="0">
                <a:moveTo>
                  <a:pt x="26504" y="26504"/>
                </a:moveTo>
                <a:lnTo>
                  <a:pt x="3895" y="64225"/>
                </a:lnTo>
                <a:lnTo>
                  <a:pt x="0" y="90487"/>
                </a:lnTo>
                <a:lnTo>
                  <a:pt x="0" y="6466941"/>
                </a:lnTo>
                <a:lnTo>
                  <a:pt x="6883" y="6506336"/>
                </a:lnTo>
                <a:lnTo>
                  <a:pt x="20540" y="6529109"/>
                </a:lnTo>
                <a:lnTo>
                  <a:pt x="26504" y="6535686"/>
                </a:lnTo>
              </a:path>
              <a:path w="6788784" h="6562725" extrusionOk="0">
                <a:moveTo>
                  <a:pt x="6762026" y="6535686"/>
                </a:moveTo>
                <a:lnTo>
                  <a:pt x="6784635" y="6497973"/>
                </a:lnTo>
                <a:lnTo>
                  <a:pt x="6788531" y="6471704"/>
                </a:lnTo>
                <a:lnTo>
                  <a:pt x="6788531" y="95250"/>
                </a:lnTo>
                <a:lnTo>
                  <a:pt x="6781647" y="55867"/>
                </a:lnTo>
                <a:lnTo>
                  <a:pt x="6767990" y="33089"/>
                </a:lnTo>
                <a:lnTo>
                  <a:pt x="6762026" y="26504"/>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Calibri" panose="020F0502020204030204" pitchFamily="34" charset="0"/>
            </a:endParaRPr>
          </a:p>
        </p:txBody>
      </p:sp>
      <p:sp>
        <p:nvSpPr>
          <p:cNvPr id="122" name="Google Shape;122;p7"/>
          <p:cNvSpPr txBox="1"/>
          <p:nvPr/>
        </p:nvSpPr>
        <p:spPr>
          <a:xfrm>
            <a:off x="520700" y="3503225"/>
            <a:ext cx="1860900" cy="514223"/>
          </a:xfrm>
          <a:prstGeom prst="rect">
            <a:avLst/>
          </a:prstGeom>
          <a:noFill/>
          <a:ln>
            <a:noFill/>
          </a:ln>
        </p:spPr>
        <p:txBody>
          <a:bodyPr spcFirstLastPara="1" wrap="square" lIns="0" tIns="13950" rIns="0" bIns="0" anchor="t" anchorCtr="0">
            <a:spAutoFit/>
          </a:bodyPr>
          <a:lstStyle/>
          <a:p>
            <a:pPr marL="12700" lvl="0"/>
            <a:r>
              <a:rPr lang="en-US" sz="1100" dirty="0">
                <a:solidFill>
                  <a:schemeClr val="tx1"/>
                </a:solidFill>
                <a:latin typeface="Noto Sans SC" panose="020B0200000000000000" pitchFamily="34" charset="-128"/>
                <a:ea typeface="Noto Sans SC" panose="020B0200000000000000" pitchFamily="34" charset="-128"/>
                <a:cs typeface="Calibri" panose="020F0502020204030204" pitchFamily="34" charset="0"/>
                <a:sym typeface="Microsoft YaHei"/>
              </a:rPr>
              <a:t>&lt;&lt;Result_MDResult&gt;&gt;</a:t>
            </a:r>
          </a:p>
          <a:p>
            <a:pPr marL="59055" lvl="0" indent="0" algn="l" rtl="0">
              <a:lnSpc>
                <a:spcPct val="100000"/>
              </a:lnSpc>
              <a:spcBef>
                <a:spcPts val="1195"/>
              </a:spcBef>
              <a:spcAft>
                <a:spcPts val="0"/>
              </a:spcAft>
              <a:buNone/>
            </a:pPr>
            <a:r>
              <a:rPr lang="en-US" sz="1100" dirty="0" err="1">
                <a:solidFill>
                  <a:schemeClr val="tx1"/>
                </a:solidFill>
                <a:latin typeface="Noto Sans SC" panose="020B0200000000000000" pitchFamily="34" charset="-128"/>
                <a:ea typeface="Noto Sans SC" panose="020B0200000000000000" pitchFamily="34" charset="-128"/>
                <a:cs typeface="Calibri" panose="020F0502020204030204" pitchFamily="34" charset="0"/>
                <a:sym typeface="Microsoft YaHei"/>
              </a:rPr>
              <a:t>染色體</a:t>
            </a:r>
            <a:endParaRPr sz="1100" dirty="0">
              <a:solidFill>
                <a:schemeClr val="tx1"/>
              </a:solidFill>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2" name="Google Shape;51;p7">
            <a:extLst>
              <a:ext uri="{FF2B5EF4-FFF2-40B4-BE49-F238E27FC236}">
                <a16:creationId xmlns:a16="http://schemas.microsoft.com/office/drawing/2014/main" id="{D541E7FC-9FA5-2A20-D65C-FB95B5C847F7}"/>
              </a:ext>
            </a:extLst>
          </p:cNvPr>
          <p:cNvSpPr txBox="1"/>
          <p:nvPr/>
        </p:nvSpPr>
        <p:spPr>
          <a:xfrm>
            <a:off x="6098666" y="3832399"/>
            <a:ext cx="518033" cy="18210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100" dirty="0" err="1">
                <a:solidFill>
                  <a:schemeClr val="tx1"/>
                </a:solidFill>
                <a:latin typeface="Noto Sans SC" panose="020B0200000000000000" pitchFamily="34" charset="-128"/>
                <a:ea typeface="Noto Sans SC" panose="020B0200000000000000" pitchFamily="34" charset="-128"/>
                <a:cs typeface="Calibri" panose="020F0502020204030204" pitchFamily="34" charset="0"/>
                <a:sym typeface="Microsoft YaHei"/>
              </a:rPr>
              <a:t>結果</a:t>
            </a:r>
            <a:endParaRPr sz="1100" dirty="0">
              <a:solidFill>
                <a:schemeClr val="tx1"/>
              </a:solidFill>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3" name="Google Shape;54;p7">
            <a:extLst>
              <a:ext uri="{FF2B5EF4-FFF2-40B4-BE49-F238E27FC236}">
                <a16:creationId xmlns:a16="http://schemas.microsoft.com/office/drawing/2014/main" id="{41A7D4C7-0BE4-9D1C-0C1E-23EB48F9DEBC}"/>
              </a:ext>
            </a:extLst>
          </p:cNvPr>
          <p:cNvSpPr txBox="1"/>
          <p:nvPr/>
        </p:nvSpPr>
        <p:spPr>
          <a:xfrm>
            <a:off x="2797745" y="4178808"/>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&lt;&lt;T21 Result&gt;&gt;</a:t>
            </a:r>
            <a:endPar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4" name="Google Shape;57;p7">
            <a:extLst>
              <a:ext uri="{FF2B5EF4-FFF2-40B4-BE49-F238E27FC236}">
                <a16:creationId xmlns:a16="http://schemas.microsoft.com/office/drawing/2014/main" id="{3E06273A-164B-CED0-3954-F75DB2A1B5D4}"/>
              </a:ext>
            </a:extLst>
          </p:cNvPr>
          <p:cNvSpPr txBox="1"/>
          <p:nvPr/>
        </p:nvSpPr>
        <p:spPr>
          <a:xfrm>
            <a:off x="2797745" y="4538713"/>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&lt;&lt;T18 Result&gt;&gt;</a:t>
            </a:r>
            <a:endPar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5" name="Google Shape;60;p7">
            <a:extLst>
              <a:ext uri="{FF2B5EF4-FFF2-40B4-BE49-F238E27FC236}">
                <a16:creationId xmlns:a16="http://schemas.microsoft.com/office/drawing/2014/main" id="{845FB12F-1004-79AB-D13B-152BFA38B235}"/>
              </a:ext>
            </a:extLst>
          </p:cNvPr>
          <p:cNvSpPr txBox="1"/>
          <p:nvPr/>
        </p:nvSpPr>
        <p:spPr>
          <a:xfrm>
            <a:off x="2797745" y="4898618"/>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&lt;&lt;T13 Result&gt;&gt;</a:t>
            </a:r>
            <a:endPar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6" name="Google Shape;63;p7">
            <a:extLst>
              <a:ext uri="{FF2B5EF4-FFF2-40B4-BE49-F238E27FC236}">
                <a16:creationId xmlns:a16="http://schemas.microsoft.com/office/drawing/2014/main" id="{ABBAA6EE-4C5B-5E6D-C711-B706E1275F3E}"/>
              </a:ext>
            </a:extLst>
          </p:cNvPr>
          <p:cNvSpPr txBox="1"/>
          <p:nvPr/>
        </p:nvSpPr>
        <p:spPr>
          <a:xfrm>
            <a:off x="2797745" y="5258523"/>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&lt;&lt;T9 Result&gt;&gt;</a:t>
            </a:r>
            <a:endPar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7" name="Google Shape;66;p7">
            <a:extLst>
              <a:ext uri="{FF2B5EF4-FFF2-40B4-BE49-F238E27FC236}">
                <a16:creationId xmlns:a16="http://schemas.microsoft.com/office/drawing/2014/main" id="{C9402157-1816-F452-2B1D-8F044DB021B2}"/>
              </a:ext>
            </a:extLst>
          </p:cNvPr>
          <p:cNvSpPr txBox="1"/>
          <p:nvPr/>
        </p:nvSpPr>
        <p:spPr>
          <a:xfrm>
            <a:off x="2797745" y="5618428"/>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&lt;&lt;T16 Result&gt;&gt;</a:t>
            </a:r>
            <a:endPar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8" name="Google Shape;69;p7">
            <a:extLst>
              <a:ext uri="{FF2B5EF4-FFF2-40B4-BE49-F238E27FC236}">
                <a16:creationId xmlns:a16="http://schemas.microsoft.com/office/drawing/2014/main" id="{44A231D0-8221-E273-8F02-437D1D348E89}"/>
              </a:ext>
            </a:extLst>
          </p:cNvPr>
          <p:cNvSpPr txBox="1"/>
          <p:nvPr/>
        </p:nvSpPr>
        <p:spPr>
          <a:xfrm>
            <a:off x="2797745" y="5978321"/>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&lt;&lt;T22 Result&gt;&gt;</a:t>
            </a:r>
            <a:endPar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9" name="Google Shape;72;p7">
            <a:extLst>
              <a:ext uri="{FF2B5EF4-FFF2-40B4-BE49-F238E27FC236}">
                <a16:creationId xmlns:a16="http://schemas.microsoft.com/office/drawing/2014/main" id="{ADBD1974-AEC9-4B3E-022F-4A2D768C0006}"/>
              </a:ext>
            </a:extLst>
          </p:cNvPr>
          <p:cNvSpPr txBox="1"/>
          <p:nvPr/>
        </p:nvSpPr>
        <p:spPr>
          <a:xfrm>
            <a:off x="2797745" y="6338226"/>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&lt;&lt;XO Result&gt;&gt;</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10" name="Google Shape;75;p7">
            <a:extLst>
              <a:ext uri="{FF2B5EF4-FFF2-40B4-BE49-F238E27FC236}">
                <a16:creationId xmlns:a16="http://schemas.microsoft.com/office/drawing/2014/main" id="{7FF250D9-3EBB-76FE-E7F5-F3A8543827F2}"/>
              </a:ext>
            </a:extLst>
          </p:cNvPr>
          <p:cNvSpPr txBox="1"/>
          <p:nvPr/>
        </p:nvSpPr>
        <p:spPr>
          <a:xfrm>
            <a:off x="2797745" y="6698130"/>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&lt;&lt;XXX Result&gt;&gt;</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11" name="Google Shape;78;p7">
            <a:extLst>
              <a:ext uri="{FF2B5EF4-FFF2-40B4-BE49-F238E27FC236}">
                <a16:creationId xmlns:a16="http://schemas.microsoft.com/office/drawing/2014/main" id="{BD4C1299-B427-BB72-BEE2-A2AB302DA2FB}"/>
              </a:ext>
            </a:extLst>
          </p:cNvPr>
          <p:cNvSpPr txBox="1"/>
          <p:nvPr/>
        </p:nvSpPr>
        <p:spPr>
          <a:xfrm>
            <a:off x="2797745" y="7058036"/>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&lt;&lt;XXY Result&gt;&gt;</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12" name="Google Shape;81;p7">
            <a:extLst>
              <a:ext uri="{FF2B5EF4-FFF2-40B4-BE49-F238E27FC236}">
                <a16:creationId xmlns:a16="http://schemas.microsoft.com/office/drawing/2014/main" id="{19363449-8644-D531-9B4D-98F05EAFFE08}"/>
              </a:ext>
            </a:extLst>
          </p:cNvPr>
          <p:cNvSpPr txBox="1"/>
          <p:nvPr/>
        </p:nvSpPr>
        <p:spPr>
          <a:xfrm>
            <a:off x="2797745" y="7417941"/>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&lt;&lt;XYY Result&gt;&gt;</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13" name="Google Shape;84;p7">
            <a:extLst>
              <a:ext uri="{FF2B5EF4-FFF2-40B4-BE49-F238E27FC236}">
                <a16:creationId xmlns:a16="http://schemas.microsoft.com/office/drawing/2014/main" id="{D6F039AF-D4F3-7698-9557-85E94956512C}"/>
              </a:ext>
            </a:extLst>
          </p:cNvPr>
          <p:cNvSpPr txBox="1"/>
          <p:nvPr/>
        </p:nvSpPr>
        <p:spPr>
          <a:xfrm>
            <a:off x="2797745" y="7777833"/>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&lt;&lt;Other Result&gt;&gt;</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14" name="Google Shape;90;p7">
            <a:extLst>
              <a:ext uri="{FF2B5EF4-FFF2-40B4-BE49-F238E27FC236}">
                <a16:creationId xmlns:a16="http://schemas.microsoft.com/office/drawing/2014/main" id="{4FFA3AC6-9951-C3DC-96D5-A05A4383804A}"/>
              </a:ext>
            </a:extLst>
          </p:cNvPr>
          <p:cNvSpPr txBox="1"/>
          <p:nvPr/>
        </p:nvSpPr>
        <p:spPr>
          <a:xfrm>
            <a:off x="6187248" y="4154425"/>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Noto Sans SC" panose="020B0200000000000000" pitchFamily="34" charset="-128"/>
                <a:ea typeface="Noto Sans SC" panose="020B0200000000000000" pitchFamily="34" charset="-128"/>
                <a:cs typeface="Calibri" panose="020F0502020204030204" pitchFamily="34" charset="0"/>
              </a:rPr>
              <a:t>&lt;&lt;MD1&gt;&gt;</a:t>
            </a:r>
          </a:p>
        </p:txBody>
      </p:sp>
      <p:sp>
        <p:nvSpPr>
          <p:cNvPr id="15" name="Google Shape;93;p7">
            <a:extLst>
              <a:ext uri="{FF2B5EF4-FFF2-40B4-BE49-F238E27FC236}">
                <a16:creationId xmlns:a16="http://schemas.microsoft.com/office/drawing/2014/main" id="{0C1F8DFF-9B6E-33AF-F6B8-0FE89F4EAE3F}"/>
              </a:ext>
            </a:extLst>
          </p:cNvPr>
          <p:cNvSpPr txBox="1"/>
          <p:nvPr/>
        </p:nvSpPr>
        <p:spPr>
          <a:xfrm>
            <a:off x="6187248" y="4514331"/>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Noto Sans SC" panose="020B0200000000000000" pitchFamily="34" charset="-128"/>
                <a:ea typeface="Noto Sans SC" panose="020B0200000000000000" pitchFamily="34" charset="-128"/>
                <a:cs typeface="Calibri" panose="020F0502020204030204" pitchFamily="34" charset="0"/>
              </a:rPr>
              <a:t>&lt;&lt;MD2&gt;&gt;</a:t>
            </a:r>
          </a:p>
        </p:txBody>
      </p:sp>
      <p:sp>
        <p:nvSpPr>
          <p:cNvPr id="16" name="Google Shape;96;p7">
            <a:extLst>
              <a:ext uri="{FF2B5EF4-FFF2-40B4-BE49-F238E27FC236}">
                <a16:creationId xmlns:a16="http://schemas.microsoft.com/office/drawing/2014/main" id="{EBCFE2A9-9BDC-17BD-62D0-DD9FC85027D9}"/>
              </a:ext>
            </a:extLst>
          </p:cNvPr>
          <p:cNvSpPr txBox="1"/>
          <p:nvPr/>
        </p:nvSpPr>
        <p:spPr>
          <a:xfrm>
            <a:off x="6187248" y="4874237"/>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Noto Sans SC" panose="020B0200000000000000" pitchFamily="34" charset="-128"/>
                <a:ea typeface="Noto Sans SC" panose="020B0200000000000000" pitchFamily="34" charset="-128"/>
                <a:cs typeface="Calibri" panose="020F0502020204030204" pitchFamily="34" charset="0"/>
              </a:rPr>
              <a:t>&lt;&lt;MD3&gt;&gt;</a:t>
            </a:r>
          </a:p>
        </p:txBody>
      </p:sp>
      <p:sp>
        <p:nvSpPr>
          <p:cNvPr id="17" name="Google Shape;99;p7">
            <a:extLst>
              <a:ext uri="{FF2B5EF4-FFF2-40B4-BE49-F238E27FC236}">
                <a16:creationId xmlns:a16="http://schemas.microsoft.com/office/drawing/2014/main" id="{501D3EB1-FF0D-DCFD-85FB-88318285803D}"/>
              </a:ext>
            </a:extLst>
          </p:cNvPr>
          <p:cNvSpPr txBox="1"/>
          <p:nvPr/>
        </p:nvSpPr>
        <p:spPr>
          <a:xfrm>
            <a:off x="6187248" y="5234145"/>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kern="1200" dirty="0">
                <a:solidFill>
                  <a:prstClr val="black"/>
                </a:solidFill>
                <a:latin typeface="Noto Sans SC" panose="020B0200000000000000" pitchFamily="34" charset="-128"/>
                <a:ea typeface="Noto Sans SC" panose="020B0200000000000000" pitchFamily="34" charset="-128"/>
                <a:cs typeface="Calibri" panose="020F0502020204030204" pitchFamily="34" charset="0"/>
              </a:rPr>
              <a:t>&lt;&lt;MD4&gt;&gt;</a:t>
            </a:r>
          </a:p>
        </p:txBody>
      </p:sp>
      <p:sp>
        <p:nvSpPr>
          <p:cNvPr id="18" name="Google Shape;102;p7">
            <a:extLst>
              <a:ext uri="{FF2B5EF4-FFF2-40B4-BE49-F238E27FC236}">
                <a16:creationId xmlns:a16="http://schemas.microsoft.com/office/drawing/2014/main" id="{75D45D41-9AAF-1215-56EA-E2C1AF2440B0}"/>
              </a:ext>
            </a:extLst>
          </p:cNvPr>
          <p:cNvSpPr txBox="1"/>
          <p:nvPr/>
        </p:nvSpPr>
        <p:spPr>
          <a:xfrm>
            <a:off x="6187248" y="5594051"/>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Noto Sans SC" panose="020B0200000000000000" pitchFamily="34" charset="-128"/>
                <a:ea typeface="Noto Sans SC" panose="020B0200000000000000" pitchFamily="34" charset="-128"/>
                <a:cs typeface="Calibri" panose="020F0502020204030204" pitchFamily="34" charset="0"/>
              </a:rPr>
              <a:t>&lt;&lt;MD5&gt;&gt;</a:t>
            </a:r>
          </a:p>
        </p:txBody>
      </p:sp>
      <p:sp>
        <p:nvSpPr>
          <p:cNvPr id="19" name="Google Shape;105;p7">
            <a:extLst>
              <a:ext uri="{FF2B5EF4-FFF2-40B4-BE49-F238E27FC236}">
                <a16:creationId xmlns:a16="http://schemas.microsoft.com/office/drawing/2014/main" id="{932C154F-D6D7-37BC-0EC4-5FC02D6D259F}"/>
              </a:ext>
            </a:extLst>
          </p:cNvPr>
          <p:cNvSpPr txBox="1"/>
          <p:nvPr/>
        </p:nvSpPr>
        <p:spPr>
          <a:xfrm>
            <a:off x="6187248" y="5953945"/>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Noto Sans SC" panose="020B0200000000000000" pitchFamily="34" charset="-128"/>
                <a:ea typeface="Noto Sans SC" panose="020B0200000000000000" pitchFamily="34" charset="-128"/>
                <a:cs typeface="Calibri" panose="020F0502020204030204" pitchFamily="34" charset="0"/>
              </a:rPr>
              <a:t>&lt;&lt;MD6&gt;&gt;</a:t>
            </a:r>
          </a:p>
        </p:txBody>
      </p:sp>
      <p:sp>
        <p:nvSpPr>
          <p:cNvPr id="20" name="Google Shape;108;p7">
            <a:extLst>
              <a:ext uri="{FF2B5EF4-FFF2-40B4-BE49-F238E27FC236}">
                <a16:creationId xmlns:a16="http://schemas.microsoft.com/office/drawing/2014/main" id="{12F099B6-3AD7-48A5-B4A7-4D8F25E3F073}"/>
              </a:ext>
            </a:extLst>
          </p:cNvPr>
          <p:cNvSpPr txBox="1"/>
          <p:nvPr/>
        </p:nvSpPr>
        <p:spPr>
          <a:xfrm>
            <a:off x="6187248" y="6313851"/>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Noto Sans SC" panose="020B0200000000000000" pitchFamily="34" charset="-128"/>
                <a:ea typeface="Noto Sans SC" panose="020B0200000000000000" pitchFamily="34" charset="-128"/>
                <a:cs typeface="Calibri" panose="020F0502020204030204" pitchFamily="34" charset="0"/>
              </a:rPr>
              <a:t>&lt;&lt;MD7&gt;&gt;</a:t>
            </a:r>
          </a:p>
        </p:txBody>
      </p:sp>
      <p:sp>
        <p:nvSpPr>
          <p:cNvPr id="21" name="Google Shape;111;p7">
            <a:extLst>
              <a:ext uri="{FF2B5EF4-FFF2-40B4-BE49-F238E27FC236}">
                <a16:creationId xmlns:a16="http://schemas.microsoft.com/office/drawing/2014/main" id="{9FD15C91-69DF-4A5B-D8F9-EEB3EBECEACA}"/>
              </a:ext>
            </a:extLst>
          </p:cNvPr>
          <p:cNvSpPr txBox="1"/>
          <p:nvPr/>
        </p:nvSpPr>
        <p:spPr>
          <a:xfrm>
            <a:off x="6187248" y="6673757"/>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Noto Sans SC" panose="020B0200000000000000" pitchFamily="34" charset="-128"/>
                <a:ea typeface="Noto Sans SC" panose="020B0200000000000000" pitchFamily="34" charset="-128"/>
                <a:cs typeface="Calibri" panose="020F0502020204030204" pitchFamily="34" charset="0"/>
              </a:rPr>
              <a:t>&lt;&lt;MD8&gt;&gt;</a:t>
            </a:r>
          </a:p>
        </p:txBody>
      </p:sp>
      <p:sp>
        <p:nvSpPr>
          <p:cNvPr id="22" name="Google Shape;114;p7">
            <a:extLst>
              <a:ext uri="{FF2B5EF4-FFF2-40B4-BE49-F238E27FC236}">
                <a16:creationId xmlns:a16="http://schemas.microsoft.com/office/drawing/2014/main" id="{0A8551EC-F6C0-0496-7E9F-B248D8A5BFB9}"/>
              </a:ext>
            </a:extLst>
          </p:cNvPr>
          <p:cNvSpPr txBox="1"/>
          <p:nvPr/>
        </p:nvSpPr>
        <p:spPr>
          <a:xfrm>
            <a:off x="6187248" y="7033664"/>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Noto Sans SC" panose="020B0200000000000000" pitchFamily="34" charset="-128"/>
                <a:ea typeface="Noto Sans SC" panose="020B0200000000000000" pitchFamily="34" charset="-128"/>
                <a:cs typeface="Calibri" panose="020F0502020204030204" pitchFamily="34" charset="0"/>
              </a:rPr>
              <a:t>&lt;&lt;Other MD&gt;&gt;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Shape 126"/>
        <p:cNvGrpSpPr/>
        <p:nvPr/>
      </p:nvGrpSpPr>
      <p:grpSpPr>
        <a:xfrm>
          <a:off x="0" y="0"/>
          <a:ext cx="0" cy="0"/>
          <a:chOff x="0" y="0"/>
          <a:chExt cx="0" cy="0"/>
        </a:xfrm>
      </p:grpSpPr>
      <p:sp>
        <p:nvSpPr>
          <p:cNvPr id="127" name="Google Shape;127;p8"/>
          <p:cNvSpPr txBox="1"/>
          <p:nvPr/>
        </p:nvSpPr>
        <p:spPr>
          <a:xfrm>
            <a:off x="520700" y="765264"/>
            <a:ext cx="3540497" cy="19749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200" dirty="0">
                <a:latin typeface="Noto Sans SC" panose="020B0200000000000000" pitchFamily="34" charset="-128"/>
                <a:ea typeface="Noto Sans SC" panose="020B0200000000000000" pitchFamily="34" charset="-128"/>
                <a:cs typeface="Calibri" panose="020F0502020204030204" pitchFamily="34" charset="0"/>
                <a:sym typeface="Microsoft YaHei"/>
              </a:rPr>
              <a:t>其他108項微片段缺失/</a:t>
            </a:r>
            <a:r>
              <a:rPr lang="en-US" sz="1200" dirty="0" err="1">
                <a:latin typeface="Noto Sans SC" panose="020B0200000000000000" pitchFamily="34" charset="-128"/>
                <a:ea typeface="Noto Sans SC" panose="020B0200000000000000" pitchFamily="34" charset="-128"/>
                <a:cs typeface="Calibri" panose="020F0502020204030204" pitchFamily="34" charset="0"/>
                <a:sym typeface="Microsoft YaHei"/>
              </a:rPr>
              <a:t>重複症候群-列表</a:t>
            </a:r>
            <a:endParaRPr sz="12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graphicFrame>
        <p:nvGraphicFramePr>
          <p:cNvPr id="128" name="Google Shape;128;p8"/>
          <p:cNvGraphicFramePr/>
          <p:nvPr/>
        </p:nvGraphicFramePr>
        <p:xfrm>
          <a:off x="533406" y="1120210"/>
          <a:ext cx="1480825" cy="8423150"/>
        </p:xfrm>
        <a:graphic>
          <a:graphicData uri="http://schemas.openxmlformats.org/drawingml/2006/table">
            <a:tbl>
              <a:tblPr firstRow="1" bandRow="1">
                <a:noFill/>
                <a:tableStyleId>{F28EBD1E-F79C-4DFF-868A-0A9D0052B014}</a:tableStyleId>
              </a:tblPr>
              <a:tblGrid>
                <a:gridCol w="1480825">
                  <a:extLst>
                    <a:ext uri="{9D8B030D-6E8A-4147-A177-3AD203B41FA5}">
                      <a16:colId xmlns:a16="http://schemas.microsoft.com/office/drawing/2014/main" val="20000"/>
                    </a:ext>
                  </a:extLst>
                </a:gridCol>
              </a:tblGrid>
              <a:tr h="240025">
                <a:tc>
                  <a:txBody>
                    <a:bodyPr/>
                    <a:lstStyle/>
                    <a:p>
                      <a:pPr marL="0" marR="0" lvl="0" indent="0" algn="ctr" rtl="0">
                        <a:lnSpc>
                          <a:spcPct val="100000"/>
                        </a:lnSpc>
                        <a:spcBef>
                          <a:spcPts val="0"/>
                        </a:spcBef>
                        <a:spcAft>
                          <a:spcPts val="0"/>
                        </a:spcAft>
                        <a:buNone/>
                      </a:pPr>
                      <a:r>
                        <a:rPr lang="en-US" sz="900" b="1" u="none" strike="noStrike" cap="none" dirty="0">
                          <a:solidFill>
                            <a:srgbClr val="FFFFFF"/>
                          </a:solidFill>
                          <a:latin typeface="Calibri"/>
                          <a:ea typeface="Calibri"/>
                          <a:cs typeface="Calibri"/>
                          <a:sym typeface="Calibri"/>
                        </a:rPr>
                        <a:t>Conditions</a:t>
                      </a:r>
                      <a:endParaRPr sz="900" u="none" strike="noStrike" cap="none" dirty="0">
                        <a:latin typeface="Calibri"/>
                        <a:ea typeface="Calibri"/>
                        <a:cs typeface="Calibri"/>
                        <a:sym typeface="Calibri"/>
                      </a:endParaRPr>
                    </a:p>
                  </a:txBody>
                  <a:tcPr marL="0" marR="0" marT="41900" marB="0">
                    <a:lnB w="9525" cap="flat" cmpd="sng">
                      <a:solidFill>
                        <a:srgbClr val="DEDFFD"/>
                      </a:solidFill>
                      <a:prstDash val="solid"/>
                      <a:round/>
                      <a:headEnd type="none" w="sm" len="sm"/>
                      <a:tailEnd type="none" w="sm" len="sm"/>
                    </a:lnB>
                    <a:solidFill>
                      <a:srgbClr val="999DC0"/>
                    </a:solidFill>
                  </a:tcPr>
                </a:tc>
                <a:extLst>
                  <a:ext uri="{0D108BD9-81ED-4DB2-BD59-A6C34878D82A}">
                    <a16:rowId xmlns:a16="http://schemas.microsoft.com/office/drawing/2014/main" val="10000"/>
                  </a:ext>
                </a:extLst>
              </a:tr>
              <a:tr h="220350">
                <a:tc>
                  <a:txBody>
                    <a:bodyPr/>
                    <a:lstStyle/>
                    <a:p>
                      <a:pPr marL="0" marR="0" lvl="0" indent="0" algn="ctr" rtl="0">
                        <a:lnSpc>
                          <a:spcPct val="100000"/>
                        </a:lnSpc>
                        <a:spcBef>
                          <a:spcPts val="0"/>
                        </a:spcBef>
                        <a:spcAft>
                          <a:spcPts val="0"/>
                        </a:spcAft>
                        <a:buNone/>
                      </a:pPr>
                      <a:r>
                        <a:rPr lang="en-US" sz="750" u="none" strike="noStrike" cap="none" dirty="0">
                          <a:latin typeface="Calibri"/>
                          <a:ea typeface="Calibri"/>
                          <a:cs typeface="Calibri"/>
                          <a:sym typeface="Calibri"/>
                        </a:rPr>
                        <a:t>1p32-p31deletion syndrome</a:t>
                      </a:r>
                      <a:endParaRPr sz="750" u="none" strike="noStrike" cap="none" dirty="0">
                        <a:latin typeface="Calibri"/>
                        <a:ea typeface="Calibri"/>
                        <a:cs typeface="Calibri"/>
                        <a:sym typeface="Calibri"/>
                      </a:endParaRPr>
                    </a:p>
                  </a:txBody>
                  <a:tcPr marL="0" marR="0" marT="4635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1"/>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1q41-q42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2"/>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1q43-q44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3"/>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2p12-p11.2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4"/>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2p15-p16.1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5"/>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2q13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6"/>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2q13 duplication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7"/>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2q31.1 microdeletion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8"/>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2q31.1 duplication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9"/>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2q35 duplication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0"/>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3p25.3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1"/>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3pter-p25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2"/>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3q13.31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3"/>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Dandy-Walker syndrome (DWS)</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4"/>
                  </a:ext>
                </a:extLst>
              </a:tr>
              <a:tr h="342900">
                <a:tc>
                  <a:txBody>
                    <a:bodyPr/>
                    <a:lstStyle/>
                    <a:p>
                      <a:pPr marL="524510" marR="244475" lvl="0" indent="-273050" algn="l" rtl="0">
                        <a:lnSpc>
                          <a:spcPct val="105000"/>
                        </a:lnSpc>
                        <a:spcBef>
                          <a:spcPts val="0"/>
                        </a:spcBef>
                        <a:spcAft>
                          <a:spcPts val="0"/>
                        </a:spcAft>
                        <a:buNone/>
                      </a:pPr>
                      <a:r>
                        <a:rPr lang="en-US" sz="750" u="none" strike="noStrike" cap="none">
                          <a:latin typeface="Calibri"/>
                          <a:ea typeface="Calibri"/>
                          <a:cs typeface="Calibri"/>
                          <a:sym typeface="Calibri"/>
                        </a:rPr>
                        <a:t>3q26 microduplication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5"/>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3q29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6"/>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4q21deletion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7"/>
                  </a:ext>
                </a:extLst>
              </a:tr>
              <a:tr h="342900">
                <a:tc>
                  <a:txBody>
                    <a:bodyPr/>
                    <a:lstStyle/>
                    <a:p>
                      <a:pPr marL="554355" marR="62864" lvl="0" indent="-484505" algn="l" rtl="0">
                        <a:lnSpc>
                          <a:spcPct val="105000"/>
                        </a:lnSpc>
                        <a:spcBef>
                          <a:spcPts val="0"/>
                        </a:spcBef>
                        <a:spcAft>
                          <a:spcPts val="0"/>
                        </a:spcAft>
                        <a:buNone/>
                      </a:pPr>
                      <a:r>
                        <a:rPr lang="en-US" sz="750" u="none" strike="noStrike" cap="none">
                          <a:latin typeface="Calibri"/>
                          <a:ea typeface="Calibri"/>
                          <a:cs typeface="Calibri"/>
                          <a:sym typeface="Calibri"/>
                        </a:rPr>
                        <a:t>Axenfeld-Rieger syndrome type 1 (RIEGl)</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8"/>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5p13 duplication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9"/>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5q12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0"/>
                  </a:ext>
                </a:extLst>
              </a:tr>
              <a:tr h="342900">
                <a:tc>
                  <a:txBody>
                    <a:bodyPr/>
                    <a:lstStyle/>
                    <a:p>
                      <a:pPr marL="524510" marR="168275" lvl="0" indent="-348615" algn="l" rtl="0">
                        <a:lnSpc>
                          <a:spcPct val="105000"/>
                        </a:lnSpc>
                        <a:spcBef>
                          <a:spcPts val="0"/>
                        </a:spcBef>
                        <a:spcAft>
                          <a:spcPts val="0"/>
                        </a:spcAft>
                        <a:buNone/>
                      </a:pPr>
                      <a:r>
                        <a:rPr lang="en-US" sz="750" u="none" strike="noStrike" cap="none">
                          <a:latin typeface="Calibri"/>
                          <a:ea typeface="Calibri"/>
                          <a:cs typeface="Calibri"/>
                          <a:sym typeface="Calibri"/>
                        </a:rPr>
                        <a:t>5q14.3 deletion (proximal)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1"/>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Sotos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2"/>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6p22 microdeletion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3"/>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6q11-q14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4"/>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6q24-q25deletion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5"/>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Coffin-Siris syndrome 1 (CSSl)</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6"/>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Chordoma</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7"/>
                  </a:ext>
                </a:extLst>
              </a:tr>
              <a:tr h="342900">
                <a:tc>
                  <a:txBody>
                    <a:bodyPr/>
                    <a:lstStyle/>
                    <a:p>
                      <a:pPr marL="357505" marR="101600" lvl="0" indent="-248919" algn="l" rtl="0">
                        <a:lnSpc>
                          <a:spcPct val="105000"/>
                        </a:lnSpc>
                        <a:spcBef>
                          <a:spcPts val="0"/>
                        </a:spcBef>
                        <a:spcAft>
                          <a:spcPts val="0"/>
                        </a:spcAft>
                        <a:buNone/>
                      </a:pPr>
                      <a:r>
                        <a:rPr lang="en-US" sz="750" u="none" strike="noStrike" cap="none">
                          <a:latin typeface="Calibri"/>
                          <a:ea typeface="Calibri"/>
                          <a:cs typeface="Calibri"/>
                          <a:sym typeface="Calibri"/>
                        </a:rPr>
                        <a:t>Greig cephalopoly syndactyly syndrome (GCPS)</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8"/>
                  </a:ext>
                </a:extLst>
              </a:tr>
              <a:tr h="342900">
                <a:tc>
                  <a:txBody>
                    <a:bodyPr/>
                    <a:lstStyle/>
                    <a:p>
                      <a:pPr marL="524510" marR="203834" lvl="0" indent="-314325" algn="l" rtl="0">
                        <a:lnSpc>
                          <a:spcPct val="105000"/>
                        </a:lnSpc>
                        <a:spcBef>
                          <a:spcPts val="0"/>
                        </a:spcBef>
                        <a:spcAft>
                          <a:spcPts val="0"/>
                        </a:spcAft>
                        <a:buNone/>
                      </a:pPr>
                      <a:r>
                        <a:rPr lang="en-US" sz="750" u="none" strike="noStrike" cap="none">
                          <a:latin typeface="Calibri"/>
                          <a:ea typeface="Calibri"/>
                          <a:cs typeface="Calibri"/>
                          <a:sym typeface="Calibri"/>
                        </a:rPr>
                        <a:t>7p22.1 microduplication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9"/>
                  </a:ext>
                </a:extLst>
              </a:tr>
              <a:tr h="342900">
                <a:tc>
                  <a:txBody>
                    <a:bodyPr/>
                    <a:lstStyle/>
                    <a:p>
                      <a:pPr marL="524510" marR="210184" lvl="0" indent="-306705" algn="l" rtl="0">
                        <a:lnSpc>
                          <a:spcPct val="105000"/>
                        </a:lnSpc>
                        <a:spcBef>
                          <a:spcPts val="0"/>
                        </a:spcBef>
                        <a:spcAft>
                          <a:spcPts val="0"/>
                        </a:spcAft>
                        <a:buNone/>
                      </a:pPr>
                      <a:r>
                        <a:rPr lang="en-US" sz="750" u="none" strike="noStrike" cap="none">
                          <a:latin typeface="Calibri"/>
                          <a:ea typeface="Calibri"/>
                          <a:cs typeface="Calibri"/>
                          <a:sym typeface="Calibri"/>
                        </a:rPr>
                        <a:t>7q11.23 deletion (distal)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30"/>
                  </a:ext>
                </a:extLst>
              </a:tr>
              <a:tr h="342900">
                <a:tc>
                  <a:txBody>
                    <a:bodyPr/>
                    <a:lstStyle/>
                    <a:p>
                      <a:pPr marL="607695" marR="146685" lvl="0" indent="-454025" algn="l" rtl="0">
                        <a:lnSpc>
                          <a:spcPct val="105000"/>
                        </a:lnSpc>
                        <a:spcBef>
                          <a:spcPts val="0"/>
                        </a:spcBef>
                        <a:spcAft>
                          <a:spcPts val="0"/>
                        </a:spcAft>
                        <a:buNone/>
                      </a:pPr>
                      <a:r>
                        <a:rPr lang="en-US" sz="750" u="none" strike="noStrike" cap="none">
                          <a:latin typeface="Calibri"/>
                          <a:ea typeface="Calibri"/>
                          <a:cs typeface="Calibri"/>
                          <a:sym typeface="Calibri"/>
                        </a:rPr>
                        <a:t>Williams-Beuren syndrome (WBS)</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31"/>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Currarino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32"/>
                  </a:ext>
                </a:extLst>
              </a:tr>
              <a:tr h="220350">
                <a:tc>
                  <a:txBody>
                    <a:bodyPr/>
                    <a:lstStyle/>
                    <a:p>
                      <a:pPr marL="0" marR="0" lvl="0" indent="0" algn="ctr" rtl="0">
                        <a:lnSpc>
                          <a:spcPct val="100000"/>
                        </a:lnSpc>
                        <a:spcBef>
                          <a:spcPts val="0"/>
                        </a:spcBef>
                        <a:spcAft>
                          <a:spcPts val="0"/>
                        </a:spcAft>
                        <a:buNone/>
                      </a:pPr>
                      <a:r>
                        <a:rPr lang="en-US" sz="750" u="none" strike="noStrike" cap="none" dirty="0">
                          <a:latin typeface="Calibri"/>
                          <a:ea typeface="Calibri"/>
                          <a:cs typeface="Calibri"/>
                          <a:sym typeface="Calibri"/>
                        </a:rPr>
                        <a:t>7q36.3 duplication syndrome</a:t>
                      </a:r>
                      <a:endParaRPr sz="750" u="none" strike="noStrike" cap="none" dirty="0">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33"/>
                  </a:ext>
                </a:extLst>
              </a:tr>
            </a:tbl>
          </a:graphicData>
        </a:graphic>
      </p:graphicFrame>
      <p:graphicFrame>
        <p:nvGraphicFramePr>
          <p:cNvPr id="129" name="Google Shape;129;p8"/>
          <p:cNvGraphicFramePr/>
          <p:nvPr/>
        </p:nvGraphicFramePr>
        <p:xfrm>
          <a:off x="2150217" y="1120210"/>
          <a:ext cx="1480825" cy="8494300"/>
        </p:xfrm>
        <a:graphic>
          <a:graphicData uri="http://schemas.openxmlformats.org/drawingml/2006/table">
            <a:tbl>
              <a:tblPr firstRow="1" bandRow="1">
                <a:noFill/>
                <a:tableStyleId>{F28EBD1E-F79C-4DFF-868A-0A9D0052B014}</a:tableStyleId>
              </a:tblPr>
              <a:tblGrid>
                <a:gridCol w="1480825">
                  <a:extLst>
                    <a:ext uri="{9D8B030D-6E8A-4147-A177-3AD203B41FA5}">
                      <a16:colId xmlns:a16="http://schemas.microsoft.com/office/drawing/2014/main" val="20000"/>
                    </a:ext>
                  </a:extLst>
                </a:gridCol>
              </a:tblGrid>
              <a:tr h="240025">
                <a:tc>
                  <a:txBody>
                    <a:bodyPr/>
                    <a:lstStyle/>
                    <a:p>
                      <a:pPr marL="0" marR="0" lvl="0" indent="0" algn="ctr" rtl="0">
                        <a:lnSpc>
                          <a:spcPct val="100000"/>
                        </a:lnSpc>
                        <a:spcBef>
                          <a:spcPts val="0"/>
                        </a:spcBef>
                        <a:spcAft>
                          <a:spcPts val="0"/>
                        </a:spcAft>
                        <a:buNone/>
                      </a:pPr>
                      <a:r>
                        <a:rPr lang="en-US" sz="900" b="1" u="none" strike="noStrike" cap="none">
                          <a:solidFill>
                            <a:srgbClr val="FFFFFF"/>
                          </a:solidFill>
                          <a:latin typeface="Calibri"/>
                          <a:ea typeface="Calibri"/>
                          <a:cs typeface="Calibri"/>
                          <a:sym typeface="Calibri"/>
                        </a:rPr>
                        <a:t>Conditions</a:t>
                      </a:r>
                      <a:endParaRPr sz="900" u="none" strike="noStrike" cap="none">
                        <a:latin typeface="Calibri"/>
                        <a:ea typeface="Calibri"/>
                        <a:cs typeface="Calibri"/>
                        <a:sym typeface="Calibri"/>
                      </a:endParaRPr>
                    </a:p>
                  </a:txBody>
                  <a:tcPr marL="0" marR="0" marT="41900" marB="0">
                    <a:lnB w="9525" cap="flat" cmpd="sng">
                      <a:solidFill>
                        <a:srgbClr val="DEDFFD"/>
                      </a:solidFill>
                      <a:prstDash val="solid"/>
                      <a:round/>
                      <a:headEnd type="none" w="sm" len="sm"/>
                      <a:tailEnd type="none" w="sm" len="sm"/>
                    </a:lnB>
                    <a:solidFill>
                      <a:srgbClr val="999DC0"/>
                    </a:solidFill>
                  </a:tcPr>
                </a:tc>
                <a:extLst>
                  <a:ext uri="{0D108BD9-81ED-4DB2-BD59-A6C34878D82A}">
                    <a16:rowId xmlns:a16="http://schemas.microsoft.com/office/drawing/2014/main" val="10000"/>
                  </a:ext>
                </a:extLst>
              </a:tr>
              <a:tr h="2203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8p11.2 deletion syndrome</a:t>
                      </a:r>
                      <a:endParaRPr sz="750" u="none" strike="noStrike" cap="none">
                        <a:latin typeface="Calibri"/>
                        <a:ea typeface="Calibri"/>
                        <a:cs typeface="Calibri"/>
                        <a:sym typeface="Calibri"/>
                      </a:endParaRPr>
                    </a:p>
                  </a:txBody>
                  <a:tcPr marL="0" marR="0" marT="4635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1"/>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8p23.1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2"/>
                  </a:ext>
                </a:extLst>
              </a:tr>
              <a:tr h="342900">
                <a:tc>
                  <a:txBody>
                    <a:bodyPr/>
                    <a:lstStyle/>
                    <a:p>
                      <a:pPr marL="524510" marR="244475" lvl="0" indent="-273050" algn="l" rtl="0">
                        <a:lnSpc>
                          <a:spcPct val="105000"/>
                        </a:lnSpc>
                        <a:spcBef>
                          <a:spcPts val="0"/>
                        </a:spcBef>
                        <a:spcAft>
                          <a:spcPts val="0"/>
                        </a:spcAft>
                        <a:buNone/>
                      </a:pPr>
                      <a:r>
                        <a:rPr lang="en-US" sz="750" u="none" strike="noStrike" cap="none">
                          <a:latin typeface="Calibri"/>
                          <a:ea typeface="Calibri"/>
                          <a:cs typeface="Calibri"/>
                          <a:sym typeface="Calibri"/>
                        </a:rPr>
                        <a:t>8q12 microduplication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3"/>
                  </a:ext>
                </a:extLst>
              </a:tr>
              <a:tr h="342900">
                <a:tc>
                  <a:txBody>
                    <a:bodyPr/>
                    <a:lstStyle/>
                    <a:p>
                      <a:pPr marL="330835" marR="227329" lvl="0" indent="-95884" algn="l" rtl="0">
                        <a:lnSpc>
                          <a:spcPct val="105000"/>
                        </a:lnSpc>
                        <a:spcBef>
                          <a:spcPts val="0"/>
                        </a:spcBef>
                        <a:spcAft>
                          <a:spcPts val="0"/>
                        </a:spcAft>
                        <a:buNone/>
                      </a:pPr>
                      <a:r>
                        <a:rPr lang="en-US" sz="750" u="none" strike="noStrike" cap="none">
                          <a:latin typeface="Calibri"/>
                          <a:ea typeface="Calibri"/>
                          <a:cs typeface="Calibri"/>
                          <a:sym typeface="Calibri"/>
                        </a:rPr>
                        <a:t>Nablus mask-like facial syndrome (NMLFS)</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4"/>
                  </a:ext>
                </a:extLst>
              </a:tr>
              <a:tr h="342900">
                <a:tc>
                  <a:txBody>
                    <a:bodyPr/>
                    <a:lstStyle/>
                    <a:p>
                      <a:pPr marL="206375" marR="198755" lvl="0" indent="48259" algn="l" rtl="0">
                        <a:lnSpc>
                          <a:spcPct val="105000"/>
                        </a:lnSpc>
                        <a:spcBef>
                          <a:spcPts val="0"/>
                        </a:spcBef>
                        <a:spcAft>
                          <a:spcPts val="0"/>
                        </a:spcAft>
                        <a:buNone/>
                      </a:pPr>
                      <a:r>
                        <a:rPr lang="en-US" sz="750" u="none" strike="noStrike" cap="none">
                          <a:latin typeface="Calibri"/>
                          <a:ea typeface="Calibri"/>
                          <a:cs typeface="Calibri"/>
                          <a:sym typeface="Calibri"/>
                        </a:rPr>
                        <a:t>Trichorhinophalangeal syndrome type 2 (TRPS2)</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5"/>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9p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6"/>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9p13 microdeletion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7"/>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9p24.3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8"/>
                  </a:ext>
                </a:extLst>
              </a:tr>
              <a:tr h="342900">
                <a:tc>
                  <a:txBody>
                    <a:bodyPr/>
                    <a:lstStyle/>
                    <a:p>
                      <a:pPr marL="524510" marR="122554" lvl="0" indent="-394969" algn="l" rtl="0">
                        <a:lnSpc>
                          <a:spcPct val="105000"/>
                        </a:lnSpc>
                        <a:spcBef>
                          <a:spcPts val="0"/>
                        </a:spcBef>
                        <a:spcAft>
                          <a:spcPts val="0"/>
                        </a:spcAft>
                        <a:buNone/>
                      </a:pPr>
                      <a:r>
                        <a:rPr lang="en-US" sz="750" u="none" strike="noStrike" cap="none">
                          <a:latin typeface="Calibri"/>
                          <a:ea typeface="Calibri"/>
                          <a:cs typeface="Calibri"/>
                          <a:sym typeface="Calibri"/>
                        </a:rPr>
                        <a:t>9q33.3q34.11 microdeletion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9"/>
                  </a:ext>
                </a:extLst>
              </a:tr>
              <a:tr h="342900">
                <a:tc>
                  <a:txBody>
                    <a:bodyPr/>
                    <a:lstStyle/>
                    <a:p>
                      <a:pPr marL="190500" marR="182880" lvl="0" indent="57784" algn="l" rtl="0">
                        <a:lnSpc>
                          <a:spcPct val="105000"/>
                        </a:lnSpc>
                        <a:spcBef>
                          <a:spcPts val="0"/>
                        </a:spcBef>
                        <a:spcAft>
                          <a:spcPts val="0"/>
                        </a:spcAft>
                        <a:buNone/>
                      </a:pPr>
                      <a:r>
                        <a:rPr lang="en-US" sz="750" u="none" strike="noStrike" cap="none">
                          <a:latin typeface="Calibri"/>
                          <a:ea typeface="Calibri"/>
                          <a:cs typeface="Calibri"/>
                          <a:sym typeface="Calibri"/>
                        </a:rPr>
                        <a:t>Early infantile epileptic encephalopathy 4 (EIEE4)</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0"/>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Kleefstra syndrome 1 (KLEFS1)</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1"/>
                  </a:ext>
                </a:extLst>
              </a:tr>
              <a:tr h="342900">
                <a:tc>
                  <a:txBody>
                    <a:bodyPr/>
                    <a:lstStyle/>
                    <a:p>
                      <a:pPr marL="524510" marR="52069" lvl="0" indent="-465454" algn="l" rtl="0">
                        <a:lnSpc>
                          <a:spcPct val="105000"/>
                        </a:lnSpc>
                        <a:spcBef>
                          <a:spcPts val="0"/>
                        </a:spcBef>
                        <a:spcAft>
                          <a:spcPts val="0"/>
                        </a:spcAft>
                        <a:buNone/>
                      </a:pPr>
                      <a:r>
                        <a:rPr lang="en-US" sz="750" u="none" strike="noStrike" cap="none">
                          <a:latin typeface="Calibri"/>
                          <a:ea typeface="Calibri"/>
                          <a:cs typeface="Calibri"/>
                          <a:sym typeface="Calibri"/>
                        </a:rPr>
                        <a:t>10p11.21-p12.31 microdeletion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2"/>
                  </a:ext>
                </a:extLst>
              </a:tr>
              <a:tr h="462275">
                <a:tc>
                  <a:txBody>
                    <a:bodyPr/>
                    <a:lstStyle/>
                    <a:p>
                      <a:pPr marL="168275" marR="160655" lvl="0" indent="0" algn="ctr" rtl="0">
                        <a:lnSpc>
                          <a:spcPct val="105000"/>
                        </a:lnSpc>
                        <a:spcBef>
                          <a:spcPts val="0"/>
                        </a:spcBef>
                        <a:spcAft>
                          <a:spcPts val="0"/>
                        </a:spcAft>
                        <a:buNone/>
                      </a:pPr>
                      <a:r>
                        <a:rPr lang="en-US" sz="750" u="none" strike="noStrike" cap="none">
                          <a:latin typeface="Calibri"/>
                          <a:ea typeface="Calibri"/>
                          <a:cs typeface="Calibri"/>
                          <a:sym typeface="Calibri"/>
                        </a:rPr>
                        <a:t>DiGeorge syndrome/ velocardiofacial syndrome complex 2 (DSG2)</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3"/>
                  </a:ext>
                </a:extLst>
              </a:tr>
              <a:tr h="342900">
                <a:tc>
                  <a:txBody>
                    <a:bodyPr/>
                    <a:lstStyle/>
                    <a:p>
                      <a:pPr marL="524510" marR="230504" lvl="0" indent="-287019" algn="l" rtl="0">
                        <a:lnSpc>
                          <a:spcPct val="105000"/>
                        </a:lnSpc>
                        <a:spcBef>
                          <a:spcPts val="0"/>
                        </a:spcBef>
                        <a:spcAft>
                          <a:spcPts val="0"/>
                        </a:spcAft>
                        <a:buNone/>
                      </a:pPr>
                      <a:r>
                        <a:rPr lang="en-US" sz="750" u="none" strike="noStrike" cap="none">
                          <a:latin typeface="Calibri"/>
                          <a:ea typeface="Calibri"/>
                          <a:cs typeface="Calibri"/>
                          <a:sym typeface="Calibri"/>
                        </a:rPr>
                        <a:t>10q22.3-q23.2 deletion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4"/>
                  </a:ext>
                </a:extLst>
              </a:tr>
              <a:tr h="342900">
                <a:tc>
                  <a:txBody>
                    <a:bodyPr/>
                    <a:lstStyle/>
                    <a:p>
                      <a:pPr marL="554990" marR="64769" lvl="0" indent="-483234" algn="l" rtl="0">
                        <a:lnSpc>
                          <a:spcPct val="105000"/>
                        </a:lnSpc>
                        <a:spcBef>
                          <a:spcPts val="0"/>
                        </a:spcBef>
                        <a:spcAft>
                          <a:spcPts val="0"/>
                        </a:spcAft>
                        <a:buNone/>
                      </a:pPr>
                      <a:r>
                        <a:rPr lang="en-US" sz="750" u="none" strike="noStrike" cap="none">
                          <a:latin typeface="Calibri"/>
                          <a:ea typeface="Calibri"/>
                          <a:cs typeface="Calibri"/>
                          <a:sym typeface="Calibri"/>
                        </a:rPr>
                        <a:t>Split-hand/foot malformation 3 (SHFM3)</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5"/>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10q26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6"/>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Potocki-Shaffer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7"/>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WAGR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8"/>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WAGRO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9"/>
                  </a:ext>
                </a:extLst>
              </a:tr>
              <a:tr h="342900">
                <a:tc>
                  <a:txBody>
                    <a:bodyPr/>
                    <a:lstStyle/>
                    <a:p>
                      <a:pPr marL="524510" marR="230504" lvl="0" indent="-287019" algn="l" rtl="0">
                        <a:lnSpc>
                          <a:spcPct val="105000"/>
                        </a:lnSpc>
                        <a:spcBef>
                          <a:spcPts val="0"/>
                        </a:spcBef>
                        <a:spcAft>
                          <a:spcPts val="0"/>
                        </a:spcAft>
                        <a:buNone/>
                      </a:pPr>
                      <a:r>
                        <a:rPr lang="en-US" sz="750" u="none" strike="noStrike" cap="none">
                          <a:latin typeface="Calibri"/>
                          <a:ea typeface="Calibri"/>
                          <a:cs typeface="Calibri"/>
                          <a:sym typeface="Calibri"/>
                        </a:rPr>
                        <a:t>11q13.2-q13.4 deletion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0"/>
                  </a:ext>
                </a:extLst>
              </a:tr>
              <a:tr h="342900">
                <a:tc>
                  <a:txBody>
                    <a:bodyPr/>
                    <a:lstStyle/>
                    <a:p>
                      <a:pPr marL="524510" marR="105410" lvl="0" indent="-412114" algn="l" rtl="0">
                        <a:lnSpc>
                          <a:spcPct val="105000"/>
                        </a:lnSpc>
                        <a:spcBef>
                          <a:spcPts val="0"/>
                        </a:spcBef>
                        <a:spcAft>
                          <a:spcPts val="0"/>
                        </a:spcAft>
                        <a:buNone/>
                      </a:pPr>
                      <a:r>
                        <a:rPr lang="en-US" sz="750" u="none" strike="noStrike" cap="none">
                          <a:latin typeface="Calibri"/>
                          <a:ea typeface="Calibri"/>
                          <a:cs typeface="Calibri"/>
                          <a:sym typeface="Calibri"/>
                        </a:rPr>
                        <a:t>11q22.2-q22.3 microdeletion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1"/>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11q23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2"/>
                  </a:ext>
                </a:extLst>
              </a:tr>
              <a:tr h="342900">
                <a:tc>
                  <a:txBody>
                    <a:bodyPr/>
                    <a:lstStyle/>
                    <a:p>
                      <a:pPr marL="524510" marR="245109" lvl="0" indent="-272415" algn="l" rtl="0">
                        <a:lnSpc>
                          <a:spcPct val="105000"/>
                        </a:lnSpc>
                        <a:spcBef>
                          <a:spcPts val="0"/>
                        </a:spcBef>
                        <a:spcAft>
                          <a:spcPts val="0"/>
                        </a:spcAft>
                        <a:buNone/>
                      </a:pPr>
                      <a:r>
                        <a:rPr lang="en-US" sz="750" u="none" strike="noStrike" cap="none">
                          <a:latin typeface="Calibri"/>
                          <a:ea typeface="Calibri"/>
                          <a:cs typeface="Calibri"/>
                          <a:sym typeface="Calibri"/>
                        </a:rPr>
                        <a:t>12p12.1 microdeletion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3"/>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12ql4 microdeletion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4"/>
                  </a:ext>
                </a:extLst>
              </a:tr>
              <a:tr h="342900">
                <a:tc>
                  <a:txBody>
                    <a:bodyPr/>
                    <a:lstStyle/>
                    <a:p>
                      <a:pPr marL="524510" marR="161925" lvl="0" indent="-355600" algn="l" rtl="0">
                        <a:lnSpc>
                          <a:spcPct val="105000"/>
                        </a:lnSpc>
                        <a:spcBef>
                          <a:spcPts val="0"/>
                        </a:spcBef>
                        <a:spcAft>
                          <a:spcPts val="0"/>
                        </a:spcAft>
                        <a:buNone/>
                      </a:pPr>
                      <a:r>
                        <a:rPr lang="en-US" sz="750" u="none" strike="noStrike" cap="none">
                          <a:latin typeface="Calibri"/>
                          <a:ea typeface="Calibri"/>
                          <a:cs typeface="Calibri"/>
                          <a:sym typeface="Calibri"/>
                        </a:rPr>
                        <a:t>12q1Sq21.1 microdeletion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5"/>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13q14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6"/>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14q11-q22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7"/>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Frias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8"/>
                  </a:ext>
                </a:extLst>
              </a:tr>
              <a:tr h="340350">
                <a:tc>
                  <a:txBody>
                    <a:bodyPr/>
                    <a:lstStyle/>
                    <a:p>
                      <a:pPr marL="524510" marR="105410" lvl="0" indent="-412114" algn="l" rtl="0">
                        <a:lnSpc>
                          <a:spcPct val="105000"/>
                        </a:lnSpc>
                        <a:spcBef>
                          <a:spcPts val="0"/>
                        </a:spcBef>
                        <a:spcAft>
                          <a:spcPts val="0"/>
                        </a:spcAft>
                        <a:buNone/>
                      </a:pPr>
                      <a:r>
                        <a:rPr lang="en-US" sz="750" u="none" strike="noStrike" cap="none">
                          <a:latin typeface="Calibri"/>
                          <a:ea typeface="Calibri"/>
                          <a:cs typeface="Calibri"/>
                          <a:sym typeface="Calibri"/>
                        </a:rPr>
                        <a:t>14q24.1-q24.3 microdeletion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9"/>
                  </a:ext>
                </a:extLst>
              </a:tr>
            </a:tbl>
          </a:graphicData>
        </a:graphic>
      </p:graphicFrame>
      <p:graphicFrame>
        <p:nvGraphicFramePr>
          <p:cNvPr id="130" name="Google Shape;130;p8"/>
          <p:cNvGraphicFramePr/>
          <p:nvPr/>
        </p:nvGraphicFramePr>
        <p:xfrm>
          <a:off x="3767042" y="1120210"/>
          <a:ext cx="1481450" cy="8270775"/>
        </p:xfrm>
        <a:graphic>
          <a:graphicData uri="http://schemas.openxmlformats.org/drawingml/2006/table">
            <a:tbl>
              <a:tblPr firstRow="1" bandRow="1">
                <a:noFill/>
                <a:tableStyleId>{F28EBD1E-F79C-4DFF-868A-0A9D0052B014}</a:tableStyleId>
              </a:tblPr>
              <a:tblGrid>
                <a:gridCol w="1481450">
                  <a:extLst>
                    <a:ext uri="{9D8B030D-6E8A-4147-A177-3AD203B41FA5}">
                      <a16:colId xmlns:a16="http://schemas.microsoft.com/office/drawing/2014/main" val="20000"/>
                    </a:ext>
                  </a:extLst>
                </a:gridCol>
              </a:tblGrid>
              <a:tr h="240025">
                <a:tc>
                  <a:txBody>
                    <a:bodyPr/>
                    <a:lstStyle/>
                    <a:p>
                      <a:pPr marL="0" marR="0" lvl="0" indent="0" algn="ctr" rtl="0">
                        <a:lnSpc>
                          <a:spcPct val="100000"/>
                        </a:lnSpc>
                        <a:spcBef>
                          <a:spcPts val="0"/>
                        </a:spcBef>
                        <a:spcAft>
                          <a:spcPts val="0"/>
                        </a:spcAft>
                        <a:buNone/>
                      </a:pPr>
                      <a:r>
                        <a:rPr lang="en-US" sz="900" b="1" u="none" strike="noStrike" cap="none">
                          <a:solidFill>
                            <a:srgbClr val="FFFFFF"/>
                          </a:solidFill>
                          <a:latin typeface="Calibri"/>
                          <a:ea typeface="Calibri"/>
                          <a:cs typeface="Calibri"/>
                          <a:sym typeface="Calibri"/>
                        </a:rPr>
                        <a:t>Conditions</a:t>
                      </a:r>
                      <a:endParaRPr sz="900" u="none" strike="noStrike" cap="none">
                        <a:latin typeface="Calibri"/>
                        <a:ea typeface="Calibri"/>
                        <a:cs typeface="Calibri"/>
                        <a:sym typeface="Calibri"/>
                      </a:endParaRPr>
                    </a:p>
                  </a:txBody>
                  <a:tcPr marL="0" marR="0" marT="41900" marB="0">
                    <a:lnB w="9525" cap="flat" cmpd="sng">
                      <a:solidFill>
                        <a:srgbClr val="DEDFFD"/>
                      </a:solidFill>
                      <a:prstDash val="solid"/>
                      <a:round/>
                      <a:headEnd type="none" w="sm" len="sm"/>
                      <a:tailEnd type="none" w="sm" len="sm"/>
                    </a:lnB>
                    <a:solidFill>
                      <a:srgbClr val="999DC0"/>
                    </a:solidFill>
                  </a:tcPr>
                </a:tc>
                <a:extLst>
                  <a:ext uri="{0D108BD9-81ED-4DB2-BD59-A6C34878D82A}">
                    <a16:rowId xmlns:a16="http://schemas.microsoft.com/office/drawing/2014/main" val="10000"/>
                  </a:ext>
                </a:extLst>
              </a:tr>
              <a:tr h="3403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15q13.3 deletion syndrome</a:t>
                      </a:r>
                      <a:endParaRPr sz="750" u="none" strike="noStrike" cap="none">
                        <a:latin typeface="Calibri"/>
                        <a:ea typeface="Calibri"/>
                        <a:cs typeface="Calibri"/>
                        <a:sym typeface="Calibri"/>
                      </a:endParaRPr>
                    </a:p>
                    <a:p>
                      <a:pPr marL="0" marR="0" lvl="0" indent="0" algn="ctr" rtl="0">
                        <a:lnSpc>
                          <a:spcPct val="100000"/>
                        </a:lnSpc>
                        <a:spcBef>
                          <a:spcPts val="45"/>
                        </a:spcBef>
                        <a:spcAft>
                          <a:spcPts val="0"/>
                        </a:spcAft>
                        <a:buNone/>
                      </a:pPr>
                      <a:r>
                        <a:rPr lang="en-US" sz="750" u="none" strike="noStrike" cap="none">
                          <a:latin typeface="Calibri"/>
                          <a:ea typeface="Calibri"/>
                          <a:cs typeface="Calibri"/>
                          <a:sym typeface="Calibri"/>
                        </a:rPr>
                        <a:t>{BP4 to BPS} (loss)</a:t>
                      </a:r>
                      <a:endParaRPr sz="750" u="none" strike="noStrike" cap="none">
                        <a:latin typeface="Calibri"/>
                        <a:ea typeface="Calibri"/>
                        <a:cs typeface="Calibri"/>
                        <a:sym typeface="Calibri"/>
                      </a:endParaRPr>
                    </a:p>
                  </a:txBody>
                  <a:tcPr marL="0" marR="0" marT="4635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1"/>
                  </a:ext>
                </a:extLst>
              </a:tr>
              <a:tr h="34290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15q13.3 deletion syndrome</a:t>
                      </a:r>
                      <a:endParaRPr sz="750" u="none" strike="noStrike" cap="none">
                        <a:latin typeface="Calibri"/>
                        <a:ea typeface="Calibri"/>
                        <a:cs typeface="Calibri"/>
                        <a:sym typeface="Calibri"/>
                      </a:endParaRPr>
                    </a:p>
                    <a:p>
                      <a:pPr marL="0" marR="0" lvl="0" indent="0" algn="ctr" rtl="0">
                        <a:lnSpc>
                          <a:spcPct val="100000"/>
                        </a:lnSpc>
                        <a:spcBef>
                          <a:spcPts val="45"/>
                        </a:spcBef>
                        <a:spcAft>
                          <a:spcPts val="0"/>
                        </a:spcAft>
                        <a:buNone/>
                      </a:pPr>
                      <a:r>
                        <a:rPr lang="en-US" sz="750" u="none" strike="noStrike" cap="none">
                          <a:latin typeface="Calibri"/>
                          <a:ea typeface="Calibri"/>
                          <a:cs typeface="Calibri"/>
                          <a:sym typeface="Calibri"/>
                        </a:rPr>
                        <a:t>{BP4 to BPS} (gain)</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2"/>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15q14 microdeletion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3"/>
                  </a:ext>
                </a:extLst>
              </a:tr>
              <a:tr h="342900">
                <a:tc>
                  <a:txBody>
                    <a:bodyPr/>
                    <a:lstStyle/>
                    <a:p>
                      <a:pPr marL="524510" marR="140335" lvl="0" indent="-377190" algn="l" rtl="0">
                        <a:lnSpc>
                          <a:spcPct val="105000"/>
                        </a:lnSpc>
                        <a:spcBef>
                          <a:spcPts val="0"/>
                        </a:spcBef>
                        <a:spcAft>
                          <a:spcPts val="0"/>
                        </a:spcAft>
                        <a:buNone/>
                      </a:pPr>
                      <a:r>
                        <a:rPr lang="en-US" sz="750" u="none" strike="noStrike" cap="none">
                          <a:latin typeface="Calibri"/>
                          <a:ea typeface="Calibri"/>
                          <a:cs typeface="Calibri"/>
                          <a:sym typeface="Calibri"/>
                        </a:rPr>
                        <a:t>15q2S.2 deletion (proximal)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4"/>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15q26-qter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5"/>
                  </a:ext>
                </a:extLst>
              </a:tr>
              <a:tr h="34290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16p11.2-p12.2</a:t>
                      </a:r>
                      <a:endParaRPr sz="750" u="none" strike="noStrike" cap="none">
                        <a:latin typeface="Calibri"/>
                        <a:ea typeface="Calibri"/>
                        <a:cs typeface="Calibri"/>
                        <a:sym typeface="Calibri"/>
                      </a:endParaRPr>
                    </a:p>
                    <a:p>
                      <a:pPr marL="0" marR="0" lvl="0" indent="0" algn="ctr" rtl="0">
                        <a:lnSpc>
                          <a:spcPct val="100000"/>
                        </a:lnSpc>
                        <a:spcBef>
                          <a:spcPts val="45"/>
                        </a:spcBef>
                        <a:spcAft>
                          <a:spcPts val="0"/>
                        </a:spcAft>
                        <a:buNone/>
                      </a:pPr>
                      <a:r>
                        <a:rPr lang="en-US" sz="750" u="none" strike="noStrike" cap="none">
                          <a:latin typeface="Calibri"/>
                          <a:ea typeface="Calibri"/>
                          <a:cs typeface="Calibri"/>
                          <a:sym typeface="Calibri"/>
                        </a:rPr>
                        <a:t>microduplication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6"/>
                  </a:ext>
                </a:extLst>
              </a:tr>
              <a:tr h="342900">
                <a:tc>
                  <a:txBody>
                    <a:bodyPr/>
                    <a:lstStyle/>
                    <a:p>
                      <a:pPr marL="524510" marR="141605" lvl="0" indent="-375919" algn="l" rtl="0">
                        <a:lnSpc>
                          <a:spcPct val="105000"/>
                        </a:lnSpc>
                        <a:spcBef>
                          <a:spcPts val="0"/>
                        </a:spcBef>
                        <a:spcAft>
                          <a:spcPts val="0"/>
                        </a:spcAft>
                        <a:buNone/>
                      </a:pPr>
                      <a:r>
                        <a:rPr lang="en-US" sz="750" u="none" strike="noStrike" cap="none">
                          <a:latin typeface="Calibri"/>
                          <a:ea typeface="Calibri"/>
                          <a:cs typeface="Calibri"/>
                          <a:sym typeface="Calibri"/>
                        </a:rPr>
                        <a:t>16p12.2 deletion (proximal)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7"/>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16p13.11 duplication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8"/>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16p13.11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9"/>
                  </a:ext>
                </a:extLst>
              </a:tr>
              <a:tr h="462275">
                <a:tc>
                  <a:txBody>
                    <a:bodyPr/>
                    <a:lstStyle/>
                    <a:p>
                      <a:pPr marL="90170" marR="81915" lvl="0" indent="-634" algn="ctr" rtl="0">
                        <a:lnSpc>
                          <a:spcPct val="105000"/>
                        </a:lnSpc>
                        <a:spcBef>
                          <a:spcPts val="0"/>
                        </a:spcBef>
                        <a:spcAft>
                          <a:spcPts val="0"/>
                        </a:spcAft>
                        <a:buNone/>
                      </a:pPr>
                      <a:r>
                        <a:rPr lang="en-US" sz="750" u="none" strike="noStrike" cap="none">
                          <a:latin typeface="Calibri"/>
                          <a:ea typeface="Calibri"/>
                          <a:cs typeface="Calibri"/>
                          <a:sym typeface="Calibri"/>
                        </a:rPr>
                        <a:t>Polycystic kidney disease, infantile severe, with tuberous sclerosis (PKDTS)</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0"/>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Rubinstein-Taybi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1"/>
                  </a:ext>
                </a:extLst>
              </a:tr>
              <a:tr h="582925">
                <a:tc>
                  <a:txBody>
                    <a:bodyPr/>
                    <a:lstStyle/>
                    <a:p>
                      <a:pPr marL="71755" marR="64135" lvl="0" indent="0" algn="ctr" rtl="0">
                        <a:lnSpc>
                          <a:spcPct val="105000"/>
                        </a:lnSpc>
                        <a:spcBef>
                          <a:spcPts val="0"/>
                        </a:spcBef>
                        <a:spcAft>
                          <a:spcPts val="0"/>
                        </a:spcAft>
                        <a:buNone/>
                      </a:pPr>
                      <a:r>
                        <a:rPr lang="en-US" sz="750" u="none" strike="noStrike" cap="none">
                          <a:latin typeface="Calibri"/>
                          <a:ea typeface="Calibri"/>
                          <a:cs typeface="Calibri"/>
                          <a:sym typeface="Calibri"/>
                        </a:rPr>
                        <a:t>Alpha-thalassemia/intellectual disability syndrome, chromosome 16-related</a:t>
                      </a:r>
                      <a:endParaRPr sz="750" u="none" strike="noStrike" cap="none">
                        <a:latin typeface="Calibri"/>
                        <a:ea typeface="Calibri"/>
                        <a:cs typeface="Calibri"/>
                        <a:sym typeface="Calibri"/>
                      </a:endParaRPr>
                    </a:p>
                    <a:p>
                      <a:pPr marL="0" marR="0" lvl="0" indent="0" algn="ctr" rtl="0">
                        <a:lnSpc>
                          <a:spcPct val="100000"/>
                        </a:lnSpc>
                        <a:spcBef>
                          <a:spcPts val="45"/>
                        </a:spcBef>
                        <a:spcAft>
                          <a:spcPts val="0"/>
                        </a:spcAft>
                        <a:buNone/>
                      </a:pPr>
                      <a:r>
                        <a:rPr lang="en-US" sz="750" u="none" strike="noStrike" cap="none">
                          <a:latin typeface="Calibri"/>
                          <a:ea typeface="Calibri"/>
                          <a:cs typeface="Calibri"/>
                          <a:sym typeface="Calibri"/>
                        </a:rPr>
                        <a:t>(ATR-16)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2"/>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16q22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3"/>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Smith-Magenis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4"/>
                  </a:ext>
                </a:extLst>
              </a:tr>
              <a:tr h="342900">
                <a:tc>
                  <a:txBody>
                    <a:bodyPr/>
                    <a:lstStyle/>
                    <a:p>
                      <a:pPr marL="560070" marR="103504" lvl="0" indent="-448944" algn="l" rtl="0">
                        <a:lnSpc>
                          <a:spcPct val="105000"/>
                        </a:lnSpc>
                        <a:spcBef>
                          <a:spcPts val="0"/>
                        </a:spcBef>
                        <a:spcAft>
                          <a:spcPts val="0"/>
                        </a:spcAft>
                        <a:buNone/>
                      </a:pPr>
                      <a:r>
                        <a:rPr lang="en-US" sz="750" u="none" strike="noStrike" cap="none">
                          <a:latin typeface="Calibri"/>
                          <a:ea typeface="Calibri"/>
                          <a:cs typeface="Calibri"/>
                          <a:sym typeface="Calibri"/>
                        </a:rPr>
                        <a:t>Yuan-Harel-Lupski syndrome (YUHAL)</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5"/>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17p12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6"/>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17p12 duplication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7"/>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17p13.l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8"/>
                  </a:ext>
                </a:extLst>
              </a:tr>
              <a:tr h="342900">
                <a:tc>
                  <a:txBody>
                    <a:bodyPr/>
                    <a:lstStyle/>
                    <a:p>
                      <a:pPr marL="229234" marR="147955" lvl="0" indent="-74929" algn="l" rtl="0">
                        <a:lnSpc>
                          <a:spcPct val="105000"/>
                        </a:lnSpc>
                        <a:spcBef>
                          <a:spcPts val="0"/>
                        </a:spcBef>
                        <a:spcAft>
                          <a:spcPts val="0"/>
                        </a:spcAft>
                        <a:buNone/>
                      </a:pPr>
                      <a:r>
                        <a:rPr lang="en-US" sz="750" u="none" strike="noStrike" cap="none">
                          <a:latin typeface="Calibri"/>
                          <a:ea typeface="Calibri"/>
                          <a:cs typeface="Calibri"/>
                          <a:sym typeface="Calibri"/>
                        </a:rPr>
                        <a:t>Miller-Dieker lissencephaly syndrome (MDLS) (loss)</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9"/>
                  </a:ext>
                </a:extLst>
              </a:tr>
              <a:tr h="342900">
                <a:tc>
                  <a:txBody>
                    <a:bodyPr/>
                    <a:lstStyle/>
                    <a:p>
                      <a:pPr marL="227965" marR="147955" lvl="0" indent="-73660" algn="l" rtl="0">
                        <a:lnSpc>
                          <a:spcPct val="105000"/>
                        </a:lnSpc>
                        <a:spcBef>
                          <a:spcPts val="0"/>
                        </a:spcBef>
                        <a:spcAft>
                          <a:spcPts val="0"/>
                        </a:spcAft>
                        <a:buNone/>
                      </a:pPr>
                      <a:r>
                        <a:rPr lang="en-US" sz="750" u="none" strike="noStrike" cap="none">
                          <a:latin typeface="Calibri"/>
                          <a:ea typeface="Calibri"/>
                          <a:cs typeface="Calibri"/>
                          <a:sym typeface="Calibri"/>
                        </a:rPr>
                        <a:t>Miller-Dieker lissencephaly syndrome (MDLS) (gain)</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0"/>
                  </a:ext>
                </a:extLst>
              </a:tr>
              <a:tr h="342275">
                <a:tc>
                  <a:txBody>
                    <a:bodyPr/>
                    <a:lstStyle/>
                    <a:p>
                      <a:pPr marL="524510" marR="84455" lvl="0" indent="-433069" algn="l" rtl="0">
                        <a:lnSpc>
                          <a:spcPct val="105000"/>
                        </a:lnSpc>
                        <a:spcBef>
                          <a:spcPts val="0"/>
                        </a:spcBef>
                        <a:spcAft>
                          <a:spcPts val="0"/>
                        </a:spcAft>
                        <a:buNone/>
                      </a:pPr>
                      <a:r>
                        <a:rPr lang="en-US" sz="750" u="none" strike="noStrike" cap="none">
                          <a:latin typeface="Calibri"/>
                          <a:ea typeface="Calibri"/>
                          <a:cs typeface="Calibri"/>
                          <a:sym typeface="Calibri"/>
                        </a:rPr>
                        <a:t>17p13.3 telomeric duplication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1"/>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17q12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2"/>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17q21.31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3"/>
                  </a:ext>
                </a:extLst>
              </a:tr>
              <a:tr h="342900">
                <a:tc>
                  <a:txBody>
                    <a:bodyPr/>
                    <a:lstStyle/>
                    <a:p>
                      <a:pPr marL="524510" marR="230504" lvl="0" indent="-287019" algn="l" rtl="0">
                        <a:lnSpc>
                          <a:spcPct val="105000"/>
                        </a:lnSpc>
                        <a:spcBef>
                          <a:spcPts val="0"/>
                        </a:spcBef>
                        <a:spcAft>
                          <a:spcPts val="0"/>
                        </a:spcAft>
                        <a:buNone/>
                      </a:pPr>
                      <a:r>
                        <a:rPr lang="en-US" sz="750" u="none" strike="noStrike" cap="none">
                          <a:latin typeface="Calibri"/>
                          <a:ea typeface="Calibri"/>
                          <a:cs typeface="Calibri"/>
                          <a:sym typeface="Calibri"/>
                        </a:rPr>
                        <a:t>17q23.1-q23.2 deletion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4"/>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Tetrasomy 18p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5"/>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18p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6"/>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18q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7"/>
                  </a:ext>
                </a:extLst>
              </a:tr>
              <a:tr h="2203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19p13 duplication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28"/>
                  </a:ext>
                </a:extLst>
              </a:tr>
            </a:tbl>
          </a:graphicData>
        </a:graphic>
      </p:graphicFrame>
      <p:graphicFrame>
        <p:nvGraphicFramePr>
          <p:cNvPr id="131" name="Google Shape;131;p8"/>
          <p:cNvGraphicFramePr/>
          <p:nvPr/>
        </p:nvGraphicFramePr>
        <p:xfrm>
          <a:off x="5383866" y="1120210"/>
          <a:ext cx="1481450" cy="5683850"/>
        </p:xfrm>
        <a:graphic>
          <a:graphicData uri="http://schemas.openxmlformats.org/drawingml/2006/table">
            <a:tbl>
              <a:tblPr firstRow="1" bandRow="1">
                <a:noFill/>
                <a:tableStyleId>{F28EBD1E-F79C-4DFF-868A-0A9D0052B014}</a:tableStyleId>
              </a:tblPr>
              <a:tblGrid>
                <a:gridCol w="1481450">
                  <a:extLst>
                    <a:ext uri="{9D8B030D-6E8A-4147-A177-3AD203B41FA5}">
                      <a16:colId xmlns:a16="http://schemas.microsoft.com/office/drawing/2014/main" val="20000"/>
                    </a:ext>
                  </a:extLst>
                </a:gridCol>
              </a:tblGrid>
              <a:tr h="240025">
                <a:tc>
                  <a:txBody>
                    <a:bodyPr/>
                    <a:lstStyle/>
                    <a:p>
                      <a:pPr marL="0" marR="0" lvl="0" indent="0" algn="ctr" rtl="0">
                        <a:lnSpc>
                          <a:spcPct val="100000"/>
                        </a:lnSpc>
                        <a:spcBef>
                          <a:spcPts val="0"/>
                        </a:spcBef>
                        <a:spcAft>
                          <a:spcPts val="0"/>
                        </a:spcAft>
                        <a:buNone/>
                      </a:pPr>
                      <a:r>
                        <a:rPr lang="en-US" sz="900" u="none" strike="noStrike" cap="none">
                          <a:solidFill>
                            <a:srgbClr val="FFFFFF"/>
                          </a:solidFill>
                          <a:latin typeface="Calibri"/>
                          <a:ea typeface="Calibri"/>
                          <a:cs typeface="Calibri"/>
                          <a:sym typeface="Calibri"/>
                        </a:rPr>
                        <a:t>Conditions</a:t>
                      </a:r>
                      <a:endParaRPr sz="900" u="none" strike="noStrike" cap="none">
                        <a:latin typeface="Calibri"/>
                        <a:ea typeface="Calibri"/>
                        <a:cs typeface="Calibri"/>
                        <a:sym typeface="Calibri"/>
                      </a:endParaRPr>
                    </a:p>
                  </a:txBody>
                  <a:tcPr marL="0" marR="0" marT="41900" marB="0">
                    <a:lnB w="9525" cap="flat" cmpd="sng">
                      <a:solidFill>
                        <a:srgbClr val="DEDFFD"/>
                      </a:solidFill>
                      <a:prstDash val="solid"/>
                      <a:round/>
                      <a:headEnd type="none" w="sm" len="sm"/>
                      <a:tailEnd type="none" w="sm" len="sm"/>
                    </a:lnB>
                    <a:solidFill>
                      <a:srgbClr val="999DC0"/>
                    </a:solidFill>
                  </a:tcPr>
                </a:tc>
                <a:extLst>
                  <a:ext uri="{0D108BD9-81ED-4DB2-BD59-A6C34878D82A}">
                    <a16:rowId xmlns:a16="http://schemas.microsoft.com/office/drawing/2014/main" val="10000"/>
                  </a:ext>
                </a:extLst>
              </a:tr>
              <a:tr h="340350">
                <a:tc>
                  <a:txBody>
                    <a:bodyPr/>
                    <a:lstStyle/>
                    <a:p>
                      <a:pPr marL="524510" marR="218440" lvl="0" indent="-299085" algn="l" rtl="0">
                        <a:lnSpc>
                          <a:spcPct val="105000"/>
                        </a:lnSpc>
                        <a:spcBef>
                          <a:spcPts val="0"/>
                        </a:spcBef>
                        <a:spcAft>
                          <a:spcPts val="0"/>
                        </a:spcAft>
                        <a:buNone/>
                      </a:pPr>
                      <a:r>
                        <a:rPr lang="en-US" sz="750" u="none" strike="noStrike" cap="none">
                          <a:latin typeface="Calibri"/>
                          <a:ea typeface="Calibri"/>
                          <a:cs typeface="Calibri"/>
                          <a:sym typeface="Calibri"/>
                        </a:rPr>
                        <a:t>19q13.11 microdeletion syndrome</a:t>
                      </a:r>
                      <a:endParaRPr sz="750" u="none" strike="noStrike" cap="none">
                        <a:latin typeface="Calibri"/>
                        <a:ea typeface="Calibri"/>
                        <a:cs typeface="Calibri"/>
                        <a:sym typeface="Calibri"/>
                      </a:endParaRPr>
                    </a:p>
                  </a:txBody>
                  <a:tcPr marL="0" marR="0" marT="4065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1"/>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20p13 microdeletion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2"/>
                  </a:ext>
                </a:extLst>
              </a:tr>
              <a:tr h="342900">
                <a:tc>
                  <a:txBody>
                    <a:bodyPr/>
                    <a:lstStyle/>
                    <a:p>
                      <a:pPr marL="524510" marR="52069" lvl="0" indent="-465454" algn="l" rtl="0">
                        <a:lnSpc>
                          <a:spcPct val="105000"/>
                        </a:lnSpc>
                        <a:spcBef>
                          <a:spcPts val="0"/>
                        </a:spcBef>
                        <a:spcAft>
                          <a:spcPts val="0"/>
                        </a:spcAft>
                        <a:buNone/>
                      </a:pPr>
                      <a:r>
                        <a:rPr lang="en-US" sz="750" u="none" strike="noStrike" cap="none">
                          <a:latin typeface="Calibri"/>
                          <a:ea typeface="Calibri"/>
                          <a:cs typeface="Calibri"/>
                          <a:sym typeface="Calibri"/>
                        </a:rPr>
                        <a:t>21q22.11-q22.12 microdeletion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3"/>
                  </a:ext>
                </a:extLst>
              </a:tr>
              <a:tr h="462925">
                <a:tc>
                  <a:txBody>
                    <a:bodyPr/>
                    <a:lstStyle/>
                    <a:p>
                      <a:pPr marL="151130" marR="144145" lvl="0" indent="0" algn="ctr" rtl="0">
                        <a:lnSpc>
                          <a:spcPct val="105000"/>
                        </a:lnSpc>
                        <a:spcBef>
                          <a:spcPts val="0"/>
                        </a:spcBef>
                        <a:spcAft>
                          <a:spcPts val="0"/>
                        </a:spcAft>
                        <a:buNone/>
                      </a:pPr>
                      <a:r>
                        <a:rPr lang="en-US" sz="750" u="none" strike="noStrike" cap="none">
                          <a:latin typeface="Calibri"/>
                          <a:ea typeface="Calibri"/>
                          <a:cs typeface="Calibri"/>
                          <a:sym typeface="Calibri"/>
                        </a:rPr>
                        <a:t>22q11.2 deletion syndrome (distal,</a:t>
                      </a:r>
                      <a:endParaRPr sz="750" u="none" strike="noStrike" cap="none">
                        <a:latin typeface="Calibri"/>
                        <a:ea typeface="Calibri"/>
                        <a:cs typeface="Calibri"/>
                        <a:sym typeface="Calibri"/>
                      </a:endParaRPr>
                    </a:p>
                    <a:p>
                      <a:pPr marL="0" marR="0" lvl="0" indent="0" algn="ctr" rtl="0">
                        <a:lnSpc>
                          <a:spcPct val="100000"/>
                        </a:lnSpc>
                        <a:spcBef>
                          <a:spcPts val="45"/>
                        </a:spcBef>
                        <a:spcAft>
                          <a:spcPts val="0"/>
                        </a:spcAft>
                        <a:buNone/>
                      </a:pPr>
                      <a:r>
                        <a:rPr lang="en-US" sz="750" u="none" strike="noStrike" cap="none">
                          <a:latin typeface="Calibri"/>
                          <a:ea typeface="Calibri"/>
                          <a:cs typeface="Calibri"/>
                          <a:sym typeface="Calibri"/>
                        </a:rPr>
                        <a:t>D-E/F)</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4"/>
                  </a:ext>
                </a:extLst>
              </a:tr>
              <a:tr h="462275">
                <a:tc>
                  <a:txBody>
                    <a:bodyPr/>
                    <a:lstStyle/>
                    <a:p>
                      <a:pPr marL="151130" marR="144145" lvl="0" indent="0" algn="ctr" rtl="0">
                        <a:lnSpc>
                          <a:spcPct val="105000"/>
                        </a:lnSpc>
                        <a:spcBef>
                          <a:spcPts val="0"/>
                        </a:spcBef>
                        <a:spcAft>
                          <a:spcPts val="0"/>
                        </a:spcAft>
                        <a:buNone/>
                      </a:pPr>
                      <a:r>
                        <a:rPr lang="en-US" sz="750" u="none" strike="noStrike" cap="none">
                          <a:latin typeface="Calibri"/>
                          <a:ea typeface="Calibri"/>
                          <a:cs typeface="Calibri"/>
                          <a:sym typeface="Calibri"/>
                        </a:rPr>
                        <a:t>22q11.2 deletion syndrome (LCR22</a:t>
                      </a:r>
                      <a:endParaRPr sz="750" u="none" strike="noStrike" cap="none">
                        <a:latin typeface="Calibri"/>
                        <a:ea typeface="Calibri"/>
                        <a:cs typeface="Calibri"/>
                        <a:sym typeface="Calibri"/>
                      </a:endParaRPr>
                    </a:p>
                    <a:p>
                      <a:pPr marL="0" marR="0" lvl="0" indent="0" algn="ctr" rtl="0">
                        <a:lnSpc>
                          <a:spcPct val="100000"/>
                        </a:lnSpc>
                        <a:spcBef>
                          <a:spcPts val="45"/>
                        </a:spcBef>
                        <a:spcAft>
                          <a:spcPts val="0"/>
                        </a:spcAft>
                        <a:buNone/>
                      </a:pPr>
                      <a:r>
                        <a:rPr lang="en-US" sz="750" u="none" strike="noStrike" cap="none">
                          <a:latin typeface="Calibri"/>
                          <a:ea typeface="Calibri"/>
                          <a:cs typeface="Calibri"/>
                          <a:sym typeface="Calibri"/>
                        </a:rPr>
                        <a:t>B/C-D)</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5"/>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22q13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6"/>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22q13 duplication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7"/>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Xp11.22 duplication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8"/>
                  </a:ext>
                </a:extLst>
              </a:tr>
              <a:tr h="342900">
                <a:tc>
                  <a:txBody>
                    <a:bodyPr/>
                    <a:lstStyle/>
                    <a:p>
                      <a:pPr marL="524510" marR="135890" lvl="0" indent="-382905" algn="l" rtl="0">
                        <a:lnSpc>
                          <a:spcPct val="105000"/>
                        </a:lnSpc>
                        <a:spcBef>
                          <a:spcPts val="0"/>
                        </a:spcBef>
                        <a:spcAft>
                          <a:spcPts val="0"/>
                        </a:spcAft>
                        <a:buNone/>
                      </a:pPr>
                      <a:r>
                        <a:rPr lang="en-US" sz="750" u="none" strike="noStrike" cap="none">
                          <a:latin typeface="Calibri"/>
                          <a:ea typeface="Calibri"/>
                          <a:cs typeface="Calibri"/>
                          <a:sym typeface="Calibri"/>
                        </a:rPr>
                        <a:t>Xp11.22-p11.23 duplication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09"/>
                  </a:ext>
                </a:extLst>
              </a:tr>
              <a:tr h="342900">
                <a:tc>
                  <a:txBody>
                    <a:bodyPr/>
                    <a:lstStyle/>
                    <a:p>
                      <a:pPr marL="524510" marR="243840" lvl="0" indent="-273685" algn="l" rtl="0">
                        <a:lnSpc>
                          <a:spcPct val="105000"/>
                        </a:lnSpc>
                        <a:spcBef>
                          <a:spcPts val="0"/>
                        </a:spcBef>
                        <a:spcAft>
                          <a:spcPts val="0"/>
                        </a:spcAft>
                        <a:buNone/>
                      </a:pPr>
                      <a:r>
                        <a:rPr lang="en-US" sz="750" u="none" strike="noStrike" cap="none">
                          <a:latin typeface="Calibri"/>
                          <a:ea typeface="Calibri"/>
                          <a:cs typeface="Calibri"/>
                          <a:sym typeface="Calibri"/>
                        </a:rPr>
                        <a:t>Xp11.23 microdeletion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0"/>
                  </a:ext>
                </a:extLst>
              </a:tr>
              <a:tr h="2222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Xp11.3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1"/>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Xp21 microdeletion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2"/>
                  </a:ext>
                </a:extLst>
              </a:tr>
              <a:tr h="342900">
                <a:tc>
                  <a:txBody>
                    <a:bodyPr/>
                    <a:lstStyle/>
                    <a:p>
                      <a:pPr marL="524510" marR="202565" lvl="0" indent="-314960" algn="l" rtl="0">
                        <a:lnSpc>
                          <a:spcPct val="105000"/>
                        </a:lnSpc>
                        <a:spcBef>
                          <a:spcPts val="0"/>
                        </a:spcBef>
                        <a:spcAft>
                          <a:spcPts val="0"/>
                        </a:spcAft>
                        <a:buNone/>
                      </a:pPr>
                      <a:r>
                        <a:rPr lang="en-US" sz="750" u="none" strike="noStrike" cap="none">
                          <a:latin typeface="Calibri"/>
                          <a:ea typeface="Calibri"/>
                          <a:cs typeface="Calibri"/>
                          <a:sym typeface="Calibri"/>
                        </a:rPr>
                        <a:t>Xp21.2 microduplication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3"/>
                  </a:ext>
                </a:extLst>
              </a:tr>
              <a:tr h="342900">
                <a:tc>
                  <a:txBody>
                    <a:bodyPr/>
                    <a:lstStyle/>
                    <a:p>
                      <a:pPr marL="524510" marR="243840" lvl="0" indent="-273685" algn="l" rtl="0">
                        <a:lnSpc>
                          <a:spcPct val="105000"/>
                        </a:lnSpc>
                        <a:spcBef>
                          <a:spcPts val="0"/>
                        </a:spcBef>
                        <a:spcAft>
                          <a:spcPts val="0"/>
                        </a:spcAft>
                        <a:buNone/>
                      </a:pPr>
                      <a:r>
                        <a:rPr lang="en-US" sz="750" u="none" strike="noStrike" cap="none">
                          <a:latin typeface="Calibri"/>
                          <a:ea typeface="Calibri"/>
                          <a:cs typeface="Calibri"/>
                          <a:sym typeface="Calibri"/>
                        </a:rPr>
                        <a:t>Xp22.31 microdeletion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4"/>
                  </a:ext>
                </a:extLst>
              </a:tr>
              <a:tr h="222875">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Xq21 microdeletion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5"/>
                  </a:ext>
                </a:extLst>
              </a:tr>
              <a:tr h="342900">
                <a:tc>
                  <a:txBody>
                    <a:bodyPr/>
                    <a:lstStyle/>
                    <a:p>
                      <a:pPr marL="524510" marR="178435" lvl="0" indent="-339090" algn="l" rtl="0">
                        <a:lnSpc>
                          <a:spcPct val="105000"/>
                        </a:lnSpc>
                        <a:spcBef>
                          <a:spcPts val="0"/>
                        </a:spcBef>
                        <a:spcAft>
                          <a:spcPts val="0"/>
                        </a:spcAft>
                        <a:buNone/>
                      </a:pPr>
                      <a:r>
                        <a:rPr lang="en-US" sz="750" u="none" strike="noStrike" cap="none">
                          <a:latin typeface="Calibri"/>
                          <a:ea typeface="Calibri"/>
                          <a:cs typeface="Calibri"/>
                          <a:sym typeface="Calibri"/>
                        </a:rPr>
                        <a:t>Xq22.3 telomeric deletion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6"/>
                  </a:ext>
                </a:extLst>
              </a:tr>
              <a:tr h="342900">
                <a:tc>
                  <a:txBody>
                    <a:bodyPr/>
                    <a:lstStyle/>
                    <a:p>
                      <a:pPr marL="524510" marR="229234" lvl="0" indent="-288290" algn="l" rtl="0">
                        <a:lnSpc>
                          <a:spcPct val="105000"/>
                        </a:lnSpc>
                        <a:spcBef>
                          <a:spcPts val="0"/>
                        </a:spcBef>
                        <a:spcAft>
                          <a:spcPts val="0"/>
                        </a:spcAft>
                        <a:buNone/>
                      </a:pPr>
                      <a:r>
                        <a:rPr lang="en-US" sz="750" u="none" strike="noStrike" cap="none">
                          <a:latin typeface="Calibri"/>
                          <a:ea typeface="Calibri"/>
                          <a:cs typeface="Calibri"/>
                          <a:sym typeface="Calibri"/>
                        </a:rPr>
                        <a:t>Xq27.3-q28 duplication syndrome</a:t>
                      </a:r>
                      <a:endParaRPr sz="750" u="none" strike="noStrike" cap="none">
                        <a:latin typeface="Calibri"/>
                        <a:ea typeface="Calibri"/>
                        <a:cs typeface="Calibri"/>
                        <a:sym typeface="Calibri"/>
                      </a:endParaRPr>
                    </a:p>
                  </a:txBody>
                  <a:tcPr marL="0" marR="0" marT="43175"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7"/>
                  </a:ext>
                </a:extLst>
              </a:tr>
              <a:tr h="220350">
                <a:tc>
                  <a:txBody>
                    <a:bodyPr/>
                    <a:lstStyle/>
                    <a:p>
                      <a:pPr marL="0" marR="0" lvl="0" indent="0" algn="ctr" rtl="0">
                        <a:lnSpc>
                          <a:spcPct val="100000"/>
                        </a:lnSpc>
                        <a:spcBef>
                          <a:spcPts val="0"/>
                        </a:spcBef>
                        <a:spcAft>
                          <a:spcPts val="0"/>
                        </a:spcAft>
                        <a:buNone/>
                      </a:pPr>
                      <a:r>
                        <a:rPr lang="en-US" sz="750" u="none" strike="noStrike" cap="none">
                          <a:latin typeface="Calibri"/>
                          <a:ea typeface="Calibri"/>
                          <a:cs typeface="Calibri"/>
                          <a:sym typeface="Calibri"/>
                        </a:rPr>
                        <a:t>Xq28 deletion syndrome</a:t>
                      </a:r>
                      <a:endParaRPr sz="750" u="none" strike="noStrike" cap="none">
                        <a:latin typeface="Calibri"/>
                        <a:ea typeface="Calibri"/>
                        <a:cs typeface="Calibri"/>
                        <a:sym typeface="Calibri"/>
                      </a:endParaRPr>
                    </a:p>
                  </a:txBody>
                  <a:tcPr marL="0" marR="0" marT="48900" marB="0">
                    <a:lnL w="9525" cap="flat" cmpd="sng">
                      <a:solidFill>
                        <a:srgbClr val="DEDFFD"/>
                      </a:solidFill>
                      <a:prstDash val="solid"/>
                      <a:round/>
                      <a:headEnd type="none" w="sm" len="sm"/>
                      <a:tailEnd type="none" w="sm" len="sm"/>
                    </a:lnL>
                    <a:lnR w="9525" cap="flat" cmpd="sng">
                      <a:solidFill>
                        <a:srgbClr val="DEDFFD"/>
                      </a:solidFill>
                      <a:prstDash val="solid"/>
                      <a:round/>
                      <a:headEnd type="none" w="sm" len="sm"/>
                      <a:tailEnd type="none" w="sm" len="sm"/>
                    </a:lnR>
                    <a:lnT w="9525" cap="flat" cmpd="sng">
                      <a:solidFill>
                        <a:srgbClr val="DEDFFD"/>
                      </a:solidFill>
                      <a:prstDash val="solid"/>
                      <a:round/>
                      <a:headEnd type="none" w="sm" len="sm"/>
                      <a:tailEnd type="none" w="sm" len="sm"/>
                    </a:lnT>
                    <a:lnB w="9525" cap="flat" cmpd="sng">
                      <a:solidFill>
                        <a:srgbClr val="DEDFFD"/>
                      </a:solidFill>
                      <a:prstDash val="solid"/>
                      <a:round/>
                      <a:headEnd type="none" w="sm" len="sm"/>
                      <a:tailEnd type="none" w="sm" len="sm"/>
                    </a:lnB>
                  </a:tcPr>
                </a:tc>
                <a:extLst>
                  <a:ext uri="{0D108BD9-81ED-4DB2-BD59-A6C34878D82A}">
                    <a16:rowId xmlns:a16="http://schemas.microsoft.com/office/drawing/2014/main" val="10018"/>
                  </a:ext>
                </a:extLst>
              </a:tr>
            </a:tbl>
          </a:graphicData>
        </a:graphic>
      </p:graphicFrame>
      <p:grpSp>
        <p:nvGrpSpPr>
          <p:cNvPr id="132" name="Google Shape;132;p8"/>
          <p:cNvGrpSpPr/>
          <p:nvPr/>
        </p:nvGrpSpPr>
        <p:grpSpPr>
          <a:xfrm>
            <a:off x="385762" y="357187"/>
            <a:ext cx="6788784" cy="9477375"/>
            <a:chOff x="385762" y="357187"/>
            <a:chExt cx="6788784" cy="9477375"/>
          </a:xfrm>
        </p:grpSpPr>
        <p:sp>
          <p:nvSpPr>
            <p:cNvPr id="133" name="Google Shape;133;p8"/>
            <p:cNvSpPr/>
            <p:nvPr/>
          </p:nvSpPr>
          <p:spPr>
            <a:xfrm>
              <a:off x="425742" y="357187"/>
              <a:ext cx="6708775" cy="9477375"/>
            </a:xfrm>
            <a:custGeom>
              <a:avLst/>
              <a:gdLst/>
              <a:ahLst/>
              <a:cxnLst/>
              <a:rect l="l" t="t" r="r" b="b"/>
              <a:pathLst>
                <a:path w="6708775" h="9477375" extrusionOk="0">
                  <a:moveTo>
                    <a:pt x="6708571" y="20929"/>
                  </a:moveTo>
                  <a:lnTo>
                    <a:pt x="6671997" y="1374"/>
                  </a:lnTo>
                  <a:lnTo>
                    <a:pt x="6658063" y="0"/>
                  </a:lnTo>
                  <a:lnTo>
                    <a:pt x="50507" y="0"/>
                  </a:lnTo>
                  <a:lnTo>
                    <a:pt x="10820" y="12044"/>
                  </a:lnTo>
                  <a:lnTo>
                    <a:pt x="5191" y="16220"/>
                  </a:lnTo>
                  <a:lnTo>
                    <a:pt x="0" y="20929"/>
                  </a:lnTo>
                </a:path>
                <a:path w="6708775" h="9477375" extrusionOk="0">
                  <a:moveTo>
                    <a:pt x="0" y="9456445"/>
                  </a:moveTo>
                  <a:lnTo>
                    <a:pt x="36574" y="9476000"/>
                  </a:lnTo>
                  <a:lnTo>
                    <a:pt x="50507" y="9477375"/>
                  </a:lnTo>
                  <a:lnTo>
                    <a:pt x="6634251" y="9477375"/>
                  </a:lnTo>
                  <a:lnTo>
                    <a:pt x="6678428" y="9474299"/>
                  </a:lnTo>
                  <a:lnTo>
                    <a:pt x="6703380" y="9461154"/>
                  </a:lnTo>
                  <a:lnTo>
                    <a:pt x="6708571" y="9456445"/>
                  </a:lnTo>
                </a:path>
              </a:pathLst>
            </a:custGeom>
            <a:noFill/>
            <a:ln w="476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34" name="Google Shape;134;p8"/>
            <p:cNvSpPr/>
            <p:nvPr/>
          </p:nvSpPr>
          <p:spPr>
            <a:xfrm>
              <a:off x="385762" y="364642"/>
              <a:ext cx="6788784" cy="9462770"/>
            </a:xfrm>
            <a:custGeom>
              <a:avLst/>
              <a:gdLst/>
              <a:ahLst/>
              <a:cxnLst/>
              <a:rect l="l" t="t" r="r" b="b"/>
              <a:pathLst>
                <a:path w="6788784" h="9462770" extrusionOk="0">
                  <a:moveTo>
                    <a:pt x="26504" y="0"/>
                  </a:moveTo>
                  <a:lnTo>
                    <a:pt x="3895" y="37713"/>
                  </a:lnTo>
                  <a:lnTo>
                    <a:pt x="0" y="63982"/>
                  </a:lnTo>
                  <a:lnTo>
                    <a:pt x="0" y="9393720"/>
                  </a:lnTo>
                  <a:lnTo>
                    <a:pt x="6883" y="9433115"/>
                  </a:lnTo>
                  <a:lnTo>
                    <a:pt x="20540" y="9455886"/>
                  </a:lnTo>
                  <a:lnTo>
                    <a:pt x="26504" y="9462465"/>
                  </a:lnTo>
                </a:path>
                <a:path w="6788784" h="9462770" extrusionOk="0">
                  <a:moveTo>
                    <a:pt x="6762026" y="9462465"/>
                  </a:moveTo>
                  <a:lnTo>
                    <a:pt x="6784635" y="9424751"/>
                  </a:lnTo>
                  <a:lnTo>
                    <a:pt x="6788531" y="9398482"/>
                  </a:lnTo>
                  <a:lnTo>
                    <a:pt x="6788531" y="68745"/>
                  </a:lnTo>
                  <a:lnTo>
                    <a:pt x="6781647" y="29349"/>
                  </a:lnTo>
                  <a:lnTo>
                    <a:pt x="6767990" y="6578"/>
                  </a:lnTo>
                  <a:lnTo>
                    <a:pt x="6762026"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Shape 138"/>
        <p:cNvGrpSpPr/>
        <p:nvPr/>
      </p:nvGrpSpPr>
      <p:grpSpPr>
        <a:xfrm>
          <a:off x="0" y="0"/>
          <a:ext cx="0" cy="0"/>
          <a:chOff x="0" y="0"/>
          <a:chExt cx="0" cy="0"/>
        </a:xfrm>
      </p:grpSpPr>
      <p:sp>
        <p:nvSpPr>
          <p:cNvPr id="139" name="Google Shape;139;p9"/>
          <p:cNvSpPr/>
          <p:nvPr/>
        </p:nvSpPr>
        <p:spPr>
          <a:xfrm>
            <a:off x="533400" y="860844"/>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Calibri" panose="020F0502020204030204" pitchFamily="34" charset="0"/>
            </a:endParaRPr>
          </a:p>
        </p:txBody>
      </p:sp>
      <p:sp>
        <p:nvSpPr>
          <p:cNvPr id="140" name="Google Shape;140;p9"/>
          <p:cNvSpPr txBox="1"/>
          <p:nvPr/>
        </p:nvSpPr>
        <p:spPr>
          <a:xfrm>
            <a:off x="520700" y="573773"/>
            <a:ext cx="6518909" cy="152019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dirty="0" err="1">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下一步驟</a:t>
            </a:r>
            <a:endParaRPr sz="105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a:p>
            <a:pPr marL="0" lvl="0" indent="0" algn="l" rtl="0">
              <a:lnSpc>
                <a:spcPct val="100000"/>
              </a:lnSpc>
              <a:spcBef>
                <a:spcPts val="60"/>
              </a:spcBef>
              <a:spcAft>
                <a:spcPts val="0"/>
              </a:spcAft>
              <a:buNone/>
            </a:pPr>
            <a:endParaRPr sz="105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a:p>
            <a:pPr marL="12700" marR="5080" lvl="0" indent="0" algn="l" rtl="0">
              <a:lnSpc>
                <a:spcPct val="133300"/>
              </a:lnSpc>
              <a:spcBef>
                <a:spcPts val="0"/>
              </a:spcBef>
              <a:spcAft>
                <a:spcPts val="0"/>
              </a:spcAft>
              <a:buNone/>
            </a:pPr>
            <a:r>
              <a:rPr lang="en-US" sz="900" dirty="0">
                <a:solidFill>
                  <a:srgbClr val="373739"/>
                </a:solidFill>
                <a:latin typeface="Noto Sans SC" panose="020B0200000000000000" pitchFamily="34" charset="-128"/>
                <a:ea typeface="Noto Sans SC" panose="020B0200000000000000" pitchFamily="34" charset="-128"/>
                <a:cs typeface="Calibri" panose="020F0502020204030204" pitchFamily="34" charset="0"/>
                <a:sym typeface="Microsoft YaHei"/>
              </a:rPr>
              <a:t>&gt;陰性（未檢測異常）結果表示您的胎兒發生染色體異常的風險很低，但仍不能完全排除胎兒罹患染色體異常的可能，建議搭配其他檢查進行綜合評估（如：高層次超音波）。</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a:p>
            <a:pPr marL="12700" lvl="0" indent="0" algn="l" rtl="0">
              <a:lnSpc>
                <a:spcPct val="100000"/>
              </a:lnSpc>
              <a:spcBef>
                <a:spcPts val="360"/>
              </a:spcBef>
              <a:spcAft>
                <a:spcPts val="0"/>
              </a:spcAft>
              <a:buNone/>
            </a:pPr>
            <a:r>
              <a:rPr lang="en-US" sz="900" dirty="0">
                <a:solidFill>
                  <a:srgbClr val="373739"/>
                </a:solidFill>
                <a:latin typeface="Noto Sans SC" panose="020B0200000000000000" pitchFamily="34" charset="-128"/>
                <a:ea typeface="Noto Sans SC" panose="020B0200000000000000" pitchFamily="34" charset="-128"/>
                <a:cs typeface="Calibri" panose="020F0502020204030204" pitchFamily="34" charset="0"/>
                <a:sym typeface="Microsoft YaHei"/>
              </a:rPr>
              <a:t>&gt;</a:t>
            </a:r>
            <a:r>
              <a:rPr lang="en-US" sz="900" dirty="0" err="1">
                <a:solidFill>
                  <a:srgbClr val="373739"/>
                </a:solidFill>
                <a:latin typeface="Noto Sans SC" panose="020B0200000000000000" pitchFamily="34" charset="-128"/>
                <a:ea typeface="Noto Sans SC" panose="020B0200000000000000" pitchFamily="34" charset="-128"/>
                <a:cs typeface="Calibri" panose="020F0502020204030204" pitchFamily="34" charset="0"/>
                <a:sym typeface="Microsoft YaHei"/>
              </a:rPr>
              <a:t>後續產檢過程中，如有發現胎兒超音波異常，請遵照產檢醫師建議之醫療處置（如：侵入性檢查）以確認胎兒是否異常</a:t>
            </a:r>
            <a:r>
              <a:rPr lang="en-US" sz="900" dirty="0">
                <a:solidFill>
                  <a:srgbClr val="373739"/>
                </a:solidFill>
                <a:latin typeface="Noto Sans SC" panose="020B0200000000000000" pitchFamily="34" charset="-128"/>
                <a:ea typeface="Noto Sans SC" panose="020B0200000000000000" pitchFamily="34" charset="-128"/>
                <a:cs typeface="Calibri" panose="020F0502020204030204" pitchFamily="34" charset="0"/>
                <a:sym typeface="Microsoft YaHei"/>
              </a:rPr>
              <a:t>。</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a:p>
            <a:pPr marL="12700" lvl="0" indent="0" algn="l" rtl="0">
              <a:lnSpc>
                <a:spcPct val="100000"/>
              </a:lnSpc>
              <a:spcBef>
                <a:spcPts val="360"/>
              </a:spcBef>
              <a:spcAft>
                <a:spcPts val="0"/>
              </a:spcAft>
              <a:buNone/>
            </a:pPr>
            <a:r>
              <a:rPr lang="en-US" sz="900" dirty="0">
                <a:solidFill>
                  <a:srgbClr val="373739"/>
                </a:solidFill>
                <a:latin typeface="Noto Sans SC" panose="020B0200000000000000" pitchFamily="34" charset="-128"/>
                <a:ea typeface="Noto Sans SC" panose="020B0200000000000000" pitchFamily="34" charset="-128"/>
                <a:cs typeface="Calibri" panose="020F0502020204030204" pitchFamily="34" charset="0"/>
                <a:sym typeface="Microsoft YaHei"/>
              </a:rPr>
              <a:t>&gt;</a:t>
            </a:r>
            <a:r>
              <a:rPr lang="en-US" sz="900" dirty="0" err="1">
                <a:solidFill>
                  <a:srgbClr val="373739"/>
                </a:solidFill>
                <a:latin typeface="Noto Sans SC" panose="020B0200000000000000" pitchFamily="34" charset="-128"/>
                <a:ea typeface="Noto Sans SC" panose="020B0200000000000000" pitchFamily="34" charset="-128"/>
                <a:cs typeface="Calibri" panose="020F0502020204030204" pitchFamily="34" charset="0"/>
                <a:sym typeface="Microsoft YaHei"/>
              </a:rPr>
              <a:t>本篩檢結果不得單獨作為影響懷孕過程的任何診斷依據，適用於臨床參考，臨床建議及相關諮詢請洽專業醫師</a:t>
            </a:r>
            <a:r>
              <a:rPr lang="en-US" sz="900" dirty="0">
                <a:solidFill>
                  <a:srgbClr val="373739"/>
                </a:solidFill>
                <a:latin typeface="Noto Sans SC" panose="020B0200000000000000" pitchFamily="34" charset="-128"/>
                <a:ea typeface="Noto Sans SC" panose="020B0200000000000000" pitchFamily="34" charset="-128"/>
                <a:cs typeface="Calibri" panose="020F0502020204030204" pitchFamily="34" charset="0"/>
                <a:sym typeface="Microsoft YaHei"/>
              </a:rPr>
              <a:t>。</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a:p>
            <a:pPr marL="12700" marR="5080" lvl="0" indent="0" algn="l" rtl="0">
              <a:lnSpc>
                <a:spcPct val="133300"/>
              </a:lnSpc>
              <a:spcBef>
                <a:spcPts val="5"/>
              </a:spcBef>
              <a:spcAft>
                <a:spcPts val="0"/>
              </a:spcAft>
              <a:buNone/>
            </a:pPr>
            <a:r>
              <a:rPr lang="en-US" sz="900" dirty="0">
                <a:solidFill>
                  <a:srgbClr val="373739"/>
                </a:solidFill>
                <a:latin typeface="Noto Sans SC" panose="020B0200000000000000" pitchFamily="34" charset="-128"/>
                <a:ea typeface="Noto Sans SC" panose="020B0200000000000000" pitchFamily="34" charset="-128"/>
                <a:cs typeface="Calibri" panose="020F0502020204030204" pitchFamily="34" charset="0"/>
                <a:sym typeface="Microsoft YaHei"/>
              </a:rPr>
              <a:t>&gt;NIPT</a:t>
            </a:r>
            <a:r>
              <a:rPr lang="en-US" sz="900" dirty="0">
                <a:solidFill>
                  <a:srgbClr val="373739"/>
                </a:solidFill>
                <a:latin typeface="Noto Sans SC" panose="020B0200000000000000" pitchFamily="34" charset="-128"/>
                <a:ea typeface="Noto Sans SC" panose="020B0200000000000000" pitchFamily="34" charset="-128"/>
                <a:cs typeface="Calibri" panose="020F0502020204030204" pitchFamily="34" charset="0"/>
                <a:sym typeface="Times New Roman"/>
              </a:rPr>
              <a:t> </a:t>
            </a:r>
            <a:r>
              <a:rPr lang="en-US" sz="900" dirty="0" err="1">
                <a:solidFill>
                  <a:srgbClr val="373739"/>
                </a:solidFill>
                <a:latin typeface="Noto Sans SC" panose="020B0200000000000000" pitchFamily="34" charset="-128"/>
                <a:ea typeface="Noto Sans SC" panose="020B0200000000000000" pitchFamily="34" charset="-128"/>
                <a:cs typeface="Calibri" panose="020F0502020204030204" pitchFamily="34" charset="0"/>
                <a:sym typeface="Microsoft YaHei"/>
              </a:rPr>
              <a:t>評估特定疾病的風險（請參閱結果表</a:t>
            </a:r>
            <a:r>
              <a:rPr lang="en-US" sz="900" dirty="0">
                <a:solidFill>
                  <a:srgbClr val="373739"/>
                </a:solidFill>
                <a:latin typeface="Noto Sans SC" panose="020B0200000000000000" pitchFamily="34" charset="-128"/>
                <a:ea typeface="Noto Sans SC" panose="020B0200000000000000" pitchFamily="34" charset="-128"/>
                <a:cs typeface="Calibri" panose="020F0502020204030204" pitchFamily="34" charset="0"/>
                <a:sym typeface="Microsoft YaHei"/>
              </a:rPr>
              <a:t>），</a:t>
            </a:r>
            <a:r>
              <a:rPr lang="en-US" sz="900" dirty="0" err="1">
                <a:solidFill>
                  <a:srgbClr val="373739"/>
                </a:solidFill>
                <a:latin typeface="Noto Sans SC" panose="020B0200000000000000" pitchFamily="34" charset="-128"/>
                <a:ea typeface="Noto Sans SC" panose="020B0200000000000000" pitchFamily="34" charset="-128"/>
                <a:cs typeface="Calibri" panose="020F0502020204030204" pitchFamily="34" charset="0"/>
                <a:sym typeface="Microsoft YaHei"/>
              </a:rPr>
              <a:t>但是它並未檢測所有可能的遺傳狀況或其他先天缺陷，您的主治醫師可能會建議您在懷孕期間或之後進行其他類型的基因檢測</a:t>
            </a:r>
            <a:r>
              <a:rPr lang="en-US" sz="900" dirty="0">
                <a:solidFill>
                  <a:srgbClr val="373739"/>
                </a:solidFill>
                <a:latin typeface="Noto Sans SC" panose="020B0200000000000000" pitchFamily="34" charset="-128"/>
                <a:ea typeface="Noto Sans SC" panose="020B0200000000000000" pitchFamily="34" charset="-128"/>
                <a:cs typeface="Calibri" panose="020F0502020204030204" pitchFamily="34" charset="0"/>
                <a:sym typeface="Microsoft YaHei"/>
              </a:rPr>
              <a:t>。</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141" name="Google Shape;141;p9"/>
          <p:cNvSpPr/>
          <p:nvPr/>
        </p:nvSpPr>
        <p:spPr>
          <a:xfrm>
            <a:off x="533400" y="2203450"/>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Calibri" panose="020F0502020204030204" pitchFamily="34" charset="0"/>
            </a:endParaRPr>
          </a:p>
        </p:txBody>
      </p:sp>
      <p:sp>
        <p:nvSpPr>
          <p:cNvPr id="142" name="Google Shape;142;p9"/>
          <p:cNvSpPr/>
          <p:nvPr/>
        </p:nvSpPr>
        <p:spPr>
          <a:xfrm>
            <a:off x="533400" y="2782151"/>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Calibri" panose="020F0502020204030204" pitchFamily="34" charset="0"/>
            </a:endParaRPr>
          </a:p>
        </p:txBody>
      </p:sp>
      <p:sp>
        <p:nvSpPr>
          <p:cNvPr id="143" name="Google Shape;143;p9"/>
          <p:cNvSpPr txBox="1"/>
          <p:nvPr/>
        </p:nvSpPr>
        <p:spPr>
          <a:xfrm>
            <a:off x="520700" y="2495080"/>
            <a:ext cx="6520180" cy="71558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方法</a:t>
            </a:r>
            <a:endParaRPr sz="1050">
              <a:latin typeface="Noto Sans SC" panose="020B0200000000000000" pitchFamily="34" charset="-128"/>
              <a:ea typeface="Noto Sans SC" panose="020B0200000000000000" pitchFamily="34" charset="-128"/>
              <a:cs typeface="Calibri" panose="020F0502020204030204" pitchFamily="34" charset="0"/>
              <a:sym typeface="Microsoft YaHei"/>
            </a:endParaRPr>
          </a:p>
          <a:p>
            <a:pPr marL="0" lvl="0" indent="0" algn="l" rtl="0">
              <a:lnSpc>
                <a:spcPct val="100000"/>
              </a:lnSpc>
              <a:spcBef>
                <a:spcPts val="420"/>
              </a:spcBef>
              <a:spcAft>
                <a:spcPts val="0"/>
              </a:spcAft>
              <a:buNone/>
            </a:pPr>
            <a:endParaRPr sz="1050">
              <a:latin typeface="Noto Sans SC" panose="020B0200000000000000" pitchFamily="34" charset="-128"/>
              <a:ea typeface="Noto Sans SC" panose="020B0200000000000000" pitchFamily="34" charset="-128"/>
              <a:cs typeface="Calibri" panose="020F0502020204030204" pitchFamily="34" charset="0"/>
              <a:sym typeface="Microsoft YaHei"/>
            </a:endParaRPr>
          </a:p>
          <a:p>
            <a:pPr marL="12700" lvl="0" indent="0" algn="l" rtl="0">
              <a:lnSpc>
                <a:spcPct val="100000"/>
              </a:lnSpc>
              <a:spcBef>
                <a:spcPts val="0"/>
              </a:spcBef>
              <a:spcAft>
                <a:spcPts val="0"/>
              </a:spcAft>
              <a:buNone/>
            </a:pPr>
            <a:r>
              <a:rPr lang="en-US" sz="900">
                <a:solidFill>
                  <a:srgbClr val="373739"/>
                </a:solidFill>
                <a:latin typeface="Noto Sans SC" panose="020B0200000000000000" pitchFamily="34" charset="-128"/>
                <a:ea typeface="Noto Sans SC" panose="020B0200000000000000" pitchFamily="34" charset="-128"/>
                <a:cs typeface="Calibri" panose="020F0502020204030204" pitchFamily="34" charset="0"/>
                <a:sym typeface="Microsoft YaHei"/>
              </a:rPr>
              <a:t>抽取懷孕婦女周邊血液，並萃取血漿中之胎兒細胞游離去氧核醣核酸（DNA），進行大規模平行測序和測序結果進行分析以確定</a:t>
            </a:r>
            <a:endParaRPr sz="900">
              <a:latin typeface="Noto Sans SC" panose="020B0200000000000000" pitchFamily="34" charset="-128"/>
              <a:ea typeface="Noto Sans SC" panose="020B0200000000000000" pitchFamily="34" charset="-128"/>
              <a:cs typeface="Calibri" panose="020F0502020204030204" pitchFamily="34" charset="0"/>
              <a:sym typeface="Microsoft YaHei"/>
            </a:endParaRPr>
          </a:p>
          <a:p>
            <a:pPr marL="12700" lvl="0" indent="0" algn="l" rtl="0">
              <a:lnSpc>
                <a:spcPct val="100000"/>
              </a:lnSpc>
              <a:spcBef>
                <a:spcPts val="360"/>
              </a:spcBef>
              <a:spcAft>
                <a:spcPts val="0"/>
              </a:spcAft>
              <a:buNone/>
            </a:pPr>
            <a:r>
              <a:rPr lang="en-US" sz="900">
                <a:solidFill>
                  <a:srgbClr val="373739"/>
                </a:solidFill>
                <a:latin typeface="Noto Sans SC" panose="020B0200000000000000" pitchFamily="34" charset="-128"/>
                <a:ea typeface="Noto Sans SC" panose="020B0200000000000000" pitchFamily="34" charset="-128"/>
                <a:cs typeface="Calibri" panose="020F0502020204030204" pitchFamily="34" charset="0"/>
                <a:sym typeface="Microsoft YaHei"/>
              </a:rPr>
              <a:t>胎兒染色體。</a:t>
            </a:r>
            <a:endParaRPr sz="90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144" name="Google Shape;144;p9"/>
          <p:cNvSpPr/>
          <p:nvPr/>
        </p:nvSpPr>
        <p:spPr>
          <a:xfrm>
            <a:off x="533400" y="3393237"/>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Calibri" panose="020F0502020204030204" pitchFamily="34" charset="0"/>
            </a:endParaRPr>
          </a:p>
        </p:txBody>
      </p:sp>
      <p:sp>
        <p:nvSpPr>
          <p:cNvPr id="145" name="Google Shape;145;p9"/>
          <p:cNvSpPr/>
          <p:nvPr/>
        </p:nvSpPr>
        <p:spPr>
          <a:xfrm>
            <a:off x="533400" y="4067187"/>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Calibri" panose="020F0502020204030204" pitchFamily="34" charset="0"/>
            </a:endParaRPr>
          </a:p>
        </p:txBody>
      </p:sp>
      <p:sp>
        <p:nvSpPr>
          <p:cNvPr id="146" name="Google Shape;146;p9"/>
          <p:cNvSpPr txBox="1"/>
          <p:nvPr/>
        </p:nvSpPr>
        <p:spPr>
          <a:xfrm>
            <a:off x="520700" y="3780117"/>
            <a:ext cx="6520180" cy="185948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dirty="0" err="1">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侷限性</a:t>
            </a:r>
            <a:endParaRPr sz="105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a:p>
            <a:pPr marL="12700" marR="5080" lvl="0" indent="0" algn="just" rtl="0">
              <a:lnSpc>
                <a:spcPct val="150000"/>
              </a:lnSpc>
              <a:spcBef>
                <a:spcPts val="1775"/>
              </a:spcBef>
              <a:spcAft>
                <a:spcPts val="0"/>
              </a:spcAft>
              <a:buNone/>
            </a:pPr>
            <a:r>
              <a:rPr lang="en-US" sz="900" dirty="0" err="1">
                <a:solidFill>
                  <a:srgbClr val="373739"/>
                </a:solidFill>
                <a:latin typeface="Noto Sans SC" panose="020B0200000000000000" pitchFamily="34" charset="-128"/>
                <a:ea typeface="Noto Sans SC" panose="020B0200000000000000" pitchFamily="34" charset="-128"/>
                <a:cs typeface="Calibri" panose="020F0502020204030204" pitchFamily="34" charset="0"/>
                <a:sym typeface="Microsoft YaHei"/>
              </a:rPr>
              <a:t>非侵入性母血胎兒染色體檢測</a:t>
            </a:r>
            <a:r>
              <a:rPr lang="en-US" sz="900" dirty="0">
                <a:solidFill>
                  <a:srgbClr val="373739"/>
                </a:solidFill>
                <a:latin typeface="Noto Sans SC" panose="020B0200000000000000" pitchFamily="34" charset="-128"/>
                <a:ea typeface="Noto Sans SC" panose="020B0200000000000000" pitchFamily="34" charset="-128"/>
                <a:cs typeface="Calibri" panose="020F0502020204030204" pitchFamily="34" charset="0"/>
                <a:sym typeface="Microsoft YaHei"/>
              </a:rPr>
              <a:t>&lt;</a:t>
            </a:r>
            <a:r>
              <a:rPr lang="en-US" sz="900" dirty="0">
                <a:solidFill>
                  <a:srgbClr val="373739"/>
                </a:solidFill>
                <a:latin typeface="Noto Sans SC" panose="020B0200000000000000" pitchFamily="34" charset="-128"/>
                <a:ea typeface="Noto Sans SC" panose="020B0200000000000000" pitchFamily="34" charset="-128"/>
                <a:cs typeface="Calibri" panose="020F0502020204030204" pitchFamily="34" charset="0"/>
                <a:sym typeface="Times New Roman"/>
              </a:rPr>
              <a:t> </a:t>
            </a:r>
            <a:r>
              <a:rPr lang="en-US" sz="900" dirty="0">
                <a:solidFill>
                  <a:srgbClr val="373739"/>
                </a:solidFill>
                <a:latin typeface="Noto Sans SC" panose="020B0200000000000000" pitchFamily="34" charset="-128"/>
                <a:ea typeface="Noto Sans SC" panose="020B0200000000000000" pitchFamily="34" charset="-128"/>
                <a:cs typeface="Calibri" panose="020F0502020204030204" pitchFamily="34" charset="0"/>
                <a:sym typeface="Microsoft YaHei"/>
              </a:rPr>
              <a:t>NIPT</a:t>
            </a:r>
            <a:r>
              <a:rPr lang="en-US" sz="900" dirty="0">
                <a:solidFill>
                  <a:srgbClr val="373739"/>
                </a:solidFill>
                <a:latin typeface="Noto Sans SC" panose="020B0200000000000000" pitchFamily="34" charset="-128"/>
                <a:ea typeface="Noto Sans SC" panose="020B0200000000000000" pitchFamily="34" charset="-128"/>
                <a:cs typeface="Calibri" panose="020F0502020204030204" pitchFamily="34" charset="0"/>
                <a:sym typeface="Times New Roman"/>
              </a:rPr>
              <a:t> </a:t>
            </a:r>
            <a:r>
              <a:rPr lang="en-US" sz="900" dirty="0">
                <a:solidFill>
                  <a:srgbClr val="373739"/>
                </a:solidFill>
                <a:latin typeface="Noto Sans SC" panose="020B0200000000000000" pitchFamily="34" charset="-128"/>
                <a:ea typeface="Noto Sans SC" panose="020B0200000000000000" pitchFamily="34" charset="-128"/>
                <a:cs typeface="Calibri" panose="020F0502020204030204" pitchFamily="34" charset="0"/>
                <a:sym typeface="Microsoft YaHei"/>
              </a:rPr>
              <a:t>Test&gt;本檢測主要從細胞游離DNA中分析胎兒染色體非整倍體，並針對孕齡至少10週（根據末次月經期估計）的單胞胎妊娠進行檢測。這些結果並不能排除這次懷孕可能有其他染色體異常、出生缺陷或其他疾病的可能性。本檢測無法識別有開放性神經管缺陷風險的妊娠。陰性檢測結果並不能完全消除染色體異常的可能性。檢測結果有小概率不能呈現胎兒的染色體情況，但可能呈現胎盤（限制型胎盤鑲嵌體）或母體（染色體嵌合體）的染色體變化。不準確的測試結果其潛在來源可能包括但不限於：母體、胎兒或胎盤的鑲嵌體、胎兒游離DNA濃度過低、輸血、移植手術和幹細胞治療。尤其是胚胎萎縮、胎兒死亡等情況可能導致偽陰性或偽陽性的結果。如果需要明確診斷，則需依照臨床醫師建議進行絨毛膜取樣或羊膜穿刺術。</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148" name="Google Shape;148;p9"/>
          <p:cNvSpPr/>
          <p:nvPr/>
        </p:nvSpPr>
        <p:spPr>
          <a:xfrm>
            <a:off x="533400" y="6125654"/>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Calibri" panose="020F0502020204030204" pitchFamily="34" charset="0"/>
            </a:endParaRPr>
          </a:p>
        </p:txBody>
      </p:sp>
      <p:sp>
        <p:nvSpPr>
          <p:cNvPr id="149" name="Google Shape;149;p9"/>
          <p:cNvSpPr txBox="1"/>
          <p:nvPr/>
        </p:nvSpPr>
        <p:spPr>
          <a:xfrm>
            <a:off x="520700" y="5838583"/>
            <a:ext cx="6520180" cy="901465"/>
          </a:xfrm>
          <a:prstGeom prst="rect">
            <a:avLst/>
          </a:prstGeom>
          <a:noFill/>
          <a:ln>
            <a:noFill/>
          </a:ln>
        </p:spPr>
        <p:txBody>
          <a:bodyPr spcFirstLastPara="1" wrap="square" lIns="0" tIns="12700" rIns="0" bIns="0" anchor="t" anchorCtr="0">
            <a:spAutoFit/>
          </a:bodyPr>
          <a:lstStyle/>
          <a:p>
            <a:pPr marL="12700" lvl="0" indent="0" algn="just" rtl="0">
              <a:lnSpc>
                <a:spcPct val="100000"/>
              </a:lnSpc>
              <a:spcBef>
                <a:spcPts val="0"/>
              </a:spcBef>
              <a:spcAft>
                <a:spcPts val="0"/>
              </a:spcAft>
              <a:buNone/>
            </a:pPr>
            <a:r>
              <a:rPr lang="en-US" sz="1050" dirty="0" err="1">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微小片段缺失疾病</a:t>
            </a:r>
            <a:r>
              <a:rPr lang="en-US" sz="105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a:t>
            </a:r>
            <a:r>
              <a:rPr lang="en-US" sz="105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Times New Roman"/>
              </a:rPr>
              <a:t> </a:t>
            </a:r>
            <a:r>
              <a:rPr lang="en-US" sz="105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Microdeletion</a:t>
            </a:r>
            <a:r>
              <a:rPr lang="en-US" sz="105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Times New Roman"/>
              </a:rPr>
              <a:t> </a:t>
            </a:r>
            <a:r>
              <a:rPr lang="en-US" sz="105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&gt;</a:t>
            </a:r>
            <a:endParaRPr sz="105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a:p>
            <a:pPr marL="0" lvl="0" indent="0" algn="l" rtl="0">
              <a:lnSpc>
                <a:spcPct val="100000"/>
              </a:lnSpc>
              <a:spcBef>
                <a:spcPts val="60"/>
              </a:spcBef>
              <a:spcAft>
                <a:spcPts val="0"/>
              </a:spcAft>
              <a:buNone/>
            </a:pPr>
            <a:endParaRPr sz="105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a:p>
            <a:pPr marL="12700" marR="5080" lvl="0" indent="0" algn="just" rtl="0">
              <a:lnSpc>
                <a:spcPct val="133300"/>
              </a:lnSpc>
              <a:spcBef>
                <a:spcPts val="0"/>
              </a:spcBef>
              <a:spcAft>
                <a:spcPts val="0"/>
              </a:spcAft>
              <a:buNone/>
            </a:pPr>
            <a:r>
              <a:rPr lang="en-US" sz="900" dirty="0" err="1">
                <a:solidFill>
                  <a:srgbClr val="373739"/>
                </a:solidFill>
                <a:latin typeface="Noto Sans SC" panose="020B0200000000000000" pitchFamily="34" charset="-128"/>
                <a:ea typeface="Noto Sans SC" panose="020B0200000000000000" pitchFamily="34" charset="-128"/>
                <a:cs typeface="Calibri" panose="020F0502020204030204" pitchFamily="34" charset="0"/>
                <a:sym typeface="Microsoft YaHei"/>
              </a:rPr>
              <a:t>本檢測主要檢測染色體區域</a:t>
            </a:r>
            <a:r>
              <a:rPr lang="en-US" sz="900" dirty="0">
                <a:solidFill>
                  <a:srgbClr val="373739"/>
                </a:solidFill>
                <a:latin typeface="Noto Sans SC" panose="020B0200000000000000" pitchFamily="34" charset="-128"/>
                <a:ea typeface="Noto Sans SC" panose="020B0200000000000000" pitchFamily="34" charset="-128"/>
                <a:cs typeface="Calibri" panose="020F0502020204030204" pitchFamily="34" charset="0"/>
                <a:sym typeface="Microsoft YaHei"/>
              </a:rPr>
              <a:t>-</a:t>
            </a:r>
            <a:r>
              <a:rPr lang="en-US" sz="900" dirty="0">
                <a:solidFill>
                  <a:srgbClr val="373739"/>
                </a:solidFill>
                <a:latin typeface="Noto Sans SC" panose="020B0200000000000000" pitchFamily="34" charset="-128"/>
                <a:ea typeface="Noto Sans SC" panose="020B0200000000000000" pitchFamily="34" charset="-128"/>
                <a:cs typeface="Calibri" panose="020F0502020204030204" pitchFamily="34" charset="0"/>
                <a:sym typeface="Times New Roman"/>
              </a:rPr>
              <a:t> </a:t>
            </a:r>
            <a:r>
              <a:rPr lang="en-US" sz="900" dirty="0">
                <a:solidFill>
                  <a:srgbClr val="373739"/>
                </a:solidFill>
                <a:latin typeface="Noto Sans SC" panose="020B0200000000000000" pitchFamily="34" charset="-128"/>
                <a:ea typeface="Noto Sans SC" panose="020B0200000000000000" pitchFamily="34" charset="-128"/>
                <a:cs typeface="Calibri" panose="020F0502020204030204" pitchFamily="34" charset="0"/>
                <a:sym typeface="Microsoft YaHei"/>
              </a:rPr>
              <a:t>1p36、2q33.1、4p16.3、5p-、7q11.23、11q23、15q11.2-913、22q11.2或其他區域（詳見請參閱檢測報告項目）中的染色體微小片段缺失，適用於孕齡至少10週的單胞胎妊娠，此孕齡是根據末次月經期、臀圍長度或其他適當方法估算。</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150" name="Google Shape;150;p9"/>
          <p:cNvSpPr/>
          <p:nvPr/>
        </p:nvSpPr>
        <p:spPr>
          <a:xfrm>
            <a:off x="533400" y="6919620"/>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Calibri" panose="020F0502020204030204" pitchFamily="34" charset="0"/>
            </a:endParaRPr>
          </a:p>
        </p:txBody>
      </p:sp>
      <p:sp>
        <p:nvSpPr>
          <p:cNvPr id="151" name="Google Shape;151;p9"/>
          <p:cNvSpPr/>
          <p:nvPr/>
        </p:nvSpPr>
        <p:spPr>
          <a:xfrm>
            <a:off x="533400" y="7593571"/>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Calibri" panose="020F0502020204030204" pitchFamily="34" charset="0"/>
            </a:endParaRPr>
          </a:p>
        </p:txBody>
      </p:sp>
      <p:sp>
        <p:nvSpPr>
          <p:cNvPr id="152" name="Google Shape;152;p9"/>
          <p:cNvSpPr txBox="1"/>
          <p:nvPr/>
        </p:nvSpPr>
        <p:spPr>
          <a:xfrm>
            <a:off x="520700" y="7306488"/>
            <a:ext cx="6517005" cy="89154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披露</a:t>
            </a:r>
            <a:endParaRPr sz="1050">
              <a:latin typeface="Noto Sans SC" panose="020B0200000000000000" pitchFamily="34" charset="-128"/>
              <a:ea typeface="Noto Sans SC" panose="020B0200000000000000" pitchFamily="34" charset="-128"/>
              <a:cs typeface="Calibri" panose="020F0502020204030204" pitchFamily="34" charset="0"/>
              <a:sym typeface="Microsoft YaHei"/>
            </a:endParaRPr>
          </a:p>
          <a:p>
            <a:pPr marL="12700" marR="5080" lvl="0" indent="0" algn="l" rtl="0">
              <a:lnSpc>
                <a:spcPct val="183300"/>
              </a:lnSpc>
              <a:spcBef>
                <a:spcPts val="1595"/>
              </a:spcBef>
              <a:spcAft>
                <a:spcPts val="0"/>
              </a:spcAft>
              <a:buNone/>
            </a:pPr>
            <a:r>
              <a:rPr lang="en-US" sz="900">
                <a:solidFill>
                  <a:srgbClr val="373739"/>
                </a:solidFill>
                <a:latin typeface="Noto Sans SC" panose="020B0200000000000000" pitchFamily="34" charset="-128"/>
                <a:ea typeface="Noto Sans SC" panose="020B0200000000000000" pitchFamily="34" charset="-128"/>
                <a:cs typeface="Calibri" panose="020F0502020204030204" pitchFamily="34" charset="0"/>
                <a:sym typeface="Microsoft YaHei"/>
              </a:rPr>
              <a:t>該檢測由大安聯合醫事實驗室進行並由遺傳諮詢顧問</a:t>
            </a:r>
            <a:r>
              <a:rPr lang="en-US" sz="900">
                <a:solidFill>
                  <a:srgbClr val="373739"/>
                </a:solidFill>
                <a:latin typeface="Noto Sans SC" panose="020B0200000000000000" pitchFamily="34" charset="-128"/>
                <a:ea typeface="Noto Sans SC" panose="020B0200000000000000" pitchFamily="34" charset="-128"/>
                <a:cs typeface="Calibri" panose="020F0502020204030204" pitchFamily="34" charset="0"/>
                <a:sym typeface="Times New Roman"/>
              </a:rPr>
              <a:t> </a:t>
            </a:r>
            <a:r>
              <a:rPr lang="en-US" sz="900">
                <a:solidFill>
                  <a:srgbClr val="373739"/>
                </a:solidFill>
                <a:latin typeface="Noto Sans SC" panose="020B0200000000000000" pitchFamily="34" charset="-128"/>
                <a:ea typeface="Noto Sans SC" panose="020B0200000000000000" pitchFamily="34" charset="-128"/>
                <a:cs typeface="Calibri" panose="020F0502020204030204" pitchFamily="34" charset="0"/>
                <a:sym typeface="Microsoft YaHei"/>
              </a:rPr>
              <a:t>LEE</a:t>
            </a:r>
            <a:r>
              <a:rPr lang="en-US" sz="900">
                <a:solidFill>
                  <a:srgbClr val="373739"/>
                </a:solidFill>
                <a:latin typeface="Noto Sans SC" panose="020B0200000000000000" pitchFamily="34" charset="-128"/>
                <a:ea typeface="Noto Sans SC" panose="020B0200000000000000" pitchFamily="34" charset="-128"/>
                <a:cs typeface="Calibri" panose="020F0502020204030204" pitchFamily="34" charset="0"/>
                <a:sym typeface="Times New Roman"/>
              </a:rPr>
              <a:t> </a:t>
            </a:r>
            <a:r>
              <a:rPr lang="en-US" sz="900">
                <a:solidFill>
                  <a:srgbClr val="373739"/>
                </a:solidFill>
                <a:latin typeface="Noto Sans SC" panose="020B0200000000000000" pitchFamily="34" charset="-128"/>
                <a:ea typeface="Noto Sans SC" panose="020B0200000000000000" pitchFamily="34" charset="-128"/>
                <a:cs typeface="Calibri" panose="020F0502020204030204" pitchFamily="34" charset="0"/>
                <a:sym typeface="Microsoft YaHei"/>
              </a:rPr>
              <a:t>CN</a:t>
            </a:r>
            <a:r>
              <a:rPr lang="en-US" sz="900">
                <a:solidFill>
                  <a:srgbClr val="373739"/>
                </a:solidFill>
                <a:latin typeface="Noto Sans SC" panose="020B0200000000000000" pitchFamily="34" charset="-128"/>
                <a:ea typeface="Noto Sans SC" panose="020B0200000000000000" pitchFamily="34" charset="-128"/>
                <a:cs typeface="Calibri" panose="020F0502020204030204" pitchFamily="34" charset="0"/>
                <a:sym typeface="Times New Roman"/>
              </a:rPr>
              <a:t> </a:t>
            </a:r>
            <a:r>
              <a:rPr lang="en-US" sz="900">
                <a:solidFill>
                  <a:srgbClr val="373739"/>
                </a:solidFill>
                <a:latin typeface="Noto Sans SC" panose="020B0200000000000000" pitchFamily="34" charset="-128"/>
                <a:ea typeface="Noto Sans SC" panose="020B0200000000000000" pitchFamily="34" charset="-128"/>
                <a:cs typeface="Calibri" panose="020F0502020204030204" pitchFamily="34" charset="0"/>
                <a:sym typeface="Microsoft YaHei"/>
              </a:rPr>
              <a:t>M.D.</a:t>
            </a:r>
            <a:r>
              <a:rPr lang="en-US" sz="900">
                <a:solidFill>
                  <a:srgbClr val="373739"/>
                </a:solidFill>
                <a:latin typeface="Noto Sans SC" panose="020B0200000000000000" pitchFamily="34" charset="-128"/>
                <a:ea typeface="Noto Sans SC" panose="020B0200000000000000" pitchFamily="34" charset="-128"/>
                <a:cs typeface="Calibri" panose="020F0502020204030204" pitchFamily="34" charset="0"/>
                <a:sym typeface="Times New Roman"/>
              </a:rPr>
              <a:t> </a:t>
            </a:r>
            <a:r>
              <a:rPr lang="en-US" sz="900">
                <a:solidFill>
                  <a:srgbClr val="373739"/>
                </a:solidFill>
                <a:latin typeface="Noto Sans SC" panose="020B0200000000000000" pitchFamily="34" charset="-128"/>
                <a:ea typeface="Noto Sans SC" panose="020B0200000000000000" pitchFamily="34" charset="-128"/>
                <a:cs typeface="Calibri" panose="020F0502020204030204" pitchFamily="34" charset="0"/>
                <a:sym typeface="Microsoft YaHei"/>
              </a:rPr>
              <a:t>報告覆核，實驗室為精準醫療分子檢測之認證實驗室，並通過美國病理學會（CAP）認證，可進行準確的基因檢測。</a:t>
            </a:r>
            <a:endParaRPr sz="90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grpSp>
        <p:nvGrpSpPr>
          <p:cNvPr id="153" name="Google Shape;153;p9"/>
          <p:cNvGrpSpPr/>
          <p:nvPr/>
        </p:nvGrpSpPr>
        <p:grpSpPr>
          <a:xfrm>
            <a:off x="385762" y="261937"/>
            <a:ext cx="6788784" cy="9667875"/>
            <a:chOff x="385762" y="261937"/>
            <a:chExt cx="6788784" cy="9667875"/>
          </a:xfrm>
        </p:grpSpPr>
        <p:sp>
          <p:nvSpPr>
            <p:cNvPr id="154" name="Google Shape;154;p9"/>
            <p:cNvSpPr/>
            <p:nvPr/>
          </p:nvSpPr>
          <p:spPr>
            <a:xfrm>
              <a:off x="425742" y="261937"/>
              <a:ext cx="6708775" cy="9667875"/>
            </a:xfrm>
            <a:custGeom>
              <a:avLst/>
              <a:gdLst/>
              <a:ahLst/>
              <a:cxnLst/>
              <a:rect l="l" t="t" r="r" b="b"/>
              <a:pathLst>
                <a:path w="6708775" h="9667875" extrusionOk="0">
                  <a:moveTo>
                    <a:pt x="6708571" y="20929"/>
                  </a:moveTo>
                  <a:lnTo>
                    <a:pt x="6671997" y="1374"/>
                  </a:lnTo>
                  <a:lnTo>
                    <a:pt x="6658063" y="0"/>
                  </a:lnTo>
                  <a:lnTo>
                    <a:pt x="50507" y="0"/>
                  </a:lnTo>
                  <a:lnTo>
                    <a:pt x="10820" y="12044"/>
                  </a:lnTo>
                  <a:lnTo>
                    <a:pt x="5191" y="16220"/>
                  </a:lnTo>
                  <a:lnTo>
                    <a:pt x="0" y="20929"/>
                  </a:lnTo>
                </a:path>
                <a:path w="6708775" h="9667875" extrusionOk="0">
                  <a:moveTo>
                    <a:pt x="0" y="9646945"/>
                  </a:moveTo>
                  <a:lnTo>
                    <a:pt x="36574" y="9666500"/>
                  </a:lnTo>
                  <a:lnTo>
                    <a:pt x="50507" y="9667875"/>
                  </a:lnTo>
                  <a:lnTo>
                    <a:pt x="6634251" y="9667875"/>
                  </a:lnTo>
                  <a:lnTo>
                    <a:pt x="6678428" y="9664799"/>
                  </a:lnTo>
                  <a:lnTo>
                    <a:pt x="6703380" y="9651654"/>
                  </a:lnTo>
                  <a:lnTo>
                    <a:pt x="6708571" y="9646945"/>
                  </a:lnTo>
                </a:path>
              </a:pathLst>
            </a:custGeom>
            <a:noFill/>
            <a:ln w="476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Calibri" panose="020F0502020204030204" pitchFamily="34" charset="0"/>
              </a:endParaRPr>
            </a:p>
          </p:txBody>
        </p:sp>
        <p:sp>
          <p:nvSpPr>
            <p:cNvPr id="155" name="Google Shape;155;p9"/>
            <p:cNvSpPr/>
            <p:nvPr/>
          </p:nvSpPr>
          <p:spPr>
            <a:xfrm>
              <a:off x="385762" y="269392"/>
              <a:ext cx="6788784" cy="9653270"/>
            </a:xfrm>
            <a:custGeom>
              <a:avLst/>
              <a:gdLst/>
              <a:ahLst/>
              <a:cxnLst/>
              <a:rect l="l" t="t" r="r" b="b"/>
              <a:pathLst>
                <a:path w="6788784" h="9653270" extrusionOk="0">
                  <a:moveTo>
                    <a:pt x="26504" y="0"/>
                  </a:moveTo>
                  <a:lnTo>
                    <a:pt x="3895" y="37713"/>
                  </a:lnTo>
                  <a:lnTo>
                    <a:pt x="0" y="63982"/>
                  </a:lnTo>
                  <a:lnTo>
                    <a:pt x="0" y="9584220"/>
                  </a:lnTo>
                  <a:lnTo>
                    <a:pt x="6883" y="9623615"/>
                  </a:lnTo>
                  <a:lnTo>
                    <a:pt x="20540" y="9646386"/>
                  </a:lnTo>
                  <a:lnTo>
                    <a:pt x="26504" y="9652965"/>
                  </a:lnTo>
                </a:path>
                <a:path w="6788784" h="9653270" extrusionOk="0">
                  <a:moveTo>
                    <a:pt x="6762026" y="9652965"/>
                  </a:moveTo>
                  <a:lnTo>
                    <a:pt x="6784635" y="9615251"/>
                  </a:lnTo>
                  <a:lnTo>
                    <a:pt x="6788531" y="9588982"/>
                  </a:lnTo>
                  <a:lnTo>
                    <a:pt x="6788531" y="68745"/>
                  </a:lnTo>
                  <a:lnTo>
                    <a:pt x="6781647" y="29349"/>
                  </a:lnTo>
                  <a:lnTo>
                    <a:pt x="6767990" y="6578"/>
                  </a:lnTo>
                  <a:lnTo>
                    <a:pt x="6762026"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Calibri" panose="020F0502020204030204" pitchFamily="34" charset="0"/>
              </a:endParaRPr>
            </a:p>
          </p:txBody>
        </p:sp>
      </p:grpSp>
      <p:sp>
        <p:nvSpPr>
          <p:cNvPr id="2" name="Google Shape;147;p9">
            <a:extLst>
              <a:ext uri="{FF2B5EF4-FFF2-40B4-BE49-F238E27FC236}">
                <a16:creationId xmlns:a16="http://schemas.microsoft.com/office/drawing/2014/main" id="{781B944C-8C71-6364-FA83-D3437E7C546A}"/>
              </a:ext>
            </a:extLst>
          </p:cNvPr>
          <p:cNvSpPr/>
          <p:nvPr/>
        </p:nvSpPr>
        <p:spPr>
          <a:xfrm>
            <a:off x="533400" y="5693003"/>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295</TotalTime>
  <Words>866</Words>
  <Application>Microsoft Macintosh PowerPoint</Application>
  <PresentationFormat>Custom</PresentationFormat>
  <Paragraphs>211</Paragraphs>
  <Slides>3</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Microsoft YaHei</vt:lpstr>
      <vt:lpstr>Noto Sans SC</vt:lpstr>
      <vt:lpstr>Arial</vt:lpstr>
      <vt:lpstr>Calibri</vt:lpstr>
      <vt:lpstr>Office Theme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sam martin</cp:lastModifiedBy>
  <cp:revision>60</cp:revision>
  <dcterms:modified xsi:type="dcterms:W3CDTF">2025-07-30T12:44:34Z</dcterms:modified>
</cp:coreProperties>
</file>