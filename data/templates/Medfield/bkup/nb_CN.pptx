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4"/>
  </p:notesMasterIdLst>
  <p:sldIdLst>
    <p:sldId id="256" r:id="rId2"/>
    <p:sldId id="258" r:id="rId3"/>
  </p:sldIdLst>
  <p:sldSz cx="7556500" cy="10693400"/>
  <p:notesSz cx="7556500" cy="10693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804"/>
  </p:normalViewPr>
  <p:slideViewPr>
    <p:cSldViewPr snapToGrid="0">
      <p:cViewPr varScale="1">
        <p:scale>
          <a:sx n="170" d="100"/>
          <a:sy n="170" d="100"/>
        </p:scale>
        <p:origin x="5160" y="208"/>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p:cNvGrpSpPr/>
        <p:nvPr/>
      </p:nvGrpSpPr>
      <p:grpSpPr>
        <a:xfrm>
          <a:off x="0" y="0"/>
          <a:ext cx="0" cy="0"/>
          <a:chOff x="0" y="0"/>
          <a:chExt cx="0" cy="0"/>
        </a:xfrm>
      </p:grpSpPr>
      <p:sp>
        <p:nvSpPr>
          <p:cNvPr id="42" name="Google Shape;42;p1: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3:notes"/>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37" name="Google Shape;137;p3:notes"/>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567213" y="3314954"/>
            <a:ext cx="6428422" cy="224561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subTitle" idx="1"/>
          </p:nvPr>
        </p:nvSpPr>
        <p:spPr>
          <a:xfrm>
            <a:off x="1134427" y="5988304"/>
            <a:ext cx="5293995" cy="267335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 name="Google Shape;26;p4"/>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378142"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2" name="Google Shape;32;p5"/>
          <p:cNvSpPr txBox="1">
            <a:spLocks noGrp="1"/>
          </p:cNvSpPr>
          <p:nvPr>
            <p:ph type="body" idx="2"/>
          </p:nvPr>
        </p:nvSpPr>
        <p:spPr>
          <a:xfrm>
            <a:off x="3894867" y="2459482"/>
            <a:ext cx="3289839" cy="705764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33" name="Google Shape;33;p5"/>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p:nvPr/>
        </p:nvSpPr>
        <p:spPr>
          <a:xfrm>
            <a:off x="381000" y="10008266"/>
            <a:ext cx="6864984" cy="0"/>
          </a:xfrm>
          <a:custGeom>
            <a:avLst/>
            <a:gdLst/>
            <a:ahLst/>
            <a:cxnLst/>
            <a:rect l="l" t="t" r="r" b="b"/>
            <a:pathLst>
              <a:path w="6864984" h="120000" extrusionOk="0">
                <a:moveTo>
                  <a:pt x="0" y="0"/>
                </a:moveTo>
                <a:lnTo>
                  <a:pt x="6864731" y="0"/>
                </a:lnTo>
              </a:path>
            </a:pathLst>
          </a:custGeom>
          <a:noFill/>
          <a:ln w="9525" cap="flat" cmpd="sng">
            <a:solidFill>
              <a:srgbClr val="083B92"/>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p>
        </p:txBody>
      </p:sp>
      <p:pic>
        <p:nvPicPr>
          <p:cNvPr id="7" name="Google Shape;7;p1"/>
          <p:cNvPicPr preferRelativeResize="0"/>
          <p:nvPr/>
        </p:nvPicPr>
        <p:blipFill rotWithShape="1">
          <a:blip r:embed="rId7">
            <a:alphaModFix/>
          </a:blip>
          <a:srcRect/>
          <a:stretch/>
        </p:blipFill>
        <p:spPr>
          <a:xfrm>
            <a:off x="2141930" y="10333136"/>
            <a:ext cx="199695" cy="178037"/>
          </a:xfrm>
          <a:prstGeom prst="rect">
            <a:avLst/>
          </a:prstGeom>
          <a:noFill/>
          <a:ln>
            <a:noFill/>
          </a:ln>
        </p:spPr>
      </p:pic>
      <p:sp>
        <p:nvSpPr>
          <p:cNvPr id="8" name="Google Shape;8;p1"/>
          <p:cNvSpPr txBox="1">
            <a:spLocks noGrp="1"/>
          </p:cNvSpPr>
          <p:nvPr>
            <p:ph type="title"/>
          </p:nvPr>
        </p:nvSpPr>
        <p:spPr>
          <a:xfrm>
            <a:off x="378142" y="427736"/>
            <a:ext cx="6806565" cy="1710944"/>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b="0" i="0" u="none" strike="noStrike" cap="none">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1"/>
          <p:cNvSpPr txBox="1">
            <a:spLocks noGrp="1"/>
          </p:cNvSpPr>
          <p:nvPr>
            <p:ph type="body" idx="1"/>
          </p:nvPr>
        </p:nvSpPr>
        <p:spPr>
          <a:xfrm>
            <a:off x="378142" y="2459482"/>
            <a:ext cx="6806565" cy="7057644"/>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0" name="Google Shape;10;p1"/>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sz="1400">
              <a:solidFill>
                <a:srgbClr val="000000"/>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p:cNvGrpSpPr/>
        <p:nvPr/>
      </p:nvGrpSpPr>
      <p:grpSpPr>
        <a:xfrm>
          <a:off x="0" y="0"/>
          <a:ext cx="0" cy="0"/>
          <a:chOff x="0" y="0"/>
          <a:chExt cx="0" cy="0"/>
        </a:xfrm>
      </p:grpSpPr>
      <p:sp>
        <p:nvSpPr>
          <p:cNvPr id="45" name="Google Shape;45;p7"/>
          <p:cNvSpPr txBox="1"/>
          <p:nvPr/>
        </p:nvSpPr>
        <p:spPr>
          <a:xfrm>
            <a:off x="6047892" y="427405"/>
            <a:ext cx="1096010" cy="144891"/>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850">
                <a:latin typeface="Noto Sans SC" panose="020B0200000000000000" pitchFamily="34" charset="-128"/>
                <a:ea typeface="Noto Sans SC" panose="020B0200000000000000" pitchFamily="34" charset="-128"/>
                <a:cs typeface="Noto Sans Kannada" panose="020B0502040504020204" pitchFamily="34" charset="0"/>
                <a:sym typeface="Microsoft YaHei"/>
              </a:rPr>
              <a:t>Version_1_20240912</a:t>
            </a:r>
            <a:endParaRPr sz="8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46" name="Google Shape;46;p7"/>
          <p:cNvSpPr txBox="1"/>
          <p:nvPr/>
        </p:nvSpPr>
        <p:spPr>
          <a:xfrm>
            <a:off x="1675892" y="741730"/>
            <a:ext cx="4568825" cy="328295"/>
          </a:xfrm>
          <a:prstGeom prst="rect">
            <a:avLst/>
          </a:prstGeom>
          <a:noFill/>
          <a:ln>
            <a:noFill/>
          </a:ln>
        </p:spPr>
        <p:txBody>
          <a:bodyPr spcFirstLastPara="1" wrap="square" lIns="0" tIns="17125" rIns="0" bIns="0" anchor="t" anchorCtr="0">
            <a:spAutoFit/>
          </a:bodyPr>
          <a:lstStyle/>
          <a:p>
            <a:pPr marL="12700" lvl="0" indent="0" algn="l" rtl="0">
              <a:lnSpc>
                <a:spcPct val="100000"/>
              </a:lnSpc>
              <a:spcBef>
                <a:spcPts val="0"/>
              </a:spcBef>
              <a:spcAft>
                <a:spcPts val="0"/>
              </a:spcAft>
              <a:buNone/>
            </a:pPr>
            <a:r>
              <a:rPr lang="en-US" sz="195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孕唯諾非侵入性母血胎兒染色體檢測報告</a:t>
            </a:r>
            <a:endParaRPr sz="195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grpSp>
        <p:nvGrpSpPr>
          <p:cNvPr id="47" name="Google Shape;47;p7"/>
          <p:cNvGrpSpPr/>
          <p:nvPr/>
        </p:nvGrpSpPr>
        <p:grpSpPr>
          <a:xfrm>
            <a:off x="1344744" y="781507"/>
            <a:ext cx="253365" cy="253365"/>
            <a:chOff x="1344744" y="781507"/>
            <a:chExt cx="253365" cy="253365"/>
          </a:xfrm>
        </p:grpSpPr>
        <p:sp>
          <p:nvSpPr>
            <p:cNvPr id="48" name="Google Shape;48;p7"/>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pic>
          <p:nvPicPr>
            <p:cNvPr id="49" name="Google Shape;49;p7"/>
            <p:cNvPicPr preferRelativeResize="0"/>
            <p:nvPr/>
          </p:nvPicPr>
          <p:blipFill rotWithShape="1">
            <a:blip r:embed="rId3">
              <a:alphaModFix/>
            </a:blip>
            <a:srcRect/>
            <a:stretch/>
          </p:blipFill>
          <p:spPr>
            <a:xfrm>
              <a:off x="1404308" y="810266"/>
              <a:ext cx="133299" cy="180339"/>
            </a:xfrm>
            <a:prstGeom prst="rect">
              <a:avLst/>
            </a:prstGeom>
            <a:noFill/>
            <a:ln>
              <a:noFill/>
            </a:ln>
          </p:spPr>
        </p:pic>
      </p:grpSp>
      <p:graphicFrame>
        <p:nvGraphicFramePr>
          <p:cNvPr id="50" name="Google Shape;50;p7"/>
          <p:cNvGraphicFramePr/>
          <p:nvPr>
            <p:extLst>
              <p:ext uri="{D42A27DB-BD31-4B8C-83A1-F6EECF244321}">
                <p14:modId xmlns:p14="http://schemas.microsoft.com/office/powerpoint/2010/main" val="2131005086"/>
              </p:ext>
            </p:extLst>
          </p:nvPr>
        </p:nvGraphicFramePr>
        <p:xfrm>
          <a:off x="381000" y="1279067"/>
          <a:ext cx="6786250" cy="1914500"/>
        </p:xfrm>
        <a:graphic>
          <a:graphicData uri="http://schemas.openxmlformats.org/drawingml/2006/table">
            <a:tbl>
              <a:tblPr firstRow="1" bandRow="1">
                <a:noFill/>
                <a:tableStyleId>{F28EBD1E-F79C-4DFF-868A-0A9D0052B014}</a:tableStyleId>
              </a:tblPr>
              <a:tblGrid>
                <a:gridCol w="1163325">
                  <a:extLst>
                    <a:ext uri="{9D8B030D-6E8A-4147-A177-3AD203B41FA5}">
                      <a16:colId xmlns:a16="http://schemas.microsoft.com/office/drawing/2014/main" val="20000"/>
                    </a:ext>
                  </a:extLst>
                </a:gridCol>
                <a:gridCol w="1097275">
                  <a:extLst>
                    <a:ext uri="{9D8B030D-6E8A-4147-A177-3AD203B41FA5}">
                      <a16:colId xmlns:a16="http://schemas.microsoft.com/office/drawing/2014/main" val="20001"/>
                    </a:ext>
                  </a:extLst>
                </a:gridCol>
                <a:gridCol w="1164600">
                  <a:extLst>
                    <a:ext uri="{9D8B030D-6E8A-4147-A177-3AD203B41FA5}">
                      <a16:colId xmlns:a16="http://schemas.microsoft.com/office/drawing/2014/main" val="20002"/>
                    </a:ext>
                  </a:extLst>
                </a:gridCol>
                <a:gridCol w="1095375">
                  <a:extLst>
                    <a:ext uri="{9D8B030D-6E8A-4147-A177-3AD203B41FA5}">
                      <a16:colId xmlns:a16="http://schemas.microsoft.com/office/drawing/2014/main" val="20003"/>
                    </a:ext>
                  </a:extLst>
                </a:gridCol>
                <a:gridCol w="1165850">
                  <a:extLst>
                    <a:ext uri="{9D8B030D-6E8A-4147-A177-3AD203B41FA5}">
                      <a16:colId xmlns:a16="http://schemas.microsoft.com/office/drawing/2014/main" val="20004"/>
                    </a:ext>
                  </a:extLst>
                </a:gridCol>
                <a:gridCol w="1099825">
                  <a:extLst>
                    <a:ext uri="{9D8B030D-6E8A-4147-A177-3AD203B41FA5}">
                      <a16:colId xmlns:a16="http://schemas.microsoft.com/office/drawing/2014/main" val="20005"/>
                    </a:ext>
                  </a:extLst>
                </a:gridCol>
              </a:tblGrid>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姓名</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出⽣年</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&lt;&lt;DOB&gt;&gt;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病歷號/⾝分證號</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a:latin typeface="Noto Sans SC" panose="020B0200000000000000" pitchFamily="34" charset="-128"/>
                          <a:ea typeface="Noto Sans SC" panose="020B0200000000000000" pitchFamily="34" charset="-128"/>
                          <a:cs typeface="Noto Sans Kannada" panose="020B0502040504020204" pitchFamily="34" charset="0"/>
                          <a:sym typeface="Arial"/>
                        </a:rPr>
                        <a:t>&lt;&lt;MRN&gt;&gt;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0"/>
                  </a:ext>
                </a:extLst>
              </a:tr>
              <a:tr h="47942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採檢⽇期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檢體來源</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血液</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報告⽇期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1"/>
                  </a:ext>
                </a:extLst>
              </a:tr>
              <a:tr h="480050">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檢體編號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檔案編號</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產檢醫院</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&lt;&lt;Hospital&gt;&gt;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2"/>
                  </a:ext>
                </a:extLst>
              </a:tr>
              <a:tr h="474975">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懷孕胎數</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懷孕週數</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&lt;&lt;W&gt;&gt;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週</a:t>
                      </a: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 </a:t>
                      </a: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&lt;&lt;D&gt;&gt;</a:t>
                      </a:r>
                      <a:r>
                        <a:rPr lang="en-US" sz="900" b="0" i="0" u="none" strike="noStrike" cap="none" dirty="0" err="1">
                          <a:latin typeface="Noto Sans SC" panose="020B0200000000000000" pitchFamily="34" charset="-128"/>
                          <a:ea typeface="Noto Sans SC" panose="020B0200000000000000" pitchFamily="34" charset="-128"/>
                          <a:cs typeface="Noto Sans Kannada" panose="020B0502040504020204" pitchFamily="34" charset="0"/>
                          <a:sym typeface="Arial"/>
                        </a:rPr>
                        <a:t>天</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err="1">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產檢醫師</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&lt;&lt;Doctor&gt;&gt;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51" name="Google Shape;51;p7"/>
          <p:cNvSpPr txBox="1"/>
          <p:nvPr/>
        </p:nvSpPr>
        <p:spPr>
          <a:xfrm>
            <a:off x="2719044" y="3831425"/>
            <a:ext cx="496346" cy="1821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結果</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2" name="Google Shape;52;p7"/>
          <p:cNvSpPr txBox="1"/>
          <p:nvPr/>
        </p:nvSpPr>
        <p:spPr>
          <a:xfrm>
            <a:off x="669848" y="4178808"/>
            <a:ext cx="793192"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唐⽒症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3" name="Google Shape;53;p7"/>
          <p:cNvSpPr/>
          <p:nvPr/>
        </p:nvSpPr>
        <p:spPr>
          <a:xfrm>
            <a:off x="580072" y="4103522"/>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55" name="Google Shape;55;p7"/>
          <p:cNvSpPr txBox="1"/>
          <p:nvPr/>
        </p:nvSpPr>
        <p:spPr>
          <a:xfrm>
            <a:off x="669848" y="4538713"/>
            <a:ext cx="928261"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愛德華⽒症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6" name="Google Shape;56;p7"/>
          <p:cNvSpPr/>
          <p:nvPr/>
        </p:nvSpPr>
        <p:spPr>
          <a:xfrm>
            <a:off x="580072" y="4463415"/>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58" name="Google Shape;58;p7"/>
          <p:cNvSpPr txBox="1"/>
          <p:nvPr/>
        </p:nvSpPr>
        <p:spPr>
          <a:xfrm>
            <a:off x="669847" y="4898618"/>
            <a:ext cx="867759" cy="154529"/>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900" dirty="0" err="1">
                <a:latin typeface="Noto Sans SC" panose="020B0200000000000000" pitchFamily="34" charset="-128"/>
                <a:ea typeface="Noto Sans SC" panose="020B0200000000000000" pitchFamily="34" charset="-128"/>
                <a:cs typeface="Noto Sans Kannada" panose="020B0502040504020204" pitchFamily="34" charset="0"/>
                <a:sym typeface="Microsoft YaHei"/>
              </a:rPr>
              <a:t>巴陶⽒症</a:t>
            </a:r>
            <a:endParaRPr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59" name="Google Shape;59;p7"/>
          <p:cNvSpPr/>
          <p:nvPr/>
        </p:nvSpPr>
        <p:spPr>
          <a:xfrm>
            <a:off x="580072" y="4823320"/>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1" name="Google Shape;61;p7"/>
          <p:cNvSpPr txBox="1"/>
          <p:nvPr/>
        </p:nvSpPr>
        <p:spPr>
          <a:xfrm>
            <a:off x="669848" y="5258511"/>
            <a:ext cx="1581468" cy="154529"/>
          </a:xfrm>
          <a:prstGeom prst="rect">
            <a:avLst/>
          </a:prstGeom>
          <a:noFill/>
          <a:ln>
            <a:noFill/>
          </a:ln>
        </p:spPr>
        <p:txBody>
          <a:bodyPr spcFirstLastPara="1" wrap="square" lIns="0" tIns="15875" rIns="0" bIns="0" anchor="t" anchorCtr="0">
            <a:spAutoFit/>
          </a:bodyPr>
          <a:lstStyle/>
          <a:p>
            <a:pPr marL="12700" lvl="0"/>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XO(</a:t>
            </a:r>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透納氏症</a:t>
            </a:r>
            <a:r>
              <a:rPr lang="en-US" altLang="ja-JP"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lang="ja-JP" alt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2" name="Google Shape;62;p7"/>
          <p:cNvSpPr/>
          <p:nvPr/>
        </p:nvSpPr>
        <p:spPr>
          <a:xfrm>
            <a:off x="580072" y="5183225"/>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4" name="Google Shape;64;p7"/>
          <p:cNvSpPr txBox="1"/>
          <p:nvPr/>
        </p:nvSpPr>
        <p:spPr>
          <a:xfrm>
            <a:off x="669848" y="5618416"/>
            <a:ext cx="1711752" cy="154529"/>
          </a:xfrm>
          <a:prstGeom prst="rect">
            <a:avLst/>
          </a:prstGeom>
          <a:noFill/>
          <a:ln>
            <a:noFill/>
          </a:ln>
        </p:spPr>
        <p:txBody>
          <a:bodyPr spcFirstLastPara="1" wrap="square" lIns="0" tIns="15875" rIns="0" bIns="0" anchor="t" anchorCtr="0">
            <a:spAutoFit/>
          </a:bodyPr>
          <a:lstStyle/>
          <a:p>
            <a:pPr marL="12700" lvl="0"/>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XXX(</a:t>
            </a:r>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三體</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X</a:t>
            </a:r>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症</a:t>
            </a:r>
            <a:r>
              <a:rPr lang="en-US" altLang="ja-JP"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lang="ja-JP" alt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5" name="Google Shape;65;p7"/>
          <p:cNvSpPr/>
          <p:nvPr/>
        </p:nvSpPr>
        <p:spPr>
          <a:xfrm>
            <a:off x="580072" y="5543131"/>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67" name="Google Shape;67;p7"/>
          <p:cNvSpPr txBox="1"/>
          <p:nvPr/>
        </p:nvSpPr>
        <p:spPr>
          <a:xfrm>
            <a:off x="669848" y="5978322"/>
            <a:ext cx="2049196" cy="154529"/>
          </a:xfrm>
          <a:prstGeom prst="rect">
            <a:avLst/>
          </a:prstGeom>
          <a:noFill/>
          <a:ln>
            <a:noFill/>
          </a:ln>
        </p:spPr>
        <p:txBody>
          <a:bodyPr spcFirstLastPara="1" wrap="square" lIns="0" tIns="15875" rIns="0" bIns="0" anchor="t" anchorCtr="0">
            <a:spAutoFit/>
          </a:bodyPr>
          <a:lstStyle/>
          <a:p>
            <a:pPr marL="12700" lvl="0"/>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XXY(</a:t>
            </a:r>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柯林菲特氏症</a:t>
            </a:r>
            <a:r>
              <a:rPr lang="en-US" altLang="ja-JP"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lang="ja-JP" alt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68" name="Google Shape;68;p7"/>
          <p:cNvSpPr/>
          <p:nvPr/>
        </p:nvSpPr>
        <p:spPr>
          <a:xfrm>
            <a:off x="580072" y="5903023"/>
            <a:ext cx="67310"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70" name="Google Shape;70;p7"/>
          <p:cNvSpPr txBox="1"/>
          <p:nvPr/>
        </p:nvSpPr>
        <p:spPr>
          <a:xfrm>
            <a:off x="669848" y="6338227"/>
            <a:ext cx="1960122" cy="154529"/>
          </a:xfrm>
          <a:prstGeom prst="rect">
            <a:avLst/>
          </a:prstGeom>
          <a:noFill/>
          <a:ln>
            <a:noFill/>
          </a:ln>
        </p:spPr>
        <p:txBody>
          <a:bodyPr spcFirstLastPara="1" wrap="square" lIns="0" tIns="15875" rIns="0" bIns="0" anchor="t" anchorCtr="0">
            <a:spAutoFit/>
          </a:bodyPr>
          <a:lstStyle/>
          <a:p>
            <a:pPr marL="12700" lvl="0"/>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性染色體</a:t>
            </a:r>
            <a:r>
              <a:rPr 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XYY(XYY</a:t>
            </a:r>
            <a:r>
              <a:rPr lang="ja-JP" alt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綜合症</a:t>
            </a:r>
            <a:r>
              <a:rPr lang="en-US" altLang="ja-JP"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lang="ja-JP" altLang="en-US" sz="900"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71" name="Google Shape;71;p7"/>
          <p:cNvSpPr/>
          <p:nvPr/>
        </p:nvSpPr>
        <p:spPr>
          <a:xfrm>
            <a:off x="580072" y="6262928"/>
            <a:ext cx="67310"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5" name="Google Shape;85;p7"/>
          <p:cNvSpPr/>
          <p:nvPr/>
        </p:nvSpPr>
        <p:spPr>
          <a:xfrm>
            <a:off x="535787" y="4054462"/>
            <a:ext cx="3265804"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87" name="Google Shape;87;p7"/>
          <p:cNvSpPr txBox="1"/>
          <p:nvPr/>
        </p:nvSpPr>
        <p:spPr>
          <a:xfrm>
            <a:off x="5337375" y="3550325"/>
            <a:ext cx="2004951"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err="1">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胎兒染⾊體濃度</a:t>
            </a:r>
            <a:r>
              <a:rPr lang="en-US"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 &lt;&lt;FF_YFF&gt;&gt;%</a:t>
            </a:r>
            <a:endParaRPr sz="1100" dirty="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5" name="Google Shape;115;p7"/>
          <p:cNvSpPr/>
          <p:nvPr/>
        </p:nvSpPr>
        <p:spPr>
          <a:xfrm>
            <a:off x="3806215" y="4054462"/>
            <a:ext cx="3265804" cy="0"/>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6" name="Google Shape;116;p7"/>
          <p:cNvSpPr/>
          <p:nvPr/>
        </p:nvSpPr>
        <p:spPr>
          <a:xfrm>
            <a:off x="533400" y="813620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7" name="Google Shape;117;p7"/>
          <p:cNvSpPr txBox="1"/>
          <p:nvPr/>
        </p:nvSpPr>
        <p:spPr>
          <a:xfrm>
            <a:off x="568325" y="8209978"/>
            <a:ext cx="4830445" cy="296871"/>
          </a:xfrm>
          <a:prstGeom prst="rect">
            <a:avLst/>
          </a:prstGeom>
          <a:noFill/>
          <a:ln>
            <a:noFill/>
          </a:ln>
        </p:spPr>
        <p:txBody>
          <a:bodyPr spcFirstLastPara="1" wrap="square" lIns="0" tIns="40000" rIns="0" bIns="0" anchor="t" anchorCtr="0">
            <a:spAutoFit/>
          </a:bodyPr>
          <a:lstStyle/>
          <a:p>
            <a:pPr marL="87630" lvl="0" indent="-74930" algn="l" rtl="0">
              <a:lnSpc>
                <a:spcPct val="100000"/>
              </a:lnSpc>
              <a:spcBef>
                <a:spcPts val="0"/>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NIPT僅是篩檢，並非最終診斷，報告結果僅供醫療人員參考，其臨床意義及建議需由臨床醫師做綜合評估。</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p>
            <a:pPr marL="87630" lvl="0" indent="-74930" algn="l" rtl="0">
              <a:lnSpc>
                <a:spcPct val="100000"/>
              </a:lnSpc>
              <a:spcBef>
                <a:spcPts val="225"/>
              </a:spcBef>
              <a:spcAft>
                <a:spcPts val="0"/>
              </a:spcAft>
              <a:buClr>
                <a:srgbClr val="FF1317"/>
              </a:buClr>
              <a:buSzPts val="750"/>
              <a:buFont typeface="Microsoft YaHei"/>
              <a:buChar char="*"/>
            </a:pPr>
            <a:r>
              <a:rPr lang="en-US" sz="750">
                <a:solidFill>
                  <a:srgbClr val="FF1317"/>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篩檢後，建議搭配高層次超音波檢查，才能確認胎兒是否具有構造異常。</a:t>
            </a:r>
            <a:endParaRPr sz="75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18" name="Google Shape;118;p7"/>
          <p:cNvSpPr/>
          <p:nvPr/>
        </p:nvSpPr>
        <p:spPr>
          <a:xfrm>
            <a:off x="533400" y="8619655"/>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19" name="Google Shape;119;p7"/>
          <p:cNvSpPr/>
          <p:nvPr/>
        </p:nvSpPr>
        <p:spPr>
          <a:xfrm>
            <a:off x="5439054" y="9674606"/>
            <a:ext cx="1090295" cy="0"/>
          </a:xfrm>
          <a:custGeom>
            <a:avLst/>
            <a:gdLst/>
            <a:ahLst/>
            <a:cxnLst/>
            <a:rect l="l" t="t" r="r" b="b"/>
            <a:pathLst>
              <a:path w="1090295" h="120000" extrusionOk="0">
                <a:moveTo>
                  <a:pt x="0" y="0"/>
                </a:moveTo>
                <a:lnTo>
                  <a:pt x="1090155"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20" name="Google Shape;120;p7"/>
          <p:cNvSpPr txBox="1"/>
          <p:nvPr/>
        </p:nvSpPr>
        <p:spPr>
          <a:xfrm>
            <a:off x="5685688" y="9677489"/>
            <a:ext cx="5969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Noto Sans Kannada" panose="020B0502040504020204" pitchFamily="34" charset="0"/>
                <a:sym typeface="Microsoft YaHei"/>
              </a:rPr>
              <a:t>報告簽署人</a:t>
            </a:r>
            <a:endParaRPr sz="90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p:txBody>
      </p:sp>
      <p:sp>
        <p:nvSpPr>
          <p:cNvPr id="121" name="Google Shape;121;p7"/>
          <p:cNvSpPr/>
          <p:nvPr/>
        </p:nvSpPr>
        <p:spPr>
          <a:xfrm>
            <a:off x="385762" y="3399332"/>
            <a:ext cx="6788784"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cs typeface="Noto Sans Kannada" panose="020B0502040504020204" pitchFamily="34" charset="0"/>
            </a:endParaRPr>
          </a:p>
        </p:txBody>
      </p:sp>
      <p:sp>
        <p:nvSpPr>
          <p:cNvPr id="122" name="Google Shape;122;p7"/>
          <p:cNvSpPr txBox="1"/>
          <p:nvPr/>
        </p:nvSpPr>
        <p:spPr>
          <a:xfrm>
            <a:off x="520700" y="3503225"/>
            <a:ext cx="1860900" cy="18336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Noto Sans SC" panose="020B0200000000000000" pitchFamily="34" charset="-128"/>
                <a:ea typeface="Noto Sans SC" panose="020B0200000000000000" pitchFamily="34" charset="-128"/>
                <a:cs typeface="Calibri" panose="020F0502020204030204" pitchFamily="34" charset="0"/>
                <a:sym typeface="Microsoft YaHei"/>
              </a:rPr>
              <a:t>&lt;&lt;Result_MDResult&gt;&gt;</a:t>
            </a:r>
          </a:p>
        </p:txBody>
      </p:sp>
      <p:sp>
        <p:nvSpPr>
          <p:cNvPr id="2" name="TextBox 1">
            <a:extLst>
              <a:ext uri="{FF2B5EF4-FFF2-40B4-BE49-F238E27FC236}">
                <a16:creationId xmlns:a16="http://schemas.microsoft.com/office/drawing/2014/main" id="{8ACBAFCB-8014-59C5-5A64-8CF6D08098AE}"/>
              </a:ext>
            </a:extLst>
          </p:cNvPr>
          <p:cNvSpPr txBox="1"/>
          <p:nvPr/>
        </p:nvSpPr>
        <p:spPr>
          <a:xfrm>
            <a:off x="533401" y="3785532"/>
            <a:ext cx="811344" cy="261610"/>
          </a:xfrm>
          <a:prstGeom prst="rect">
            <a:avLst/>
          </a:prstGeom>
          <a:noFill/>
        </p:spPr>
        <p:txBody>
          <a:bodyPr wrap="square" rtlCol="0">
            <a:spAutoFit/>
          </a:bodyPr>
          <a:lstStyle/>
          <a:p>
            <a:r>
              <a:rPr lang="ja-JP" altLang="en-US" sz="1100">
                <a:solidFill>
                  <a:schemeClr val="tx1"/>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染色體</a:t>
            </a:r>
          </a:p>
        </p:txBody>
      </p:sp>
      <p:sp>
        <p:nvSpPr>
          <p:cNvPr id="3" name="Google Shape;54;p7">
            <a:extLst>
              <a:ext uri="{FF2B5EF4-FFF2-40B4-BE49-F238E27FC236}">
                <a16:creationId xmlns:a16="http://schemas.microsoft.com/office/drawing/2014/main" id="{B64AAC3A-02BC-9689-C584-CDC490277E7C}"/>
              </a:ext>
            </a:extLst>
          </p:cNvPr>
          <p:cNvSpPr txBox="1"/>
          <p:nvPr/>
        </p:nvSpPr>
        <p:spPr>
          <a:xfrm>
            <a:off x="2797745" y="417880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&lt;&lt;T21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4" name="Google Shape;57;p7">
            <a:extLst>
              <a:ext uri="{FF2B5EF4-FFF2-40B4-BE49-F238E27FC236}">
                <a16:creationId xmlns:a16="http://schemas.microsoft.com/office/drawing/2014/main" id="{77FBB4E2-4B90-777F-A2D0-99EC83BAD309}"/>
              </a:ext>
            </a:extLst>
          </p:cNvPr>
          <p:cNvSpPr txBox="1"/>
          <p:nvPr/>
        </p:nvSpPr>
        <p:spPr>
          <a:xfrm>
            <a:off x="2797745" y="453871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&lt;&lt;T18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5" name="Google Shape;60;p7">
            <a:extLst>
              <a:ext uri="{FF2B5EF4-FFF2-40B4-BE49-F238E27FC236}">
                <a16:creationId xmlns:a16="http://schemas.microsoft.com/office/drawing/2014/main" id="{6B8FB73A-6491-27AB-0A75-2D674F9DD09E}"/>
              </a:ext>
            </a:extLst>
          </p:cNvPr>
          <p:cNvSpPr txBox="1"/>
          <p:nvPr/>
        </p:nvSpPr>
        <p:spPr>
          <a:xfrm>
            <a:off x="2797745" y="489861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&lt;&lt;T13 Result&gt;&gt;</a:t>
            </a:r>
            <a:endParaRPr lang="en-US"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6" name="Google Shape;72;p7">
            <a:extLst>
              <a:ext uri="{FF2B5EF4-FFF2-40B4-BE49-F238E27FC236}">
                <a16:creationId xmlns:a16="http://schemas.microsoft.com/office/drawing/2014/main" id="{2086E449-73FC-C195-218D-149CC927B633}"/>
              </a:ext>
            </a:extLst>
          </p:cNvPr>
          <p:cNvSpPr txBox="1"/>
          <p:nvPr/>
        </p:nvSpPr>
        <p:spPr>
          <a:xfrm>
            <a:off x="2797745" y="525570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&lt;&lt;XO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7" name="Google Shape;75;p7">
            <a:extLst>
              <a:ext uri="{FF2B5EF4-FFF2-40B4-BE49-F238E27FC236}">
                <a16:creationId xmlns:a16="http://schemas.microsoft.com/office/drawing/2014/main" id="{A05FC7D4-4B50-5EA5-5BAE-E230EDAB5F47}"/>
              </a:ext>
            </a:extLst>
          </p:cNvPr>
          <p:cNvSpPr txBox="1"/>
          <p:nvPr/>
        </p:nvSpPr>
        <p:spPr>
          <a:xfrm>
            <a:off x="2797745" y="5615610"/>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&lt;&lt;XXX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8" name="Google Shape;78;p7">
            <a:extLst>
              <a:ext uri="{FF2B5EF4-FFF2-40B4-BE49-F238E27FC236}">
                <a16:creationId xmlns:a16="http://schemas.microsoft.com/office/drawing/2014/main" id="{18AD79B9-8FE8-1529-D631-016657E7AECE}"/>
              </a:ext>
            </a:extLst>
          </p:cNvPr>
          <p:cNvSpPr txBox="1"/>
          <p:nvPr/>
        </p:nvSpPr>
        <p:spPr>
          <a:xfrm>
            <a:off x="2797745" y="597551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&lt;&lt;XXY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
        <p:nvSpPr>
          <p:cNvPr id="9" name="Google Shape;81;p7">
            <a:extLst>
              <a:ext uri="{FF2B5EF4-FFF2-40B4-BE49-F238E27FC236}">
                <a16:creationId xmlns:a16="http://schemas.microsoft.com/office/drawing/2014/main" id="{AE5FD855-BF55-431A-3C6B-214654FE5F9B}"/>
              </a:ext>
            </a:extLst>
          </p:cNvPr>
          <p:cNvSpPr txBox="1"/>
          <p:nvPr/>
        </p:nvSpPr>
        <p:spPr>
          <a:xfrm>
            <a:off x="2797745" y="633542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Noto Sans SC" panose="020B0200000000000000" pitchFamily="34" charset="-128"/>
                <a:ea typeface="Noto Sans SC" panose="020B0200000000000000" pitchFamily="34" charset="-128"/>
                <a:cs typeface="Calibri" panose="020F0502020204030204" pitchFamily="34" charset="0"/>
                <a:sym typeface="Microsoft YaHei"/>
              </a:rPr>
              <a:t>&lt;&lt;XYY Result&gt;&gt;</a:t>
            </a:r>
            <a:endParaRPr sz="900" dirty="0">
              <a:latin typeface="Noto Sans SC" panose="020B0200000000000000" pitchFamily="34" charset="-128"/>
              <a:ea typeface="Noto Sans SC" panose="020B0200000000000000" pitchFamily="34" charset="-128"/>
              <a:cs typeface="Calibri" panose="020F0502020204030204" pitchFamily="34" charset="0"/>
              <a:sym typeface="Microsoft YaHe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39" name="Google Shape;139;p9"/>
          <p:cNvSpPr/>
          <p:nvPr/>
        </p:nvSpPr>
        <p:spPr>
          <a:xfrm>
            <a:off x="533400" y="86084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0" name="Google Shape;140;p9"/>
          <p:cNvSpPr txBox="1"/>
          <p:nvPr/>
        </p:nvSpPr>
        <p:spPr>
          <a:xfrm>
            <a:off x="520700" y="573773"/>
            <a:ext cx="6518909" cy="152019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下一步驟</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&gt;陰性（未檢測異常）結果表示您的胎兒發生染色體異常的風險很低，但仍不能完全排除胎兒罹患染色體異常的可能，建議搭配其他檢查進行綜合評估（如：高層次超音波）。</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後續產檢過程中，如有發現胎兒超音波異常，請遵照產檢醫師建議之醫療處置（如：侵入性檢查）以確認胎兒是否異常</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本篩檢結果不得單獨作為影響懷孕過程的任何診斷依據，適用於臨床參考，臨床建議及相關諮詢請洽專業醫師</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33300"/>
              </a:lnSpc>
              <a:spcBef>
                <a:spcPts val="5"/>
              </a:spcBef>
              <a:spcAft>
                <a:spcPts val="0"/>
              </a:spcAft>
              <a:buNone/>
            </a:pP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&gt;NIPT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評估特定疾病的風險（請參閱結果表</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但是它並未檢測所有可能的遺傳狀況或其他先天缺陷，您的主治醫師可能會建議您在懷孕期間或之後進行其他類型的基因檢測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1" name="Google Shape;141;p9"/>
          <p:cNvSpPr/>
          <p:nvPr/>
        </p:nvSpPr>
        <p:spPr>
          <a:xfrm>
            <a:off x="533400" y="220345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2" name="Google Shape;142;p9"/>
          <p:cNvSpPr/>
          <p:nvPr/>
        </p:nvSpPr>
        <p:spPr>
          <a:xfrm>
            <a:off x="533400" y="278215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3" name="Google Shape;143;p9"/>
          <p:cNvSpPr txBox="1"/>
          <p:nvPr/>
        </p:nvSpPr>
        <p:spPr>
          <a:xfrm>
            <a:off x="520700" y="2495080"/>
            <a:ext cx="6520180" cy="71558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方法</a:t>
            </a:r>
            <a:endParaRPr sz="105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420"/>
              </a:spcBef>
              <a:spcAft>
                <a:spcPts val="0"/>
              </a:spcAft>
              <a:buNone/>
            </a:pPr>
            <a:endParaRPr sz="105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抽取懷孕婦女周邊血液，並萃取血漿中之胎兒細胞游離去氧核醣核酸（DNA），進行大規模平行測序和測序結果進行分析以確定</a:t>
            </a:r>
            <a:endParaRPr sz="900">
              <a:latin typeface="Noto Sans SC" panose="020B0200000000000000" pitchFamily="34" charset="-128"/>
              <a:ea typeface="Noto Sans SC" panose="020B0200000000000000" pitchFamily="34" charset="-128"/>
              <a:cs typeface="Microsoft YaHei"/>
              <a:sym typeface="Microsoft YaHei"/>
            </a:endParaRPr>
          </a:p>
          <a:p>
            <a:pPr marL="12700" lvl="0" indent="0" algn="l" rtl="0">
              <a:lnSpc>
                <a:spcPct val="100000"/>
              </a:lnSpc>
              <a:spcBef>
                <a:spcPts val="36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胎兒染色體。</a:t>
            </a:r>
            <a:endParaRPr sz="900">
              <a:latin typeface="Noto Sans SC" panose="020B0200000000000000" pitchFamily="34" charset="-128"/>
              <a:ea typeface="Noto Sans SC" panose="020B0200000000000000" pitchFamily="34" charset="-128"/>
              <a:cs typeface="Microsoft YaHei"/>
              <a:sym typeface="Microsoft YaHei"/>
            </a:endParaRPr>
          </a:p>
        </p:txBody>
      </p:sp>
      <p:sp>
        <p:nvSpPr>
          <p:cNvPr id="144" name="Google Shape;144;p9"/>
          <p:cNvSpPr/>
          <p:nvPr/>
        </p:nvSpPr>
        <p:spPr>
          <a:xfrm>
            <a:off x="533400" y="339323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5" name="Google Shape;145;p9"/>
          <p:cNvSpPr/>
          <p:nvPr/>
        </p:nvSpPr>
        <p:spPr>
          <a:xfrm>
            <a:off x="533400" y="4067187"/>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6" name="Google Shape;146;p9"/>
          <p:cNvSpPr txBox="1"/>
          <p:nvPr/>
        </p:nvSpPr>
        <p:spPr>
          <a:xfrm>
            <a:off x="520700" y="3780117"/>
            <a:ext cx="6520180" cy="185948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dirty="0" err="1">
                <a:solidFill>
                  <a:srgbClr val="4B5285"/>
                </a:solidFill>
                <a:latin typeface="Noto Sans SC" panose="020B0200000000000000" pitchFamily="34" charset="-128"/>
                <a:ea typeface="Noto Sans SC" panose="020B0200000000000000" pitchFamily="34" charset="-128"/>
                <a:cs typeface="Microsoft YaHei"/>
                <a:sym typeface="Microsoft YaHei"/>
              </a:rPr>
              <a:t>侷限性</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50000"/>
              </a:lnSpc>
              <a:spcBef>
                <a:spcPts val="1775"/>
              </a:spcBef>
              <a:spcAft>
                <a:spcPts val="0"/>
              </a:spcAft>
              <a:buNone/>
            </a:pPr>
            <a:r>
              <a:rPr lang="en-US" sz="900" dirty="0" err="1">
                <a:solidFill>
                  <a:srgbClr val="373739"/>
                </a:solidFill>
                <a:latin typeface="Noto Sans SC" panose="020B0200000000000000" pitchFamily="34" charset="-128"/>
                <a:ea typeface="Noto Sans SC" panose="020B0200000000000000" pitchFamily="34" charset="-128"/>
                <a:cs typeface="Microsoft YaHei"/>
                <a:sym typeface="Microsoft YaHei"/>
              </a:rPr>
              <a:t>非侵入性母血胎兒染色體檢測</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&lt;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NIPT</a:t>
            </a:r>
            <a:r>
              <a:rPr lang="en-US" sz="900" dirty="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dirty="0">
                <a:solidFill>
                  <a:srgbClr val="373739"/>
                </a:solidFill>
                <a:latin typeface="Noto Sans SC" panose="020B0200000000000000" pitchFamily="34" charset="-128"/>
                <a:ea typeface="Noto Sans SC" panose="020B0200000000000000" pitchFamily="34" charset="-128"/>
                <a:cs typeface="Microsoft YaHei"/>
                <a:sym typeface="Microsoft YaHei"/>
              </a:rPr>
              <a:t>Test&gt;本檢測主要從細胞游離DNA中分析胎兒染色體非整倍體，並針對孕齡至少10週（根據末次月經期估計）的單胞胎妊娠進行檢測。這些結果並不能排除這次懷孕可能有其他染色體異常、出生缺陷或其他疾病的可能性。本檢測無法識別有開放性神經管缺陷風險的妊娠。陰性檢測結果並不能完全消除染色體異常的可能性。檢測結果有小概率不能呈現胎兒的染色體情況，但可能呈現胎盤（限制型胎盤鑲嵌體）或母體（染色體嵌合體）的染色體變化。不準確的測試結果其潛在來源可能包括但不限於：母體、胎兒或胎盤的鑲嵌體、胎兒游離DNA濃度過低、輸血、移植手術和幹細胞治療。尤其是胚胎萎縮、胎兒死亡等情況可能導致偽陰性或偽陽性的結果。如果需要明確診斷，則需依照臨床醫師建議進行絨毛膜取樣或羊膜穿刺術。</a:t>
            </a:r>
            <a:endParaRPr sz="900" dirty="0">
              <a:latin typeface="Noto Sans SC" panose="020B0200000000000000" pitchFamily="34" charset="-128"/>
              <a:ea typeface="Noto Sans SC" panose="020B0200000000000000" pitchFamily="34" charset="-128"/>
              <a:cs typeface="Microsoft YaHei"/>
              <a:sym typeface="Microsoft YaHei"/>
            </a:endParaRPr>
          </a:p>
        </p:txBody>
      </p:sp>
      <p:sp>
        <p:nvSpPr>
          <p:cNvPr id="148" name="Google Shape;148;p9"/>
          <p:cNvSpPr/>
          <p:nvPr/>
        </p:nvSpPr>
        <p:spPr>
          <a:xfrm>
            <a:off x="533400" y="6125654"/>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49" name="Google Shape;149;p9"/>
          <p:cNvSpPr txBox="1"/>
          <p:nvPr/>
        </p:nvSpPr>
        <p:spPr>
          <a:xfrm>
            <a:off x="520700" y="5838583"/>
            <a:ext cx="6520180" cy="901465"/>
          </a:xfrm>
          <a:prstGeom prst="rect">
            <a:avLst/>
          </a:prstGeom>
          <a:noFill/>
          <a:ln>
            <a:noFill/>
          </a:ln>
        </p:spPr>
        <p:txBody>
          <a:bodyPr spcFirstLastPara="1" wrap="square" lIns="0" tIns="12700" rIns="0" bIns="0" anchor="t" anchorCtr="0">
            <a:spAutoFit/>
          </a:bodyPr>
          <a:lstStyle/>
          <a:p>
            <a:pPr marL="12700" lvl="0" indent="0" algn="just" rtl="0">
              <a:lnSpc>
                <a:spcPct val="100000"/>
              </a:lnSpc>
              <a:spcBef>
                <a:spcPts val="0"/>
              </a:spcBef>
              <a:spcAft>
                <a:spcPts val="0"/>
              </a:spcAft>
              <a:buNone/>
            </a:pP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微小片段缺失疾病&lt;</a:t>
            </a:r>
            <a:r>
              <a:rPr lang="en-US" sz="105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r>
              <a:rPr lang="en-US" sz="1050">
                <a:solidFill>
                  <a:srgbClr val="4B5285"/>
                </a:solidFill>
                <a:latin typeface="Noto Sans SC" panose="020B0200000000000000" pitchFamily="34" charset="-128"/>
                <a:ea typeface="Noto Sans SC" panose="020B0200000000000000" pitchFamily="34" charset="-128"/>
                <a:cs typeface="Times New Roman"/>
                <a:sym typeface="Times New Roman"/>
              </a:rPr>
              <a:t> </a:t>
            </a: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&gt;</a:t>
            </a:r>
            <a:endParaRPr sz="105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1050">
              <a:latin typeface="Noto Sans SC" panose="020B0200000000000000" pitchFamily="34" charset="-128"/>
              <a:ea typeface="Noto Sans SC" panose="020B0200000000000000" pitchFamily="34" charset="-128"/>
              <a:cs typeface="Microsoft YaHei"/>
              <a:sym typeface="Microsoft YaHei"/>
            </a:endParaRPr>
          </a:p>
          <a:p>
            <a:pPr marL="12700" marR="5080" lvl="0" indent="0" algn="just" rtl="0">
              <a:lnSpc>
                <a:spcPct val="133300"/>
              </a:lnSpc>
              <a:spcBef>
                <a:spcPts val="0"/>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本檢測主要檢測染色體區域-</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1p36、2q33.1、4p16.3、5p-、7q11.23、11q23、15q11.2-913、22q11.2或其他區域（詳見請參閱檢測報告項目）中的染色體微小片段缺失，適用於孕齡至少10週的單胞胎妊娠，此孕齡是根據末次月經期、臀圍長度或其他適當方法估算。</a:t>
            </a:r>
            <a:endParaRPr sz="900">
              <a:latin typeface="Noto Sans SC" panose="020B0200000000000000" pitchFamily="34" charset="-128"/>
              <a:ea typeface="Noto Sans SC" panose="020B0200000000000000" pitchFamily="34" charset="-128"/>
              <a:cs typeface="Microsoft YaHei"/>
              <a:sym typeface="Microsoft YaHei"/>
            </a:endParaRPr>
          </a:p>
        </p:txBody>
      </p:sp>
      <p:sp>
        <p:nvSpPr>
          <p:cNvPr id="150" name="Google Shape;150;p9"/>
          <p:cNvSpPr/>
          <p:nvPr/>
        </p:nvSpPr>
        <p:spPr>
          <a:xfrm>
            <a:off x="533400" y="6919620"/>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1" name="Google Shape;151;p9"/>
          <p:cNvSpPr/>
          <p:nvPr/>
        </p:nvSpPr>
        <p:spPr>
          <a:xfrm>
            <a:off x="533400" y="7593571"/>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2" name="Google Shape;152;p9"/>
          <p:cNvSpPr txBox="1"/>
          <p:nvPr/>
        </p:nvSpPr>
        <p:spPr>
          <a:xfrm>
            <a:off x="520700" y="7306488"/>
            <a:ext cx="6517005" cy="8915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b="1">
                <a:solidFill>
                  <a:srgbClr val="4B5285"/>
                </a:solidFill>
                <a:latin typeface="Noto Sans SC" panose="020B0200000000000000" pitchFamily="34" charset="-128"/>
                <a:ea typeface="Noto Sans SC" panose="020B0200000000000000" pitchFamily="34" charset="-128"/>
                <a:cs typeface="Microsoft YaHei"/>
                <a:sym typeface="Microsoft YaHei"/>
              </a:rPr>
              <a:t>披露</a:t>
            </a:r>
            <a:endParaRPr sz="1050">
              <a:latin typeface="Noto Sans SC" panose="020B0200000000000000" pitchFamily="34" charset="-128"/>
              <a:ea typeface="Noto Sans SC" panose="020B0200000000000000" pitchFamily="34" charset="-128"/>
              <a:cs typeface="Microsoft YaHei"/>
              <a:sym typeface="Microsoft YaHei"/>
            </a:endParaRPr>
          </a:p>
          <a:p>
            <a:pPr marL="12700" marR="5080" lvl="0" indent="0" algn="l" rtl="0">
              <a:lnSpc>
                <a:spcPct val="183300"/>
              </a:lnSpc>
              <a:spcBef>
                <a:spcPts val="1595"/>
              </a:spcBef>
              <a:spcAft>
                <a:spcPts val="0"/>
              </a:spcAft>
              <a:buNone/>
            </a:pP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該檢測由大安聯合醫事實驗室進行並由遺傳諮詢顧問</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LEE</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CN</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M.D.</a:t>
            </a:r>
            <a:r>
              <a:rPr lang="en-US" sz="900">
                <a:solidFill>
                  <a:srgbClr val="373739"/>
                </a:solidFill>
                <a:latin typeface="Noto Sans SC" panose="020B0200000000000000" pitchFamily="34" charset="-128"/>
                <a:ea typeface="Noto Sans SC" panose="020B0200000000000000" pitchFamily="34" charset="-128"/>
                <a:cs typeface="Times New Roman"/>
                <a:sym typeface="Times New Roman"/>
              </a:rPr>
              <a:t> </a:t>
            </a:r>
            <a:r>
              <a:rPr lang="en-US" sz="900">
                <a:solidFill>
                  <a:srgbClr val="373739"/>
                </a:solidFill>
                <a:latin typeface="Noto Sans SC" panose="020B0200000000000000" pitchFamily="34" charset="-128"/>
                <a:ea typeface="Noto Sans SC" panose="020B0200000000000000" pitchFamily="34" charset="-128"/>
                <a:cs typeface="Microsoft YaHei"/>
                <a:sym typeface="Microsoft YaHei"/>
              </a:rPr>
              <a:t>報告覆核，實驗室為精準醫療分子檢測之認證實驗室，並通過美國病理學會（CAP）認證，可進行準確的基因檢測。</a:t>
            </a:r>
            <a:endParaRPr sz="900">
              <a:latin typeface="Noto Sans SC" panose="020B0200000000000000" pitchFamily="34" charset="-128"/>
              <a:ea typeface="Noto Sans SC" panose="020B0200000000000000" pitchFamily="34" charset="-128"/>
              <a:cs typeface="Microsoft YaHei"/>
              <a:sym typeface="Microsoft YaHei"/>
            </a:endParaRPr>
          </a:p>
        </p:txBody>
      </p:sp>
      <p:grpSp>
        <p:nvGrpSpPr>
          <p:cNvPr id="153" name="Google Shape;153;p9"/>
          <p:cNvGrpSpPr/>
          <p:nvPr/>
        </p:nvGrpSpPr>
        <p:grpSpPr>
          <a:xfrm>
            <a:off x="385762" y="261937"/>
            <a:ext cx="6788784" cy="9667875"/>
            <a:chOff x="385762" y="261937"/>
            <a:chExt cx="6788784" cy="9667875"/>
          </a:xfrm>
        </p:grpSpPr>
        <p:sp>
          <p:nvSpPr>
            <p:cNvPr id="154" name="Google Shape;154;p9"/>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sp>
        <p:nvSpPr>
          <p:cNvPr id="2" name="Google Shape;147;p9">
            <a:extLst>
              <a:ext uri="{FF2B5EF4-FFF2-40B4-BE49-F238E27FC236}">
                <a16:creationId xmlns:a16="http://schemas.microsoft.com/office/drawing/2014/main" id="{85B83D05-6C3E-3CBD-6E9E-D0F479D4D020}"/>
              </a:ext>
            </a:extLst>
          </p:cNvPr>
          <p:cNvSpPr/>
          <p:nvPr/>
        </p:nvSpPr>
        <p:spPr>
          <a:xfrm>
            <a:off x="533400" y="5693003"/>
            <a:ext cx="6493510" cy="0"/>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312</TotalTime>
  <Words>358</Words>
  <Application>Microsoft Macintosh PowerPoint</Application>
  <PresentationFormat>Custom</PresentationFormat>
  <Paragraphs>64</Paragraphs>
  <Slides>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Microsoft YaHei</vt:lpstr>
      <vt:lpstr>Noto Sans SC</vt:lpstr>
      <vt:lpstr>Arial</vt:lpstr>
      <vt:lpstr>Calibri</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65</cp:revision>
  <dcterms:modified xsi:type="dcterms:W3CDTF">2025-07-30T12:44:52Z</dcterms:modified>
</cp:coreProperties>
</file>