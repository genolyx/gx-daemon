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5"/>
  </p:notesMasterIdLst>
  <p:sldIdLst>
    <p:sldId id="259" r:id="rId2"/>
    <p:sldId id="260" r:id="rId3"/>
    <p:sldId id="261" r:id="rId4"/>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9"/>
    <p:restoredTop sz="94820"/>
  </p:normalViewPr>
  <p:slideViewPr>
    <p:cSldViewPr snapToGrid="0">
      <p:cViewPr varScale="1">
        <p:scale>
          <a:sx n="116" d="100"/>
          <a:sy n="116" d="100"/>
        </p:scale>
        <p:origin x="4592" y="21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A1EC7995-66F3-C094-EA31-E24ABA4B07FB}"/>
            </a:ext>
          </a:extLst>
        </p:cNvPr>
        <p:cNvGrpSpPr/>
        <p:nvPr/>
      </p:nvGrpSpPr>
      <p:grpSpPr>
        <a:xfrm>
          <a:off x="0" y="0"/>
          <a:ext cx="0" cy="0"/>
          <a:chOff x="0" y="0"/>
          <a:chExt cx="0" cy="0"/>
        </a:xfrm>
      </p:grpSpPr>
      <p:sp>
        <p:nvSpPr>
          <p:cNvPr id="124" name="Google Shape;124;p2:notes">
            <a:extLst>
              <a:ext uri="{FF2B5EF4-FFF2-40B4-BE49-F238E27FC236}">
                <a16:creationId xmlns:a16="http://schemas.microsoft.com/office/drawing/2014/main" id="{EB4D4D0F-8A00-7C54-474E-8196626778B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2:notes">
            <a:extLst>
              <a:ext uri="{FF2B5EF4-FFF2-40B4-BE49-F238E27FC236}">
                <a16:creationId xmlns:a16="http://schemas.microsoft.com/office/drawing/2014/main" id="{A822D8E7-3952-A35E-9FFE-99A14EA21AC0}"/>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243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3971437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778513"/>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KR" panose="020B05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KR" panose="020B05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1p36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1" name="Google Shape;91;p7">
            <a:extLst>
              <a:ext uri="{FF2B5EF4-FFF2-40B4-BE49-F238E27FC236}">
                <a16:creationId xmlns:a16="http://schemas.microsoft.com/office/drawing/2014/main" id="{052DBD0F-20EC-FB07-6A85-570618DE5002}"/>
              </a:ext>
            </a:extLst>
          </p:cNvPr>
          <p:cNvSpPr txBox="1"/>
          <p:nvPr/>
        </p:nvSpPr>
        <p:spPr>
          <a:xfrm>
            <a:off x="4059350" y="4538713"/>
            <a:ext cx="1767585"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2q33.1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4" name="Google Shape;94;p7">
            <a:extLst>
              <a:ext uri="{FF2B5EF4-FFF2-40B4-BE49-F238E27FC236}">
                <a16:creationId xmlns:a16="http://schemas.microsoft.com/office/drawing/2014/main" id="{93D0F4B1-538C-FBAD-B33A-9A888AFE9FDB}"/>
              </a:ext>
            </a:extLst>
          </p:cNvPr>
          <p:cNvSpPr txBox="1"/>
          <p:nvPr/>
        </p:nvSpPr>
        <p:spPr>
          <a:xfrm>
            <a:off x="4059350" y="4898618"/>
            <a:ext cx="1851791"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Wolf-Hirschhorn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7" name="Google Shape;97;p7">
            <a:extLst>
              <a:ext uri="{FF2B5EF4-FFF2-40B4-BE49-F238E27FC236}">
                <a16:creationId xmlns:a16="http://schemas.microsoft.com/office/drawing/2014/main" id="{A33C98AD-977F-204E-51EA-BB8CE6229D23}"/>
              </a:ext>
            </a:extLst>
          </p:cNvPr>
          <p:cNvSpPr txBox="1"/>
          <p:nvPr/>
        </p:nvSpPr>
        <p:spPr>
          <a:xfrm>
            <a:off x="4059351" y="5258511"/>
            <a:ext cx="170926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Cri Du Chat syndrome</a:t>
            </a: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0" name="Google Shape;100;p7">
            <a:extLst>
              <a:ext uri="{FF2B5EF4-FFF2-40B4-BE49-F238E27FC236}">
                <a16:creationId xmlns:a16="http://schemas.microsoft.com/office/drawing/2014/main" id="{9DE185EA-105A-390C-07A5-985B76C4EE4E}"/>
              </a:ext>
            </a:extLst>
          </p:cNvPr>
          <p:cNvSpPr txBox="1"/>
          <p:nvPr/>
        </p:nvSpPr>
        <p:spPr>
          <a:xfrm>
            <a:off x="4059351" y="5618416"/>
            <a:ext cx="185179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Williams-Beuren syndrome</a:t>
            </a: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3" name="Google Shape;103;p7">
            <a:extLst>
              <a:ext uri="{FF2B5EF4-FFF2-40B4-BE49-F238E27FC236}">
                <a16:creationId xmlns:a16="http://schemas.microsoft.com/office/drawing/2014/main" id="{8D9EA37F-E8AF-8450-B245-CFB4B28BBE71}"/>
              </a:ext>
            </a:extLst>
          </p:cNvPr>
          <p:cNvSpPr txBox="1"/>
          <p:nvPr/>
        </p:nvSpPr>
        <p:spPr>
          <a:xfrm>
            <a:off x="4059351" y="5978321"/>
            <a:ext cx="163837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Jacobsen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6" name="Google Shape;106;p7">
            <a:extLst>
              <a:ext uri="{FF2B5EF4-FFF2-40B4-BE49-F238E27FC236}">
                <a16:creationId xmlns:a16="http://schemas.microsoft.com/office/drawing/2014/main" id="{D0EAA1CC-B051-C161-5440-E5CFFE424B95}"/>
              </a:ext>
            </a:extLst>
          </p:cNvPr>
          <p:cNvSpPr txBox="1"/>
          <p:nvPr/>
        </p:nvSpPr>
        <p:spPr>
          <a:xfrm>
            <a:off x="4059350" y="6338227"/>
            <a:ext cx="208932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Prader-</a:t>
            </a:r>
            <a:r>
              <a:rPr lang="en-US" sz="900" dirty="0" err="1">
                <a:latin typeface="Calibri" panose="020F0502020204030204" pitchFamily="34" charset="0"/>
                <a:ea typeface="Noto Sans SC" panose="020B0200000000000000" pitchFamily="34" charset="-128"/>
                <a:cs typeface="Calibri" panose="020F0502020204030204" pitchFamily="34" charset="0"/>
              </a:rPr>
              <a:t>willi</a:t>
            </a:r>
            <a:r>
              <a:rPr lang="en-US" sz="900" dirty="0">
                <a:latin typeface="Calibri" panose="020F0502020204030204" pitchFamily="34" charset="0"/>
                <a:ea typeface="Noto Sans SC" panose="020B0200000000000000" pitchFamily="34" charset="-128"/>
                <a:cs typeface="Calibri" panose="020F0502020204030204" pitchFamily="34" charset="0"/>
              </a:rPr>
              <a:t>/Angelman syndrome</a:t>
            </a: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9" name="Google Shape;109;p7">
            <a:extLst>
              <a:ext uri="{FF2B5EF4-FFF2-40B4-BE49-F238E27FC236}">
                <a16:creationId xmlns:a16="http://schemas.microsoft.com/office/drawing/2014/main" id="{31C7C673-230F-FD2D-A25A-D13A7C015157}"/>
              </a:ext>
            </a:extLst>
          </p:cNvPr>
          <p:cNvSpPr txBox="1"/>
          <p:nvPr/>
        </p:nvSpPr>
        <p:spPr>
          <a:xfrm>
            <a:off x="4059350" y="6698132"/>
            <a:ext cx="191287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2" name="Google Shape;112;p7">
            <a:extLst>
              <a:ext uri="{FF2B5EF4-FFF2-40B4-BE49-F238E27FC236}">
                <a16:creationId xmlns:a16="http://schemas.microsoft.com/office/drawing/2014/main" id="{A33ABAC2-7B8F-CF5F-CBC9-F2FFE26DC3E9}"/>
              </a:ext>
            </a:extLst>
          </p:cNvPr>
          <p:cNvSpPr txBox="1"/>
          <p:nvPr/>
        </p:nvSpPr>
        <p:spPr>
          <a:xfrm>
            <a:off x="4059351" y="6987597"/>
            <a:ext cx="1692457" cy="293029"/>
          </a:xfrm>
          <a:prstGeom prst="rect">
            <a:avLst/>
          </a:prstGeom>
          <a:noFill/>
          <a:ln>
            <a:noFill/>
          </a:ln>
        </p:spPr>
        <p:txBody>
          <a:bodyPr spcFirstLastPara="1" wrap="square" lIns="0" tIns="15875" rIns="0" bIns="0" anchor="t" anchorCtr="0">
            <a:spAutoFit/>
          </a:bodyPr>
          <a:lstStyle/>
          <a:p>
            <a:pPr algn="ctr"/>
            <a:r>
              <a:rPr lang="en-US" sz="900">
                <a:latin typeface="Calibri" panose="020F0502020204030204" pitchFamily="34" charset="0"/>
                <a:ea typeface="Noto Sans SC" panose="020B0200000000000000" pitchFamily="34" charset="-128"/>
                <a:cs typeface="Calibri" panose="020F0502020204030204" pitchFamily="34" charset="0"/>
              </a:rPr>
              <a:t>79 Other </a:t>
            </a:r>
            <a:r>
              <a:rPr lang="en-US" sz="900" dirty="0">
                <a:latin typeface="Calibri" panose="020F0502020204030204" pitchFamily="34" charset="0"/>
                <a:ea typeface="Noto Sans SC" panose="020B0200000000000000" pitchFamily="34" charset="-128"/>
                <a:cs typeface="Calibri" panose="020F0502020204030204" pitchFamily="34" charset="0"/>
              </a:rPr>
              <a:t>microdeletions/duplications</a:t>
            </a:r>
          </a:p>
        </p:txBody>
      </p:sp>
      <p:sp>
        <p:nvSpPr>
          <p:cNvPr id="113" name="Google Shape;113;p7">
            <a:extLst>
              <a:ext uri="{FF2B5EF4-FFF2-40B4-BE49-F238E27FC236}">
                <a16:creationId xmlns:a16="http://schemas.microsoft.com/office/drawing/2014/main" id="{8309C2D1-A4A4-25A3-F0BB-DDCE8004C10E}"/>
              </a:ext>
            </a:extLst>
          </p:cNvPr>
          <p:cNvSpPr/>
          <p:nvPr/>
        </p:nvSpPr>
        <p:spPr>
          <a:xfrm>
            <a:off x="3969574" y="6982739"/>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KR" panose="020B05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KR" panose="020B05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KR" panose="020B05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286612"/>
          </a:xfrm>
          <a:prstGeom prst="rect">
            <a:avLst/>
          </a:prstGeom>
          <a:noFill/>
          <a:ln>
            <a:noFill/>
          </a:ln>
        </p:spPr>
        <p:txBody>
          <a:bodyPr spcFirstLastPara="1" wrap="square" lIns="0" tIns="40000" rIns="0" bIns="0" anchor="t" anchorCtr="0">
            <a:spAutoFit/>
          </a:bodyPr>
          <a:lstStyle/>
          <a:p>
            <a:pPr marL="12700">
              <a:buClr>
                <a:srgbClr val="FF1317"/>
              </a:buClr>
              <a:buSzPts val="750"/>
            </a:pPr>
            <a:r>
              <a:rPr lang="en-US" sz="80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a:p>
            <a:pPr marL="12700" lvl="0">
              <a:buClr>
                <a:srgbClr val="FF1317"/>
              </a:buClr>
              <a:buSzPts val="750"/>
            </a:pPr>
            <a:endParaRPr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3986BFD9-A6EE-7CB9-6095-7BB74027A1B9}"/>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F812C84A-2AE1-A207-B758-9EA6390CCCEA}"/>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DA533653-3A69-A8D7-7F06-3E07D0656DD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aphicFrame>
        <p:nvGraphicFramePr>
          <p:cNvPr id="29" name="Table 28">
            <a:extLst>
              <a:ext uri="{FF2B5EF4-FFF2-40B4-BE49-F238E27FC236}">
                <a16:creationId xmlns:a16="http://schemas.microsoft.com/office/drawing/2014/main" id="{3DEF9634-122E-8F1C-4BCC-FF1CC5CBE351}"/>
              </a:ext>
            </a:extLst>
          </p:cNvPr>
          <p:cNvGraphicFramePr>
            <a:graphicFrameLocks noGrp="1"/>
          </p:cNvGraphicFramePr>
          <p:nvPr>
            <p:extLst>
              <p:ext uri="{D42A27DB-BD31-4B8C-83A1-F6EECF244321}">
                <p14:modId xmlns:p14="http://schemas.microsoft.com/office/powerpoint/2010/main" val="458651380"/>
              </p:ext>
            </p:extLst>
          </p:nvPr>
        </p:nvGraphicFramePr>
        <p:xfrm>
          <a:off x="382477" y="1278002"/>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790668192"/>
                    </a:ext>
                  </a:extLst>
                </a:gridCol>
                <a:gridCol w="1097275">
                  <a:extLst>
                    <a:ext uri="{9D8B030D-6E8A-4147-A177-3AD203B41FA5}">
                      <a16:colId xmlns:a16="http://schemas.microsoft.com/office/drawing/2014/main" val="3345501331"/>
                    </a:ext>
                  </a:extLst>
                </a:gridCol>
                <a:gridCol w="1164600">
                  <a:extLst>
                    <a:ext uri="{9D8B030D-6E8A-4147-A177-3AD203B41FA5}">
                      <a16:colId xmlns:a16="http://schemas.microsoft.com/office/drawing/2014/main" val="750595808"/>
                    </a:ext>
                  </a:extLst>
                </a:gridCol>
                <a:gridCol w="1095375">
                  <a:extLst>
                    <a:ext uri="{9D8B030D-6E8A-4147-A177-3AD203B41FA5}">
                      <a16:colId xmlns:a16="http://schemas.microsoft.com/office/drawing/2014/main" val="1961089513"/>
                    </a:ext>
                  </a:extLst>
                </a:gridCol>
                <a:gridCol w="1165850">
                  <a:extLst>
                    <a:ext uri="{9D8B030D-6E8A-4147-A177-3AD203B41FA5}">
                      <a16:colId xmlns:a16="http://schemas.microsoft.com/office/drawing/2014/main" val="2150510939"/>
                    </a:ext>
                  </a:extLst>
                </a:gridCol>
                <a:gridCol w="1099825">
                  <a:extLst>
                    <a:ext uri="{9D8B030D-6E8A-4147-A177-3AD203B41FA5}">
                      <a16:colId xmlns:a16="http://schemas.microsoft.com/office/drawing/2014/main" val="2054397258"/>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Name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Date of Birth:</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MR Number:</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625651258"/>
                  </a:ext>
                </a:extLst>
              </a:tr>
              <a:tr h="479425">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Draw Date:</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Sample Type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Blood</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Report Date:</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2085393382"/>
                  </a:ext>
                </a:extLst>
              </a:tr>
              <a:tr h="480050">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Sample Number:</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Order Number</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Hospital</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3240389837"/>
                  </a:ext>
                </a:extLst>
              </a:tr>
              <a:tr h="474975">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Pregnancy Type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Gestational Age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W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D</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Physician</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2040855376"/>
                  </a:ext>
                </a:extLst>
              </a:tr>
            </a:tbl>
          </a:graphicData>
        </a:graphic>
      </p:graphicFrame>
      <p:sp>
        <p:nvSpPr>
          <p:cNvPr id="28" name="Google Shape;54;p7">
            <a:extLst>
              <a:ext uri="{FF2B5EF4-FFF2-40B4-BE49-F238E27FC236}">
                <a16:creationId xmlns:a16="http://schemas.microsoft.com/office/drawing/2014/main" id="{B966CEDD-5729-32B8-B68E-B775E2D32C98}"/>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0" name="Google Shape;57;p7">
            <a:extLst>
              <a:ext uri="{FF2B5EF4-FFF2-40B4-BE49-F238E27FC236}">
                <a16:creationId xmlns:a16="http://schemas.microsoft.com/office/drawing/2014/main" id="{D784FBDA-A5C6-F3F4-AC83-C1A35E10C46C}"/>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1" name="Google Shape;60;p7">
            <a:extLst>
              <a:ext uri="{FF2B5EF4-FFF2-40B4-BE49-F238E27FC236}">
                <a16:creationId xmlns:a16="http://schemas.microsoft.com/office/drawing/2014/main" id="{45F32216-96D4-7BDC-7364-DB2B608B6DC8}"/>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2" name="Google Shape;63;p7">
            <a:extLst>
              <a:ext uri="{FF2B5EF4-FFF2-40B4-BE49-F238E27FC236}">
                <a16:creationId xmlns:a16="http://schemas.microsoft.com/office/drawing/2014/main" id="{AF05FFB3-8C29-3078-57D6-3FBDDB673030}"/>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3" name="Google Shape;66;p7">
            <a:extLst>
              <a:ext uri="{FF2B5EF4-FFF2-40B4-BE49-F238E27FC236}">
                <a16:creationId xmlns:a16="http://schemas.microsoft.com/office/drawing/2014/main" id="{1F4577A1-94A5-8484-7F79-91CA3AC19147}"/>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4" name="Google Shape;69;p7">
            <a:extLst>
              <a:ext uri="{FF2B5EF4-FFF2-40B4-BE49-F238E27FC236}">
                <a16:creationId xmlns:a16="http://schemas.microsoft.com/office/drawing/2014/main" id="{22C82B1D-509F-DF09-9F34-578D074C4445}"/>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5" name="Google Shape;72;p7">
            <a:extLst>
              <a:ext uri="{FF2B5EF4-FFF2-40B4-BE49-F238E27FC236}">
                <a16:creationId xmlns:a16="http://schemas.microsoft.com/office/drawing/2014/main" id="{AC4E6E58-CD40-BD0F-66D1-E34A62F2AFF1}"/>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6" name="Google Shape;75;p7">
            <a:extLst>
              <a:ext uri="{FF2B5EF4-FFF2-40B4-BE49-F238E27FC236}">
                <a16:creationId xmlns:a16="http://schemas.microsoft.com/office/drawing/2014/main" id="{DD6400AB-5F3A-3640-F096-FC31C29E110A}"/>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7" name="Google Shape;78;p7">
            <a:extLst>
              <a:ext uri="{FF2B5EF4-FFF2-40B4-BE49-F238E27FC236}">
                <a16:creationId xmlns:a16="http://schemas.microsoft.com/office/drawing/2014/main" id="{63D799BF-1961-DBB8-9848-2934EC5C8C09}"/>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8" name="Google Shape;81;p7">
            <a:extLst>
              <a:ext uri="{FF2B5EF4-FFF2-40B4-BE49-F238E27FC236}">
                <a16:creationId xmlns:a16="http://schemas.microsoft.com/office/drawing/2014/main" id="{917251C0-3641-759A-D273-1FA88D153475}"/>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9" name="Google Shape;84;p7">
            <a:extLst>
              <a:ext uri="{FF2B5EF4-FFF2-40B4-BE49-F238E27FC236}">
                <a16:creationId xmlns:a16="http://schemas.microsoft.com/office/drawing/2014/main" id="{B87C312F-6245-EBB6-DC6B-0C9F26362FC3}"/>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40" name="Google Shape;90;p7">
            <a:extLst>
              <a:ext uri="{FF2B5EF4-FFF2-40B4-BE49-F238E27FC236}">
                <a16:creationId xmlns:a16="http://schemas.microsoft.com/office/drawing/2014/main" id="{164DE0EC-10EF-CCEA-08CE-7B0A562EFD04}"/>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&lt;&lt;MD1&gt;&gt;</a:t>
            </a:r>
          </a:p>
        </p:txBody>
      </p:sp>
      <p:sp>
        <p:nvSpPr>
          <p:cNvPr id="41" name="Google Shape;93;p7">
            <a:extLst>
              <a:ext uri="{FF2B5EF4-FFF2-40B4-BE49-F238E27FC236}">
                <a16:creationId xmlns:a16="http://schemas.microsoft.com/office/drawing/2014/main" id="{34D83DCB-DAEC-C1E2-1DF2-8B46B2EC9A02}"/>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&lt;&lt;MD2&gt;&gt;</a:t>
            </a:r>
          </a:p>
        </p:txBody>
      </p:sp>
      <p:sp>
        <p:nvSpPr>
          <p:cNvPr id="42" name="Google Shape;96;p7">
            <a:extLst>
              <a:ext uri="{FF2B5EF4-FFF2-40B4-BE49-F238E27FC236}">
                <a16:creationId xmlns:a16="http://schemas.microsoft.com/office/drawing/2014/main" id="{8125DDEE-3D5B-33FA-66B9-66EFA239E300}"/>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&lt;&lt;MD3&gt;&gt;</a:t>
            </a:r>
          </a:p>
        </p:txBody>
      </p:sp>
      <p:sp>
        <p:nvSpPr>
          <p:cNvPr id="43" name="Google Shape;99;p7">
            <a:extLst>
              <a:ext uri="{FF2B5EF4-FFF2-40B4-BE49-F238E27FC236}">
                <a16:creationId xmlns:a16="http://schemas.microsoft.com/office/drawing/2014/main" id="{9EB403B0-E270-3B51-82EC-5D64889DD780}"/>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Calibri" panose="020F0502020204030204" pitchFamily="34" charset="0"/>
                <a:ea typeface="Noto Sans KR" panose="020B0500000000000000" pitchFamily="34" charset="-128"/>
                <a:cs typeface="Calibri" panose="020F0502020204030204" pitchFamily="34" charset="0"/>
              </a:rPr>
              <a:t>&lt;&lt;MD4&gt;&gt;</a:t>
            </a:r>
          </a:p>
        </p:txBody>
      </p:sp>
      <p:sp>
        <p:nvSpPr>
          <p:cNvPr id="44" name="Google Shape;102;p7">
            <a:extLst>
              <a:ext uri="{FF2B5EF4-FFF2-40B4-BE49-F238E27FC236}">
                <a16:creationId xmlns:a16="http://schemas.microsoft.com/office/drawing/2014/main" id="{258B026F-004C-EE1E-5B04-2E666054B913}"/>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&lt;&lt;MD5&gt;&gt;</a:t>
            </a:r>
          </a:p>
        </p:txBody>
      </p:sp>
      <p:sp>
        <p:nvSpPr>
          <p:cNvPr id="50" name="Google Shape;105;p7">
            <a:extLst>
              <a:ext uri="{FF2B5EF4-FFF2-40B4-BE49-F238E27FC236}">
                <a16:creationId xmlns:a16="http://schemas.microsoft.com/office/drawing/2014/main" id="{D7940829-2393-5ED2-148A-4B2C59B6E7D1}"/>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&lt;&lt;MD6&gt;&gt;</a:t>
            </a:r>
          </a:p>
        </p:txBody>
      </p:sp>
      <p:sp>
        <p:nvSpPr>
          <p:cNvPr id="54" name="Google Shape;108;p7">
            <a:extLst>
              <a:ext uri="{FF2B5EF4-FFF2-40B4-BE49-F238E27FC236}">
                <a16:creationId xmlns:a16="http://schemas.microsoft.com/office/drawing/2014/main" id="{66638505-D56F-19B5-0922-B6A997C48D89}"/>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&lt;&lt;MD7&gt;&gt;</a:t>
            </a:r>
          </a:p>
        </p:txBody>
      </p:sp>
      <p:sp>
        <p:nvSpPr>
          <p:cNvPr id="57" name="Google Shape;111;p7">
            <a:extLst>
              <a:ext uri="{FF2B5EF4-FFF2-40B4-BE49-F238E27FC236}">
                <a16:creationId xmlns:a16="http://schemas.microsoft.com/office/drawing/2014/main" id="{3231F2B0-B865-B910-5BD8-6F15BDEBC04B}"/>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
        <p:nvSpPr>
          <p:cNvPr id="60" name="Google Shape;114;p7">
            <a:extLst>
              <a:ext uri="{FF2B5EF4-FFF2-40B4-BE49-F238E27FC236}">
                <a16:creationId xmlns:a16="http://schemas.microsoft.com/office/drawing/2014/main" id="{8B12C707-3626-991A-B328-C615640EB388}"/>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&lt;&lt;Other MD&gt;&gt;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a:extLst>
            <a:ext uri="{FF2B5EF4-FFF2-40B4-BE49-F238E27FC236}">
              <a16:creationId xmlns:a16="http://schemas.microsoft.com/office/drawing/2014/main" id="{F4B175E6-0EB4-FE7B-C8F8-49A70333DF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6CC83A-7EE5-14E0-DDCC-A12C8734FCA5}"/>
              </a:ext>
            </a:extLst>
          </p:cNvPr>
          <p:cNvSpPr txBox="1"/>
          <p:nvPr/>
        </p:nvSpPr>
        <p:spPr>
          <a:xfrm>
            <a:off x="581031" y="1042313"/>
            <a:ext cx="3620011" cy="389850"/>
          </a:xfrm>
          <a:prstGeom prst="rect">
            <a:avLst/>
          </a:prstGeom>
        </p:spPr>
        <p:txBody>
          <a:bodyPr vert="horz" wrap="square" lIns="0" tIns="12700" rIns="0" bIns="0" rtlCol="0">
            <a:spAutoFit/>
          </a:bodyPr>
          <a:lstStyle/>
          <a:p>
            <a:pPr marL="12700" lvl="0">
              <a:buClr>
                <a:schemeClr val="dk1"/>
              </a:buClr>
            </a:pPr>
            <a:r>
              <a:rPr lang="en-US" sz="1200" dirty="0">
                <a:solidFill>
                  <a:schemeClr val="dk1"/>
                </a:solidFill>
                <a:latin typeface="Calibri" panose="020F0502020204030204" pitchFamily="34" charset="0"/>
                <a:cs typeface="Calibri" panose="020F0502020204030204" pitchFamily="34" charset="0"/>
              </a:rPr>
              <a:t>Other</a:t>
            </a:r>
            <a:r>
              <a:rPr lang="en-US" sz="12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200" dirty="0">
                <a:solidFill>
                  <a:schemeClr val="dk1"/>
                </a:solidFill>
                <a:latin typeface="Calibri" panose="020F0502020204030204" pitchFamily="34" charset="0"/>
                <a:cs typeface="Calibri" panose="020F0502020204030204" pitchFamily="34" charset="0"/>
              </a:rPr>
              <a:t>87</a:t>
            </a:r>
            <a:r>
              <a:rPr lang="en-US" sz="12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200" dirty="0">
                <a:solidFill>
                  <a:schemeClr val="dk1"/>
                </a:solidFill>
                <a:latin typeface="Calibri" panose="020F0502020204030204" pitchFamily="34" charset="0"/>
                <a:cs typeface="Calibri" panose="020F0502020204030204" pitchFamily="34" charset="0"/>
              </a:rPr>
              <a:t>microdeletion/duplication</a:t>
            </a:r>
            <a:r>
              <a:rPr lang="en-US" sz="12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200" dirty="0">
                <a:solidFill>
                  <a:schemeClr val="dk1"/>
                </a:solidFill>
                <a:latin typeface="Calibri" panose="020F0502020204030204" pitchFamily="34" charset="0"/>
                <a:cs typeface="Calibri" panose="020F0502020204030204" pitchFamily="34" charset="0"/>
              </a:rPr>
              <a:t>syndromes</a:t>
            </a:r>
            <a:endParaRPr lang="en-US" sz="1200" dirty="0">
              <a:latin typeface="Calibri" panose="020F0502020204030204" pitchFamily="34" charset="0"/>
              <a:cs typeface="Calibri" panose="020F0502020204030204" pitchFamily="34" charset="0"/>
            </a:endParaRPr>
          </a:p>
          <a:p>
            <a:pPr lvl="0">
              <a:spcBef>
                <a:spcPts val="340"/>
              </a:spcBef>
            </a:pPr>
            <a:r>
              <a:rPr lang="en-US" sz="1000" dirty="0"/>
              <a:t>Other</a:t>
            </a:r>
            <a:r>
              <a:rPr lang="en-US" sz="1000" dirty="0">
                <a:latin typeface="Times New Roman"/>
                <a:ea typeface="Times New Roman"/>
                <a:cs typeface="Times New Roman"/>
                <a:sym typeface="Times New Roman"/>
              </a:rPr>
              <a:t> </a:t>
            </a:r>
            <a:r>
              <a:rPr lang="en-US" sz="1000" dirty="0"/>
              <a:t>66</a:t>
            </a:r>
            <a:r>
              <a:rPr lang="en-US" sz="1000" dirty="0">
                <a:latin typeface="Times New Roman"/>
                <a:ea typeface="Times New Roman"/>
                <a:cs typeface="Times New Roman"/>
                <a:sym typeface="Times New Roman"/>
              </a:rPr>
              <a:t> </a:t>
            </a:r>
            <a:r>
              <a:rPr lang="en-US" sz="1000" dirty="0"/>
              <a:t>microdeletion/duplication</a:t>
            </a:r>
            <a:r>
              <a:rPr lang="en-US" sz="1000" dirty="0">
                <a:latin typeface="Times New Roman"/>
                <a:ea typeface="Times New Roman"/>
                <a:cs typeface="Times New Roman"/>
                <a:sym typeface="Times New Roman"/>
              </a:rPr>
              <a:t> </a:t>
            </a:r>
            <a:r>
              <a:rPr lang="en-US" sz="1000" dirty="0"/>
              <a:t>syndromes &gt; 6mb</a:t>
            </a:r>
          </a:p>
        </p:txBody>
      </p:sp>
      <p:graphicFrame>
        <p:nvGraphicFramePr>
          <p:cNvPr id="3" name="object 3">
            <a:extLst>
              <a:ext uri="{FF2B5EF4-FFF2-40B4-BE49-F238E27FC236}">
                <a16:creationId xmlns:a16="http://schemas.microsoft.com/office/drawing/2014/main" id="{2E7F8CE0-BEAF-973A-24DE-DD809DAE1EB5}"/>
              </a:ext>
            </a:extLst>
          </p:cNvPr>
          <p:cNvGraphicFramePr>
            <a:graphicFrameLocks noGrp="1"/>
          </p:cNvGraphicFramePr>
          <p:nvPr/>
        </p:nvGraphicFramePr>
        <p:xfrm>
          <a:off x="581031" y="1503724"/>
          <a:ext cx="1480820" cy="402018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1p</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Monosomy</a:t>
                      </a:r>
                      <a:r>
                        <a:rPr sz="750" spc="285" dirty="0">
                          <a:latin typeface="Calibri"/>
                          <a:cs typeface="Calibri"/>
                        </a:rPr>
                        <a:t> </a:t>
                      </a:r>
                      <a:r>
                        <a:rPr sz="750" spc="10" dirty="0">
                          <a:latin typeface="Calibri"/>
                          <a:cs typeface="Calibri"/>
                        </a:rPr>
                        <a:t>1q21-</a:t>
                      </a:r>
                      <a:r>
                        <a:rPr sz="750" spc="-25" dirty="0">
                          <a:latin typeface="Calibri"/>
                          <a:cs typeface="Calibri"/>
                        </a:rPr>
                        <a:t>q32</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10" dirty="0">
                          <a:latin typeface="Calibri"/>
                          <a:cs typeface="Calibri"/>
                        </a:rPr>
                        <a:t>Monosomy</a:t>
                      </a:r>
                      <a:r>
                        <a:rPr sz="750" spc="250" dirty="0">
                          <a:latin typeface="Calibri"/>
                          <a:cs typeface="Calibri"/>
                        </a:rPr>
                        <a:t> </a:t>
                      </a:r>
                      <a:r>
                        <a:rPr sz="750" spc="10" dirty="0">
                          <a:latin typeface="Calibri"/>
                          <a:cs typeface="Calibri"/>
                        </a:rPr>
                        <a:t>1q42-</a:t>
                      </a:r>
                      <a:r>
                        <a:rPr sz="750" spc="-20" dirty="0">
                          <a:latin typeface="Calibri"/>
                          <a:cs typeface="Calibri"/>
                        </a:rPr>
                        <a:t>qter</a:t>
                      </a:r>
                      <a:endParaRPr sz="75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Trisomy</a:t>
                      </a:r>
                      <a:r>
                        <a:rPr sz="750" spc="229" dirty="0">
                          <a:latin typeface="Calibri"/>
                          <a:cs typeface="Calibri"/>
                        </a:rPr>
                        <a:t> </a:t>
                      </a:r>
                      <a:r>
                        <a:rPr sz="750" spc="10" dirty="0">
                          <a:latin typeface="Calibri"/>
                          <a:cs typeface="Calibri"/>
                        </a:rPr>
                        <a:t>1q23-</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2q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10" dirty="0">
                          <a:latin typeface="Calibri"/>
                          <a:cs typeface="Calibri"/>
                        </a:rPr>
                        <a:t>Monosomy</a:t>
                      </a:r>
                      <a:r>
                        <a:rPr sz="750" spc="285" dirty="0">
                          <a:latin typeface="Calibri"/>
                          <a:cs typeface="Calibri"/>
                        </a:rPr>
                        <a:t> </a:t>
                      </a:r>
                      <a:r>
                        <a:rPr sz="750" spc="10" dirty="0">
                          <a:latin typeface="Calibri"/>
                          <a:cs typeface="Calibri"/>
                        </a:rPr>
                        <a:t>3p11-</a:t>
                      </a:r>
                      <a:r>
                        <a:rPr sz="750" spc="-25" dirty="0">
                          <a:latin typeface="Calibri"/>
                          <a:cs typeface="Calibri"/>
                        </a:rPr>
                        <a:t>p21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10" dirty="0">
                          <a:latin typeface="Calibri"/>
                          <a:cs typeface="Calibri"/>
                        </a:rPr>
                        <a:t>Monosomy</a:t>
                      </a:r>
                      <a:r>
                        <a:rPr sz="750" spc="250" dirty="0">
                          <a:latin typeface="Calibri"/>
                          <a:cs typeface="Calibri"/>
                        </a:rPr>
                        <a:t> </a:t>
                      </a:r>
                      <a:r>
                        <a:rPr sz="750" spc="10" dirty="0">
                          <a:latin typeface="Calibri"/>
                          <a:cs typeface="Calibri"/>
                        </a:rPr>
                        <a:t>3p25-</a:t>
                      </a:r>
                      <a:r>
                        <a:rPr sz="750" spc="-20" dirty="0">
                          <a:latin typeface="Calibri"/>
                          <a:cs typeface="Calibri"/>
                        </a:rPr>
                        <a:t>pter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3p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3q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3q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3p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4p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4p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750" spc="10" dirty="0">
                          <a:latin typeface="Calibri"/>
                          <a:cs typeface="Calibri"/>
                        </a:rPr>
                        <a:t>Monosomy</a:t>
                      </a:r>
                      <a:r>
                        <a:rPr sz="750" spc="285" dirty="0">
                          <a:latin typeface="Calibri"/>
                          <a:cs typeface="Calibri"/>
                        </a:rPr>
                        <a:t> </a:t>
                      </a:r>
                      <a:r>
                        <a:rPr sz="750" spc="10" dirty="0">
                          <a:latin typeface="Calibri"/>
                          <a:cs typeface="Calibri"/>
                        </a:rPr>
                        <a:t>4q21-</a:t>
                      </a:r>
                      <a:r>
                        <a:rPr sz="750" spc="-25" dirty="0">
                          <a:latin typeface="Calibri"/>
                          <a:cs typeface="Calibri"/>
                        </a:rPr>
                        <a:t>q31</a:t>
                      </a:r>
                      <a:endParaRPr sz="75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4" name="object 4">
            <a:extLst>
              <a:ext uri="{FF2B5EF4-FFF2-40B4-BE49-F238E27FC236}">
                <a16:creationId xmlns:a16="http://schemas.microsoft.com/office/drawing/2014/main" id="{9C571498-CD8F-DC9C-31AB-7EA711B15E19}"/>
              </a:ext>
            </a:extLst>
          </p:cNvPr>
          <p:cNvGraphicFramePr>
            <a:graphicFrameLocks noGrp="1"/>
          </p:cNvGraphicFramePr>
          <p:nvPr/>
        </p:nvGraphicFramePr>
        <p:xfrm>
          <a:off x="21741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Monosomy</a:t>
                      </a:r>
                      <a:r>
                        <a:rPr sz="750" spc="250" dirty="0">
                          <a:latin typeface="Calibri"/>
                          <a:cs typeface="Calibri"/>
                        </a:rPr>
                        <a:t> </a:t>
                      </a:r>
                      <a:r>
                        <a:rPr sz="750" spc="10" dirty="0">
                          <a:latin typeface="Calibri"/>
                          <a:cs typeface="Calibri"/>
                        </a:rPr>
                        <a:t>4q31-</a:t>
                      </a:r>
                      <a:r>
                        <a:rPr sz="750" spc="-20" dirty="0">
                          <a:latin typeface="Calibri"/>
                          <a:cs typeface="Calibri"/>
                        </a:rPr>
                        <a:t>qter</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4q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4p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5p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5q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5q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6p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7p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7p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30" dirty="0">
                          <a:latin typeface="Calibri"/>
                          <a:cs typeface="Calibri"/>
                        </a:rPr>
                        <a:t>monosomy</a:t>
                      </a:r>
                      <a:r>
                        <a:rPr sz="750" spc="90" dirty="0">
                          <a:latin typeface="Calibri"/>
                          <a:cs typeface="Calibri"/>
                        </a:rPr>
                        <a:t> </a:t>
                      </a:r>
                      <a:r>
                        <a:rPr sz="750" spc="30" dirty="0">
                          <a:latin typeface="Calibri"/>
                          <a:cs typeface="Calibri"/>
                        </a:rPr>
                        <a:t>7q32-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10" dirty="0">
                          <a:latin typeface="Calibri"/>
                          <a:cs typeface="Calibri"/>
                        </a:rPr>
                        <a:t>Trisomy</a:t>
                      </a:r>
                      <a:r>
                        <a:rPr sz="750" spc="265" dirty="0">
                          <a:latin typeface="Calibri"/>
                          <a:cs typeface="Calibri"/>
                        </a:rPr>
                        <a:t> </a:t>
                      </a:r>
                      <a:r>
                        <a:rPr sz="750" spc="10" dirty="0">
                          <a:latin typeface="Calibri"/>
                          <a:cs typeface="Calibri"/>
                        </a:rPr>
                        <a:t>7q21-</a:t>
                      </a:r>
                      <a:r>
                        <a:rPr sz="750" spc="-25" dirty="0">
                          <a:latin typeface="Calibri"/>
                          <a:cs typeface="Calibri"/>
                        </a:rPr>
                        <a:t>q31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10" dirty="0">
                          <a:latin typeface="Calibri"/>
                          <a:cs typeface="Calibri"/>
                        </a:rPr>
                        <a:t>Trisomy</a:t>
                      </a:r>
                      <a:r>
                        <a:rPr sz="750" spc="229" dirty="0">
                          <a:latin typeface="Calibri"/>
                          <a:cs typeface="Calibri"/>
                        </a:rPr>
                        <a:t> </a:t>
                      </a:r>
                      <a:r>
                        <a:rPr sz="750" spc="10" dirty="0">
                          <a:latin typeface="Calibri"/>
                          <a:cs typeface="Calibri"/>
                        </a:rPr>
                        <a:t>7q32-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8q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9p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9p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5" name="object 5">
            <a:extLst>
              <a:ext uri="{FF2B5EF4-FFF2-40B4-BE49-F238E27FC236}">
                <a16:creationId xmlns:a16="http://schemas.microsoft.com/office/drawing/2014/main" id="{CCBD8B79-C607-209D-0903-929D1BADC512}"/>
              </a:ext>
            </a:extLst>
          </p:cNvPr>
          <p:cNvGraphicFramePr>
            <a:graphicFrameLocks noGrp="1"/>
          </p:cNvGraphicFramePr>
          <p:nvPr/>
        </p:nvGraphicFramePr>
        <p:xfrm>
          <a:off x="37672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9q</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9q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10q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10q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11p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11q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11q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12q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10" dirty="0">
                          <a:latin typeface="Calibri"/>
                          <a:cs typeface="Calibri"/>
                        </a:rPr>
                        <a:t>Monosomy</a:t>
                      </a:r>
                      <a:r>
                        <a:rPr sz="750" spc="150" dirty="0">
                          <a:latin typeface="Calibri"/>
                          <a:cs typeface="Calibri"/>
                        </a:rPr>
                        <a:t> </a:t>
                      </a:r>
                      <a:r>
                        <a:rPr sz="750" spc="-10" dirty="0">
                          <a:latin typeface="Calibri"/>
                          <a:cs typeface="Calibri"/>
                        </a:rPr>
                        <a:t>13q14</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10" dirty="0">
                          <a:latin typeface="Calibri"/>
                          <a:cs typeface="Calibri"/>
                        </a:rPr>
                        <a:t>Monosomy</a:t>
                      </a:r>
                      <a:r>
                        <a:rPr sz="750" spc="270" dirty="0">
                          <a:latin typeface="Calibri"/>
                          <a:cs typeface="Calibri"/>
                        </a:rPr>
                        <a:t> </a:t>
                      </a:r>
                      <a:r>
                        <a:rPr sz="750" spc="10" dirty="0">
                          <a:latin typeface="Calibri"/>
                          <a:cs typeface="Calibri"/>
                        </a:rPr>
                        <a:t>13q21-</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750" spc="10" dirty="0">
                          <a:latin typeface="Calibri"/>
                          <a:cs typeface="Calibri"/>
                        </a:rPr>
                        <a:t>Trisomy</a:t>
                      </a:r>
                      <a:r>
                        <a:rPr sz="750" spc="310" dirty="0">
                          <a:latin typeface="Calibri"/>
                          <a:cs typeface="Calibri"/>
                        </a:rPr>
                        <a:t> </a:t>
                      </a:r>
                      <a:r>
                        <a:rPr sz="750" spc="10" dirty="0">
                          <a:latin typeface="Calibri"/>
                          <a:cs typeface="Calibri"/>
                        </a:rPr>
                        <a:t>13cen-</a:t>
                      </a:r>
                      <a:r>
                        <a:rPr sz="750" spc="-25" dirty="0">
                          <a:latin typeface="Calibri"/>
                          <a:cs typeface="Calibri"/>
                        </a:rPr>
                        <a:t>q14</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750" spc="10" dirty="0">
                          <a:latin typeface="Calibri"/>
                          <a:cs typeface="Calibri"/>
                        </a:rPr>
                        <a:t>Trisomy</a:t>
                      </a:r>
                      <a:r>
                        <a:rPr sz="750" spc="245" dirty="0">
                          <a:latin typeface="Calibri"/>
                          <a:cs typeface="Calibri"/>
                        </a:rPr>
                        <a:t> </a:t>
                      </a:r>
                      <a:r>
                        <a:rPr sz="750" spc="10" dirty="0">
                          <a:latin typeface="Calibri"/>
                          <a:cs typeface="Calibri"/>
                        </a:rPr>
                        <a:t>13q21-</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14</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6" name="object 6">
            <a:extLst>
              <a:ext uri="{FF2B5EF4-FFF2-40B4-BE49-F238E27FC236}">
                <a16:creationId xmlns:a16="http://schemas.microsoft.com/office/drawing/2014/main" id="{2E3B690F-FC00-5946-0CCE-237DB599F7D9}"/>
              </a:ext>
            </a:extLst>
          </p:cNvPr>
          <p:cNvGraphicFramePr>
            <a:graphicFrameLocks noGrp="1"/>
          </p:cNvGraphicFramePr>
          <p:nvPr/>
        </p:nvGraphicFramePr>
        <p:xfrm>
          <a:off x="5360333" y="1503724"/>
          <a:ext cx="1480820" cy="357441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Trisomy</a:t>
                      </a:r>
                      <a:r>
                        <a:rPr sz="750" spc="245" dirty="0">
                          <a:latin typeface="Calibri"/>
                          <a:cs typeface="Calibri"/>
                        </a:rPr>
                        <a:t> </a:t>
                      </a:r>
                      <a:r>
                        <a:rPr sz="750" spc="10" dirty="0">
                          <a:latin typeface="Calibri"/>
                          <a:cs typeface="Calibri"/>
                        </a:rPr>
                        <a:t>14q24-</a:t>
                      </a:r>
                      <a:r>
                        <a:rPr sz="750" spc="-20" dirty="0">
                          <a:latin typeface="Calibri"/>
                          <a:cs typeface="Calibri"/>
                        </a:rPr>
                        <a:t>qter</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20" dirty="0">
                          <a:latin typeface="Calibri"/>
                          <a:cs typeface="Calibri"/>
                        </a:rPr>
                        <a:t>Supernumerary</a:t>
                      </a:r>
                      <a:r>
                        <a:rPr sz="750" spc="60" dirty="0">
                          <a:latin typeface="Calibri"/>
                          <a:cs typeface="Calibri"/>
                        </a:rPr>
                        <a:t> </a:t>
                      </a:r>
                      <a:r>
                        <a:rPr sz="750" spc="20" dirty="0">
                          <a:latin typeface="Calibri"/>
                          <a:cs typeface="Calibri"/>
                        </a:rPr>
                        <a:t>inv</a:t>
                      </a:r>
                      <a:r>
                        <a:rPr sz="750" spc="60" dirty="0">
                          <a:latin typeface="Calibri"/>
                          <a:cs typeface="Calibri"/>
                        </a:rPr>
                        <a:t> </a:t>
                      </a:r>
                      <a:r>
                        <a:rPr sz="750" spc="20" dirty="0">
                          <a:latin typeface="Calibri"/>
                          <a:cs typeface="Calibri"/>
                        </a:rPr>
                        <a:t>dup</a:t>
                      </a:r>
                      <a:r>
                        <a:rPr sz="750" spc="60" dirty="0">
                          <a:latin typeface="Calibri"/>
                          <a:cs typeface="Calibri"/>
                        </a:rPr>
                        <a:t> </a:t>
                      </a:r>
                      <a:r>
                        <a:rPr sz="750" spc="-20" dirty="0">
                          <a:latin typeface="Calibri"/>
                          <a:cs typeface="Calibri"/>
                        </a:rPr>
                        <a:t>(15)</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10" dirty="0">
                          <a:latin typeface="Calibri"/>
                          <a:cs typeface="Calibri"/>
                        </a:rPr>
                        <a:t>Trisomy</a:t>
                      </a:r>
                      <a:r>
                        <a:rPr sz="750" spc="245" dirty="0">
                          <a:latin typeface="Calibri"/>
                          <a:cs typeface="Calibri"/>
                        </a:rPr>
                        <a:t> </a:t>
                      </a:r>
                      <a:r>
                        <a:rPr sz="750" spc="10" dirty="0">
                          <a:latin typeface="Calibri"/>
                          <a:cs typeface="Calibri"/>
                        </a:rPr>
                        <a:t>15q22-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16p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10" dirty="0">
                          <a:latin typeface="Calibri"/>
                          <a:cs typeface="Calibri"/>
                        </a:rPr>
                        <a:t>Trisomy</a:t>
                      </a:r>
                      <a:r>
                        <a:rPr sz="750" spc="250" dirty="0">
                          <a:latin typeface="Calibri"/>
                          <a:cs typeface="Calibri"/>
                        </a:rPr>
                        <a:t> </a:t>
                      </a:r>
                      <a:r>
                        <a:rPr sz="750" spc="10" dirty="0">
                          <a:latin typeface="Calibri"/>
                          <a:cs typeface="Calibri"/>
                        </a:rPr>
                        <a:t>17pter-</a:t>
                      </a:r>
                      <a:r>
                        <a:rPr sz="750" spc="-25" dirty="0">
                          <a:latin typeface="Calibri"/>
                          <a:cs typeface="Calibri"/>
                        </a:rPr>
                        <a:t>q21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18p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20" dirty="0">
                          <a:latin typeface="Calibri"/>
                          <a:cs typeface="Calibri"/>
                        </a:rPr>
                        <a:t>Partial</a:t>
                      </a:r>
                      <a:r>
                        <a:rPr sz="750" spc="55" dirty="0">
                          <a:latin typeface="Calibri"/>
                          <a:cs typeface="Calibri"/>
                        </a:rPr>
                        <a:t> </a:t>
                      </a:r>
                      <a:r>
                        <a:rPr sz="750" spc="20" dirty="0">
                          <a:latin typeface="Calibri"/>
                          <a:cs typeface="Calibri"/>
                        </a:rPr>
                        <a:t>tetrasomy</a:t>
                      </a:r>
                      <a:r>
                        <a:rPr sz="750" spc="60" dirty="0">
                          <a:latin typeface="Calibri"/>
                          <a:cs typeface="Calibri"/>
                        </a:rPr>
                        <a:t> </a:t>
                      </a:r>
                      <a:r>
                        <a:rPr sz="750" spc="-25" dirty="0">
                          <a:latin typeface="Calibri"/>
                          <a:cs typeface="Calibri"/>
                        </a:rPr>
                        <a:t>18p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10" dirty="0">
                          <a:latin typeface="Calibri"/>
                          <a:cs typeface="Calibri"/>
                        </a:rPr>
                        <a:t>Trisomy</a:t>
                      </a:r>
                      <a:r>
                        <a:rPr sz="750" spc="250" dirty="0">
                          <a:latin typeface="Calibri"/>
                          <a:cs typeface="Calibri"/>
                        </a:rPr>
                        <a:t> </a:t>
                      </a:r>
                      <a:r>
                        <a:rPr sz="750" spc="10" dirty="0">
                          <a:latin typeface="Calibri"/>
                          <a:cs typeface="Calibri"/>
                        </a:rPr>
                        <a:t>18pter-</a:t>
                      </a:r>
                      <a:r>
                        <a:rPr sz="750" spc="-25" dirty="0">
                          <a:latin typeface="Calibri"/>
                          <a:cs typeface="Calibri"/>
                        </a:rPr>
                        <a:t>q12</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Monosomy</a:t>
                      </a:r>
                      <a:r>
                        <a:rPr sz="750" spc="270" dirty="0">
                          <a:latin typeface="Calibri"/>
                          <a:cs typeface="Calibri"/>
                        </a:rPr>
                        <a:t> </a:t>
                      </a:r>
                      <a:r>
                        <a:rPr sz="750" spc="10" dirty="0">
                          <a:latin typeface="Calibri"/>
                          <a:cs typeface="Calibri"/>
                        </a:rPr>
                        <a:t>18q21-</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10" dirty="0">
                          <a:latin typeface="Calibri"/>
                          <a:cs typeface="Calibri"/>
                        </a:rPr>
                        <a:t>Trisomy</a:t>
                      </a:r>
                      <a:r>
                        <a:rPr sz="750" spc="245" dirty="0">
                          <a:latin typeface="Calibri"/>
                          <a:cs typeface="Calibri"/>
                        </a:rPr>
                        <a:t> </a:t>
                      </a:r>
                      <a:r>
                        <a:rPr sz="750" spc="10" dirty="0">
                          <a:latin typeface="Calibri"/>
                          <a:cs typeface="Calibri"/>
                        </a:rPr>
                        <a:t>18q12-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10" dirty="0">
                          <a:latin typeface="Calibri"/>
                          <a:cs typeface="Calibri"/>
                        </a:rPr>
                        <a:t>Trisomy</a:t>
                      </a:r>
                      <a:r>
                        <a:rPr sz="750" spc="130" dirty="0">
                          <a:latin typeface="Calibri"/>
                          <a:cs typeface="Calibri"/>
                        </a:rPr>
                        <a:t> </a:t>
                      </a:r>
                      <a:r>
                        <a:rPr sz="750" spc="-25" dirty="0">
                          <a:latin typeface="Calibri"/>
                          <a:cs typeface="Calibri"/>
                        </a:rPr>
                        <a:t>20p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034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5"/>
                  </a:ext>
                </a:extLst>
              </a:tr>
            </a:tbl>
          </a:graphicData>
        </a:graphic>
      </p:graphicFrame>
      <p:sp>
        <p:nvSpPr>
          <p:cNvPr id="7" name="object 7">
            <a:extLst>
              <a:ext uri="{FF2B5EF4-FFF2-40B4-BE49-F238E27FC236}">
                <a16:creationId xmlns:a16="http://schemas.microsoft.com/office/drawing/2014/main" id="{4B8BDE44-F762-21F1-9605-56D9BE01B2AC}"/>
              </a:ext>
            </a:extLst>
          </p:cNvPr>
          <p:cNvSpPr txBox="1"/>
          <p:nvPr/>
        </p:nvSpPr>
        <p:spPr>
          <a:xfrm>
            <a:off x="568325" y="5914542"/>
            <a:ext cx="3620011" cy="169918"/>
          </a:xfrm>
          <a:prstGeom prst="rect">
            <a:avLst/>
          </a:prstGeom>
        </p:spPr>
        <p:txBody>
          <a:bodyPr vert="horz" wrap="square" lIns="0" tIns="15875" rIns="0" bIns="0" rtlCol="0">
            <a:spAutoFit/>
          </a:bodyPr>
          <a:lstStyle/>
          <a:p>
            <a:pPr marL="12700" lvl="0"/>
            <a:r>
              <a:rPr lang="en-US" sz="1000" dirty="0">
                <a:solidFill>
                  <a:schemeClr val="dk1"/>
                </a:solidFill>
                <a:latin typeface="Calibri" panose="020F0502020204030204" pitchFamily="34" charset="0"/>
                <a:cs typeface="Calibri" panose="020F0502020204030204" pitchFamily="34" charset="0"/>
              </a:rPr>
              <a:t>Other</a:t>
            </a:r>
            <a:r>
              <a:rPr lang="en-US" sz="10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000" dirty="0">
                <a:solidFill>
                  <a:schemeClr val="dk1"/>
                </a:solidFill>
                <a:latin typeface="Calibri" panose="020F0502020204030204" pitchFamily="34" charset="0"/>
                <a:cs typeface="Calibri" panose="020F0502020204030204" pitchFamily="34" charset="0"/>
              </a:rPr>
              <a:t>21</a:t>
            </a:r>
            <a:r>
              <a:rPr lang="en-US" sz="10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000" dirty="0">
                <a:solidFill>
                  <a:schemeClr val="dk1"/>
                </a:solidFill>
                <a:latin typeface="Calibri" panose="020F0502020204030204" pitchFamily="34" charset="0"/>
                <a:cs typeface="Calibri" panose="020F0502020204030204" pitchFamily="34" charset="0"/>
              </a:rPr>
              <a:t>microdeletion/duplication</a:t>
            </a:r>
            <a:r>
              <a:rPr lang="en-US" sz="10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000" dirty="0">
                <a:solidFill>
                  <a:schemeClr val="dk1"/>
                </a:solidFill>
                <a:latin typeface="Calibri" panose="020F0502020204030204" pitchFamily="34" charset="0"/>
                <a:cs typeface="Calibri" panose="020F0502020204030204" pitchFamily="34" charset="0"/>
              </a:rPr>
              <a:t>syndromes &gt; 2.5mb</a:t>
            </a:r>
            <a:endParaRPr lang="en-US" sz="800" dirty="0">
              <a:latin typeface="Calibri" panose="020F0502020204030204" pitchFamily="34" charset="0"/>
              <a:ea typeface="Microsoft YaHei"/>
              <a:cs typeface="Calibri" panose="020F0502020204030204" pitchFamily="34" charset="0"/>
              <a:sym typeface="Microsoft YaHei"/>
            </a:endParaRPr>
          </a:p>
        </p:txBody>
      </p:sp>
      <p:graphicFrame>
        <p:nvGraphicFramePr>
          <p:cNvPr id="8" name="object 8">
            <a:extLst>
              <a:ext uri="{FF2B5EF4-FFF2-40B4-BE49-F238E27FC236}">
                <a16:creationId xmlns:a16="http://schemas.microsoft.com/office/drawing/2014/main" id="{6D07FB65-1B12-04F2-8EA7-D050800834A1}"/>
              </a:ext>
            </a:extLst>
          </p:cNvPr>
          <p:cNvGraphicFramePr>
            <a:graphicFrameLocks noGrp="1"/>
          </p:cNvGraphicFramePr>
          <p:nvPr/>
        </p:nvGraphicFramePr>
        <p:xfrm>
          <a:off x="581031" y="6231655"/>
          <a:ext cx="1480820" cy="157162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1p36</a:t>
                      </a:r>
                      <a:r>
                        <a:rPr sz="750" spc="100" dirty="0">
                          <a:latin typeface="Calibri"/>
                          <a:cs typeface="Calibri"/>
                        </a:rPr>
                        <a:t> </a:t>
                      </a:r>
                      <a:r>
                        <a:rPr sz="750" spc="10" dirty="0">
                          <a:latin typeface="Calibri"/>
                          <a:cs typeface="Calibri"/>
                        </a:rPr>
                        <a:t>deletion</a:t>
                      </a:r>
                      <a:r>
                        <a:rPr sz="750" spc="105" dirty="0">
                          <a:latin typeface="Calibri"/>
                          <a:cs typeface="Calibri"/>
                        </a:rPr>
                        <a:t> </a:t>
                      </a:r>
                      <a:r>
                        <a:rPr sz="750" spc="-10" dirty="0">
                          <a:latin typeface="Calibri"/>
                          <a:cs typeface="Calibri"/>
                        </a:rPr>
                        <a:t>syndrome</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2p16.1-p15</a:t>
                      </a:r>
                      <a:r>
                        <a:rPr sz="750" spc="180" dirty="0">
                          <a:latin typeface="Calibri"/>
                          <a:cs typeface="Calibri"/>
                        </a:rPr>
                        <a:t> </a:t>
                      </a:r>
                      <a:r>
                        <a:rPr sz="750" spc="10" dirty="0">
                          <a:latin typeface="Calibri"/>
                          <a:cs typeface="Calibri"/>
                        </a:rPr>
                        <a:t>deletion</a:t>
                      </a:r>
                      <a:r>
                        <a:rPr sz="750" spc="185"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10" dirty="0">
                          <a:latin typeface="Calibri"/>
                          <a:cs typeface="Calibri"/>
                        </a:rPr>
                        <a:t>2q33.1</a:t>
                      </a:r>
                      <a:r>
                        <a:rPr sz="750" spc="130" dirty="0">
                          <a:latin typeface="Calibri"/>
                          <a:cs typeface="Calibri"/>
                        </a:rPr>
                        <a:t> </a:t>
                      </a:r>
                      <a:r>
                        <a:rPr sz="750" spc="10" dirty="0">
                          <a:latin typeface="Calibri"/>
                          <a:cs typeface="Calibri"/>
                        </a:rPr>
                        <a:t>deletion</a:t>
                      </a:r>
                      <a:r>
                        <a:rPr sz="750" spc="13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2q37</a:t>
                      </a:r>
                      <a:r>
                        <a:rPr sz="750" spc="100" dirty="0">
                          <a:latin typeface="Calibri"/>
                          <a:cs typeface="Calibri"/>
                        </a:rPr>
                        <a:t> </a:t>
                      </a:r>
                      <a:r>
                        <a:rPr sz="750" spc="10" dirty="0">
                          <a:latin typeface="Calibri"/>
                          <a:cs typeface="Calibri"/>
                        </a:rPr>
                        <a:t>deletion</a:t>
                      </a:r>
                      <a:r>
                        <a:rPr sz="750" spc="105"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10" dirty="0">
                          <a:latin typeface="Calibri"/>
                          <a:cs typeface="Calibri"/>
                        </a:rPr>
                        <a:t>3p</a:t>
                      </a:r>
                      <a:r>
                        <a:rPr sz="750" spc="75" dirty="0">
                          <a:latin typeface="Calibri"/>
                          <a:cs typeface="Calibri"/>
                        </a:rPr>
                        <a:t> </a:t>
                      </a:r>
                      <a:r>
                        <a:rPr sz="750" spc="10" dirty="0">
                          <a:latin typeface="Calibri"/>
                          <a:cs typeface="Calibri"/>
                        </a:rPr>
                        <a:t>deletion</a:t>
                      </a:r>
                      <a:r>
                        <a:rPr sz="750" spc="8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750" spc="20" dirty="0">
                          <a:latin typeface="Calibri"/>
                          <a:cs typeface="Calibri"/>
                        </a:rPr>
                        <a:t>4p16.31</a:t>
                      </a:r>
                      <a:r>
                        <a:rPr sz="750" spc="70" dirty="0">
                          <a:latin typeface="Calibri"/>
                          <a:cs typeface="Calibri"/>
                        </a:rPr>
                        <a:t> </a:t>
                      </a:r>
                      <a:r>
                        <a:rPr sz="750" spc="20" dirty="0">
                          <a:latin typeface="Calibri"/>
                          <a:cs typeface="Calibri"/>
                        </a:rPr>
                        <a:t>deletion</a:t>
                      </a:r>
                      <a:r>
                        <a:rPr sz="750" spc="7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9" name="object 9">
            <a:extLst>
              <a:ext uri="{FF2B5EF4-FFF2-40B4-BE49-F238E27FC236}">
                <a16:creationId xmlns:a16="http://schemas.microsoft.com/office/drawing/2014/main" id="{8013B626-78D8-1906-5210-512D2136A693}"/>
              </a:ext>
            </a:extLst>
          </p:cNvPr>
          <p:cNvGraphicFramePr>
            <a:graphicFrameLocks noGrp="1"/>
          </p:cNvGraphicFramePr>
          <p:nvPr/>
        </p:nvGraphicFramePr>
        <p:xfrm>
          <a:off x="2174132" y="6231655"/>
          <a:ext cx="1481455" cy="157162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Cri-du-chat</a:t>
                      </a:r>
                      <a:r>
                        <a:rPr sz="750" spc="340" dirty="0">
                          <a:latin typeface="Calibri"/>
                          <a:cs typeface="Calibri"/>
                        </a:rPr>
                        <a:t> </a:t>
                      </a:r>
                      <a:r>
                        <a:rPr sz="750" spc="-10" dirty="0">
                          <a:latin typeface="Calibri"/>
                          <a:cs typeface="Calibri"/>
                        </a:rPr>
                        <a:t>syndrome</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7q11.2</a:t>
                      </a:r>
                      <a:r>
                        <a:rPr sz="750" spc="130" dirty="0">
                          <a:latin typeface="Calibri"/>
                          <a:cs typeface="Calibri"/>
                        </a:rPr>
                        <a:t> </a:t>
                      </a:r>
                      <a:r>
                        <a:rPr sz="750" spc="10" dirty="0">
                          <a:latin typeface="Calibri"/>
                          <a:cs typeface="Calibri"/>
                        </a:rPr>
                        <a:t>deletion</a:t>
                      </a:r>
                      <a:r>
                        <a:rPr sz="750" spc="13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10" dirty="0">
                          <a:latin typeface="Calibri"/>
                          <a:cs typeface="Calibri"/>
                        </a:rPr>
                        <a:t>Langer-Giedion</a:t>
                      </a:r>
                      <a:r>
                        <a:rPr sz="750" spc="30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8p23.1</a:t>
                      </a:r>
                      <a:r>
                        <a:rPr sz="750" spc="130" dirty="0">
                          <a:latin typeface="Calibri"/>
                          <a:cs typeface="Calibri"/>
                        </a:rPr>
                        <a:t> </a:t>
                      </a:r>
                      <a:r>
                        <a:rPr sz="750" spc="10" dirty="0">
                          <a:latin typeface="Calibri"/>
                          <a:cs typeface="Calibri"/>
                        </a:rPr>
                        <a:t>deletion</a:t>
                      </a:r>
                      <a:r>
                        <a:rPr sz="750" spc="13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20" dirty="0">
                          <a:latin typeface="Calibri"/>
                          <a:cs typeface="Calibri"/>
                        </a:rPr>
                        <a:t>8p23.1</a:t>
                      </a:r>
                      <a:r>
                        <a:rPr sz="750" spc="95" dirty="0">
                          <a:latin typeface="Calibri"/>
                          <a:cs typeface="Calibri"/>
                        </a:rPr>
                        <a:t> </a:t>
                      </a:r>
                      <a:r>
                        <a:rPr sz="750" spc="20" dirty="0">
                          <a:latin typeface="Calibri"/>
                          <a:cs typeface="Calibri"/>
                        </a:rPr>
                        <a:t>duplication</a:t>
                      </a:r>
                      <a:r>
                        <a:rPr sz="750" spc="10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750" spc="10" dirty="0">
                          <a:latin typeface="Calibri"/>
                          <a:cs typeface="Calibri"/>
                        </a:rPr>
                        <a:t>11q23.3-q25</a:t>
                      </a:r>
                      <a:r>
                        <a:rPr sz="750" spc="185" dirty="0">
                          <a:latin typeface="Calibri"/>
                          <a:cs typeface="Calibri"/>
                        </a:rPr>
                        <a:t> </a:t>
                      </a:r>
                      <a:r>
                        <a:rPr sz="750" spc="10" dirty="0">
                          <a:latin typeface="Calibri"/>
                          <a:cs typeface="Calibri"/>
                        </a:rPr>
                        <a:t>deletion</a:t>
                      </a:r>
                      <a:r>
                        <a:rPr sz="750" spc="20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10" name="object 10">
            <a:extLst>
              <a:ext uri="{FF2B5EF4-FFF2-40B4-BE49-F238E27FC236}">
                <a16:creationId xmlns:a16="http://schemas.microsoft.com/office/drawing/2014/main" id="{6A8929A7-5981-5589-E6CA-4E5F9E49ACD9}"/>
              </a:ext>
            </a:extLst>
          </p:cNvPr>
          <p:cNvGraphicFramePr>
            <a:graphicFrameLocks noGrp="1"/>
          </p:cNvGraphicFramePr>
          <p:nvPr/>
        </p:nvGraphicFramePr>
        <p:xfrm>
          <a:off x="3767232" y="6231655"/>
          <a:ext cx="1481455" cy="158940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20" dirty="0">
                          <a:latin typeface="Calibri"/>
                          <a:cs typeface="Calibri"/>
                        </a:rPr>
                        <a:t>Angelman</a:t>
                      </a:r>
                      <a:r>
                        <a:rPr sz="750" spc="105" dirty="0">
                          <a:latin typeface="Calibri"/>
                          <a:cs typeface="Calibri"/>
                        </a:rPr>
                        <a:t> </a:t>
                      </a:r>
                      <a:r>
                        <a:rPr sz="750" spc="-10" dirty="0">
                          <a:latin typeface="Calibri"/>
                          <a:cs typeface="Calibri"/>
                        </a:rPr>
                        <a:t>syndrome</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dirty="0">
                          <a:latin typeface="Calibri"/>
                          <a:cs typeface="Calibri"/>
                        </a:rPr>
                        <a:t>Prader-Willi</a:t>
                      </a:r>
                      <a:r>
                        <a:rPr sz="750" spc="35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20" dirty="0">
                          <a:latin typeface="Calibri"/>
                          <a:cs typeface="Calibri"/>
                        </a:rPr>
                        <a:t>15q26</a:t>
                      </a:r>
                      <a:r>
                        <a:rPr sz="750" spc="85" dirty="0">
                          <a:latin typeface="Calibri"/>
                          <a:cs typeface="Calibri"/>
                        </a:rPr>
                        <a:t> </a:t>
                      </a:r>
                      <a:r>
                        <a:rPr sz="750" spc="20" dirty="0">
                          <a:latin typeface="Calibri"/>
                          <a:cs typeface="Calibri"/>
                        </a:rPr>
                        <a:t>duplication</a:t>
                      </a:r>
                      <a:r>
                        <a:rPr sz="750" spc="9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342900">
                <a:tc>
                  <a:txBody>
                    <a:bodyPr/>
                    <a:lstStyle/>
                    <a:p>
                      <a:pPr marL="524510" marR="105410" indent="-412115">
                        <a:lnSpc>
                          <a:spcPct val="105000"/>
                        </a:lnSpc>
                        <a:spcBef>
                          <a:spcPts val="340"/>
                        </a:spcBef>
                      </a:pPr>
                      <a:r>
                        <a:rPr sz="750" spc="10" dirty="0">
                          <a:latin typeface="Calibri"/>
                          <a:cs typeface="Calibri"/>
                        </a:rPr>
                        <a:t>16p11.2-p12.2</a:t>
                      </a:r>
                      <a:r>
                        <a:rPr sz="750" spc="325" dirty="0">
                          <a:latin typeface="Calibri"/>
                          <a:cs typeface="Calibri"/>
                        </a:rPr>
                        <a:t> </a:t>
                      </a:r>
                      <a:r>
                        <a:rPr sz="750" spc="-10" dirty="0">
                          <a:latin typeface="Calibri"/>
                          <a:cs typeface="Calibri"/>
                        </a:rPr>
                        <a:t>microdeletion</a:t>
                      </a:r>
                      <a:r>
                        <a:rPr sz="750" spc="500" dirty="0">
                          <a:latin typeface="Calibri"/>
                          <a:cs typeface="Calibri"/>
                        </a:rPr>
                        <a:t> </a:t>
                      </a:r>
                      <a:r>
                        <a:rPr sz="750" spc="-10" dirty="0">
                          <a:latin typeface="Calibri"/>
                          <a:cs typeface="Calibri"/>
                        </a:rPr>
                        <a:t>syndrome</a:t>
                      </a:r>
                      <a:endParaRPr sz="75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340360">
                <a:tc>
                  <a:txBody>
                    <a:bodyPr/>
                    <a:lstStyle/>
                    <a:p>
                      <a:pPr marL="524510" marR="162560" indent="-354965">
                        <a:lnSpc>
                          <a:spcPct val="105000"/>
                        </a:lnSpc>
                        <a:spcBef>
                          <a:spcPts val="340"/>
                        </a:spcBef>
                      </a:pPr>
                      <a:r>
                        <a:rPr sz="750" spc="10" dirty="0">
                          <a:latin typeface="Calibri"/>
                          <a:cs typeface="Calibri"/>
                        </a:rPr>
                        <a:t>16p11.2-p12.2</a:t>
                      </a:r>
                      <a:r>
                        <a:rPr sz="750" spc="325" dirty="0">
                          <a:latin typeface="Calibri"/>
                          <a:cs typeface="Calibri"/>
                        </a:rPr>
                        <a:t> </a:t>
                      </a:r>
                      <a:r>
                        <a:rPr sz="750" spc="-10" dirty="0">
                          <a:latin typeface="Calibri"/>
                          <a:cs typeface="Calibri"/>
                        </a:rPr>
                        <a:t>duplication</a:t>
                      </a:r>
                      <a:r>
                        <a:rPr sz="750" spc="500" dirty="0">
                          <a:latin typeface="Calibri"/>
                          <a:cs typeface="Calibri"/>
                        </a:rPr>
                        <a:t> </a:t>
                      </a:r>
                      <a:r>
                        <a:rPr sz="750" spc="-10" dirty="0">
                          <a:latin typeface="Calibri"/>
                          <a:cs typeface="Calibri"/>
                        </a:rPr>
                        <a:t>syndrome</a:t>
                      </a:r>
                      <a:endParaRPr sz="75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5"/>
                  </a:ext>
                </a:extLst>
              </a:tr>
            </a:tbl>
          </a:graphicData>
        </a:graphic>
      </p:graphicFrame>
      <p:graphicFrame>
        <p:nvGraphicFramePr>
          <p:cNvPr id="11" name="object 11">
            <a:extLst>
              <a:ext uri="{FF2B5EF4-FFF2-40B4-BE49-F238E27FC236}">
                <a16:creationId xmlns:a16="http://schemas.microsoft.com/office/drawing/2014/main" id="{8EEB2035-3694-4C06-06B0-372D067C0D0B}"/>
              </a:ext>
            </a:extLst>
          </p:cNvPr>
          <p:cNvGraphicFramePr>
            <a:graphicFrameLocks noGrp="1"/>
          </p:cNvGraphicFramePr>
          <p:nvPr/>
        </p:nvGraphicFramePr>
        <p:xfrm>
          <a:off x="5360333" y="6231655"/>
          <a:ext cx="1480820" cy="124650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340360">
                <a:tc>
                  <a:txBody>
                    <a:bodyPr/>
                    <a:lstStyle/>
                    <a:p>
                      <a:pPr marL="452120" marR="144780" indent="-300990">
                        <a:lnSpc>
                          <a:spcPct val="105000"/>
                        </a:lnSpc>
                        <a:spcBef>
                          <a:spcPts val="320"/>
                        </a:spcBef>
                      </a:pPr>
                      <a:r>
                        <a:rPr sz="750" spc="20" dirty="0">
                          <a:latin typeface="Calibri"/>
                          <a:cs typeface="Calibri"/>
                        </a:rPr>
                        <a:t>17p13.3</a:t>
                      </a:r>
                      <a:r>
                        <a:rPr sz="750" spc="70" dirty="0">
                          <a:latin typeface="Calibri"/>
                          <a:cs typeface="Calibri"/>
                        </a:rPr>
                        <a:t> </a:t>
                      </a:r>
                      <a:r>
                        <a:rPr sz="750" spc="20" dirty="0">
                          <a:latin typeface="Calibri"/>
                          <a:cs typeface="Calibri"/>
                        </a:rPr>
                        <a:t>deletion</a:t>
                      </a:r>
                      <a:r>
                        <a:rPr sz="750" spc="70" dirty="0">
                          <a:latin typeface="Calibri"/>
                          <a:cs typeface="Calibri"/>
                        </a:rPr>
                        <a:t> </a:t>
                      </a:r>
                      <a:r>
                        <a:rPr sz="750" spc="-10" dirty="0">
                          <a:latin typeface="Calibri"/>
                          <a:cs typeface="Calibri"/>
                        </a:rPr>
                        <a:t>syndrome</a:t>
                      </a:r>
                      <a:r>
                        <a:rPr sz="750" spc="500" dirty="0">
                          <a:latin typeface="Calibri"/>
                          <a:cs typeface="Calibri"/>
                        </a:rPr>
                        <a:t> </a:t>
                      </a:r>
                      <a:r>
                        <a:rPr sz="750" dirty="0">
                          <a:latin typeface="Calibri"/>
                          <a:cs typeface="Calibri"/>
                        </a:rPr>
                        <a:t>(Miller</a:t>
                      </a:r>
                      <a:r>
                        <a:rPr sz="750" spc="55" dirty="0">
                          <a:latin typeface="Calibri"/>
                          <a:cs typeface="Calibri"/>
                        </a:rPr>
                        <a:t> </a:t>
                      </a:r>
                      <a:r>
                        <a:rPr sz="750" spc="-10" dirty="0">
                          <a:latin typeface="Calibri"/>
                          <a:cs typeface="Calibri"/>
                        </a:rPr>
                        <a:t>Deker)</a:t>
                      </a:r>
                      <a:endParaRPr sz="750">
                        <a:latin typeface="Calibri"/>
                        <a:cs typeface="Calibri"/>
                      </a:endParaRPr>
                    </a:p>
                  </a:txBody>
                  <a:tcPr marL="0" marR="0" marT="40640"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20" dirty="0">
                          <a:latin typeface="Calibri"/>
                          <a:cs typeface="Calibri"/>
                        </a:rPr>
                        <a:t>Smith-Magenis</a:t>
                      </a:r>
                      <a:r>
                        <a:rPr sz="750" spc="229"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20" dirty="0">
                          <a:latin typeface="Calibri"/>
                          <a:cs typeface="Calibri"/>
                        </a:rPr>
                        <a:t>Potocki-Lupski</a:t>
                      </a:r>
                      <a:r>
                        <a:rPr sz="750" spc="325"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0345">
                <a:tc>
                  <a:txBody>
                    <a:bodyPr/>
                    <a:lstStyle/>
                    <a:p>
                      <a:pPr algn="ctr">
                        <a:lnSpc>
                          <a:spcPct val="100000"/>
                        </a:lnSpc>
                        <a:spcBef>
                          <a:spcPts val="385"/>
                        </a:spcBef>
                      </a:pPr>
                      <a:r>
                        <a:rPr sz="750" spc="20" dirty="0">
                          <a:latin typeface="Calibri"/>
                          <a:cs typeface="Calibri"/>
                        </a:rPr>
                        <a:t>22q11.2</a:t>
                      </a:r>
                      <a:r>
                        <a:rPr sz="750" spc="70" dirty="0">
                          <a:latin typeface="Calibri"/>
                          <a:cs typeface="Calibri"/>
                        </a:rPr>
                        <a:t> </a:t>
                      </a:r>
                      <a:r>
                        <a:rPr sz="750" spc="20" dirty="0">
                          <a:latin typeface="Calibri"/>
                          <a:cs typeface="Calibri"/>
                        </a:rPr>
                        <a:t>deletion</a:t>
                      </a:r>
                      <a:r>
                        <a:rPr sz="750" spc="7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4"/>
                  </a:ext>
                </a:extLst>
              </a:tr>
            </a:tbl>
          </a:graphicData>
        </a:graphic>
      </p:graphicFrame>
      <p:grpSp>
        <p:nvGrpSpPr>
          <p:cNvPr id="12" name="object 12">
            <a:extLst>
              <a:ext uri="{FF2B5EF4-FFF2-40B4-BE49-F238E27FC236}">
                <a16:creationId xmlns:a16="http://schemas.microsoft.com/office/drawing/2014/main" id="{3BE22D62-CC36-78A1-21E1-2535043CE0A3}"/>
              </a:ext>
            </a:extLst>
          </p:cNvPr>
          <p:cNvGrpSpPr/>
          <p:nvPr/>
        </p:nvGrpSpPr>
        <p:grpSpPr>
          <a:xfrm>
            <a:off x="428625" y="540004"/>
            <a:ext cx="6703059" cy="9382125"/>
            <a:chOff x="428625" y="540004"/>
            <a:chExt cx="6703059" cy="9382125"/>
          </a:xfrm>
        </p:grpSpPr>
        <p:sp>
          <p:nvSpPr>
            <p:cNvPr id="13" name="object 13">
              <a:extLst>
                <a:ext uri="{FF2B5EF4-FFF2-40B4-BE49-F238E27FC236}">
                  <a16:creationId xmlns:a16="http://schemas.microsoft.com/office/drawing/2014/main" id="{8136F8D0-19B2-38B9-0119-514A5F5ABFAF}"/>
                </a:ext>
              </a:extLst>
            </p:cNvPr>
            <p:cNvSpPr/>
            <p:nvPr/>
          </p:nvSpPr>
          <p:spPr>
            <a:xfrm>
              <a:off x="473367" y="563816"/>
              <a:ext cx="6613525" cy="9334500"/>
            </a:xfrm>
            <a:custGeom>
              <a:avLst/>
              <a:gdLst/>
              <a:ahLst/>
              <a:cxnLst/>
              <a:rect l="l" t="t" r="r" b="b"/>
              <a:pathLst>
                <a:path w="6613525" h="9334500">
                  <a:moveTo>
                    <a:pt x="6613321" y="20916"/>
                  </a:moveTo>
                  <a:lnTo>
                    <a:pt x="6576747" y="1374"/>
                  </a:lnTo>
                  <a:lnTo>
                    <a:pt x="6562813" y="0"/>
                  </a:lnTo>
                  <a:lnTo>
                    <a:pt x="50507" y="0"/>
                  </a:lnTo>
                  <a:lnTo>
                    <a:pt x="10820" y="12042"/>
                  </a:lnTo>
                  <a:lnTo>
                    <a:pt x="5191" y="16215"/>
                  </a:lnTo>
                  <a:lnTo>
                    <a:pt x="0" y="20916"/>
                  </a:lnTo>
                </a:path>
                <a:path w="6613525" h="9334500">
                  <a:moveTo>
                    <a:pt x="0" y="9313570"/>
                  </a:moveTo>
                  <a:lnTo>
                    <a:pt x="36574" y="9333120"/>
                  </a:lnTo>
                  <a:lnTo>
                    <a:pt x="50507" y="9334500"/>
                  </a:lnTo>
                  <a:lnTo>
                    <a:pt x="6539001" y="9334500"/>
                  </a:lnTo>
                  <a:lnTo>
                    <a:pt x="6583178" y="9331419"/>
                  </a:lnTo>
                  <a:lnTo>
                    <a:pt x="6608130" y="9318279"/>
                  </a:lnTo>
                  <a:lnTo>
                    <a:pt x="6613321" y="9313570"/>
                  </a:lnTo>
                </a:path>
              </a:pathLst>
            </a:custGeom>
            <a:ln w="47625">
              <a:solidFill>
                <a:srgbClr val="999DC0"/>
              </a:solidFill>
            </a:ln>
          </p:spPr>
          <p:txBody>
            <a:bodyPr wrap="square" lIns="0" tIns="0" rIns="0" bIns="0" rtlCol="0"/>
            <a:lstStyle/>
            <a:p>
              <a:endParaRPr/>
            </a:p>
          </p:txBody>
        </p:sp>
        <p:sp>
          <p:nvSpPr>
            <p:cNvPr id="14" name="object 14">
              <a:extLst>
                <a:ext uri="{FF2B5EF4-FFF2-40B4-BE49-F238E27FC236}">
                  <a16:creationId xmlns:a16="http://schemas.microsoft.com/office/drawing/2014/main" id="{15E7AB8C-F3EA-2824-178D-82AFC0DC5579}"/>
                </a:ext>
              </a:extLst>
            </p:cNvPr>
            <p:cNvSpPr/>
            <p:nvPr/>
          </p:nvSpPr>
          <p:spPr>
            <a:xfrm>
              <a:off x="433387" y="571271"/>
              <a:ext cx="6693534" cy="9319895"/>
            </a:xfrm>
            <a:custGeom>
              <a:avLst/>
              <a:gdLst/>
              <a:ahLst/>
              <a:cxnLst/>
              <a:rect l="l" t="t" r="r" b="b"/>
              <a:pathLst>
                <a:path w="6693534" h="9319895">
                  <a:moveTo>
                    <a:pt x="26504" y="0"/>
                  </a:moveTo>
                  <a:lnTo>
                    <a:pt x="3895" y="37713"/>
                  </a:lnTo>
                  <a:lnTo>
                    <a:pt x="0" y="63982"/>
                  </a:lnTo>
                  <a:lnTo>
                    <a:pt x="0" y="9250845"/>
                  </a:lnTo>
                  <a:lnTo>
                    <a:pt x="6883" y="9290227"/>
                  </a:lnTo>
                  <a:lnTo>
                    <a:pt x="20540" y="9313005"/>
                  </a:lnTo>
                  <a:lnTo>
                    <a:pt x="26504" y="9319590"/>
                  </a:lnTo>
                </a:path>
                <a:path w="6693534" h="9319895">
                  <a:moveTo>
                    <a:pt x="6666776" y="9319590"/>
                  </a:moveTo>
                  <a:lnTo>
                    <a:pt x="6689385" y="9281869"/>
                  </a:lnTo>
                  <a:lnTo>
                    <a:pt x="6693281" y="9255607"/>
                  </a:lnTo>
                  <a:lnTo>
                    <a:pt x="6693281" y="68745"/>
                  </a:lnTo>
                  <a:lnTo>
                    <a:pt x="6686397" y="29349"/>
                  </a:lnTo>
                  <a:lnTo>
                    <a:pt x="6672740" y="6577"/>
                  </a:lnTo>
                  <a:lnTo>
                    <a:pt x="6666776" y="0"/>
                  </a:lnTo>
                </a:path>
              </a:pathLst>
            </a:custGeom>
            <a:ln w="9525">
              <a:solidFill>
                <a:srgbClr val="999DC0"/>
              </a:solidFill>
            </a:ln>
          </p:spPr>
          <p:txBody>
            <a:bodyPr wrap="square" lIns="0" tIns="0" rIns="0" bIns="0" rtlCol="0"/>
            <a:lstStyle/>
            <a:p>
              <a:endParaRPr/>
            </a:p>
          </p:txBody>
        </p:sp>
      </p:grpSp>
    </p:spTree>
    <p:extLst>
      <p:ext uri="{BB962C8B-B14F-4D97-AF65-F5344CB8AC3E}">
        <p14:creationId xmlns:p14="http://schemas.microsoft.com/office/powerpoint/2010/main" val="700129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305</TotalTime>
  <Words>1237</Words>
  <Application>Microsoft Macintosh PowerPoint</Application>
  <PresentationFormat>Custom</PresentationFormat>
  <Paragraphs>234</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Microsoft YaHei</vt:lpstr>
      <vt:lpstr>Noto Sans SC</vt:lpstr>
      <vt:lpstr>Arial</vt:lpstr>
      <vt:lpstr>Calibri</vt:lpstr>
      <vt:lpstr>Times New Roman</vt:lpstr>
      <vt:lpstr>1_디자인 사용자 지정</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59</cp:revision>
  <dcterms:modified xsi:type="dcterms:W3CDTF">2025-07-30T06:55:05Z</dcterms:modified>
</cp:coreProperties>
</file>