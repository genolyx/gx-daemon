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Lst>
  <p:notesMasterIdLst>
    <p:notesMasterId r:id="rId4"/>
  </p:notesMasterIdLst>
  <p:sldIdLst>
    <p:sldId id="259" r:id="rId2"/>
    <p:sldId id="261" r:id="rId3"/>
  </p:sldIdLst>
  <p:sldSz cx="7556500" cy="10693400"/>
  <p:notesSz cx="7556500" cy="106934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90"/>
  </p:normalViewPr>
  <p:slideViewPr>
    <p:cSldViewPr snapToGrid="0">
      <p:cViewPr varScale="1">
        <p:scale>
          <a:sx n="102" d="100"/>
          <a:sy n="102" d="100"/>
        </p:scale>
        <p:origin x="4432" y="18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F928419-A67A-E578-2A7C-EBC4DBD1396C}"/>
            </a:ext>
          </a:extLst>
        </p:cNvPr>
        <p:cNvGrpSpPr/>
        <p:nvPr/>
      </p:nvGrpSpPr>
      <p:grpSpPr>
        <a:xfrm>
          <a:off x="0" y="0"/>
          <a:ext cx="0" cy="0"/>
          <a:chOff x="0" y="0"/>
          <a:chExt cx="0" cy="0"/>
        </a:xfrm>
      </p:grpSpPr>
      <p:sp>
        <p:nvSpPr>
          <p:cNvPr id="42" name="Google Shape;42;p1:notes">
            <a:extLst>
              <a:ext uri="{FF2B5EF4-FFF2-40B4-BE49-F238E27FC236}">
                <a16:creationId xmlns:a16="http://schemas.microsoft.com/office/drawing/2014/main" id="{CF5ED8FF-E8FD-0C20-5A88-C31967262A8A}"/>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a:extLst>
              <a:ext uri="{FF2B5EF4-FFF2-40B4-BE49-F238E27FC236}">
                <a16:creationId xmlns:a16="http://schemas.microsoft.com/office/drawing/2014/main" id="{BC29E3A5-8B73-61A9-1647-5214593C6CC6}"/>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569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61CD4E5C-03BB-9E40-2718-4E60BCE7CFDC}"/>
            </a:ext>
          </a:extLst>
        </p:cNvPr>
        <p:cNvGrpSpPr/>
        <p:nvPr/>
      </p:nvGrpSpPr>
      <p:grpSpPr>
        <a:xfrm>
          <a:off x="0" y="0"/>
          <a:ext cx="0" cy="0"/>
          <a:chOff x="0" y="0"/>
          <a:chExt cx="0" cy="0"/>
        </a:xfrm>
      </p:grpSpPr>
      <p:sp>
        <p:nvSpPr>
          <p:cNvPr id="136" name="Google Shape;136;p3:notes">
            <a:extLst>
              <a:ext uri="{FF2B5EF4-FFF2-40B4-BE49-F238E27FC236}">
                <a16:creationId xmlns:a16="http://schemas.microsoft.com/office/drawing/2014/main" id="{49FB5FED-D9BF-EE6A-801A-A30D46536AE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a:extLst>
              <a:ext uri="{FF2B5EF4-FFF2-40B4-BE49-F238E27FC236}">
                <a16:creationId xmlns:a16="http://schemas.microsoft.com/office/drawing/2014/main" id="{1E60E02B-F6B9-1E75-3D67-C67FD437A5B4}"/>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00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Blank">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5360209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1997471"/>
      </p:ext>
    </p:extLst>
  </p:cSld>
  <p:clrMap bg1="lt1" tx1="dk1" bg2="lt2" tx2="dk2" accent1="accent1" accent2="accent2" accent3="accent3" accent4="accent4" accent5="accent5" accent6="accent6" hlink="hlink" folHlink="folHlink"/>
  <p:sldLayoutIdLst>
    <p:sldLayoutId id="2147483671" r:id="rId1"/>
  </p:sldLayoutIdLst>
  <p:txStyles>
    <p:titleStyle>
      <a:lvl1pPr algn="l" defTabSz="566745" rtl="0" eaLnBrk="1" latinLnBrk="1"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1"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1"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1"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ko-KR"/>
      </a:defPPr>
      <a:lvl1pPr marL="0" algn="l" defTabSz="566745" rtl="0" eaLnBrk="1" latinLnBrk="1" hangingPunct="1">
        <a:defRPr sz="1116" kern="1200">
          <a:solidFill>
            <a:schemeClr val="tx1"/>
          </a:solidFill>
          <a:latin typeface="+mn-lt"/>
          <a:ea typeface="+mn-ea"/>
          <a:cs typeface="+mn-cs"/>
        </a:defRPr>
      </a:lvl1pPr>
      <a:lvl2pPr marL="283373" algn="l" defTabSz="566745" rtl="0" eaLnBrk="1" latinLnBrk="1" hangingPunct="1">
        <a:defRPr sz="1116" kern="1200">
          <a:solidFill>
            <a:schemeClr val="tx1"/>
          </a:solidFill>
          <a:latin typeface="+mn-lt"/>
          <a:ea typeface="+mn-ea"/>
          <a:cs typeface="+mn-cs"/>
        </a:defRPr>
      </a:lvl2pPr>
      <a:lvl3pPr marL="566745" algn="l" defTabSz="566745" rtl="0" eaLnBrk="1" latinLnBrk="1" hangingPunct="1">
        <a:defRPr sz="1116" kern="1200">
          <a:solidFill>
            <a:schemeClr val="tx1"/>
          </a:solidFill>
          <a:latin typeface="+mn-lt"/>
          <a:ea typeface="+mn-ea"/>
          <a:cs typeface="+mn-cs"/>
        </a:defRPr>
      </a:lvl3pPr>
      <a:lvl4pPr marL="850118" algn="l" defTabSz="566745" rtl="0" eaLnBrk="1" latinLnBrk="1" hangingPunct="1">
        <a:defRPr sz="1116" kern="1200">
          <a:solidFill>
            <a:schemeClr val="tx1"/>
          </a:solidFill>
          <a:latin typeface="+mn-lt"/>
          <a:ea typeface="+mn-ea"/>
          <a:cs typeface="+mn-cs"/>
        </a:defRPr>
      </a:lvl4pPr>
      <a:lvl5pPr marL="1133490" algn="l" defTabSz="566745" rtl="0" eaLnBrk="1" latinLnBrk="1" hangingPunct="1">
        <a:defRPr sz="1116" kern="1200">
          <a:solidFill>
            <a:schemeClr val="tx1"/>
          </a:solidFill>
          <a:latin typeface="+mn-lt"/>
          <a:ea typeface="+mn-ea"/>
          <a:cs typeface="+mn-cs"/>
        </a:defRPr>
      </a:lvl5pPr>
      <a:lvl6pPr marL="1416863" algn="l" defTabSz="566745" rtl="0" eaLnBrk="1" latinLnBrk="1" hangingPunct="1">
        <a:defRPr sz="1116" kern="1200">
          <a:solidFill>
            <a:schemeClr val="tx1"/>
          </a:solidFill>
          <a:latin typeface="+mn-lt"/>
          <a:ea typeface="+mn-ea"/>
          <a:cs typeface="+mn-cs"/>
        </a:defRPr>
      </a:lvl6pPr>
      <a:lvl7pPr marL="1700235" algn="l" defTabSz="566745" rtl="0" eaLnBrk="1" latinLnBrk="1" hangingPunct="1">
        <a:defRPr sz="1116" kern="1200">
          <a:solidFill>
            <a:schemeClr val="tx1"/>
          </a:solidFill>
          <a:latin typeface="+mn-lt"/>
          <a:ea typeface="+mn-ea"/>
          <a:cs typeface="+mn-cs"/>
        </a:defRPr>
      </a:lvl7pPr>
      <a:lvl8pPr marL="1983608" algn="l" defTabSz="566745" rtl="0" eaLnBrk="1" latinLnBrk="1" hangingPunct="1">
        <a:defRPr sz="1116" kern="1200">
          <a:solidFill>
            <a:schemeClr val="tx1"/>
          </a:solidFill>
          <a:latin typeface="+mn-lt"/>
          <a:ea typeface="+mn-ea"/>
          <a:cs typeface="+mn-cs"/>
        </a:defRPr>
      </a:lvl8pPr>
      <a:lvl9pPr marL="2266980" algn="l" defTabSz="566745" rtl="0" eaLnBrk="1" latinLnBrk="1"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a:extLst>
            <a:ext uri="{FF2B5EF4-FFF2-40B4-BE49-F238E27FC236}">
              <a16:creationId xmlns:a16="http://schemas.microsoft.com/office/drawing/2014/main" id="{A26BFEE5-B093-8912-C49B-ED62C4C542D2}"/>
            </a:ext>
          </a:extLst>
        </p:cNvPr>
        <p:cNvGrpSpPr/>
        <p:nvPr/>
      </p:nvGrpSpPr>
      <p:grpSpPr>
        <a:xfrm>
          <a:off x="0" y="0"/>
          <a:ext cx="0" cy="0"/>
          <a:chOff x="0" y="0"/>
          <a:chExt cx="0" cy="0"/>
        </a:xfrm>
      </p:grpSpPr>
      <p:sp>
        <p:nvSpPr>
          <p:cNvPr id="45" name="Google Shape;45;p7">
            <a:extLst>
              <a:ext uri="{FF2B5EF4-FFF2-40B4-BE49-F238E27FC236}">
                <a16:creationId xmlns:a16="http://schemas.microsoft.com/office/drawing/2014/main" id="{48BA2DF1-76FD-A5D1-5C29-D423209553A9}"/>
              </a:ext>
            </a:extLst>
          </p:cNvPr>
          <p:cNvSpPr txBox="1"/>
          <p:nvPr/>
        </p:nvSpPr>
        <p:spPr>
          <a:xfrm>
            <a:off x="6047892" y="427405"/>
            <a:ext cx="1187664" cy="152586"/>
          </a:xfrm>
          <a:prstGeom prst="rect">
            <a:avLst/>
          </a:prstGeom>
          <a:noFill/>
          <a:ln>
            <a:noFill/>
          </a:ln>
        </p:spPr>
        <p:txBody>
          <a:bodyPr spcFirstLastPara="1" wrap="square" lIns="0" tIns="13950" rIns="0" bIns="0" anchor="t" anchorCtr="0">
            <a:spAutoFit/>
          </a:bodyPr>
          <a:lstStyle/>
          <a:p>
            <a:r>
              <a:rPr lang="en-US" sz="900">
                <a:latin typeface="Calibri" panose="020F0502020204030204" pitchFamily="34" charset="0"/>
                <a:ea typeface="Noto Sans SC" panose="020B0200000000000000" pitchFamily="34" charset="-128"/>
                <a:cs typeface="Calibri" panose="020F0502020204030204" pitchFamily="34" charset="0"/>
              </a:rPr>
              <a:t>Version_2_20251026</a:t>
            </a:r>
            <a:endParaRPr lang="en-US" sz="900" dirty="0">
              <a:latin typeface="Calibri" panose="020F0502020204030204" pitchFamily="34" charset="0"/>
              <a:ea typeface="Noto Sans SC" panose="020B0200000000000000" pitchFamily="34" charset="-128"/>
              <a:cs typeface="Calibri" panose="020F0502020204030204" pitchFamily="34" charset="0"/>
            </a:endParaRPr>
          </a:p>
        </p:txBody>
      </p:sp>
      <p:sp>
        <p:nvSpPr>
          <p:cNvPr id="46" name="Google Shape;46;p7">
            <a:extLst>
              <a:ext uri="{FF2B5EF4-FFF2-40B4-BE49-F238E27FC236}">
                <a16:creationId xmlns:a16="http://schemas.microsoft.com/office/drawing/2014/main" id="{EE2755D7-25D5-6795-6346-3220472C4F64}"/>
              </a:ext>
            </a:extLst>
          </p:cNvPr>
          <p:cNvSpPr txBox="1"/>
          <p:nvPr/>
        </p:nvSpPr>
        <p:spPr>
          <a:xfrm>
            <a:off x="1672462" y="785215"/>
            <a:ext cx="4950894" cy="201958"/>
          </a:xfrm>
          <a:prstGeom prst="rect">
            <a:avLst/>
          </a:prstGeom>
          <a:noFill/>
          <a:ln>
            <a:noFill/>
          </a:ln>
        </p:spPr>
        <p:txBody>
          <a:bodyPr spcFirstLastPara="1" wrap="square" lIns="0" tIns="17125" rIns="0" bIns="0" anchor="t" anchorCtr="0">
            <a:spAutoFit/>
          </a:bodyPr>
          <a:lstStyle/>
          <a:p>
            <a:pPr marL="12700" lvl="0"/>
            <a:r>
              <a:rPr lang="en-US" sz="1200" dirty="0">
                <a:latin typeface="Calibri" panose="020F0502020204030204" pitchFamily="34" charset="0"/>
                <a:ea typeface="Noto Sans SC" panose="020B0200000000000000" pitchFamily="34" charset="-128"/>
                <a:cs typeface="Calibri" panose="020F0502020204030204" pitchFamily="34" charset="0"/>
                <a:sym typeface="Microsoft YaHei"/>
              </a:rPr>
              <a:t>Non-invasive maternal blood fetal chromosome test report</a:t>
            </a:r>
            <a:endParaRPr sz="12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grpSp>
        <p:nvGrpSpPr>
          <p:cNvPr id="47" name="Google Shape;47;p7">
            <a:extLst>
              <a:ext uri="{FF2B5EF4-FFF2-40B4-BE49-F238E27FC236}">
                <a16:creationId xmlns:a16="http://schemas.microsoft.com/office/drawing/2014/main" id="{093D9445-9A9A-32C6-1D6B-3A17E5BADC0E}"/>
              </a:ext>
            </a:extLst>
          </p:cNvPr>
          <p:cNvGrpSpPr/>
          <p:nvPr/>
        </p:nvGrpSpPr>
        <p:grpSpPr>
          <a:xfrm>
            <a:off x="1344744" y="781507"/>
            <a:ext cx="274553" cy="253365"/>
            <a:chOff x="1344744" y="781507"/>
            <a:chExt cx="253365" cy="253365"/>
          </a:xfrm>
        </p:grpSpPr>
        <p:sp>
          <p:nvSpPr>
            <p:cNvPr id="48" name="Google Shape;48;p7">
              <a:extLst>
                <a:ext uri="{FF2B5EF4-FFF2-40B4-BE49-F238E27FC236}">
                  <a16:creationId xmlns:a16="http://schemas.microsoft.com/office/drawing/2014/main" id="{E6A11658-7148-7A17-6BE5-68DB53A82335}"/>
                </a:ext>
              </a:extLst>
            </p:cNvPr>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pic>
          <p:nvPicPr>
            <p:cNvPr id="49" name="Google Shape;49;p7">
              <a:extLst>
                <a:ext uri="{FF2B5EF4-FFF2-40B4-BE49-F238E27FC236}">
                  <a16:creationId xmlns:a16="http://schemas.microsoft.com/office/drawing/2014/main" id="{CC803B81-ABAE-DE55-58E6-29ECDE58E4CE}"/>
                </a:ext>
              </a:extLst>
            </p:cNvPr>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a:extLst>
              <a:ext uri="{FF2B5EF4-FFF2-40B4-BE49-F238E27FC236}">
                <a16:creationId xmlns:a16="http://schemas.microsoft.com/office/drawing/2014/main" id="{0D93C73F-1651-CD35-E6F6-D69BA8F7618D}"/>
              </a:ext>
            </a:extLst>
          </p:cNvPr>
          <p:cNvGraphicFramePr/>
          <p:nvPr>
            <p:extLst>
              <p:ext uri="{D42A27DB-BD31-4B8C-83A1-F6EECF244321}">
                <p14:modId xmlns:p14="http://schemas.microsoft.com/office/powerpoint/2010/main" val="1092897417"/>
              </p:ext>
            </p:extLst>
          </p:nvPr>
        </p:nvGraphicFramePr>
        <p:xfrm>
          <a:off x="381000" y="1279067"/>
          <a:ext cx="6795387" cy="1914500"/>
        </p:xfrm>
        <a:graphic>
          <a:graphicData uri="http://schemas.openxmlformats.org/drawingml/2006/table">
            <a:tbl>
              <a:tblPr firstRow="1" bandRow="1">
                <a:noFill/>
                <a:tableStyleId>{F28EBD1E-F79C-4DFF-868A-0A9D0052B014}</a:tableStyleId>
              </a:tblPr>
              <a:tblGrid>
                <a:gridCol w="1164891">
                  <a:extLst>
                    <a:ext uri="{9D8B030D-6E8A-4147-A177-3AD203B41FA5}">
                      <a16:colId xmlns:a16="http://schemas.microsoft.com/office/drawing/2014/main" val="20000"/>
                    </a:ext>
                  </a:extLst>
                </a:gridCol>
                <a:gridCol w="1098753">
                  <a:extLst>
                    <a:ext uri="{9D8B030D-6E8A-4147-A177-3AD203B41FA5}">
                      <a16:colId xmlns:a16="http://schemas.microsoft.com/office/drawing/2014/main" val="20001"/>
                    </a:ext>
                  </a:extLst>
                </a:gridCol>
                <a:gridCol w="1166168">
                  <a:extLst>
                    <a:ext uri="{9D8B030D-6E8A-4147-A177-3AD203B41FA5}">
                      <a16:colId xmlns:a16="http://schemas.microsoft.com/office/drawing/2014/main" val="20002"/>
                    </a:ext>
                  </a:extLst>
                </a:gridCol>
                <a:gridCol w="1096850">
                  <a:extLst>
                    <a:ext uri="{9D8B030D-6E8A-4147-A177-3AD203B41FA5}">
                      <a16:colId xmlns:a16="http://schemas.microsoft.com/office/drawing/2014/main" val="20003"/>
                    </a:ext>
                  </a:extLst>
                </a:gridCol>
                <a:gridCol w="1167419">
                  <a:extLst>
                    <a:ext uri="{9D8B030D-6E8A-4147-A177-3AD203B41FA5}">
                      <a16:colId xmlns:a16="http://schemas.microsoft.com/office/drawing/2014/main" val="20004"/>
                    </a:ext>
                  </a:extLst>
                </a:gridCol>
                <a:gridCol w="1101306">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Name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Date of Birth:</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&lt;&lt;DOB&gt;&gt;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MR Number:</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&lt;&lt;MRN&gt;&gt;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Draw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Blood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Report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Order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Hospital</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dirty="0">
                          <a:latin typeface="Noto Sans SC" panose="020B0200000000000000" pitchFamily="34" charset="-128"/>
                          <a:ea typeface="Noto Sans SC" panose="020B0200000000000000" pitchFamily="34" charset="-128"/>
                          <a:cs typeface="Arial"/>
                          <a:sym typeface="Arial"/>
                        </a:rPr>
                        <a:t>&lt;&lt;Hospital&gt;&gt;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Pregnancy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Gestational Age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&lt;&lt;W&gt;&gt;</a:t>
                      </a:r>
                      <a:r>
                        <a:rPr lang="en-US" sz="900" u="none" strike="noStrike" cap="none" dirty="0">
                          <a:latin typeface="Noto Sans SC" panose="020B0200000000000000" pitchFamily="34" charset="-128"/>
                          <a:ea typeface="Noto Sans SC" panose="020B0200000000000000" pitchFamily="34" charset="-128"/>
                          <a:cs typeface="Arial"/>
                          <a:sym typeface="Arial"/>
                        </a:rPr>
                        <a:t> W </a:t>
                      </a:r>
                      <a:r>
                        <a:rPr lang="en-US" sz="900" dirty="0">
                          <a:latin typeface="Noto Sans SC" panose="020B0200000000000000" pitchFamily="34" charset="-128"/>
                          <a:ea typeface="Noto Sans SC" panose="020B0200000000000000" pitchFamily="34" charset="-128"/>
                          <a:cs typeface="Arial"/>
                          <a:sym typeface="Arial"/>
                        </a:rPr>
                        <a:t>&lt;&lt;D&gt;&gt;</a:t>
                      </a:r>
                      <a:r>
                        <a:rPr lang="en-US" sz="900" u="none" strike="noStrike" cap="none" dirty="0">
                          <a:latin typeface="Noto Sans SC" panose="020B0200000000000000" pitchFamily="34" charset="-128"/>
                          <a:ea typeface="Noto Sans SC" panose="020B0200000000000000" pitchFamily="34" charset="-128"/>
                          <a:cs typeface="Arial"/>
                          <a:sym typeface="Arial"/>
                        </a:rPr>
                        <a:t> 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Physician</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&lt;&lt;Doctor&gt;&gt;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a:extLst>
              <a:ext uri="{FF2B5EF4-FFF2-40B4-BE49-F238E27FC236}">
                <a16:creationId xmlns:a16="http://schemas.microsoft.com/office/drawing/2014/main" id="{CFA83C28-B69D-0E15-9E86-AC4CD3735D41}"/>
              </a:ext>
            </a:extLst>
          </p:cNvPr>
          <p:cNvSpPr txBox="1"/>
          <p:nvPr/>
        </p:nvSpPr>
        <p:spPr>
          <a:xfrm>
            <a:off x="2797750" y="3831425"/>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2" name="Google Shape;52;p7">
            <a:extLst>
              <a:ext uri="{FF2B5EF4-FFF2-40B4-BE49-F238E27FC236}">
                <a16:creationId xmlns:a16="http://schemas.microsoft.com/office/drawing/2014/main" id="{A3175548-6C80-A6C5-CEF7-97C6A20F29C1}"/>
              </a:ext>
            </a:extLst>
          </p:cNvPr>
          <p:cNvSpPr txBox="1"/>
          <p:nvPr/>
        </p:nvSpPr>
        <p:spPr>
          <a:xfrm>
            <a:off x="669847" y="4178808"/>
            <a:ext cx="1616153"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&lt;&lt;Interpretation&gt;&gt;</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3" name="Google Shape;53;p7">
            <a:extLst>
              <a:ext uri="{FF2B5EF4-FFF2-40B4-BE49-F238E27FC236}">
                <a16:creationId xmlns:a16="http://schemas.microsoft.com/office/drawing/2014/main" id="{5E5B2398-D23D-21EA-E857-456B08FAFF71}"/>
              </a:ext>
            </a:extLst>
          </p:cNvPr>
          <p:cNvSpPr/>
          <p:nvPr/>
        </p:nvSpPr>
        <p:spPr>
          <a:xfrm>
            <a:off x="580071" y="4103522"/>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5" name="Google Shape;85;p7">
            <a:extLst>
              <a:ext uri="{FF2B5EF4-FFF2-40B4-BE49-F238E27FC236}">
                <a16:creationId xmlns:a16="http://schemas.microsoft.com/office/drawing/2014/main" id="{4EDAD288-7B3A-6020-5279-1CCF9D5A1673}"/>
              </a:ext>
            </a:extLst>
          </p:cNvPr>
          <p:cNvSpPr/>
          <p:nvPr/>
        </p:nvSpPr>
        <p:spPr>
          <a:xfrm>
            <a:off x="535786" y="4054462"/>
            <a:ext cx="3538907"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7" name="Google Shape;87;p7">
            <a:extLst>
              <a:ext uri="{FF2B5EF4-FFF2-40B4-BE49-F238E27FC236}">
                <a16:creationId xmlns:a16="http://schemas.microsoft.com/office/drawing/2014/main" id="{CB981124-0070-4D7E-1FF1-904A551C337F}"/>
              </a:ext>
            </a:extLst>
          </p:cNvPr>
          <p:cNvSpPr txBox="1"/>
          <p:nvPr/>
        </p:nvSpPr>
        <p:spPr>
          <a:xfrm>
            <a:off x="5327110" y="3522550"/>
            <a:ext cx="1957597"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Fetal Fraction: &lt;&lt;FF_YFF&gt;&gt;%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5" name="Google Shape;115;p7">
            <a:extLst>
              <a:ext uri="{FF2B5EF4-FFF2-40B4-BE49-F238E27FC236}">
                <a16:creationId xmlns:a16="http://schemas.microsoft.com/office/drawing/2014/main" id="{2CD2CC7B-A460-95EA-434B-EB13A9037E43}"/>
              </a:ext>
            </a:extLst>
          </p:cNvPr>
          <p:cNvSpPr/>
          <p:nvPr/>
        </p:nvSpPr>
        <p:spPr>
          <a:xfrm flipV="1">
            <a:off x="3806215" y="4008743"/>
            <a:ext cx="3214500" cy="45719"/>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6" name="Google Shape;116;p7">
            <a:extLst>
              <a:ext uri="{FF2B5EF4-FFF2-40B4-BE49-F238E27FC236}">
                <a16:creationId xmlns:a16="http://schemas.microsoft.com/office/drawing/2014/main" id="{5D517653-6193-DC27-1335-6290ED8488C3}"/>
              </a:ext>
            </a:extLst>
          </p:cNvPr>
          <p:cNvSpPr/>
          <p:nvPr/>
        </p:nvSpPr>
        <p:spPr>
          <a:xfrm>
            <a:off x="533400" y="8136203"/>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7" name="Google Shape;117;p7">
            <a:extLst>
              <a:ext uri="{FF2B5EF4-FFF2-40B4-BE49-F238E27FC236}">
                <a16:creationId xmlns:a16="http://schemas.microsoft.com/office/drawing/2014/main" id="{E0DD199D-156B-E47C-126B-D50B9042AEDE}"/>
              </a:ext>
            </a:extLst>
          </p:cNvPr>
          <p:cNvSpPr txBox="1"/>
          <p:nvPr/>
        </p:nvSpPr>
        <p:spPr>
          <a:xfrm>
            <a:off x="580072" y="8772553"/>
            <a:ext cx="6440643" cy="386639"/>
          </a:xfrm>
          <a:prstGeom prst="rect">
            <a:avLst/>
          </a:prstGeom>
          <a:noFill/>
          <a:ln>
            <a:noFill/>
          </a:ln>
        </p:spPr>
        <p:txBody>
          <a:bodyPr spcFirstLastPara="1" wrap="square" lIns="0" tIns="40000" rIns="0" bIns="0" anchor="t" anchorCtr="0">
            <a:spAutoFit/>
          </a:bodyPr>
          <a:lstStyle/>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NIPT is only a screening test, not a final diagnosis. The report results are only for reference by medical personnel. Its clinical significance and recommendations need to be comprehensively evaluated by clinical physicians.</a:t>
            </a:r>
          </a:p>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After the screening test, it is recommended to combine it with a high-level ultrasound examination to confirm whether the fetus has structural abnormalities.</a:t>
            </a:r>
            <a:endParaRPr sz="75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8" name="Google Shape;118;p7">
            <a:extLst>
              <a:ext uri="{FF2B5EF4-FFF2-40B4-BE49-F238E27FC236}">
                <a16:creationId xmlns:a16="http://schemas.microsoft.com/office/drawing/2014/main" id="{8E341A31-8C76-1D04-C050-AEE46DA75BFF}"/>
              </a:ext>
            </a:extLst>
          </p:cNvPr>
          <p:cNvSpPr/>
          <p:nvPr/>
        </p:nvSpPr>
        <p:spPr>
          <a:xfrm flipV="1">
            <a:off x="533400" y="8680407"/>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1" name="Google Shape;121;p7">
            <a:extLst>
              <a:ext uri="{FF2B5EF4-FFF2-40B4-BE49-F238E27FC236}">
                <a16:creationId xmlns:a16="http://schemas.microsoft.com/office/drawing/2014/main" id="{A9144709-5AD3-B52E-33DA-1C651DE19C00}"/>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2" name="Google Shape;122;p7">
            <a:extLst>
              <a:ext uri="{FF2B5EF4-FFF2-40B4-BE49-F238E27FC236}">
                <a16:creationId xmlns:a16="http://schemas.microsoft.com/office/drawing/2014/main" id="{D504EAA8-4513-CB0D-CC82-3E1A3862B185}"/>
              </a:ext>
            </a:extLst>
          </p:cNvPr>
          <p:cNvSpPr txBox="1"/>
          <p:nvPr/>
        </p:nvSpPr>
        <p:spPr>
          <a:xfrm>
            <a:off x="533400" y="3518204"/>
            <a:ext cx="2016518"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Calibri" panose="020F0502020204030204" pitchFamily="34" charset="0"/>
                <a:ea typeface="Noto Sans KR" panose="020B0500000000000000" pitchFamily="34" charset="-128"/>
                <a:cs typeface="Calibri" panose="020F0502020204030204" pitchFamily="34" charset="0"/>
                <a:sym typeface="Microsoft YaHei"/>
              </a:rPr>
              <a:t>No Call</a:t>
            </a:r>
          </a:p>
        </p:txBody>
      </p:sp>
      <p:sp>
        <p:nvSpPr>
          <p:cNvPr id="2" name="Google Shape;117;p7">
            <a:extLst>
              <a:ext uri="{FF2B5EF4-FFF2-40B4-BE49-F238E27FC236}">
                <a16:creationId xmlns:a16="http://schemas.microsoft.com/office/drawing/2014/main" id="{8CD06160-D9E8-9C14-4084-5BEC82FC7A73}"/>
              </a:ext>
            </a:extLst>
          </p:cNvPr>
          <p:cNvSpPr txBox="1"/>
          <p:nvPr/>
        </p:nvSpPr>
        <p:spPr>
          <a:xfrm>
            <a:off x="580072" y="8179439"/>
            <a:ext cx="6388175" cy="332778"/>
          </a:xfrm>
          <a:prstGeom prst="rect">
            <a:avLst/>
          </a:prstGeom>
          <a:noFill/>
          <a:ln>
            <a:noFill/>
          </a:ln>
        </p:spPr>
        <p:txBody>
          <a:bodyPr spcFirstLastPara="1" wrap="square" lIns="0" tIns="40000" rIns="0" bIns="0" anchor="t" anchorCtr="0">
            <a:spAutoFit/>
          </a:bodyPr>
          <a:lstStyle/>
          <a:p>
            <a:pPr marL="12700" lvl="0">
              <a:buClr>
                <a:srgbClr val="FF1317"/>
              </a:buClr>
              <a:buSzPts val="750"/>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&lt;&lt;Interpretation&gt;&gt;</a:t>
            </a:r>
          </a:p>
          <a:p>
            <a:pPr marL="12700" lvl="0">
              <a:buClr>
                <a:srgbClr val="FF1317"/>
              </a:buClr>
              <a:buSzPts val="750"/>
            </a:pPr>
            <a:endParaRPr lang="en-US" sz="8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 name="Google Shape;86;p7">
            <a:extLst>
              <a:ext uri="{FF2B5EF4-FFF2-40B4-BE49-F238E27FC236}">
                <a16:creationId xmlns:a16="http://schemas.microsoft.com/office/drawing/2014/main" id="{1F8DC045-F183-CF28-BB7D-37A69396E00B}"/>
              </a:ext>
            </a:extLst>
          </p:cNvPr>
          <p:cNvSpPr txBox="1"/>
          <p:nvPr/>
        </p:nvSpPr>
        <p:spPr>
          <a:xfrm>
            <a:off x="578530" y="3820716"/>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Chromosome</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Tree>
    <p:extLst>
      <p:ext uri="{BB962C8B-B14F-4D97-AF65-F5344CB8AC3E}">
        <p14:creationId xmlns:p14="http://schemas.microsoft.com/office/powerpoint/2010/main" val="2181750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AD11C19-1CF7-FECF-7966-0EBE79E709B1}"/>
            </a:ext>
          </a:extLst>
        </p:cNvPr>
        <p:cNvGrpSpPr/>
        <p:nvPr/>
      </p:nvGrpSpPr>
      <p:grpSpPr>
        <a:xfrm>
          <a:off x="0" y="0"/>
          <a:ext cx="0" cy="0"/>
          <a:chOff x="0" y="0"/>
          <a:chExt cx="0" cy="0"/>
        </a:xfrm>
      </p:grpSpPr>
      <p:sp>
        <p:nvSpPr>
          <p:cNvPr id="140" name="Google Shape;140;p9">
            <a:extLst>
              <a:ext uri="{FF2B5EF4-FFF2-40B4-BE49-F238E27FC236}">
                <a16:creationId xmlns:a16="http://schemas.microsoft.com/office/drawing/2014/main" id="{6F0D1D67-8424-4A12-4E5E-5D23C70996AB}"/>
              </a:ext>
            </a:extLst>
          </p:cNvPr>
          <p:cNvSpPr txBox="1"/>
          <p:nvPr/>
        </p:nvSpPr>
        <p:spPr>
          <a:xfrm>
            <a:off x="525144" y="556501"/>
            <a:ext cx="6518909" cy="141064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4B5285"/>
                </a:solidFill>
                <a:latin typeface="Noto Sans SC" panose="020B0200000000000000" pitchFamily="34" charset="-128"/>
                <a:ea typeface="Noto Sans SC" panose="020B0200000000000000" pitchFamily="34" charset="-128"/>
                <a:cs typeface="Microsoft YaHei"/>
                <a:sym typeface="Microsoft YaHei"/>
              </a:rPr>
              <a:t>Next Step</a:t>
            </a:r>
            <a:endParaRPr sz="100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80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A negative (no abnormality detected) result means that your fetus has a very low risk of chromosomal abnormalities, but it still cannot completely rule out the possibility of chromosomal abnormalities in the fetus. It is recommended to conduct a comprehensive evaluation with other examinations (such as high-level ultrasound).</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During subsequent prenatal examinations, if abnormal fetal ultrasound is found, please follow the medical treatment recommended by the prenatal physician (such as invasive examination) to confirm whether the fetus is abnormal.</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results of this screening test should not be used alone as any diagnostic basis that affects the pregnancy process. It is only applicable to clinical reference. For clinical advice and related consultation, please consult a professional physician.</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NIPT assesses the risk of specific diseases (see the results table), but it does not detect all possible genetic conditions or other congenital defects. Your attending physician may recommend other types of genetic testing during or after pregnancy.</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3" name="Google Shape;143;p9">
            <a:extLst>
              <a:ext uri="{FF2B5EF4-FFF2-40B4-BE49-F238E27FC236}">
                <a16:creationId xmlns:a16="http://schemas.microsoft.com/office/drawing/2014/main" id="{5C018E79-30FA-F26E-B910-78FAACDF8D56}"/>
              </a:ext>
            </a:extLst>
          </p:cNvPr>
          <p:cNvSpPr txBox="1"/>
          <p:nvPr/>
        </p:nvSpPr>
        <p:spPr>
          <a:xfrm>
            <a:off x="506116" y="2122429"/>
            <a:ext cx="6520180" cy="664284"/>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Method</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hangingPunct="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Peripheral blood is drawn from pregnant women, and free DNA from fetal cells in the plasma is extracted for large-scale parallel sequencing and analysis of the sequencing results to determine the fetal chromosomes.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6" name="Google Shape;146;p9">
            <a:extLst>
              <a:ext uri="{FF2B5EF4-FFF2-40B4-BE49-F238E27FC236}">
                <a16:creationId xmlns:a16="http://schemas.microsoft.com/office/drawing/2014/main" id="{2C14E591-329C-D440-4489-F171B3780B24}"/>
              </a:ext>
            </a:extLst>
          </p:cNvPr>
          <p:cNvSpPr txBox="1"/>
          <p:nvPr/>
        </p:nvSpPr>
        <p:spPr>
          <a:xfrm>
            <a:off x="506116" y="3008531"/>
            <a:ext cx="6520180" cy="1513235"/>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Limitations</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algn="just" fontAlgn="t" latinLnBrk="0" hangingPunct="0">
              <a:lnSpc>
                <a:spcPct val="150000"/>
              </a:lnSpc>
              <a:spcBef>
                <a:spcPts val="177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Non-Invasive Maternal Blood Fetal Chromosome Testing &lt;NIPT Test&gt; This test mainly analyzes fetal chromosomal aneuploidy from cell-free DNA and is performed on singleton pregnancies with a gestational age of at least 10 weeks (estimated based on the last menstrual period). These results do not exclude the possibility that this pregnancy may have other chromosomal abnormalities, birth defects, or other diseases. This test cannot identify pregnancies at risk of open neural tube defects. A negative test result does not completely eliminate the possibility of chromosomal abnormalities. There is a small probability that the test results will not present the chromosome situation of the fetus, but may present chromosomal changes in the placenta (restricted placental mosaicism) or the mother (chromosomal mosaicism). Potential sources of inaccurate test results may include, but are not limited to: maternal, fetal or placental mosaicism, low fetal free DNA concentration, blood transfusion, transplant surgery, and stem cell therapy. In particular, situations such as embryonic atrophy and fetal death may lead to false negative or false positive results. If a clear diagnosis is required, chorionic villus sampling or amniocentesis should be performed according to the clinician's advice.</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9" name="Google Shape;149;p9">
            <a:extLst>
              <a:ext uri="{FF2B5EF4-FFF2-40B4-BE49-F238E27FC236}">
                <a16:creationId xmlns:a16="http://schemas.microsoft.com/office/drawing/2014/main" id="{34531925-D8C0-57BC-E83D-B8CD6EF6B1A4}"/>
              </a:ext>
            </a:extLst>
          </p:cNvPr>
          <p:cNvSpPr txBox="1"/>
          <p:nvPr/>
        </p:nvSpPr>
        <p:spPr>
          <a:xfrm>
            <a:off x="492465" y="4752307"/>
            <a:ext cx="6651943" cy="594393"/>
          </a:xfrm>
          <a:prstGeom prst="rect">
            <a:avLst/>
          </a:prstGeom>
          <a:noFill/>
          <a:ln>
            <a:noFill/>
          </a:ln>
        </p:spPr>
        <p:txBody>
          <a:bodyPr spcFirstLastPara="1" wrap="square" lIns="0" tIns="12700" rIns="0" bIns="0" anchor="t" anchorCtr="0">
            <a:spAutoFit/>
          </a:bodyPr>
          <a:lstStyle/>
          <a:p>
            <a:pPr marL="12700" lvl="0" indent="0" algn="just" rtl="0" fontAlgn="t" latinLnBrk="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a:lnSpc>
                <a:spcPct val="1333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This test detects small chromosomal deletions in the chromosomal regions - 1p36, 2q33.1, 4p16.3, 5p-, 7q11.23, 11q23, 15q11.2-913, 22q11.2 or other regions (see Test Report Items for details) and is suitable for singleton pregnancies of at least 10 weeks of gestational age, which is estimated based on the last menstrual period, hip length or other appropriate methods.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52" name="Google Shape;152;p9">
            <a:extLst>
              <a:ext uri="{FF2B5EF4-FFF2-40B4-BE49-F238E27FC236}">
                <a16:creationId xmlns:a16="http://schemas.microsoft.com/office/drawing/2014/main" id="{5FA00B5C-CBB7-425E-E2BA-C79D671A96D5}"/>
              </a:ext>
            </a:extLst>
          </p:cNvPr>
          <p:cNvSpPr txBox="1"/>
          <p:nvPr/>
        </p:nvSpPr>
        <p:spPr>
          <a:xfrm>
            <a:off x="559933" y="8657628"/>
            <a:ext cx="6517005" cy="428322"/>
          </a:xfrm>
          <a:prstGeom prst="rect">
            <a:avLst/>
          </a:prstGeom>
          <a:noFill/>
          <a:ln>
            <a:noFill/>
          </a:ln>
        </p:spPr>
        <p:txBody>
          <a:bodyPr spcFirstLastPara="1" wrap="square" lIns="0" tIns="12700" rIns="0" bIns="0" anchor="t" anchorCtr="0">
            <a:spAutoFit/>
          </a:bodyPr>
          <a:lstStyle/>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The test was performed by Union Clinical Laboratory, with genetic sequencing conducted by the laboratory and bioinformatics analysis performed by </a:t>
            </a:r>
            <a:r>
              <a:rPr lang="en-US" sz="600" dirty="0" err="1">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Genolyx</a:t>
            </a: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 (USA). The</a:t>
            </a:r>
          </a:p>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report was reviewed and verified by genetic counseling consultant Professor Chien-Nan Lee. The laboratory is accredited by the College of American Pathologists (CAP), confirming</a:t>
            </a:r>
          </a:p>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the accuracy and quality of the reported results.</a:t>
            </a:r>
          </a:p>
        </p:txBody>
      </p:sp>
      <p:grpSp>
        <p:nvGrpSpPr>
          <p:cNvPr id="153" name="Google Shape;153;p9">
            <a:extLst>
              <a:ext uri="{FF2B5EF4-FFF2-40B4-BE49-F238E27FC236}">
                <a16:creationId xmlns:a16="http://schemas.microsoft.com/office/drawing/2014/main" id="{DB7DD5EB-D810-F885-537C-CA39710183E3}"/>
              </a:ext>
            </a:extLst>
          </p:cNvPr>
          <p:cNvGrpSpPr/>
          <p:nvPr/>
        </p:nvGrpSpPr>
        <p:grpSpPr>
          <a:xfrm>
            <a:off x="385762" y="261937"/>
            <a:ext cx="6788784" cy="9667875"/>
            <a:chOff x="385762" y="261937"/>
            <a:chExt cx="6788784" cy="9667875"/>
          </a:xfrm>
        </p:grpSpPr>
        <p:sp>
          <p:nvSpPr>
            <p:cNvPr id="154" name="Google Shape;154;p9">
              <a:extLst>
                <a:ext uri="{FF2B5EF4-FFF2-40B4-BE49-F238E27FC236}">
                  <a16:creationId xmlns:a16="http://schemas.microsoft.com/office/drawing/2014/main" id="{8E45CDD7-613C-D54D-8CF2-A5AD07AD4A89}"/>
                </a:ext>
              </a:extLst>
            </p:cNvPr>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a:extLst>
                <a:ext uri="{FF2B5EF4-FFF2-40B4-BE49-F238E27FC236}">
                  <a16:creationId xmlns:a16="http://schemas.microsoft.com/office/drawing/2014/main" id="{09E79C01-475F-0986-D3A3-77EF2CE14613}"/>
                </a:ext>
              </a:extLst>
            </p:cNvPr>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graphicFrame>
        <p:nvGraphicFramePr>
          <p:cNvPr id="2" name="Google Shape;109;p15">
            <a:extLst>
              <a:ext uri="{FF2B5EF4-FFF2-40B4-BE49-F238E27FC236}">
                <a16:creationId xmlns:a16="http://schemas.microsoft.com/office/drawing/2014/main" id="{1C1BE86C-5428-538A-8217-177E898675D2}"/>
              </a:ext>
            </a:extLst>
          </p:cNvPr>
          <p:cNvGraphicFramePr/>
          <p:nvPr/>
        </p:nvGraphicFramePr>
        <p:xfrm>
          <a:off x="506116" y="5972994"/>
          <a:ext cx="6624642" cy="2409616"/>
        </p:xfrm>
        <a:graphic>
          <a:graphicData uri="http://schemas.openxmlformats.org/drawingml/2006/table">
            <a:tbl>
              <a:tblPr firstRow="1" bandRow="1">
                <a:noFill/>
              </a:tblPr>
              <a:tblGrid>
                <a:gridCol w="1918403">
                  <a:extLst>
                    <a:ext uri="{9D8B030D-6E8A-4147-A177-3AD203B41FA5}">
                      <a16:colId xmlns:a16="http://schemas.microsoft.com/office/drawing/2014/main" val="20000"/>
                    </a:ext>
                  </a:extLst>
                </a:gridCol>
                <a:gridCol w="1535484">
                  <a:extLst>
                    <a:ext uri="{9D8B030D-6E8A-4147-A177-3AD203B41FA5}">
                      <a16:colId xmlns:a16="http://schemas.microsoft.com/office/drawing/2014/main" val="20001"/>
                    </a:ext>
                  </a:extLst>
                </a:gridCol>
                <a:gridCol w="1591614">
                  <a:extLst>
                    <a:ext uri="{9D8B030D-6E8A-4147-A177-3AD203B41FA5}">
                      <a16:colId xmlns:a16="http://schemas.microsoft.com/office/drawing/2014/main" val="20002"/>
                    </a:ext>
                  </a:extLst>
                </a:gridCol>
                <a:gridCol w="1579141">
                  <a:extLst>
                    <a:ext uri="{9D8B030D-6E8A-4147-A177-3AD203B41FA5}">
                      <a16:colId xmlns:a16="http://schemas.microsoft.com/office/drawing/2014/main" val="20003"/>
                    </a:ext>
                  </a:extLst>
                </a:gridCol>
              </a:tblGrid>
              <a:tr h="219056">
                <a:tc>
                  <a:txBody>
                    <a:bodyPr/>
                    <a:lstStyle/>
                    <a:p>
                      <a:pPr marL="0" marR="4508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Condition</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Sensitivity</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Specificity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PPV</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21</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99.72%</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98.72%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18</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99.04%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96.49%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2"/>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13</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98.84%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85.71%</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3"/>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Monosomy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76%</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4"/>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5"/>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6"/>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XYY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7"/>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T9,T16,</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T22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50-99%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8"/>
                  </a:ext>
                </a:extLst>
              </a:tr>
              <a:tr h="219056">
                <a:tc>
                  <a:txBody>
                    <a:bodyPr/>
                    <a:lstStyle/>
                    <a:p>
                      <a:pPr marL="566420"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All</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Other</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9"/>
                  </a:ext>
                </a:extLst>
              </a:tr>
              <a:tr h="219056">
                <a:tc>
                  <a:txBody>
                    <a:bodyPr/>
                    <a:lstStyle/>
                    <a:p>
                      <a:pPr marL="452118"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Microdeletions/duplications</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20-99%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81640256"/>
      </p:ext>
    </p:extLst>
  </p:cSld>
  <p:clrMapOvr>
    <a:masterClrMapping/>
  </p:clrMapOvr>
</p:sld>
</file>

<file path=ppt/theme/theme1.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GC_ppt_발표용(표지추가)" id="{863D8175-FC01-5648-A781-40526178A9BA}" vid="{506B3F26-3AB2-8A4E-A473-D09C72E4487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EDGC</Template>
  <TotalTime>359</TotalTime>
  <Words>831</Words>
  <Application>Microsoft Macintosh PowerPoint</Application>
  <PresentationFormat>Custom</PresentationFormat>
  <Paragraphs>95</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디자인 사용자 지정</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61</cp:revision>
  <dcterms:modified xsi:type="dcterms:W3CDTF">2025-10-28T14:17:44Z</dcterms:modified>
</cp:coreProperties>
</file>