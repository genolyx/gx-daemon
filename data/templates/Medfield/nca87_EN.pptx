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7" r:id="rId1"/>
  </p:sldMasterIdLst>
  <p:notesMasterIdLst>
    <p:notesMasterId r:id="rId5"/>
  </p:notesMasterIdLst>
  <p:sldIdLst>
    <p:sldId id="259" r:id="rId2"/>
    <p:sldId id="260" r:id="rId3"/>
    <p:sldId id="261" r:id="rId4"/>
  </p:sldIdLst>
  <p:sldSz cx="7556500" cy="10693400"/>
  <p:notesSz cx="7556500" cy="106934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28EBD1E-F79C-4DFF-868A-0A9D0052B014}">
  <a:tblStyle styleId="{F28EBD1E-F79C-4DFF-868A-0A9D0052B014}"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p:restoredTop sz="94795"/>
  </p:normalViewPr>
  <p:slideViewPr>
    <p:cSldViewPr snapToGrid="0">
      <p:cViewPr varScale="1">
        <p:scale>
          <a:sx n="102" d="100"/>
          <a:sy n="102" d="100"/>
        </p:scale>
        <p:origin x="4432" y="184"/>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259650" y="802000"/>
            <a:ext cx="5037900" cy="40100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755650" y="5079350"/>
            <a:ext cx="6045200" cy="4812025"/>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
          <a:extLst>
            <a:ext uri="{FF2B5EF4-FFF2-40B4-BE49-F238E27FC236}">
              <a16:creationId xmlns:a16="http://schemas.microsoft.com/office/drawing/2014/main" id="{4F928419-A67A-E578-2A7C-EBC4DBD1396C}"/>
            </a:ext>
          </a:extLst>
        </p:cNvPr>
        <p:cNvGrpSpPr/>
        <p:nvPr/>
      </p:nvGrpSpPr>
      <p:grpSpPr>
        <a:xfrm>
          <a:off x="0" y="0"/>
          <a:ext cx="0" cy="0"/>
          <a:chOff x="0" y="0"/>
          <a:chExt cx="0" cy="0"/>
        </a:xfrm>
      </p:grpSpPr>
      <p:sp>
        <p:nvSpPr>
          <p:cNvPr id="42" name="Google Shape;42;p1:notes">
            <a:extLst>
              <a:ext uri="{FF2B5EF4-FFF2-40B4-BE49-F238E27FC236}">
                <a16:creationId xmlns:a16="http://schemas.microsoft.com/office/drawing/2014/main" id="{CF5ED8FF-E8FD-0C20-5A88-C31967262A8A}"/>
              </a:ext>
            </a:extLst>
          </p:cNvPr>
          <p:cNvSpPr txBox="1">
            <a:spLocks noGrp="1"/>
          </p:cNvSpPr>
          <p:nvPr>
            <p:ph type="body" idx="1"/>
          </p:nvPr>
        </p:nvSpPr>
        <p:spPr>
          <a:xfrm>
            <a:off x="755650" y="5079350"/>
            <a:ext cx="60452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3" name="Google Shape;43;p1:notes">
            <a:extLst>
              <a:ext uri="{FF2B5EF4-FFF2-40B4-BE49-F238E27FC236}">
                <a16:creationId xmlns:a16="http://schemas.microsoft.com/office/drawing/2014/main" id="{BC29E3A5-8B73-61A9-1647-5214593C6CC6}"/>
              </a:ext>
            </a:extLst>
          </p:cNvPr>
          <p:cNvSpPr>
            <a:spLocks noGrp="1" noRot="1" noChangeAspect="1"/>
          </p:cNvSpPr>
          <p:nvPr>
            <p:ph type="sldImg" idx="2"/>
          </p:nvPr>
        </p:nvSpPr>
        <p:spPr>
          <a:xfrm>
            <a:off x="2360613" y="801688"/>
            <a:ext cx="2835275" cy="4010025"/>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3205693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a:extLst>
            <a:ext uri="{FF2B5EF4-FFF2-40B4-BE49-F238E27FC236}">
              <a16:creationId xmlns:a16="http://schemas.microsoft.com/office/drawing/2014/main" id="{A1EC7995-66F3-C094-EA31-E24ABA4B07FB}"/>
            </a:ext>
          </a:extLst>
        </p:cNvPr>
        <p:cNvGrpSpPr/>
        <p:nvPr/>
      </p:nvGrpSpPr>
      <p:grpSpPr>
        <a:xfrm>
          <a:off x="0" y="0"/>
          <a:ext cx="0" cy="0"/>
          <a:chOff x="0" y="0"/>
          <a:chExt cx="0" cy="0"/>
        </a:xfrm>
      </p:grpSpPr>
      <p:sp>
        <p:nvSpPr>
          <p:cNvPr id="124" name="Google Shape;124;p2:notes">
            <a:extLst>
              <a:ext uri="{FF2B5EF4-FFF2-40B4-BE49-F238E27FC236}">
                <a16:creationId xmlns:a16="http://schemas.microsoft.com/office/drawing/2014/main" id="{EB4D4D0F-8A00-7C54-474E-8196626778B3}"/>
              </a:ext>
            </a:extLst>
          </p:cNvPr>
          <p:cNvSpPr txBox="1">
            <a:spLocks noGrp="1"/>
          </p:cNvSpPr>
          <p:nvPr>
            <p:ph type="body" idx="1"/>
          </p:nvPr>
        </p:nvSpPr>
        <p:spPr>
          <a:xfrm>
            <a:off x="755650" y="5079350"/>
            <a:ext cx="60452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25" name="Google Shape;125;p2:notes">
            <a:extLst>
              <a:ext uri="{FF2B5EF4-FFF2-40B4-BE49-F238E27FC236}">
                <a16:creationId xmlns:a16="http://schemas.microsoft.com/office/drawing/2014/main" id="{A822D8E7-3952-A35E-9FFE-99A14EA21AC0}"/>
              </a:ext>
            </a:extLst>
          </p:cNvPr>
          <p:cNvSpPr>
            <a:spLocks noGrp="1" noRot="1" noChangeAspect="1"/>
          </p:cNvSpPr>
          <p:nvPr>
            <p:ph type="sldImg" idx="2"/>
          </p:nvPr>
        </p:nvSpPr>
        <p:spPr>
          <a:xfrm>
            <a:off x="2360613" y="801688"/>
            <a:ext cx="2835275" cy="4010025"/>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32082438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a:extLst>
            <a:ext uri="{FF2B5EF4-FFF2-40B4-BE49-F238E27FC236}">
              <a16:creationId xmlns:a16="http://schemas.microsoft.com/office/drawing/2014/main" id="{61CD4E5C-03BB-9E40-2718-4E60BCE7CFDC}"/>
            </a:ext>
          </a:extLst>
        </p:cNvPr>
        <p:cNvGrpSpPr/>
        <p:nvPr/>
      </p:nvGrpSpPr>
      <p:grpSpPr>
        <a:xfrm>
          <a:off x="0" y="0"/>
          <a:ext cx="0" cy="0"/>
          <a:chOff x="0" y="0"/>
          <a:chExt cx="0" cy="0"/>
        </a:xfrm>
      </p:grpSpPr>
      <p:sp>
        <p:nvSpPr>
          <p:cNvPr id="136" name="Google Shape;136;p3:notes">
            <a:extLst>
              <a:ext uri="{FF2B5EF4-FFF2-40B4-BE49-F238E27FC236}">
                <a16:creationId xmlns:a16="http://schemas.microsoft.com/office/drawing/2014/main" id="{49FB5FED-D9BF-EE6A-801A-A30D46536AE3}"/>
              </a:ext>
            </a:extLst>
          </p:cNvPr>
          <p:cNvSpPr txBox="1">
            <a:spLocks noGrp="1"/>
          </p:cNvSpPr>
          <p:nvPr>
            <p:ph type="body" idx="1"/>
          </p:nvPr>
        </p:nvSpPr>
        <p:spPr>
          <a:xfrm>
            <a:off x="755650" y="5079350"/>
            <a:ext cx="6045200" cy="481202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7" name="Google Shape;137;p3:notes">
            <a:extLst>
              <a:ext uri="{FF2B5EF4-FFF2-40B4-BE49-F238E27FC236}">
                <a16:creationId xmlns:a16="http://schemas.microsoft.com/office/drawing/2014/main" id="{1E60E02B-F6B9-1E75-3D67-C67FD437A5B4}"/>
              </a:ext>
            </a:extLst>
          </p:cNvPr>
          <p:cNvSpPr>
            <a:spLocks noGrp="1" noRot="1" noChangeAspect="1"/>
          </p:cNvSpPr>
          <p:nvPr>
            <p:ph type="sldImg" idx="2"/>
          </p:nvPr>
        </p:nvSpPr>
        <p:spPr>
          <a:xfrm>
            <a:off x="2360613" y="801688"/>
            <a:ext cx="2835275" cy="4010025"/>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57007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obj">
  <p:cSld name="Blank">
    <p:spTree>
      <p:nvGrpSpPr>
        <p:cNvPr id="1" name="Shape 13"/>
        <p:cNvGrpSpPr/>
        <p:nvPr/>
      </p:nvGrpSpPr>
      <p:grpSpPr>
        <a:xfrm>
          <a:off x="0" y="0"/>
          <a:ext cx="0" cy="0"/>
          <a:chOff x="0" y="0"/>
          <a:chExt cx="0" cy="0"/>
        </a:xfrm>
      </p:grpSpPr>
      <p:sp>
        <p:nvSpPr>
          <p:cNvPr id="14" name="Google Shape;14;p2"/>
          <p:cNvSpPr txBox="1">
            <a:spLocks noGrp="1"/>
          </p:cNvSpPr>
          <p:nvPr>
            <p:ph type="ftr" idx="11"/>
          </p:nvPr>
        </p:nvSpPr>
        <p:spPr>
          <a:xfrm>
            <a:off x="2571369" y="9944862"/>
            <a:ext cx="2420112" cy="53467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 name="Google Shape;15;p2"/>
          <p:cNvSpPr txBox="1">
            <a:spLocks noGrp="1"/>
          </p:cNvSpPr>
          <p:nvPr>
            <p:ph type="dt" idx="10"/>
          </p:nvPr>
        </p:nvSpPr>
        <p:spPr>
          <a:xfrm>
            <a:off x="378142" y="9944862"/>
            <a:ext cx="1739455" cy="53467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 name="Google Shape;16;p2"/>
          <p:cNvSpPr txBox="1">
            <a:spLocks noGrp="1"/>
          </p:cNvSpPr>
          <p:nvPr>
            <p:ph type="sldNum" idx="12"/>
          </p:nvPr>
        </p:nvSpPr>
        <p:spPr>
          <a:xfrm>
            <a:off x="5445252" y="9944862"/>
            <a:ext cx="1739455" cy="53467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739714374"/>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09778513"/>
      </p:ext>
    </p:extLst>
  </p:cSld>
  <p:clrMap bg1="lt1" tx1="dk1" bg2="lt2" tx2="dk2" accent1="accent1" accent2="accent2" accent3="accent3" accent4="accent4" accent5="accent5" accent6="accent6" hlink="hlink" folHlink="folHlink"/>
  <p:sldLayoutIdLst>
    <p:sldLayoutId id="2147483671" r:id="rId1"/>
  </p:sldLayoutIdLst>
  <p:txStyles>
    <p:titleStyle>
      <a:lvl1pPr algn="l" defTabSz="566745" rtl="0" eaLnBrk="1" latinLnBrk="1" hangingPunct="1">
        <a:lnSpc>
          <a:spcPct val="90000"/>
        </a:lnSpc>
        <a:spcBef>
          <a:spcPct val="0"/>
        </a:spcBef>
        <a:buNone/>
        <a:defRPr sz="2727" kern="1200">
          <a:solidFill>
            <a:schemeClr val="tx1"/>
          </a:solidFill>
          <a:latin typeface="+mj-lt"/>
          <a:ea typeface="+mj-ea"/>
          <a:cs typeface="+mj-cs"/>
        </a:defRPr>
      </a:lvl1pPr>
    </p:titleStyle>
    <p:bodyStyle>
      <a:lvl1pPr marL="141686" indent="-141686" algn="l" defTabSz="566745" rtl="0" eaLnBrk="1" latinLnBrk="1" hangingPunct="1">
        <a:lnSpc>
          <a:spcPct val="90000"/>
        </a:lnSpc>
        <a:spcBef>
          <a:spcPts val="620"/>
        </a:spcBef>
        <a:buFont typeface="Arial" panose="020B0604020202020204" pitchFamily="34" charset="0"/>
        <a:buChar char="•"/>
        <a:defRPr sz="1735" kern="1200">
          <a:solidFill>
            <a:schemeClr val="tx1"/>
          </a:solidFill>
          <a:latin typeface="+mn-lt"/>
          <a:ea typeface="+mn-ea"/>
          <a:cs typeface="+mn-cs"/>
        </a:defRPr>
      </a:lvl1pPr>
      <a:lvl2pPr marL="425059" indent="-141686" algn="l" defTabSz="566745" rtl="0" eaLnBrk="1" latinLnBrk="1" hangingPunct="1">
        <a:lnSpc>
          <a:spcPct val="90000"/>
        </a:lnSpc>
        <a:spcBef>
          <a:spcPts val="310"/>
        </a:spcBef>
        <a:buFont typeface="Arial" panose="020B0604020202020204" pitchFamily="34" charset="0"/>
        <a:buChar char="•"/>
        <a:defRPr sz="1488" kern="1200">
          <a:solidFill>
            <a:schemeClr val="tx1"/>
          </a:solidFill>
          <a:latin typeface="+mn-lt"/>
          <a:ea typeface="+mn-ea"/>
          <a:cs typeface="+mn-cs"/>
        </a:defRPr>
      </a:lvl2pPr>
      <a:lvl3pPr marL="708431" indent="-141686" algn="l" defTabSz="566745" rtl="0" eaLnBrk="1" latinLnBrk="1" hangingPunct="1">
        <a:lnSpc>
          <a:spcPct val="90000"/>
        </a:lnSpc>
        <a:spcBef>
          <a:spcPts val="310"/>
        </a:spcBef>
        <a:buFont typeface="Arial" panose="020B0604020202020204" pitchFamily="34" charset="0"/>
        <a:buChar char="•"/>
        <a:defRPr sz="1240" kern="1200">
          <a:solidFill>
            <a:schemeClr val="tx1"/>
          </a:solidFill>
          <a:latin typeface="+mn-lt"/>
          <a:ea typeface="+mn-ea"/>
          <a:cs typeface="+mn-cs"/>
        </a:defRPr>
      </a:lvl3pPr>
      <a:lvl4pPr marL="991804"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4pPr>
      <a:lvl5pPr marL="1275177"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5pPr>
      <a:lvl6pPr marL="1558549"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6pPr>
      <a:lvl7pPr marL="1841922"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7pPr>
      <a:lvl8pPr marL="2125294"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8pPr>
      <a:lvl9pPr marL="2408667" indent="-141686" algn="l" defTabSz="566745" rtl="0" eaLnBrk="1" latinLnBrk="1" hangingPunct="1">
        <a:lnSpc>
          <a:spcPct val="90000"/>
        </a:lnSpc>
        <a:spcBef>
          <a:spcPts val="310"/>
        </a:spcBef>
        <a:buFont typeface="Arial" panose="020B0604020202020204" pitchFamily="34" charset="0"/>
        <a:buChar char="•"/>
        <a:defRPr sz="1116" kern="1200">
          <a:solidFill>
            <a:schemeClr val="tx1"/>
          </a:solidFill>
          <a:latin typeface="+mn-lt"/>
          <a:ea typeface="+mn-ea"/>
          <a:cs typeface="+mn-cs"/>
        </a:defRPr>
      </a:lvl9pPr>
    </p:bodyStyle>
    <p:otherStyle>
      <a:defPPr>
        <a:defRPr lang="ko-KR"/>
      </a:defPPr>
      <a:lvl1pPr marL="0" algn="l" defTabSz="566745" rtl="0" eaLnBrk="1" latinLnBrk="1" hangingPunct="1">
        <a:defRPr sz="1116" kern="1200">
          <a:solidFill>
            <a:schemeClr val="tx1"/>
          </a:solidFill>
          <a:latin typeface="+mn-lt"/>
          <a:ea typeface="+mn-ea"/>
          <a:cs typeface="+mn-cs"/>
        </a:defRPr>
      </a:lvl1pPr>
      <a:lvl2pPr marL="283373" algn="l" defTabSz="566745" rtl="0" eaLnBrk="1" latinLnBrk="1" hangingPunct="1">
        <a:defRPr sz="1116" kern="1200">
          <a:solidFill>
            <a:schemeClr val="tx1"/>
          </a:solidFill>
          <a:latin typeface="+mn-lt"/>
          <a:ea typeface="+mn-ea"/>
          <a:cs typeface="+mn-cs"/>
        </a:defRPr>
      </a:lvl2pPr>
      <a:lvl3pPr marL="566745" algn="l" defTabSz="566745" rtl="0" eaLnBrk="1" latinLnBrk="1" hangingPunct="1">
        <a:defRPr sz="1116" kern="1200">
          <a:solidFill>
            <a:schemeClr val="tx1"/>
          </a:solidFill>
          <a:latin typeface="+mn-lt"/>
          <a:ea typeface="+mn-ea"/>
          <a:cs typeface="+mn-cs"/>
        </a:defRPr>
      </a:lvl3pPr>
      <a:lvl4pPr marL="850118" algn="l" defTabSz="566745" rtl="0" eaLnBrk="1" latinLnBrk="1" hangingPunct="1">
        <a:defRPr sz="1116" kern="1200">
          <a:solidFill>
            <a:schemeClr val="tx1"/>
          </a:solidFill>
          <a:latin typeface="+mn-lt"/>
          <a:ea typeface="+mn-ea"/>
          <a:cs typeface="+mn-cs"/>
        </a:defRPr>
      </a:lvl4pPr>
      <a:lvl5pPr marL="1133490" algn="l" defTabSz="566745" rtl="0" eaLnBrk="1" latinLnBrk="1" hangingPunct="1">
        <a:defRPr sz="1116" kern="1200">
          <a:solidFill>
            <a:schemeClr val="tx1"/>
          </a:solidFill>
          <a:latin typeface="+mn-lt"/>
          <a:ea typeface="+mn-ea"/>
          <a:cs typeface="+mn-cs"/>
        </a:defRPr>
      </a:lvl5pPr>
      <a:lvl6pPr marL="1416863" algn="l" defTabSz="566745" rtl="0" eaLnBrk="1" latinLnBrk="1" hangingPunct="1">
        <a:defRPr sz="1116" kern="1200">
          <a:solidFill>
            <a:schemeClr val="tx1"/>
          </a:solidFill>
          <a:latin typeface="+mn-lt"/>
          <a:ea typeface="+mn-ea"/>
          <a:cs typeface="+mn-cs"/>
        </a:defRPr>
      </a:lvl6pPr>
      <a:lvl7pPr marL="1700235" algn="l" defTabSz="566745" rtl="0" eaLnBrk="1" latinLnBrk="1" hangingPunct="1">
        <a:defRPr sz="1116" kern="1200">
          <a:solidFill>
            <a:schemeClr val="tx1"/>
          </a:solidFill>
          <a:latin typeface="+mn-lt"/>
          <a:ea typeface="+mn-ea"/>
          <a:cs typeface="+mn-cs"/>
        </a:defRPr>
      </a:lvl7pPr>
      <a:lvl8pPr marL="1983608" algn="l" defTabSz="566745" rtl="0" eaLnBrk="1" latinLnBrk="1" hangingPunct="1">
        <a:defRPr sz="1116" kern="1200">
          <a:solidFill>
            <a:schemeClr val="tx1"/>
          </a:solidFill>
          <a:latin typeface="+mn-lt"/>
          <a:ea typeface="+mn-ea"/>
          <a:cs typeface="+mn-cs"/>
        </a:defRPr>
      </a:lvl8pPr>
      <a:lvl9pPr marL="2266980" algn="l" defTabSz="566745" rtl="0" eaLnBrk="1" latinLnBrk="1" hangingPunct="1">
        <a:defRPr sz="111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44">
          <a:extLst>
            <a:ext uri="{FF2B5EF4-FFF2-40B4-BE49-F238E27FC236}">
              <a16:creationId xmlns:a16="http://schemas.microsoft.com/office/drawing/2014/main" id="{A26BFEE5-B093-8912-C49B-ED62C4C542D2}"/>
            </a:ext>
          </a:extLst>
        </p:cNvPr>
        <p:cNvGrpSpPr/>
        <p:nvPr/>
      </p:nvGrpSpPr>
      <p:grpSpPr>
        <a:xfrm>
          <a:off x="0" y="0"/>
          <a:ext cx="0" cy="0"/>
          <a:chOff x="0" y="0"/>
          <a:chExt cx="0" cy="0"/>
        </a:xfrm>
      </p:grpSpPr>
      <p:sp>
        <p:nvSpPr>
          <p:cNvPr id="45" name="Google Shape;45;p7">
            <a:extLst>
              <a:ext uri="{FF2B5EF4-FFF2-40B4-BE49-F238E27FC236}">
                <a16:creationId xmlns:a16="http://schemas.microsoft.com/office/drawing/2014/main" id="{48BA2DF1-76FD-A5D1-5C29-D423209553A9}"/>
              </a:ext>
            </a:extLst>
          </p:cNvPr>
          <p:cNvSpPr txBox="1"/>
          <p:nvPr/>
        </p:nvSpPr>
        <p:spPr>
          <a:xfrm>
            <a:off x="6047892" y="427405"/>
            <a:ext cx="1187664" cy="137197"/>
          </a:xfrm>
          <a:prstGeom prst="rect">
            <a:avLst/>
          </a:prstGeom>
          <a:noFill/>
          <a:ln>
            <a:noFill/>
          </a:ln>
        </p:spPr>
        <p:txBody>
          <a:bodyPr spcFirstLastPara="1" wrap="square" lIns="0" tIns="13950" rIns="0" bIns="0" anchor="t" anchorCtr="0">
            <a:spAutoFit/>
          </a:bodyPr>
          <a:lstStyle/>
          <a:p>
            <a:r>
              <a:rPr lang="en-US" sz="800" dirty="0">
                <a:latin typeface="Calibri" panose="020F0502020204030204" pitchFamily="34" charset="0"/>
                <a:ea typeface="Noto Sans SC" panose="020B0200000000000000" pitchFamily="34" charset="-128"/>
                <a:cs typeface="Calibri" panose="020F0502020204030204" pitchFamily="34" charset="0"/>
              </a:rPr>
              <a:t>Version_2_20251026</a:t>
            </a:r>
          </a:p>
        </p:txBody>
      </p:sp>
      <p:sp>
        <p:nvSpPr>
          <p:cNvPr id="46" name="Google Shape;46;p7">
            <a:extLst>
              <a:ext uri="{FF2B5EF4-FFF2-40B4-BE49-F238E27FC236}">
                <a16:creationId xmlns:a16="http://schemas.microsoft.com/office/drawing/2014/main" id="{EE2755D7-25D5-6795-6346-3220472C4F64}"/>
              </a:ext>
            </a:extLst>
          </p:cNvPr>
          <p:cNvSpPr txBox="1"/>
          <p:nvPr/>
        </p:nvSpPr>
        <p:spPr>
          <a:xfrm>
            <a:off x="1672462" y="785215"/>
            <a:ext cx="4950894" cy="201958"/>
          </a:xfrm>
          <a:prstGeom prst="rect">
            <a:avLst/>
          </a:prstGeom>
          <a:noFill/>
          <a:ln>
            <a:noFill/>
          </a:ln>
        </p:spPr>
        <p:txBody>
          <a:bodyPr spcFirstLastPara="1" wrap="square" lIns="0" tIns="17125" rIns="0" bIns="0" anchor="t" anchorCtr="0">
            <a:spAutoFit/>
          </a:bodyPr>
          <a:lstStyle/>
          <a:p>
            <a:pPr marL="12700" lvl="0"/>
            <a:r>
              <a:rPr lang="en-US" sz="1200" dirty="0">
                <a:latin typeface="Calibri" panose="020F0502020204030204" pitchFamily="34" charset="0"/>
                <a:ea typeface="Noto Sans KR" panose="020B0500000000000000" pitchFamily="34" charset="-128"/>
                <a:cs typeface="Calibri" panose="020F0502020204030204" pitchFamily="34" charset="0"/>
                <a:sym typeface="Microsoft YaHei"/>
              </a:rPr>
              <a:t>Non-invasive maternal blood fetal chromosome test report</a:t>
            </a:r>
            <a:endParaRPr sz="1200" dirty="0">
              <a:latin typeface="Calibri" panose="020F0502020204030204" pitchFamily="34" charset="0"/>
              <a:ea typeface="Noto Sans KR" panose="020B0500000000000000" pitchFamily="34" charset="-128"/>
              <a:cs typeface="Calibri" panose="020F0502020204030204" pitchFamily="34" charset="0"/>
              <a:sym typeface="Microsoft YaHei"/>
            </a:endParaRPr>
          </a:p>
        </p:txBody>
      </p:sp>
      <p:grpSp>
        <p:nvGrpSpPr>
          <p:cNvPr id="47" name="Google Shape;47;p7">
            <a:extLst>
              <a:ext uri="{FF2B5EF4-FFF2-40B4-BE49-F238E27FC236}">
                <a16:creationId xmlns:a16="http://schemas.microsoft.com/office/drawing/2014/main" id="{093D9445-9A9A-32C6-1D6B-3A17E5BADC0E}"/>
              </a:ext>
            </a:extLst>
          </p:cNvPr>
          <p:cNvGrpSpPr/>
          <p:nvPr/>
        </p:nvGrpSpPr>
        <p:grpSpPr>
          <a:xfrm>
            <a:off x="1344744" y="781507"/>
            <a:ext cx="274553" cy="253365"/>
            <a:chOff x="1344744" y="781507"/>
            <a:chExt cx="253365" cy="253365"/>
          </a:xfrm>
        </p:grpSpPr>
        <p:sp>
          <p:nvSpPr>
            <p:cNvPr id="48" name="Google Shape;48;p7">
              <a:extLst>
                <a:ext uri="{FF2B5EF4-FFF2-40B4-BE49-F238E27FC236}">
                  <a16:creationId xmlns:a16="http://schemas.microsoft.com/office/drawing/2014/main" id="{E6A11658-7148-7A17-6BE5-68DB53A82335}"/>
                </a:ext>
              </a:extLst>
            </p:cNvPr>
            <p:cNvSpPr/>
            <p:nvPr/>
          </p:nvSpPr>
          <p:spPr>
            <a:xfrm>
              <a:off x="1344744" y="781507"/>
              <a:ext cx="253365" cy="253365"/>
            </a:xfrm>
            <a:custGeom>
              <a:avLst/>
              <a:gdLst/>
              <a:ahLst/>
              <a:cxnLst/>
              <a:rect l="l" t="t" r="r" b="b"/>
              <a:pathLst>
                <a:path w="253365" h="253365" extrusionOk="0">
                  <a:moveTo>
                    <a:pt x="252979" y="126822"/>
                  </a:moveTo>
                  <a:lnTo>
                    <a:pt x="231584" y="197253"/>
                  </a:lnTo>
                  <a:lnTo>
                    <a:pt x="174671" y="243928"/>
                  </a:lnTo>
                  <a:lnTo>
                    <a:pt x="138190" y="252992"/>
                  </a:lnTo>
                  <a:lnTo>
                    <a:pt x="101414" y="251105"/>
                  </a:lnTo>
                  <a:lnTo>
                    <a:pt x="36520" y="216382"/>
                  </a:lnTo>
                  <a:lnTo>
                    <a:pt x="1851" y="151447"/>
                  </a:lnTo>
                  <a:lnTo>
                    <a:pt x="0" y="114673"/>
                  </a:lnTo>
                  <a:lnTo>
                    <a:pt x="9101" y="78206"/>
                  </a:lnTo>
                  <a:lnTo>
                    <a:pt x="28487" y="45998"/>
                  </a:lnTo>
                  <a:lnTo>
                    <a:pt x="55827" y="21329"/>
                  </a:lnTo>
                  <a:lnTo>
                    <a:pt x="89097" y="5547"/>
                  </a:lnTo>
                  <a:lnTo>
                    <a:pt x="126271" y="0"/>
                  </a:lnTo>
                  <a:lnTo>
                    <a:pt x="175610" y="9987"/>
                  </a:lnTo>
                  <a:lnTo>
                    <a:pt x="215890" y="37174"/>
                  </a:lnTo>
                  <a:lnTo>
                    <a:pt x="243037" y="77479"/>
                  </a:lnTo>
                  <a:lnTo>
                    <a:pt x="252979" y="126822"/>
                  </a:lnTo>
                </a:path>
              </a:pathLst>
            </a:custGeom>
            <a:noFill/>
            <a:ln w="9525" cap="flat" cmpd="sng">
              <a:solidFill>
                <a:srgbClr val="2C6BA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KR" panose="020B0500000000000000" pitchFamily="34" charset="-128"/>
                <a:cs typeface="Calibri" panose="020F0502020204030204" pitchFamily="34" charset="0"/>
              </a:endParaRPr>
            </a:p>
          </p:txBody>
        </p:sp>
        <p:pic>
          <p:nvPicPr>
            <p:cNvPr id="49" name="Google Shape;49;p7">
              <a:extLst>
                <a:ext uri="{FF2B5EF4-FFF2-40B4-BE49-F238E27FC236}">
                  <a16:creationId xmlns:a16="http://schemas.microsoft.com/office/drawing/2014/main" id="{CC803B81-ABAE-DE55-58E6-29ECDE58E4CE}"/>
                </a:ext>
              </a:extLst>
            </p:cNvPr>
            <p:cNvPicPr preferRelativeResize="0"/>
            <p:nvPr/>
          </p:nvPicPr>
          <p:blipFill rotWithShape="1">
            <a:blip r:embed="rId3">
              <a:alphaModFix/>
            </a:blip>
            <a:srcRect/>
            <a:stretch/>
          </p:blipFill>
          <p:spPr>
            <a:xfrm>
              <a:off x="1404308" y="810266"/>
              <a:ext cx="133299" cy="180339"/>
            </a:xfrm>
            <a:prstGeom prst="rect">
              <a:avLst/>
            </a:prstGeom>
            <a:noFill/>
            <a:ln>
              <a:noFill/>
            </a:ln>
          </p:spPr>
        </p:pic>
      </p:grpSp>
      <p:sp>
        <p:nvSpPr>
          <p:cNvPr id="51" name="Google Shape;51;p7">
            <a:extLst>
              <a:ext uri="{FF2B5EF4-FFF2-40B4-BE49-F238E27FC236}">
                <a16:creationId xmlns:a16="http://schemas.microsoft.com/office/drawing/2014/main" id="{CFA83C28-B69D-0E15-9E86-AC4CD3735D41}"/>
              </a:ext>
            </a:extLst>
          </p:cNvPr>
          <p:cNvSpPr txBox="1"/>
          <p:nvPr/>
        </p:nvSpPr>
        <p:spPr>
          <a:xfrm>
            <a:off x="2797750" y="3831425"/>
            <a:ext cx="616624" cy="174407"/>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Result</a:t>
            </a:r>
            <a:endParaRPr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52" name="Google Shape;52;p7">
            <a:extLst>
              <a:ext uri="{FF2B5EF4-FFF2-40B4-BE49-F238E27FC236}">
                <a16:creationId xmlns:a16="http://schemas.microsoft.com/office/drawing/2014/main" id="{A3175548-6C80-A6C5-CEF7-97C6A20F29C1}"/>
              </a:ext>
            </a:extLst>
          </p:cNvPr>
          <p:cNvSpPr txBox="1"/>
          <p:nvPr/>
        </p:nvSpPr>
        <p:spPr>
          <a:xfrm>
            <a:off x="669847" y="4178808"/>
            <a:ext cx="1101377"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Trisomy 21</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53" name="Google Shape;53;p7">
            <a:extLst>
              <a:ext uri="{FF2B5EF4-FFF2-40B4-BE49-F238E27FC236}">
                <a16:creationId xmlns:a16="http://schemas.microsoft.com/office/drawing/2014/main" id="{5E5B2398-D23D-21EA-E857-456B08FAFF71}"/>
              </a:ext>
            </a:extLst>
          </p:cNvPr>
          <p:cNvSpPr/>
          <p:nvPr/>
        </p:nvSpPr>
        <p:spPr>
          <a:xfrm>
            <a:off x="580071" y="4103522"/>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Calibri" panose="020F0502020204030204" pitchFamily="34" charset="0"/>
              <a:ea typeface="Noto Sans SC" panose="020B0200000000000000" pitchFamily="34" charset="-128"/>
              <a:cs typeface="Calibri" panose="020F0502020204030204" pitchFamily="34" charset="0"/>
            </a:endParaRPr>
          </a:p>
        </p:txBody>
      </p:sp>
      <p:sp>
        <p:nvSpPr>
          <p:cNvPr id="55" name="Google Shape;55;p7">
            <a:extLst>
              <a:ext uri="{FF2B5EF4-FFF2-40B4-BE49-F238E27FC236}">
                <a16:creationId xmlns:a16="http://schemas.microsoft.com/office/drawing/2014/main" id="{ACB5B20D-D5AA-19B5-34E9-5084C3F0FEDE}"/>
              </a:ext>
            </a:extLst>
          </p:cNvPr>
          <p:cNvSpPr txBox="1"/>
          <p:nvPr/>
        </p:nvSpPr>
        <p:spPr>
          <a:xfrm>
            <a:off x="669848" y="4538713"/>
            <a:ext cx="1161930"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Trisomy 18</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56" name="Google Shape;56;p7">
            <a:extLst>
              <a:ext uri="{FF2B5EF4-FFF2-40B4-BE49-F238E27FC236}">
                <a16:creationId xmlns:a16="http://schemas.microsoft.com/office/drawing/2014/main" id="{E39F346E-1BB5-6869-8AEE-18E0B8F7C947}"/>
              </a:ext>
            </a:extLst>
          </p:cNvPr>
          <p:cNvSpPr/>
          <p:nvPr/>
        </p:nvSpPr>
        <p:spPr>
          <a:xfrm>
            <a:off x="580071" y="4463415"/>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Calibri" panose="020F0502020204030204" pitchFamily="34" charset="0"/>
              <a:ea typeface="Noto Sans SC" panose="020B0200000000000000" pitchFamily="34" charset="-128"/>
              <a:cs typeface="Calibri" panose="020F0502020204030204" pitchFamily="34" charset="0"/>
            </a:endParaRPr>
          </a:p>
        </p:txBody>
      </p:sp>
      <p:sp>
        <p:nvSpPr>
          <p:cNvPr id="58" name="Google Shape;58;p7">
            <a:extLst>
              <a:ext uri="{FF2B5EF4-FFF2-40B4-BE49-F238E27FC236}">
                <a16:creationId xmlns:a16="http://schemas.microsoft.com/office/drawing/2014/main" id="{82215C73-804B-EDC7-653C-D1372E2C4D6D}"/>
              </a:ext>
            </a:extLst>
          </p:cNvPr>
          <p:cNvSpPr txBox="1"/>
          <p:nvPr/>
        </p:nvSpPr>
        <p:spPr>
          <a:xfrm>
            <a:off x="669847" y="4898618"/>
            <a:ext cx="1178031" cy="154529"/>
          </a:xfrm>
          <a:prstGeom prst="rect">
            <a:avLst/>
          </a:prstGeom>
          <a:noFill/>
          <a:ln>
            <a:noFill/>
          </a:ln>
        </p:spPr>
        <p:txBody>
          <a:bodyPr spcFirstLastPara="1" wrap="square" lIns="0" tIns="15875" rIns="0" bIns="0" anchor="t" anchorCtr="0">
            <a:spAutoFit/>
          </a:bodyPr>
          <a:lstStyle/>
          <a:p>
            <a:r>
              <a:rPr lang="en-US" sz="900" dirty="0">
                <a:latin typeface="Calibri" panose="020F0502020204030204" pitchFamily="34" charset="0"/>
                <a:ea typeface="Noto Sans SC" panose="020B0200000000000000" pitchFamily="34" charset="-128"/>
                <a:cs typeface="Calibri" panose="020F0502020204030204" pitchFamily="34" charset="0"/>
              </a:rPr>
              <a:t>Trisomy 13</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59" name="Google Shape;59;p7">
            <a:extLst>
              <a:ext uri="{FF2B5EF4-FFF2-40B4-BE49-F238E27FC236}">
                <a16:creationId xmlns:a16="http://schemas.microsoft.com/office/drawing/2014/main" id="{7F359FD2-DAB1-8B7B-D569-C270A6CEFC42}"/>
              </a:ext>
            </a:extLst>
          </p:cNvPr>
          <p:cNvSpPr/>
          <p:nvPr/>
        </p:nvSpPr>
        <p:spPr>
          <a:xfrm>
            <a:off x="580071" y="4823320"/>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Calibri" panose="020F0502020204030204" pitchFamily="34" charset="0"/>
              <a:ea typeface="Noto Sans SC" panose="020B0200000000000000" pitchFamily="34" charset="-128"/>
              <a:cs typeface="Calibri" panose="020F0502020204030204" pitchFamily="34" charset="0"/>
            </a:endParaRPr>
          </a:p>
        </p:txBody>
      </p:sp>
      <p:sp>
        <p:nvSpPr>
          <p:cNvPr id="61" name="Google Shape;61;p7">
            <a:extLst>
              <a:ext uri="{FF2B5EF4-FFF2-40B4-BE49-F238E27FC236}">
                <a16:creationId xmlns:a16="http://schemas.microsoft.com/office/drawing/2014/main" id="{902E800B-2F57-B0A7-899E-E6E4C330081C}"/>
              </a:ext>
            </a:extLst>
          </p:cNvPr>
          <p:cNvSpPr txBox="1"/>
          <p:nvPr/>
        </p:nvSpPr>
        <p:spPr>
          <a:xfrm>
            <a:off x="669848" y="5258511"/>
            <a:ext cx="889027"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Trisomy 9</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62" name="Google Shape;62;p7">
            <a:extLst>
              <a:ext uri="{FF2B5EF4-FFF2-40B4-BE49-F238E27FC236}">
                <a16:creationId xmlns:a16="http://schemas.microsoft.com/office/drawing/2014/main" id="{0D54621B-B11B-1F2F-5513-5E7581F3AA57}"/>
              </a:ext>
            </a:extLst>
          </p:cNvPr>
          <p:cNvSpPr/>
          <p:nvPr/>
        </p:nvSpPr>
        <p:spPr>
          <a:xfrm>
            <a:off x="580071" y="5183225"/>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Calibri" panose="020F0502020204030204" pitchFamily="34" charset="0"/>
              <a:ea typeface="Noto Sans SC" panose="020B0200000000000000" pitchFamily="34" charset="-128"/>
              <a:cs typeface="Calibri" panose="020F0502020204030204" pitchFamily="34" charset="0"/>
            </a:endParaRPr>
          </a:p>
        </p:txBody>
      </p:sp>
      <p:sp>
        <p:nvSpPr>
          <p:cNvPr id="64" name="Google Shape;64;p7">
            <a:extLst>
              <a:ext uri="{FF2B5EF4-FFF2-40B4-BE49-F238E27FC236}">
                <a16:creationId xmlns:a16="http://schemas.microsoft.com/office/drawing/2014/main" id="{E1C4CAD8-A1E8-9D56-EBC7-D2DA492D4D5F}"/>
              </a:ext>
            </a:extLst>
          </p:cNvPr>
          <p:cNvSpPr txBox="1"/>
          <p:nvPr/>
        </p:nvSpPr>
        <p:spPr>
          <a:xfrm>
            <a:off x="669848" y="5618416"/>
            <a:ext cx="955774"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Trisomy 16</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65" name="Google Shape;65;p7">
            <a:extLst>
              <a:ext uri="{FF2B5EF4-FFF2-40B4-BE49-F238E27FC236}">
                <a16:creationId xmlns:a16="http://schemas.microsoft.com/office/drawing/2014/main" id="{7D40E87F-7C9D-C178-E6E7-3B34CFC43E66}"/>
              </a:ext>
            </a:extLst>
          </p:cNvPr>
          <p:cNvSpPr/>
          <p:nvPr/>
        </p:nvSpPr>
        <p:spPr>
          <a:xfrm>
            <a:off x="580071" y="5543131"/>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Calibri" panose="020F0502020204030204" pitchFamily="34" charset="0"/>
              <a:ea typeface="Noto Sans SC" panose="020B0200000000000000" pitchFamily="34" charset="-128"/>
              <a:cs typeface="Calibri" panose="020F0502020204030204" pitchFamily="34" charset="0"/>
            </a:endParaRPr>
          </a:p>
        </p:txBody>
      </p:sp>
      <p:sp>
        <p:nvSpPr>
          <p:cNvPr id="67" name="Google Shape;67;p7">
            <a:extLst>
              <a:ext uri="{FF2B5EF4-FFF2-40B4-BE49-F238E27FC236}">
                <a16:creationId xmlns:a16="http://schemas.microsoft.com/office/drawing/2014/main" id="{D9D16BAC-1DAF-A20E-7A27-B6A91CB3607A}"/>
              </a:ext>
            </a:extLst>
          </p:cNvPr>
          <p:cNvSpPr txBox="1"/>
          <p:nvPr/>
        </p:nvSpPr>
        <p:spPr>
          <a:xfrm>
            <a:off x="669848" y="5978321"/>
            <a:ext cx="955774"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Trisomy 22</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68" name="Google Shape;68;p7">
            <a:extLst>
              <a:ext uri="{FF2B5EF4-FFF2-40B4-BE49-F238E27FC236}">
                <a16:creationId xmlns:a16="http://schemas.microsoft.com/office/drawing/2014/main" id="{F367FC41-8CE2-1D46-DF0D-D90F17FF7BB9}"/>
              </a:ext>
            </a:extLst>
          </p:cNvPr>
          <p:cNvSpPr/>
          <p:nvPr/>
        </p:nvSpPr>
        <p:spPr>
          <a:xfrm>
            <a:off x="580071" y="5903023"/>
            <a:ext cx="72939" cy="304165"/>
          </a:xfrm>
          <a:custGeom>
            <a:avLst/>
            <a:gdLst/>
            <a:ahLst/>
            <a:cxnLst/>
            <a:rect l="l" t="t" r="r" b="b"/>
            <a:pathLst>
              <a:path w="67309"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Calibri" panose="020F0502020204030204" pitchFamily="34" charset="0"/>
              <a:ea typeface="Noto Sans SC" panose="020B0200000000000000" pitchFamily="34" charset="-128"/>
              <a:cs typeface="Calibri" panose="020F0502020204030204" pitchFamily="34" charset="0"/>
            </a:endParaRPr>
          </a:p>
        </p:txBody>
      </p:sp>
      <p:sp>
        <p:nvSpPr>
          <p:cNvPr id="70" name="Google Shape;70;p7">
            <a:extLst>
              <a:ext uri="{FF2B5EF4-FFF2-40B4-BE49-F238E27FC236}">
                <a16:creationId xmlns:a16="http://schemas.microsoft.com/office/drawing/2014/main" id="{CD85AB32-1D81-0CC5-A759-E98BAE4D5681}"/>
              </a:ext>
            </a:extLst>
          </p:cNvPr>
          <p:cNvSpPr txBox="1"/>
          <p:nvPr/>
        </p:nvSpPr>
        <p:spPr>
          <a:xfrm>
            <a:off x="669847" y="6338227"/>
            <a:ext cx="2075854"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XO (Turner Syndrome)</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71" name="Google Shape;71;p7">
            <a:extLst>
              <a:ext uri="{FF2B5EF4-FFF2-40B4-BE49-F238E27FC236}">
                <a16:creationId xmlns:a16="http://schemas.microsoft.com/office/drawing/2014/main" id="{4BA9847A-0231-436E-EDB2-C40FCDD31FB7}"/>
              </a:ext>
            </a:extLst>
          </p:cNvPr>
          <p:cNvSpPr/>
          <p:nvPr/>
        </p:nvSpPr>
        <p:spPr>
          <a:xfrm>
            <a:off x="580071" y="6262928"/>
            <a:ext cx="72939"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Calibri" panose="020F0502020204030204" pitchFamily="34" charset="0"/>
              <a:ea typeface="Noto Sans SC" panose="020B0200000000000000" pitchFamily="34" charset="-128"/>
              <a:cs typeface="Calibri" panose="020F0502020204030204" pitchFamily="34" charset="0"/>
            </a:endParaRPr>
          </a:p>
        </p:txBody>
      </p:sp>
      <p:sp>
        <p:nvSpPr>
          <p:cNvPr id="73" name="Google Shape;73;p7">
            <a:extLst>
              <a:ext uri="{FF2B5EF4-FFF2-40B4-BE49-F238E27FC236}">
                <a16:creationId xmlns:a16="http://schemas.microsoft.com/office/drawing/2014/main" id="{93076459-FF99-E0CB-80B5-D5AD2799FB9A}"/>
              </a:ext>
            </a:extLst>
          </p:cNvPr>
          <p:cNvSpPr txBox="1"/>
          <p:nvPr/>
        </p:nvSpPr>
        <p:spPr>
          <a:xfrm>
            <a:off x="669848" y="6698132"/>
            <a:ext cx="1245480"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XXX (Trisomy X)</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74" name="Google Shape;74;p7">
            <a:extLst>
              <a:ext uri="{FF2B5EF4-FFF2-40B4-BE49-F238E27FC236}">
                <a16:creationId xmlns:a16="http://schemas.microsoft.com/office/drawing/2014/main" id="{392E029C-16BF-9909-E1A8-E23ABABC8A10}"/>
              </a:ext>
            </a:extLst>
          </p:cNvPr>
          <p:cNvSpPr/>
          <p:nvPr/>
        </p:nvSpPr>
        <p:spPr>
          <a:xfrm>
            <a:off x="580071" y="6622834"/>
            <a:ext cx="72939"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Calibri" panose="020F0502020204030204" pitchFamily="34" charset="0"/>
              <a:ea typeface="Noto Sans SC" panose="020B0200000000000000" pitchFamily="34" charset="-128"/>
              <a:cs typeface="Calibri" panose="020F0502020204030204" pitchFamily="34" charset="0"/>
            </a:endParaRPr>
          </a:p>
        </p:txBody>
      </p:sp>
      <p:sp>
        <p:nvSpPr>
          <p:cNvPr id="76" name="Google Shape;76;p7">
            <a:extLst>
              <a:ext uri="{FF2B5EF4-FFF2-40B4-BE49-F238E27FC236}">
                <a16:creationId xmlns:a16="http://schemas.microsoft.com/office/drawing/2014/main" id="{2BE5A423-E13E-C4A9-5659-60A60FB3B219}"/>
              </a:ext>
            </a:extLst>
          </p:cNvPr>
          <p:cNvSpPr txBox="1"/>
          <p:nvPr/>
        </p:nvSpPr>
        <p:spPr>
          <a:xfrm>
            <a:off x="669848" y="7058025"/>
            <a:ext cx="1765395" cy="154529"/>
          </a:xfrm>
          <a:prstGeom prst="rect">
            <a:avLst/>
          </a:prstGeom>
          <a:noFill/>
          <a:ln>
            <a:noFill/>
          </a:ln>
        </p:spPr>
        <p:txBody>
          <a:bodyPr spcFirstLastPara="1" wrap="square" lIns="0" tIns="15875" rIns="0" bIns="0" anchor="t" anchorCtr="0">
            <a:spAutoFit/>
          </a:bodyPr>
          <a:lstStyle/>
          <a:p>
            <a:r>
              <a:rPr lang="en-US" sz="900" dirty="0">
                <a:latin typeface="Calibri" panose="020F0502020204030204" pitchFamily="34" charset="0"/>
                <a:ea typeface="Noto Sans SC" panose="020B0200000000000000" pitchFamily="34" charset="-128"/>
                <a:cs typeface="Calibri" panose="020F0502020204030204" pitchFamily="34" charset="0"/>
              </a:rPr>
              <a:t>XXY (Klinefelter Syndrome)</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77" name="Google Shape;77;p7">
            <a:extLst>
              <a:ext uri="{FF2B5EF4-FFF2-40B4-BE49-F238E27FC236}">
                <a16:creationId xmlns:a16="http://schemas.microsoft.com/office/drawing/2014/main" id="{72D64BD3-171E-9150-238D-694A71E9D86C}"/>
              </a:ext>
            </a:extLst>
          </p:cNvPr>
          <p:cNvSpPr/>
          <p:nvPr/>
        </p:nvSpPr>
        <p:spPr>
          <a:xfrm>
            <a:off x="580071" y="6982739"/>
            <a:ext cx="72939"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Calibri" panose="020F0502020204030204" pitchFamily="34" charset="0"/>
              <a:ea typeface="Noto Sans SC" panose="020B0200000000000000" pitchFamily="34" charset="-128"/>
              <a:cs typeface="Calibri" panose="020F0502020204030204" pitchFamily="34" charset="0"/>
            </a:endParaRPr>
          </a:p>
        </p:txBody>
      </p:sp>
      <p:sp>
        <p:nvSpPr>
          <p:cNvPr id="79" name="Google Shape;79;p7">
            <a:extLst>
              <a:ext uri="{FF2B5EF4-FFF2-40B4-BE49-F238E27FC236}">
                <a16:creationId xmlns:a16="http://schemas.microsoft.com/office/drawing/2014/main" id="{44A3C4B2-6481-80A5-8968-4E062E1E357C}"/>
              </a:ext>
            </a:extLst>
          </p:cNvPr>
          <p:cNvSpPr txBox="1"/>
          <p:nvPr/>
        </p:nvSpPr>
        <p:spPr>
          <a:xfrm>
            <a:off x="669848" y="7417930"/>
            <a:ext cx="2298694"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XYY (Jacob Syndrome)</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80" name="Google Shape;80;p7">
            <a:extLst>
              <a:ext uri="{FF2B5EF4-FFF2-40B4-BE49-F238E27FC236}">
                <a16:creationId xmlns:a16="http://schemas.microsoft.com/office/drawing/2014/main" id="{83B09090-3B85-C585-19AA-E8B7E0825F7C}"/>
              </a:ext>
            </a:extLst>
          </p:cNvPr>
          <p:cNvSpPr/>
          <p:nvPr/>
        </p:nvSpPr>
        <p:spPr>
          <a:xfrm>
            <a:off x="580071" y="7342644"/>
            <a:ext cx="72939"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Calibri" panose="020F0502020204030204" pitchFamily="34" charset="0"/>
              <a:ea typeface="Noto Sans SC" panose="020B0200000000000000" pitchFamily="34" charset="-128"/>
              <a:cs typeface="Calibri" panose="020F0502020204030204" pitchFamily="34" charset="0"/>
            </a:endParaRPr>
          </a:p>
        </p:txBody>
      </p:sp>
      <p:sp>
        <p:nvSpPr>
          <p:cNvPr id="82" name="Google Shape;82;p7">
            <a:extLst>
              <a:ext uri="{FF2B5EF4-FFF2-40B4-BE49-F238E27FC236}">
                <a16:creationId xmlns:a16="http://schemas.microsoft.com/office/drawing/2014/main" id="{A1F0142A-8C1B-613B-7B34-6F8F68D1E5CF}"/>
              </a:ext>
            </a:extLst>
          </p:cNvPr>
          <p:cNvSpPr txBox="1"/>
          <p:nvPr/>
        </p:nvSpPr>
        <p:spPr>
          <a:xfrm>
            <a:off x="669847" y="7777835"/>
            <a:ext cx="1948119"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All other autosomal trisomy</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83" name="Google Shape;83;p7">
            <a:extLst>
              <a:ext uri="{FF2B5EF4-FFF2-40B4-BE49-F238E27FC236}">
                <a16:creationId xmlns:a16="http://schemas.microsoft.com/office/drawing/2014/main" id="{86E46BE7-7B48-3A07-4C55-A1394B5835EA}"/>
              </a:ext>
            </a:extLst>
          </p:cNvPr>
          <p:cNvSpPr/>
          <p:nvPr/>
        </p:nvSpPr>
        <p:spPr>
          <a:xfrm>
            <a:off x="580071" y="7702537"/>
            <a:ext cx="72939" cy="304165"/>
          </a:xfrm>
          <a:custGeom>
            <a:avLst/>
            <a:gdLst/>
            <a:ahLst/>
            <a:cxnLst/>
            <a:rect l="l" t="t" r="r" b="b"/>
            <a:pathLst>
              <a:path w="67309"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Calibri" panose="020F0502020204030204" pitchFamily="34" charset="0"/>
              <a:ea typeface="Noto Sans SC" panose="020B0200000000000000" pitchFamily="34" charset="-128"/>
              <a:cs typeface="Calibri" panose="020F0502020204030204" pitchFamily="34" charset="0"/>
            </a:endParaRPr>
          </a:p>
        </p:txBody>
      </p:sp>
      <p:sp>
        <p:nvSpPr>
          <p:cNvPr id="85" name="Google Shape;85;p7">
            <a:extLst>
              <a:ext uri="{FF2B5EF4-FFF2-40B4-BE49-F238E27FC236}">
                <a16:creationId xmlns:a16="http://schemas.microsoft.com/office/drawing/2014/main" id="{4EDAD288-7B3A-6020-5279-1CCF9D5A1673}"/>
              </a:ext>
            </a:extLst>
          </p:cNvPr>
          <p:cNvSpPr/>
          <p:nvPr/>
        </p:nvSpPr>
        <p:spPr>
          <a:xfrm>
            <a:off x="535786" y="4054462"/>
            <a:ext cx="3538907" cy="0"/>
          </a:xfrm>
          <a:custGeom>
            <a:avLst/>
            <a:gdLst/>
            <a:ahLst/>
            <a:cxnLst/>
            <a:rect l="l" t="t" r="r" b="b"/>
            <a:pathLst>
              <a:path w="3265804" h="120000" extrusionOk="0">
                <a:moveTo>
                  <a:pt x="0" y="0"/>
                </a:moveTo>
                <a:lnTo>
                  <a:pt x="1507236" y="0"/>
                </a:lnTo>
              </a:path>
              <a:path w="3265804" h="120000" extrusionOk="0">
                <a:moveTo>
                  <a:pt x="1511998" y="0"/>
                </a:moveTo>
                <a:lnTo>
                  <a:pt x="3146602" y="0"/>
                </a:lnTo>
              </a:path>
              <a:path w="3265804" h="120000" extrusionOk="0">
                <a:moveTo>
                  <a:pt x="3151365" y="0"/>
                </a:moveTo>
                <a:lnTo>
                  <a:pt x="3265665"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900">
              <a:latin typeface="Calibri" panose="020F0502020204030204" pitchFamily="34" charset="0"/>
              <a:ea typeface="Noto Sans SC" panose="020B0200000000000000" pitchFamily="34" charset="-128"/>
              <a:cs typeface="Calibri" panose="020F0502020204030204" pitchFamily="34" charset="0"/>
            </a:endParaRPr>
          </a:p>
        </p:txBody>
      </p:sp>
      <p:sp>
        <p:nvSpPr>
          <p:cNvPr id="86" name="Google Shape;86;p7">
            <a:extLst>
              <a:ext uri="{FF2B5EF4-FFF2-40B4-BE49-F238E27FC236}">
                <a16:creationId xmlns:a16="http://schemas.microsoft.com/office/drawing/2014/main" id="{3EA21A35-C566-C0B7-1D99-1F397AD9C074}"/>
              </a:ext>
            </a:extLst>
          </p:cNvPr>
          <p:cNvSpPr txBox="1"/>
          <p:nvPr/>
        </p:nvSpPr>
        <p:spPr>
          <a:xfrm>
            <a:off x="3956875" y="3831425"/>
            <a:ext cx="1073012" cy="174407"/>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Microdeletion</a:t>
            </a:r>
            <a:endParaRPr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88" name="Google Shape;88;p7">
            <a:extLst>
              <a:ext uri="{FF2B5EF4-FFF2-40B4-BE49-F238E27FC236}">
                <a16:creationId xmlns:a16="http://schemas.microsoft.com/office/drawing/2014/main" id="{CE41E459-F309-7C00-AA7D-12249C74DFBD}"/>
              </a:ext>
            </a:extLst>
          </p:cNvPr>
          <p:cNvSpPr txBox="1"/>
          <p:nvPr/>
        </p:nvSpPr>
        <p:spPr>
          <a:xfrm>
            <a:off x="4059349" y="4178808"/>
            <a:ext cx="1709267"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1p36 deletion syndrome</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89" name="Google Shape;89;p7">
            <a:extLst>
              <a:ext uri="{FF2B5EF4-FFF2-40B4-BE49-F238E27FC236}">
                <a16:creationId xmlns:a16="http://schemas.microsoft.com/office/drawing/2014/main" id="{1DC7AA4A-7190-7DB8-8CBA-F4F250E3FD19}"/>
              </a:ext>
            </a:extLst>
          </p:cNvPr>
          <p:cNvSpPr/>
          <p:nvPr/>
        </p:nvSpPr>
        <p:spPr>
          <a:xfrm>
            <a:off x="3969574" y="4103522"/>
            <a:ext cx="72939"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Calibri" panose="020F0502020204030204" pitchFamily="34" charset="0"/>
              <a:ea typeface="Noto Sans SC" panose="020B0200000000000000" pitchFamily="34" charset="-128"/>
              <a:cs typeface="Calibri" panose="020F0502020204030204" pitchFamily="34" charset="0"/>
            </a:endParaRPr>
          </a:p>
        </p:txBody>
      </p:sp>
      <p:sp>
        <p:nvSpPr>
          <p:cNvPr id="91" name="Google Shape;91;p7">
            <a:extLst>
              <a:ext uri="{FF2B5EF4-FFF2-40B4-BE49-F238E27FC236}">
                <a16:creationId xmlns:a16="http://schemas.microsoft.com/office/drawing/2014/main" id="{052DBD0F-20EC-FB07-6A85-570618DE5002}"/>
              </a:ext>
            </a:extLst>
          </p:cNvPr>
          <p:cNvSpPr txBox="1"/>
          <p:nvPr/>
        </p:nvSpPr>
        <p:spPr>
          <a:xfrm>
            <a:off x="4059350" y="4538713"/>
            <a:ext cx="1767585"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2q33.1 deletion syndrome</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92" name="Google Shape;92;p7">
            <a:extLst>
              <a:ext uri="{FF2B5EF4-FFF2-40B4-BE49-F238E27FC236}">
                <a16:creationId xmlns:a16="http://schemas.microsoft.com/office/drawing/2014/main" id="{47DFE3CC-2F59-0537-1868-CBFD8B6C7FFA}"/>
              </a:ext>
            </a:extLst>
          </p:cNvPr>
          <p:cNvSpPr/>
          <p:nvPr/>
        </p:nvSpPr>
        <p:spPr>
          <a:xfrm>
            <a:off x="3969574" y="4463415"/>
            <a:ext cx="72939"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Calibri" panose="020F0502020204030204" pitchFamily="34" charset="0"/>
              <a:ea typeface="Noto Sans SC" panose="020B0200000000000000" pitchFamily="34" charset="-128"/>
              <a:cs typeface="Calibri" panose="020F0502020204030204" pitchFamily="34" charset="0"/>
            </a:endParaRPr>
          </a:p>
        </p:txBody>
      </p:sp>
      <p:sp>
        <p:nvSpPr>
          <p:cNvPr id="94" name="Google Shape;94;p7">
            <a:extLst>
              <a:ext uri="{FF2B5EF4-FFF2-40B4-BE49-F238E27FC236}">
                <a16:creationId xmlns:a16="http://schemas.microsoft.com/office/drawing/2014/main" id="{93D0F4B1-538C-FBAD-B33A-9A888AFE9FDB}"/>
              </a:ext>
            </a:extLst>
          </p:cNvPr>
          <p:cNvSpPr txBox="1"/>
          <p:nvPr/>
        </p:nvSpPr>
        <p:spPr>
          <a:xfrm>
            <a:off x="4059350" y="4898618"/>
            <a:ext cx="1851791"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Wolf-Hirschhorn syndrome</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95" name="Google Shape;95;p7">
            <a:extLst>
              <a:ext uri="{FF2B5EF4-FFF2-40B4-BE49-F238E27FC236}">
                <a16:creationId xmlns:a16="http://schemas.microsoft.com/office/drawing/2014/main" id="{49444672-358C-6BD2-A350-AC288EC0B2E1}"/>
              </a:ext>
            </a:extLst>
          </p:cNvPr>
          <p:cNvSpPr/>
          <p:nvPr/>
        </p:nvSpPr>
        <p:spPr>
          <a:xfrm>
            <a:off x="3969574" y="4823320"/>
            <a:ext cx="72939"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Calibri" panose="020F0502020204030204" pitchFamily="34" charset="0"/>
              <a:ea typeface="Noto Sans SC" panose="020B0200000000000000" pitchFamily="34" charset="-128"/>
              <a:cs typeface="Calibri" panose="020F0502020204030204" pitchFamily="34" charset="0"/>
            </a:endParaRPr>
          </a:p>
        </p:txBody>
      </p:sp>
      <p:sp>
        <p:nvSpPr>
          <p:cNvPr id="97" name="Google Shape;97;p7">
            <a:extLst>
              <a:ext uri="{FF2B5EF4-FFF2-40B4-BE49-F238E27FC236}">
                <a16:creationId xmlns:a16="http://schemas.microsoft.com/office/drawing/2014/main" id="{A33C98AD-977F-204E-51EA-BB8CE6229D23}"/>
              </a:ext>
            </a:extLst>
          </p:cNvPr>
          <p:cNvSpPr txBox="1"/>
          <p:nvPr/>
        </p:nvSpPr>
        <p:spPr>
          <a:xfrm>
            <a:off x="4059351" y="5258511"/>
            <a:ext cx="1709268" cy="154529"/>
          </a:xfrm>
          <a:prstGeom prst="rect">
            <a:avLst/>
          </a:prstGeom>
          <a:noFill/>
          <a:ln>
            <a:noFill/>
          </a:ln>
        </p:spPr>
        <p:txBody>
          <a:bodyPr spcFirstLastPara="1" wrap="square" lIns="0" tIns="15875" rIns="0" bIns="0" anchor="t" anchorCtr="0">
            <a:spAutoFit/>
          </a:bodyPr>
          <a:lstStyle/>
          <a:p>
            <a:r>
              <a:rPr lang="en-US" sz="900" dirty="0">
                <a:latin typeface="Calibri" panose="020F0502020204030204" pitchFamily="34" charset="0"/>
                <a:ea typeface="Noto Sans SC" panose="020B0200000000000000" pitchFamily="34" charset="-128"/>
                <a:cs typeface="Calibri" panose="020F0502020204030204" pitchFamily="34" charset="0"/>
              </a:rPr>
              <a:t>Cri Du Chat syndrome</a:t>
            </a:r>
          </a:p>
        </p:txBody>
      </p:sp>
      <p:sp>
        <p:nvSpPr>
          <p:cNvPr id="98" name="Google Shape;98;p7">
            <a:extLst>
              <a:ext uri="{FF2B5EF4-FFF2-40B4-BE49-F238E27FC236}">
                <a16:creationId xmlns:a16="http://schemas.microsoft.com/office/drawing/2014/main" id="{94AEABB0-D29C-F906-BA26-FF58DD8ABFFA}"/>
              </a:ext>
            </a:extLst>
          </p:cNvPr>
          <p:cNvSpPr/>
          <p:nvPr/>
        </p:nvSpPr>
        <p:spPr>
          <a:xfrm>
            <a:off x="3969574" y="5183225"/>
            <a:ext cx="72939"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Calibri" panose="020F0502020204030204" pitchFamily="34" charset="0"/>
              <a:ea typeface="Noto Sans SC" panose="020B0200000000000000" pitchFamily="34" charset="-128"/>
              <a:cs typeface="Calibri" panose="020F0502020204030204" pitchFamily="34" charset="0"/>
            </a:endParaRPr>
          </a:p>
        </p:txBody>
      </p:sp>
      <p:sp>
        <p:nvSpPr>
          <p:cNvPr id="100" name="Google Shape;100;p7">
            <a:extLst>
              <a:ext uri="{FF2B5EF4-FFF2-40B4-BE49-F238E27FC236}">
                <a16:creationId xmlns:a16="http://schemas.microsoft.com/office/drawing/2014/main" id="{9DE185EA-105A-390C-07A5-985B76C4EE4E}"/>
              </a:ext>
            </a:extLst>
          </p:cNvPr>
          <p:cNvSpPr txBox="1"/>
          <p:nvPr/>
        </p:nvSpPr>
        <p:spPr>
          <a:xfrm>
            <a:off x="4059351" y="5618416"/>
            <a:ext cx="1851790" cy="154529"/>
          </a:xfrm>
          <a:prstGeom prst="rect">
            <a:avLst/>
          </a:prstGeom>
          <a:noFill/>
          <a:ln>
            <a:noFill/>
          </a:ln>
        </p:spPr>
        <p:txBody>
          <a:bodyPr spcFirstLastPara="1" wrap="square" lIns="0" tIns="15875" rIns="0" bIns="0" anchor="t" anchorCtr="0">
            <a:spAutoFit/>
          </a:bodyPr>
          <a:lstStyle/>
          <a:p>
            <a:r>
              <a:rPr lang="en-US" sz="900" dirty="0">
                <a:latin typeface="Calibri" panose="020F0502020204030204" pitchFamily="34" charset="0"/>
                <a:ea typeface="Noto Sans SC" panose="020B0200000000000000" pitchFamily="34" charset="-128"/>
                <a:cs typeface="Calibri" panose="020F0502020204030204" pitchFamily="34" charset="0"/>
              </a:rPr>
              <a:t>Williams-Beuren syndrome</a:t>
            </a:r>
          </a:p>
        </p:txBody>
      </p:sp>
      <p:sp>
        <p:nvSpPr>
          <p:cNvPr id="101" name="Google Shape;101;p7">
            <a:extLst>
              <a:ext uri="{FF2B5EF4-FFF2-40B4-BE49-F238E27FC236}">
                <a16:creationId xmlns:a16="http://schemas.microsoft.com/office/drawing/2014/main" id="{DCF4461F-8DF9-5E1F-68A2-67BAA2F430BE}"/>
              </a:ext>
            </a:extLst>
          </p:cNvPr>
          <p:cNvSpPr/>
          <p:nvPr/>
        </p:nvSpPr>
        <p:spPr>
          <a:xfrm>
            <a:off x="3969574" y="5543131"/>
            <a:ext cx="72939"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Calibri" panose="020F0502020204030204" pitchFamily="34" charset="0"/>
              <a:ea typeface="Noto Sans SC" panose="020B0200000000000000" pitchFamily="34" charset="-128"/>
              <a:cs typeface="Calibri" panose="020F0502020204030204" pitchFamily="34" charset="0"/>
            </a:endParaRPr>
          </a:p>
        </p:txBody>
      </p:sp>
      <p:sp>
        <p:nvSpPr>
          <p:cNvPr id="103" name="Google Shape;103;p7">
            <a:extLst>
              <a:ext uri="{FF2B5EF4-FFF2-40B4-BE49-F238E27FC236}">
                <a16:creationId xmlns:a16="http://schemas.microsoft.com/office/drawing/2014/main" id="{8D9EA37F-E8AF-8450-B245-CFB4B28BBE71}"/>
              </a:ext>
            </a:extLst>
          </p:cNvPr>
          <p:cNvSpPr txBox="1"/>
          <p:nvPr/>
        </p:nvSpPr>
        <p:spPr>
          <a:xfrm>
            <a:off x="4059351" y="5978321"/>
            <a:ext cx="1638370" cy="154529"/>
          </a:xfrm>
          <a:prstGeom prst="rect">
            <a:avLst/>
          </a:prstGeom>
          <a:noFill/>
          <a:ln>
            <a:noFill/>
          </a:ln>
        </p:spPr>
        <p:txBody>
          <a:bodyPr spcFirstLastPara="1" wrap="square" lIns="0" tIns="15875" rIns="0" bIns="0" anchor="t" anchorCtr="0">
            <a:spAutoFit/>
          </a:bodyPr>
          <a:lstStyle/>
          <a:p>
            <a:pPr marL="12700" lvl="0"/>
            <a:r>
              <a:rPr lang="en-US" sz="900" dirty="0">
                <a:latin typeface="Calibri" panose="020F0502020204030204" pitchFamily="34" charset="0"/>
                <a:ea typeface="Noto Sans SC" panose="020B0200000000000000" pitchFamily="34" charset="-128"/>
                <a:cs typeface="Calibri" panose="020F0502020204030204" pitchFamily="34" charset="0"/>
              </a:rPr>
              <a:t>Jacobsen syndrome</a:t>
            </a:r>
            <a:endParaRPr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104" name="Google Shape;104;p7">
            <a:extLst>
              <a:ext uri="{FF2B5EF4-FFF2-40B4-BE49-F238E27FC236}">
                <a16:creationId xmlns:a16="http://schemas.microsoft.com/office/drawing/2014/main" id="{E927AB21-BCDA-E427-980A-E3B1099B8871}"/>
              </a:ext>
            </a:extLst>
          </p:cNvPr>
          <p:cNvSpPr/>
          <p:nvPr/>
        </p:nvSpPr>
        <p:spPr>
          <a:xfrm>
            <a:off x="3969574" y="5903023"/>
            <a:ext cx="72939" cy="304165"/>
          </a:xfrm>
          <a:custGeom>
            <a:avLst/>
            <a:gdLst/>
            <a:ahLst/>
            <a:cxnLst/>
            <a:rect l="l" t="t" r="r" b="b"/>
            <a:pathLst>
              <a:path w="67310" h="304164"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Calibri" panose="020F0502020204030204" pitchFamily="34" charset="0"/>
              <a:ea typeface="Noto Sans SC" panose="020B0200000000000000" pitchFamily="34" charset="-128"/>
              <a:cs typeface="Calibri" panose="020F0502020204030204" pitchFamily="34" charset="0"/>
            </a:endParaRPr>
          </a:p>
        </p:txBody>
      </p:sp>
      <p:sp>
        <p:nvSpPr>
          <p:cNvPr id="106" name="Google Shape;106;p7">
            <a:extLst>
              <a:ext uri="{FF2B5EF4-FFF2-40B4-BE49-F238E27FC236}">
                <a16:creationId xmlns:a16="http://schemas.microsoft.com/office/drawing/2014/main" id="{D0EAA1CC-B051-C161-5440-E5CFFE424B95}"/>
              </a:ext>
            </a:extLst>
          </p:cNvPr>
          <p:cNvSpPr txBox="1"/>
          <p:nvPr/>
        </p:nvSpPr>
        <p:spPr>
          <a:xfrm>
            <a:off x="4059350" y="6338227"/>
            <a:ext cx="2089328" cy="154529"/>
          </a:xfrm>
          <a:prstGeom prst="rect">
            <a:avLst/>
          </a:prstGeom>
          <a:noFill/>
          <a:ln>
            <a:noFill/>
          </a:ln>
        </p:spPr>
        <p:txBody>
          <a:bodyPr spcFirstLastPara="1" wrap="square" lIns="0" tIns="15875" rIns="0" bIns="0" anchor="t" anchorCtr="0">
            <a:spAutoFit/>
          </a:bodyPr>
          <a:lstStyle/>
          <a:p>
            <a:r>
              <a:rPr lang="en-US" sz="900" dirty="0">
                <a:latin typeface="Calibri" panose="020F0502020204030204" pitchFamily="34" charset="0"/>
                <a:ea typeface="Noto Sans SC" panose="020B0200000000000000" pitchFamily="34" charset="-128"/>
                <a:cs typeface="Calibri" panose="020F0502020204030204" pitchFamily="34" charset="0"/>
              </a:rPr>
              <a:t>Prader-</a:t>
            </a:r>
            <a:r>
              <a:rPr lang="en-US" sz="900" dirty="0" err="1">
                <a:latin typeface="Calibri" panose="020F0502020204030204" pitchFamily="34" charset="0"/>
                <a:ea typeface="Noto Sans SC" panose="020B0200000000000000" pitchFamily="34" charset="-128"/>
                <a:cs typeface="Calibri" panose="020F0502020204030204" pitchFamily="34" charset="0"/>
              </a:rPr>
              <a:t>willi</a:t>
            </a:r>
            <a:r>
              <a:rPr lang="en-US" sz="900" dirty="0">
                <a:latin typeface="Calibri" panose="020F0502020204030204" pitchFamily="34" charset="0"/>
                <a:ea typeface="Noto Sans SC" panose="020B0200000000000000" pitchFamily="34" charset="-128"/>
                <a:cs typeface="Calibri" panose="020F0502020204030204" pitchFamily="34" charset="0"/>
              </a:rPr>
              <a:t>/Angelman syndrome</a:t>
            </a:r>
          </a:p>
        </p:txBody>
      </p:sp>
      <p:sp>
        <p:nvSpPr>
          <p:cNvPr id="107" name="Google Shape;107;p7">
            <a:extLst>
              <a:ext uri="{FF2B5EF4-FFF2-40B4-BE49-F238E27FC236}">
                <a16:creationId xmlns:a16="http://schemas.microsoft.com/office/drawing/2014/main" id="{7C3938A8-F109-1DBC-5F5E-569E77E33177}"/>
              </a:ext>
            </a:extLst>
          </p:cNvPr>
          <p:cNvSpPr/>
          <p:nvPr/>
        </p:nvSpPr>
        <p:spPr>
          <a:xfrm>
            <a:off x="3969574" y="6262928"/>
            <a:ext cx="72939" cy="304165"/>
          </a:xfrm>
          <a:custGeom>
            <a:avLst/>
            <a:gdLst/>
            <a:ahLst/>
            <a:cxnLst/>
            <a:rect l="l" t="t" r="r" b="b"/>
            <a:pathLst>
              <a:path w="67310"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Calibri" panose="020F0502020204030204" pitchFamily="34" charset="0"/>
              <a:ea typeface="Noto Sans SC" panose="020B0200000000000000" pitchFamily="34" charset="-128"/>
              <a:cs typeface="Calibri" panose="020F0502020204030204" pitchFamily="34" charset="0"/>
            </a:endParaRPr>
          </a:p>
        </p:txBody>
      </p:sp>
      <p:sp>
        <p:nvSpPr>
          <p:cNvPr id="109" name="Google Shape;109;p7">
            <a:extLst>
              <a:ext uri="{FF2B5EF4-FFF2-40B4-BE49-F238E27FC236}">
                <a16:creationId xmlns:a16="http://schemas.microsoft.com/office/drawing/2014/main" id="{31C7C673-230F-FD2D-A25A-D13A7C015157}"/>
              </a:ext>
            </a:extLst>
          </p:cNvPr>
          <p:cNvSpPr txBox="1"/>
          <p:nvPr/>
        </p:nvSpPr>
        <p:spPr>
          <a:xfrm>
            <a:off x="4059350" y="6698132"/>
            <a:ext cx="1912871" cy="154529"/>
          </a:xfrm>
          <a:prstGeom prst="rect">
            <a:avLst/>
          </a:prstGeom>
          <a:noFill/>
          <a:ln>
            <a:noFill/>
          </a:ln>
        </p:spPr>
        <p:txBody>
          <a:bodyPr spcFirstLastPara="1" wrap="square" lIns="0" tIns="15875" rIns="0" bIns="0" anchor="t" anchorCtr="0">
            <a:spAutoFit/>
          </a:bodyPr>
          <a:lstStyle/>
          <a:p>
            <a:r>
              <a:rPr lang="en-US" sz="900" dirty="0">
                <a:latin typeface="Calibri" panose="020F0502020204030204" pitchFamily="34" charset="0"/>
                <a:ea typeface="Noto Sans SC" panose="020B0200000000000000" pitchFamily="34" charset="-128"/>
                <a:cs typeface="Calibri" panose="020F0502020204030204" pitchFamily="34" charset="0"/>
              </a:rPr>
              <a:t>DiGeorge syndrome (22q11.2)</a:t>
            </a:r>
          </a:p>
        </p:txBody>
      </p:sp>
      <p:sp>
        <p:nvSpPr>
          <p:cNvPr id="110" name="Google Shape;110;p7">
            <a:extLst>
              <a:ext uri="{FF2B5EF4-FFF2-40B4-BE49-F238E27FC236}">
                <a16:creationId xmlns:a16="http://schemas.microsoft.com/office/drawing/2014/main" id="{C759B0B3-FEA5-2685-A1F4-EACC35ADFD60}"/>
              </a:ext>
            </a:extLst>
          </p:cNvPr>
          <p:cNvSpPr/>
          <p:nvPr/>
        </p:nvSpPr>
        <p:spPr>
          <a:xfrm>
            <a:off x="3969574" y="6622834"/>
            <a:ext cx="72939" cy="304165"/>
          </a:xfrm>
          <a:custGeom>
            <a:avLst/>
            <a:gdLst/>
            <a:ahLst/>
            <a:cxnLst/>
            <a:rect l="l" t="t" r="r" b="b"/>
            <a:pathLst>
              <a:path w="67310"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Calibri" panose="020F0502020204030204" pitchFamily="34" charset="0"/>
              <a:ea typeface="Noto Sans SC" panose="020B0200000000000000" pitchFamily="34" charset="-128"/>
              <a:cs typeface="Calibri" panose="020F0502020204030204" pitchFamily="34" charset="0"/>
            </a:endParaRPr>
          </a:p>
        </p:txBody>
      </p:sp>
      <p:sp>
        <p:nvSpPr>
          <p:cNvPr id="112" name="Google Shape;112;p7">
            <a:extLst>
              <a:ext uri="{FF2B5EF4-FFF2-40B4-BE49-F238E27FC236}">
                <a16:creationId xmlns:a16="http://schemas.microsoft.com/office/drawing/2014/main" id="{A33ABAC2-7B8F-CF5F-CBC9-F2FFE26DC3E9}"/>
              </a:ext>
            </a:extLst>
          </p:cNvPr>
          <p:cNvSpPr txBox="1"/>
          <p:nvPr/>
        </p:nvSpPr>
        <p:spPr>
          <a:xfrm>
            <a:off x="4059351" y="7043471"/>
            <a:ext cx="1912870" cy="154529"/>
          </a:xfrm>
          <a:prstGeom prst="rect">
            <a:avLst/>
          </a:prstGeom>
          <a:noFill/>
          <a:ln>
            <a:noFill/>
          </a:ln>
        </p:spPr>
        <p:txBody>
          <a:bodyPr spcFirstLastPara="1" wrap="square" lIns="0" tIns="15875" rIns="0" bIns="0" anchor="t" anchorCtr="0">
            <a:spAutoFit/>
          </a:bodyPr>
          <a:lstStyle/>
          <a:p>
            <a:r>
              <a:rPr lang="en-US" sz="900" dirty="0">
                <a:latin typeface="Calibri" panose="020F0502020204030204" pitchFamily="34" charset="0"/>
                <a:ea typeface="Noto Sans SC" panose="020B0200000000000000" pitchFamily="34" charset="-128"/>
                <a:cs typeface="Calibri" panose="020F0502020204030204" pitchFamily="34" charset="0"/>
              </a:rPr>
              <a:t>79 Other microdeletions/duplications</a:t>
            </a:r>
          </a:p>
        </p:txBody>
      </p:sp>
      <p:sp>
        <p:nvSpPr>
          <p:cNvPr id="113" name="Google Shape;113;p7">
            <a:extLst>
              <a:ext uri="{FF2B5EF4-FFF2-40B4-BE49-F238E27FC236}">
                <a16:creationId xmlns:a16="http://schemas.microsoft.com/office/drawing/2014/main" id="{8309C2D1-A4A4-25A3-F0BB-DDCE8004C10E}"/>
              </a:ext>
            </a:extLst>
          </p:cNvPr>
          <p:cNvSpPr/>
          <p:nvPr/>
        </p:nvSpPr>
        <p:spPr>
          <a:xfrm>
            <a:off x="3969574" y="6982739"/>
            <a:ext cx="72939" cy="304165"/>
          </a:xfrm>
          <a:custGeom>
            <a:avLst/>
            <a:gdLst/>
            <a:ahLst/>
            <a:cxnLst/>
            <a:rect l="l" t="t" r="r" b="b"/>
            <a:pathLst>
              <a:path w="67310" h="304165" extrusionOk="0">
                <a:moveTo>
                  <a:pt x="66992" y="0"/>
                </a:moveTo>
                <a:lnTo>
                  <a:pt x="0" y="0"/>
                </a:lnTo>
                <a:lnTo>
                  <a:pt x="0" y="303707"/>
                </a:lnTo>
                <a:lnTo>
                  <a:pt x="66992" y="303707"/>
                </a:lnTo>
                <a:lnTo>
                  <a:pt x="66992" y="0"/>
                </a:lnTo>
                <a:close/>
              </a:path>
            </a:pathLst>
          </a:custGeom>
          <a:solidFill>
            <a:srgbClr val="CCCCCC"/>
          </a:solidFill>
          <a:ln>
            <a:noFill/>
          </a:ln>
        </p:spPr>
        <p:txBody>
          <a:bodyPr spcFirstLastPara="1" wrap="square" lIns="0" tIns="0" rIns="0" bIns="0" anchor="t" anchorCtr="0">
            <a:noAutofit/>
          </a:bodyPr>
          <a:lstStyle/>
          <a:p>
            <a:pPr marL="0" lvl="0" indent="0" algn="l" rtl="0">
              <a:spcBef>
                <a:spcPts val="0"/>
              </a:spcBef>
              <a:spcAft>
                <a:spcPts val="0"/>
              </a:spcAft>
              <a:buNone/>
            </a:pPr>
            <a:endParaRPr sz="900">
              <a:latin typeface="Calibri" panose="020F0502020204030204" pitchFamily="34" charset="0"/>
              <a:ea typeface="Noto Sans SC" panose="020B0200000000000000" pitchFamily="34" charset="-128"/>
              <a:cs typeface="Calibri" panose="020F0502020204030204" pitchFamily="34" charset="0"/>
            </a:endParaRPr>
          </a:p>
        </p:txBody>
      </p:sp>
      <p:sp>
        <p:nvSpPr>
          <p:cNvPr id="115" name="Google Shape;115;p7">
            <a:extLst>
              <a:ext uri="{FF2B5EF4-FFF2-40B4-BE49-F238E27FC236}">
                <a16:creationId xmlns:a16="http://schemas.microsoft.com/office/drawing/2014/main" id="{2CD2CC7B-A460-95EA-434B-EB13A9037E43}"/>
              </a:ext>
            </a:extLst>
          </p:cNvPr>
          <p:cNvSpPr/>
          <p:nvPr/>
        </p:nvSpPr>
        <p:spPr>
          <a:xfrm flipV="1">
            <a:off x="3806215" y="4008743"/>
            <a:ext cx="3214500" cy="45719"/>
          </a:xfrm>
          <a:custGeom>
            <a:avLst/>
            <a:gdLst/>
            <a:ahLst/>
            <a:cxnLst/>
            <a:rect l="l" t="t" r="r" b="b"/>
            <a:pathLst>
              <a:path w="3265804" h="120000" extrusionOk="0">
                <a:moveTo>
                  <a:pt x="0" y="0"/>
                </a:moveTo>
                <a:lnTo>
                  <a:pt x="114300" y="0"/>
                </a:lnTo>
              </a:path>
              <a:path w="3265804" h="120000" extrusionOk="0">
                <a:moveTo>
                  <a:pt x="119062" y="0"/>
                </a:moveTo>
                <a:lnTo>
                  <a:pt x="1796364" y="0"/>
                </a:lnTo>
              </a:path>
              <a:path w="3265804" h="120000" extrusionOk="0">
                <a:moveTo>
                  <a:pt x="1801126" y="0"/>
                </a:moveTo>
                <a:lnTo>
                  <a:pt x="3265678"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KR" panose="020B0500000000000000" pitchFamily="34" charset="-128"/>
              <a:cs typeface="Calibri" panose="020F0502020204030204" pitchFamily="34" charset="0"/>
            </a:endParaRPr>
          </a:p>
        </p:txBody>
      </p:sp>
      <p:sp>
        <p:nvSpPr>
          <p:cNvPr id="116" name="Google Shape;116;p7">
            <a:extLst>
              <a:ext uri="{FF2B5EF4-FFF2-40B4-BE49-F238E27FC236}">
                <a16:creationId xmlns:a16="http://schemas.microsoft.com/office/drawing/2014/main" id="{5D517653-6193-DC27-1335-6290ED8488C3}"/>
              </a:ext>
            </a:extLst>
          </p:cNvPr>
          <p:cNvSpPr/>
          <p:nvPr/>
        </p:nvSpPr>
        <p:spPr>
          <a:xfrm>
            <a:off x="533400" y="8136203"/>
            <a:ext cx="6487316" cy="45719"/>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KR" panose="020B0500000000000000" pitchFamily="34" charset="-128"/>
              <a:cs typeface="Calibri" panose="020F0502020204030204" pitchFamily="34" charset="0"/>
            </a:endParaRPr>
          </a:p>
        </p:txBody>
      </p:sp>
      <p:sp>
        <p:nvSpPr>
          <p:cNvPr id="117" name="Google Shape;117;p7">
            <a:extLst>
              <a:ext uri="{FF2B5EF4-FFF2-40B4-BE49-F238E27FC236}">
                <a16:creationId xmlns:a16="http://schemas.microsoft.com/office/drawing/2014/main" id="{E0DD199D-156B-E47C-126B-D50B9042AEDE}"/>
              </a:ext>
            </a:extLst>
          </p:cNvPr>
          <p:cNvSpPr txBox="1"/>
          <p:nvPr/>
        </p:nvSpPr>
        <p:spPr>
          <a:xfrm>
            <a:off x="580072" y="8772553"/>
            <a:ext cx="6440643" cy="386639"/>
          </a:xfrm>
          <a:prstGeom prst="rect">
            <a:avLst/>
          </a:prstGeom>
          <a:noFill/>
          <a:ln>
            <a:noFill/>
          </a:ln>
        </p:spPr>
        <p:txBody>
          <a:bodyPr spcFirstLastPara="1" wrap="square" lIns="0" tIns="40000" rIns="0" bIns="0" anchor="t" anchorCtr="0">
            <a:spAutoFit/>
          </a:bodyPr>
          <a:lstStyle/>
          <a:p>
            <a:pPr marL="87630" lvl="0" indent="-74930">
              <a:buClr>
                <a:srgbClr val="FF1317"/>
              </a:buClr>
              <a:buSzPts val="750"/>
              <a:buFont typeface="Microsoft YaHei"/>
              <a:buChar char="*"/>
            </a:pPr>
            <a:r>
              <a:rPr lang="en-US" sz="750" dirty="0">
                <a:solidFill>
                  <a:srgbClr val="FF1317"/>
                </a:solidFill>
                <a:latin typeface="Calibri" panose="020F0502020204030204" pitchFamily="34" charset="0"/>
                <a:ea typeface="Noto Sans KR" panose="020B0500000000000000" pitchFamily="34" charset="-128"/>
                <a:cs typeface="Calibri" panose="020F0502020204030204" pitchFamily="34" charset="0"/>
                <a:sym typeface="Microsoft YaHei"/>
              </a:rPr>
              <a:t>NIPT is only a screening test, not a final diagnosis. The report results are only for reference by medical personnel. Its clinical significance and recommendations need to be comprehensively evaluated by clinical physicians.</a:t>
            </a:r>
          </a:p>
          <a:p>
            <a:pPr marL="87630" lvl="0" indent="-74930">
              <a:buClr>
                <a:srgbClr val="FF1317"/>
              </a:buClr>
              <a:buSzPts val="750"/>
              <a:buFont typeface="Microsoft YaHei"/>
              <a:buChar char="*"/>
            </a:pPr>
            <a:r>
              <a:rPr lang="en-US" sz="750" dirty="0">
                <a:solidFill>
                  <a:srgbClr val="FF1317"/>
                </a:solidFill>
                <a:latin typeface="Calibri" panose="020F0502020204030204" pitchFamily="34" charset="0"/>
                <a:ea typeface="Noto Sans KR" panose="020B0500000000000000" pitchFamily="34" charset="-128"/>
                <a:cs typeface="Calibri" panose="020F0502020204030204" pitchFamily="34" charset="0"/>
                <a:sym typeface="Microsoft YaHei"/>
              </a:rPr>
              <a:t>After the screening test, it is recommended to combine it with a high-level ultrasound examination to confirm whether the fetus has structural abnormalities.</a:t>
            </a:r>
            <a:endParaRPr sz="750" dirty="0">
              <a:latin typeface="Calibri" panose="020F0502020204030204" pitchFamily="34" charset="0"/>
              <a:ea typeface="Noto Sans KR" panose="020B0500000000000000" pitchFamily="34" charset="-128"/>
              <a:cs typeface="Calibri" panose="020F0502020204030204" pitchFamily="34" charset="0"/>
              <a:sym typeface="Microsoft YaHei"/>
            </a:endParaRPr>
          </a:p>
        </p:txBody>
      </p:sp>
      <p:sp>
        <p:nvSpPr>
          <p:cNvPr id="118" name="Google Shape;118;p7">
            <a:extLst>
              <a:ext uri="{FF2B5EF4-FFF2-40B4-BE49-F238E27FC236}">
                <a16:creationId xmlns:a16="http://schemas.microsoft.com/office/drawing/2014/main" id="{8E341A31-8C76-1D04-C050-AEE46DA75BFF}"/>
              </a:ext>
            </a:extLst>
          </p:cNvPr>
          <p:cNvSpPr/>
          <p:nvPr/>
        </p:nvSpPr>
        <p:spPr>
          <a:xfrm flipV="1">
            <a:off x="533400" y="8680407"/>
            <a:ext cx="6487316" cy="45719"/>
          </a:xfrm>
          <a:custGeom>
            <a:avLst/>
            <a:gdLst/>
            <a:ahLst/>
            <a:cxnLst/>
            <a:rect l="l" t="t" r="r" b="b"/>
            <a:pathLst>
              <a:path w="6493509" h="120000" extrusionOk="0">
                <a:moveTo>
                  <a:pt x="0" y="0"/>
                </a:moveTo>
                <a:lnTo>
                  <a:pt x="6493256"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KR" panose="020B0500000000000000" pitchFamily="34" charset="-128"/>
              <a:cs typeface="Calibri" panose="020F0502020204030204" pitchFamily="34" charset="0"/>
            </a:endParaRPr>
          </a:p>
        </p:txBody>
      </p:sp>
      <p:sp>
        <p:nvSpPr>
          <p:cNvPr id="121" name="Google Shape;121;p7">
            <a:extLst>
              <a:ext uri="{FF2B5EF4-FFF2-40B4-BE49-F238E27FC236}">
                <a16:creationId xmlns:a16="http://schemas.microsoft.com/office/drawing/2014/main" id="{A9144709-5AD3-B52E-33DA-1C651DE19C00}"/>
              </a:ext>
            </a:extLst>
          </p:cNvPr>
          <p:cNvSpPr/>
          <p:nvPr/>
        </p:nvSpPr>
        <p:spPr>
          <a:xfrm>
            <a:off x="385762" y="3399332"/>
            <a:ext cx="6795386" cy="6562725"/>
          </a:xfrm>
          <a:custGeom>
            <a:avLst/>
            <a:gdLst/>
            <a:ahLst/>
            <a:cxnLst/>
            <a:rect l="l" t="t" r="r" b="b"/>
            <a:pathLst>
              <a:path w="6788784" h="6562725" extrusionOk="0">
                <a:moveTo>
                  <a:pt x="6762026" y="26504"/>
                </a:moveTo>
                <a:lnTo>
                  <a:pt x="6724312" y="3905"/>
                </a:lnTo>
                <a:lnTo>
                  <a:pt x="6698043" y="0"/>
                </a:lnTo>
                <a:lnTo>
                  <a:pt x="90487" y="0"/>
                </a:lnTo>
                <a:lnTo>
                  <a:pt x="47832" y="10695"/>
                </a:lnTo>
                <a:lnTo>
                  <a:pt x="33083" y="20547"/>
                </a:lnTo>
                <a:lnTo>
                  <a:pt x="26504" y="26504"/>
                </a:lnTo>
              </a:path>
              <a:path w="6788784" h="6562725" extrusionOk="0">
                <a:moveTo>
                  <a:pt x="26504" y="6535686"/>
                </a:moveTo>
                <a:lnTo>
                  <a:pt x="64218" y="6558296"/>
                </a:lnTo>
                <a:lnTo>
                  <a:pt x="90487" y="6562191"/>
                </a:lnTo>
                <a:lnTo>
                  <a:pt x="6693281" y="6562191"/>
                </a:lnTo>
                <a:lnTo>
                  <a:pt x="6732676" y="6555308"/>
                </a:lnTo>
                <a:lnTo>
                  <a:pt x="6755447" y="6541651"/>
                </a:lnTo>
                <a:lnTo>
                  <a:pt x="6762026" y="6535686"/>
                </a:lnTo>
              </a:path>
              <a:path w="6788784" h="6562725" extrusionOk="0">
                <a:moveTo>
                  <a:pt x="26504" y="26504"/>
                </a:moveTo>
                <a:lnTo>
                  <a:pt x="3895" y="64225"/>
                </a:lnTo>
                <a:lnTo>
                  <a:pt x="0" y="90487"/>
                </a:lnTo>
                <a:lnTo>
                  <a:pt x="0" y="6466941"/>
                </a:lnTo>
                <a:lnTo>
                  <a:pt x="6883" y="6506336"/>
                </a:lnTo>
                <a:lnTo>
                  <a:pt x="20540" y="6529109"/>
                </a:lnTo>
                <a:lnTo>
                  <a:pt x="26504" y="6535686"/>
                </a:lnTo>
              </a:path>
              <a:path w="6788784" h="6562725" extrusionOk="0">
                <a:moveTo>
                  <a:pt x="6762026" y="6535686"/>
                </a:moveTo>
                <a:lnTo>
                  <a:pt x="6784635" y="6497973"/>
                </a:lnTo>
                <a:lnTo>
                  <a:pt x="6788531" y="6471704"/>
                </a:lnTo>
                <a:lnTo>
                  <a:pt x="6788531" y="95250"/>
                </a:lnTo>
                <a:lnTo>
                  <a:pt x="6781647" y="55867"/>
                </a:lnTo>
                <a:lnTo>
                  <a:pt x="6767990" y="33089"/>
                </a:lnTo>
                <a:lnTo>
                  <a:pt x="6762026" y="26504"/>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Calibri" panose="020F0502020204030204" pitchFamily="34" charset="0"/>
              <a:ea typeface="Noto Sans KR" panose="020B0500000000000000" pitchFamily="34" charset="-128"/>
              <a:cs typeface="Calibri" panose="020F0502020204030204" pitchFamily="34" charset="0"/>
            </a:endParaRPr>
          </a:p>
        </p:txBody>
      </p:sp>
      <p:sp>
        <p:nvSpPr>
          <p:cNvPr id="2" name="Google Shape;117;p7">
            <a:extLst>
              <a:ext uri="{FF2B5EF4-FFF2-40B4-BE49-F238E27FC236}">
                <a16:creationId xmlns:a16="http://schemas.microsoft.com/office/drawing/2014/main" id="{8CD06160-D9E8-9C14-4084-5BEC82FC7A73}"/>
              </a:ext>
            </a:extLst>
          </p:cNvPr>
          <p:cNvSpPr txBox="1"/>
          <p:nvPr/>
        </p:nvSpPr>
        <p:spPr>
          <a:xfrm>
            <a:off x="580072" y="8179439"/>
            <a:ext cx="6388175" cy="332778"/>
          </a:xfrm>
          <a:prstGeom prst="rect">
            <a:avLst/>
          </a:prstGeom>
          <a:noFill/>
          <a:ln>
            <a:noFill/>
          </a:ln>
        </p:spPr>
        <p:txBody>
          <a:bodyPr spcFirstLastPara="1" wrap="square" lIns="0" tIns="40000" rIns="0" bIns="0" anchor="t" anchorCtr="0">
            <a:spAutoFit/>
          </a:bodyPr>
          <a:lstStyle/>
          <a:p>
            <a:pPr marL="12700">
              <a:buClr>
                <a:srgbClr val="FF1317"/>
              </a:buClr>
              <a:buSzPts val="750"/>
            </a:pPr>
            <a:r>
              <a:rPr lang="en-US" sz="11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&lt;&lt;Interpretation_MDI&gt;&gt;</a:t>
            </a:r>
          </a:p>
          <a:p>
            <a:pPr marL="12700" lvl="0">
              <a:buClr>
                <a:srgbClr val="FF1317"/>
              </a:buClr>
              <a:buSzPts val="750"/>
            </a:pPr>
            <a:endParaRPr sz="8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3" name="Google Shape;51;p7">
            <a:extLst>
              <a:ext uri="{FF2B5EF4-FFF2-40B4-BE49-F238E27FC236}">
                <a16:creationId xmlns:a16="http://schemas.microsoft.com/office/drawing/2014/main" id="{C7FA23E5-969B-D177-5628-7CF31EA7414B}"/>
              </a:ext>
            </a:extLst>
          </p:cNvPr>
          <p:cNvSpPr txBox="1"/>
          <p:nvPr/>
        </p:nvSpPr>
        <p:spPr>
          <a:xfrm>
            <a:off x="6187248" y="3814470"/>
            <a:ext cx="616624" cy="174407"/>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Result</a:t>
            </a:r>
            <a:endParaRPr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4" name="Google Shape;86;p7">
            <a:extLst>
              <a:ext uri="{FF2B5EF4-FFF2-40B4-BE49-F238E27FC236}">
                <a16:creationId xmlns:a16="http://schemas.microsoft.com/office/drawing/2014/main" id="{1F8DC045-F183-CF28-BB7D-37A69396E00B}"/>
              </a:ext>
            </a:extLst>
          </p:cNvPr>
          <p:cNvSpPr txBox="1"/>
          <p:nvPr/>
        </p:nvSpPr>
        <p:spPr>
          <a:xfrm>
            <a:off x="578530" y="3820716"/>
            <a:ext cx="1073012" cy="174407"/>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Chromosome</a:t>
            </a:r>
            <a:endParaRPr sz="105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25" name="Google Shape;87;p7">
            <a:extLst>
              <a:ext uri="{FF2B5EF4-FFF2-40B4-BE49-F238E27FC236}">
                <a16:creationId xmlns:a16="http://schemas.microsoft.com/office/drawing/2014/main" id="{3986BFD9-A6EE-7CB9-6095-7BB74027A1B9}"/>
              </a:ext>
            </a:extLst>
          </p:cNvPr>
          <p:cNvSpPr txBox="1"/>
          <p:nvPr/>
        </p:nvSpPr>
        <p:spPr>
          <a:xfrm>
            <a:off x="5349897" y="3518204"/>
            <a:ext cx="1957597" cy="185307"/>
          </a:xfrm>
          <a:prstGeom prst="rect">
            <a:avLst/>
          </a:prstGeom>
          <a:noFill/>
          <a:ln>
            <a:noFill/>
          </a:ln>
        </p:spPr>
        <p:txBody>
          <a:bodyPr spcFirstLastPara="1" wrap="square" lIns="0" tIns="15875" rIns="0" bIns="0" anchor="t" anchorCtr="0">
            <a:spAutoFit/>
          </a:bodyPr>
          <a:lstStyle/>
          <a:p>
            <a:pPr marL="12700" lvl="0" indent="0" algn="l" rtl="0">
              <a:lnSpc>
                <a:spcPct val="100000"/>
              </a:lnSpc>
              <a:spcBef>
                <a:spcPts val="0"/>
              </a:spcBef>
              <a:spcAft>
                <a:spcPts val="0"/>
              </a:spcAft>
              <a:buNone/>
            </a:pPr>
            <a:r>
              <a:rPr lang="en-US" sz="11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Fetal Fraction: &lt;&lt;FF_YFF&gt;&gt;%</a:t>
            </a:r>
            <a:endParaRPr sz="11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26" name="Google Shape;122;p7">
            <a:extLst>
              <a:ext uri="{FF2B5EF4-FFF2-40B4-BE49-F238E27FC236}">
                <a16:creationId xmlns:a16="http://schemas.microsoft.com/office/drawing/2014/main" id="{F812C84A-2AE1-A207-B758-9EA6390CCCEA}"/>
              </a:ext>
            </a:extLst>
          </p:cNvPr>
          <p:cNvSpPr txBox="1"/>
          <p:nvPr/>
        </p:nvSpPr>
        <p:spPr>
          <a:xfrm>
            <a:off x="533400" y="3518204"/>
            <a:ext cx="2016518" cy="183363"/>
          </a:xfrm>
          <a:prstGeom prst="rect">
            <a:avLst/>
          </a:prstGeom>
          <a:noFill/>
          <a:ln>
            <a:noFill/>
          </a:ln>
        </p:spPr>
        <p:txBody>
          <a:bodyPr spcFirstLastPara="1" wrap="square" lIns="0" tIns="13950" rIns="0" bIns="0" anchor="t" anchorCtr="0">
            <a:spAutoFit/>
          </a:bodyPr>
          <a:lstStyle/>
          <a:p>
            <a:pPr marL="12700" lvl="0"/>
            <a:r>
              <a:rPr lang="en-US" sz="11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&lt;&lt;Result_MDResult&gt;&gt;</a:t>
            </a:r>
          </a:p>
        </p:txBody>
      </p:sp>
      <p:sp>
        <p:nvSpPr>
          <p:cNvPr id="27" name="Google Shape;122;p7">
            <a:extLst>
              <a:ext uri="{FF2B5EF4-FFF2-40B4-BE49-F238E27FC236}">
                <a16:creationId xmlns:a16="http://schemas.microsoft.com/office/drawing/2014/main" id="{DA533653-3A69-A8D7-7F06-3E07D0656DD4}"/>
              </a:ext>
            </a:extLst>
          </p:cNvPr>
          <p:cNvSpPr txBox="1"/>
          <p:nvPr/>
        </p:nvSpPr>
        <p:spPr>
          <a:xfrm>
            <a:off x="3378200" y="3523523"/>
            <a:ext cx="1638233" cy="183363"/>
          </a:xfrm>
          <a:prstGeom prst="rect">
            <a:avLst/>
          </a:prstGeom>
          <a:noFill/>
          <a:ln>
            <a:noFill/>
          </a:ln>
        </p:spPr>
        <p:txBody>
          <a:bodyPr spcFirstLastPara="1" wrap="square" lIns="0" tIns="13950" rIns="0" bIns="0" anchor="t" anchorCtr="0">
            <a:spAutoFit/>
          </a:bodyPr>
          <a:lstStyle/>
          <a:p>
            <a:pPr marL="12700" lvl="0" indent="0" algn="l" rtl="0">
              <a:lnSpc>
                <a:spcPct val="100000"/>
              </a:lnSpc>
              <a:spcBef>
                <a:spcPts val="0"/>
              </a:spcBef>
              <a:spcAft>
                <a:spcPts val="0"/>
              </a:spcAft>
              <a:buNone/>
            </a:pPr>
            <a:r>
              <a:rPr lang="en-US" sz="11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rPr>
              <a:t>Gender: &lt;&lt;Gender&gt;&gt;</a:t>
            </a:r>
            <a:endParaRPr sz="1100" dirty="0">
              <a:solidFill>
                <a:schemeClr val="tx1"/>
              </a:solidFill>
              <a:latin typeface="Calibri" panose="020F0502020204030204" pitchFamily="34" charset="0"/>
              <a:ea typeface="Noto Sans SC" panose="020B0200000000000000" pitchFamily="34" charset="-128"/>
              <a:cs typeface="Calibri" panose="020F0502020204030204" pitchFamily="34" charset="0"/>
              <a:sym typeface="Microsoft YaHei"/>
            </a:endParaRPr>
          </a:p>
        </p:txBody>
      </p:sp>
      <p:graphicFrame>
        <p:nvGraphicFramePr>
          <p:cNvPr id="29" name="Table 28">
            <a:extLst>
              <a:ext uri="{FF2B5EF4-FFF2-40B4-BE49-F238E27FC236}">
                <a16:creationId xmlns:a16="http://schemas.microsoft.com/office/drawing/2014/main" id="{3DEF9634-122E-8F1C-4BCC-FF1CC5CBE351}"/>
              </a:ext>
            </a:extLst>
          </p:cNvPr>
          <p:cNvGraphicFramePr>
            <a:graphicFrameLocks noGrp="1"/>
          </p:cNvGraphicFramePr>
          <p:nvPr>
            <p:extLst>
              <p:ext uri="{D42A27DB-BD31-4B8C-83A1-F6EECF244321}">
                <p14:modId xmlns:p14="http://schemas.microsoft.com/office/powerpoint/2010/main" val="458651380"/>
              </p:ext>
            </p:extLst>
          </p:nvPr>
        </p:nvGraphicFramePr>
        <p:xfrm>
          <a:off x="382477" y="1278002"/>
          <a:ext cx="6786250" cy="1914500"/>
        </p:xfrm>
        <a:graphic>
          <a:graphicData uri="http://schemas.openxmlformats.org/drawingml/2006/table">
            <a:tbl>
              <a:tblPr firstRow="1" bandRow="1">
                <a:noFill/>
                <a:tableStyleId>{F28EBD1E-F79C-4DFF-868A-0A9D0052B014}</a:tableStyleId>
              </a:tblPr>
              <a:tblGrid>
                <a:gridCol w="1163325">
                  <a:extLst>
                    <a:ext uri="{9D8B030D-6E8A-4147-A177-3AD203B41FA5}">
                      <a16:colId xmlns:a16="http://schemas.microsoft.com/office/drawing/2014/main" val="790668192"/>
                    </a:ext>
                  </a:extLst>
                </a:gridCol>
                <a:gridCol w="1097275">
                  <a:extLst>
                    <a:ext uri="{9D8B030D-6E8A-4147-A177-3AD203B41FA5}">
                      <a16:colId xmlns:a16="http://schemas.microsoft.com/office/drawing/2014/main" val="3345501331"/>
                    </a:ext>
                  </a:extLst>
                </a:gridCol>
                <a:gridCol w="1164600">
                  <a:extLst>
                    <a:ext uri="{9D8B030D-6E8A-4147-A177-3AD203B41FA5}">
                      <a16:colId xmlns:a16="http://schemas.microsoft.com/office/drawing/2014/main" val="750595808"/>
                    </a:ext>
                  </a:extLst>
                </a:gridCol>
                <a:gridCol w="1095375">
                  <a:extLst>
                    <a:ext uri="{9D8B030D-6E8A-4147-A177-3AD203B41FA5}">
                      <a16:colId xmlns:a16="http://schemas.microsoft.com/office/drawing/2014/main" val="1961089513"/>
                    </a:ext>
                  </a:extLst>
                </a:gridCol>
                <a:gridCol w="1165850">
                  <a:extLst>
                    <a:ext uri="{9D8B030D-6E8A-4147-A177-3AD203B41FA5}">
                      <a16:colId xmlns:a16="http://schemas.microsoft.com/office/drawing/2014/main" val="2150510939"/>
                    </a:ext>
                  </a:extLst>
                </a:gridCol>
                <a:gridCol w="1099825">
                  <a:extLst>
                    <a:ext uri="{9D8B030D-6E8A-4147-A177-3AD203B41FA5}">
                      <a16:colId xmlns:a16="http://schemas.microsoft.com/office/drawing/2014/main" val="2054397258"/>
                    </a:ext>
                  </a:extLst>
                </a:gridCol>
              </a:tblGrid>
              <a:tr h="480050">
                <a:tc>
                  <a:txBody>
                    <a:bodyPr/>
                    <a:lstStyle/>
                    <a:p>
                      <a:pPr marL="147320" marR="0" lvl="0" indent="0" algn="l" rtl="0">
                        <a:lnSpc>
                          <a:spcPct val="100000"/>
                        </a:lnSpc>
                        <a:spcBef>
                          <a:spcPts val="0"/>
                        </a:spcBef>
                        <a:spcAft>
                          <a:spcPts val="0"/>
                        </a:spcAft>
                        <a:buNone/>
                      </a:pP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Name</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&lt;&lt;Patient Name&gt;&gt;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Date of Birth:</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&lt;&lt;DOB&gt;&gt;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MR Number:</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rPr>
                        <a:t>&lt;&lt;MRN&gt;&gt;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1625651258"/>
                  </a:ext>
                </a:extLst>
              </a:tr>
              <a:tr h="479425">
                <a:tc>
                  <a:txBody>
                    <a:bodyPr/>
                    <a:lstStyle/>
                    <a:p>
                      <a:pPr marL="147320" marR="0" lvl="0" indent="0" algn="l" rtl="0">
                        <a:lnSpc>
                          <a:spcPct val="100000"/>
                        </a:lnSpc>
                        <a:spcBef>
                          <a:spcPts val="0"/>
                        </a:spcBef>
                        <a:spcAft>
                          <a:spcPts val="0"/>
                        </a:spcAft>
                        <a:buNone/>
                      </a:pP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Draw Date:</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&lt;&lt;Collection Date&gt;&gt;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Sample Type</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rPr>
                        <a:t>Blood</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Report Date:</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90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&lt;&lt;Report Date&gt;&gt;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2085393382"/>
                  </a:ext>
                </a:extLst>
              </a:tr>
              <a:tr h="480050">
                <a:tc>
                  <a:txBody>
                    <a:bodyPr/>
                    <a:lstStyle/>
                    <a:p>
                      <a:pPr marL="147320" marR="0" lvl="0" indent="0" algn="l" rtl="0">
                        <a:lnSpc>
                          <a:spcPct val="100000"/>
                        </a:lnSpc>
                        <a:spcBef>
                          <a:spcPts val="0"/>
                        </a:spcBef>
                        <a:spcAft>
                          <a:spcPts val="0"/>
                        </a:spcAft>
                        <a:buNone/>
                      </a:pP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Sample Number:</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a:latin typeface="Noto Sans SC" panose="020B0200000000000000" pitchFamily="34" charset="-128"/>
                          <a:ea typeface="Noto Sans SC" panose="020B0200000000000000" pitchFamily="34" charset="-128"/>
                          <a:cs typeface="Arial"/>
                          <a:sym typeface="Arial"/>
                        </a:rPr>
                        <a:t>&lt;&lt;Sample Number&gt;&gt;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Order Number</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marR="0" lvl="0" indent="0" algn="ctr" rtl="0">
                        <a:lnSpc>
                          <a:spcPct val="100000"/>
                        </a:lnSpc>
                        <a:spcBef>
                          <a:spcPts val="0"/>
                        </a:spcBef>
                        <a:spcAft>
                          <a:spcPts val="0"/>
                        </a:spcAft>
                        <a:buNone/>
                      </a:pPr>
                      <a:r>
                        <a:rPr lang="en-US" sz="900" dirty="0">
                          <a:latin typeface="Noto Sans SC" panose="020B0200000000000000" pitchFamily="34" charset="-128"/>
                          <a:ea typeface="Noto Sans SC" panose="020B0200000000000000" pitchFamily="34" charset="-128"/>
                          <a:cs typeface="Arial"/>
                          <a:sym typeface="Arial"/>
                        </a:rPr>
                        <a:t>&lt;&lt;Order ID&gt;&gt;</a:t>
                      </a:r>
                      <a:endParaRPr lang="en-US"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Hospital</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solidFill>
                      <a:srgbClr val="4B5285"/>
                    </a:solidFill>
                  </a:tcPr>
                </a:tc>
                <a:tc>
                  <a:txBody>
                    <a:bodyPr/>
                    <a:lstStyle/>
                    <a:p>
                      <a:pPr marL="0" lvl="0" indent="0" algn="ctr" rtl="0">
                        <a:spcBef>
                          <a:spcPts val="0"/>
                        </a:spcBef>
                        <a:spcAft>
                          <a:spcPts val="0"/>
                        </a:spcAft>
                        <a:buClr>
                          <a:schemeClr val="dk1"/>
                        </a:buClr>
                        <a:buFont typeface="Arial"/>
                        <a:buNone/>
                      </a:pP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&lt;&lt;Hospital&gt;&gt;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3240389837"/>
                  </a:ext>
                </a:extLst>
              </a:tr>
              <a:tr h="474975">
                <a:tc>
                  <a:txBody>
                    <a:bodyPr/>
                    <a:lstStyle/>
                    <a:p>
                      <a:pPr marL="147320" marR="0" lvl="0" indent="0" algn="l" rtl="0">
                        <a:lnSpc>
                          <a:spcPct val="100000"/>
                        </a:lnSpc>
                        <a:spcBef>
                          <a:spcPts val="0"/>
                        </a:spcBef>
                        <a:spcAft>
                          <a:spcPts val="0"/>
                        </a:spcAft>
                        <a:buNone/>
                      </a:pP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Pregnancy Type</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lgn="ctr">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u="none" strike="noStrike" cap="none" dirty="0">
                          <a:latin typeface="Noto Sans SC" panose="020B0200000000000000" pitchFamily="34" charset="-128"/>
                          <a:ea typeface="Noto Sans SC" panose="020B0200000000000000" pitchFamily="34" charset="-128"/>
                          <a:cs typeface="Arial"/>
                          <a:sym typeface="Arial"/>
                        </a:rPr>
                        <a:t>&lt;&lt;Pregnancy Type&gt;&gt;</a:t>
                      </a:r>
                      <a:endParaRPr sz="900" u="none" strike="noStrike" cap="none" dirty="0">
                        <a:latin typeface="Noto Sans SC" panose="020B0200000000000000" pitchFamily="34" charset="-128"/>
                        <a:ea typeface="Noto Sans SC" panose="020B0200000000000000" pitchFamily="34" charset="-128"/>
                        <a:cs typeface="Arial"/>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Gestational Age</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lgn="ctr">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&lt;&lt;W&gt;&gt;</a:t>
                      </a:r>
                      <a:r>
                        <a:rPr lang="en-US"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rPr>
                        <a:t>W </a:t>
                      </a: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&lt;&lt;D&gt;&gt;</a:t>
                      </a:r>
                      <a:r>
                        <a:rPr lang="en-US"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rPr>
                        <a:t>D</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065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tc>
                  <a:txBody>
                    <a:bodyPr/>
                    <a:lstStyle/>
                    <a:p>
                      <a:pPr marL="147320" marR="0" lvl="0" indent="0" algn="l" rtl="0">
                        <a:lnSpc>
                          <a:spcPct val="100000"/>
                        </a:lnSpc>
                        <a:spcBef>
                          <a:spcPts val="0"/>
                        </a:spcBef>
                        <a:spcAft>
                          <a:spcPts val="0"/>
                        </a:spcAft>
                        <a:buNone/>
                      </a:pP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Physician</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Times New Roman"/>
                        </a:rPr>
                        <a:t> </a:t>
                      </a:r>
                      <a:r>
                        <a:rPr lang="en-US" sz="900" b="0" i="0" u="none" strike="noStrike" cap="none" dirty="0">
                          <a:solidFill>
                            <a:srgbClr val="FFFFFF"/>
                          </a:solidFill>
                          <a:latin typeface="Noto Sans SC" panose="020B0200000000000000" pitchFamily="34" charset="-128"/>
                          <a:ea typeface="Noto Sans SC" panose="020B0200000000000000" pitchFamily="34" charset="-128"/>
                          <a:cs typeface="Noto Sans Kannada" panose="020B0502040504020204" pitchFamily="34" charset="0"/>
                          <a:sym typeface="Microsoft YaHei"/>
                        </a:rPr>
                        <a: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Microsoft YaHei"/>
                      </a:endParaRPr>
                    </a:p>
                  </a:txBody>
                  <a:tcPr marL="0" marR="0" marT="98425"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solidFill>
                      <a:srgbClr val="4B5285"/>
                    </a:solidFill>
                  </a:tcPr>
                </a:tc>
                <a:tc>
                  <a:txBody>
                    <a:bodyPr/>
                    <a:lstStyle/>
                    <a:p>
                      <a:pPr marL="0" marR="0" lvl="0" indent="0" algn="ctr" rtl="0">
                        <a:lnSpc>
                          <a:spcPct val="100000"/>
                        </a:lnSpc>
                        <a:spcBef>
                          <a:spcPts val="0"/>
                        </a:spcBef>
                        <a:spcAft>
                          <a:spcPts val="0"/>
                        </a:spcAft>
                        <a:buNone/>
                      </a:pPr>
                      <a:r>
                        <a:rPr lang="en-US" sz="900" b="0" i="0" dirty="0">
                          <a:latin typeface="Noto Sans SC" panose="020B0200000000000000" pitchFamily="34" charset="-128"/>
                          <a:ea typeface="Noto Sans SC" panose="020B0200000000000000" pitchFamily="34" charset="-128"/>
                          <a:cs typeface="Noto Sans Kannada" panose="020B0502040504020204" pitchFamily="34" charset="0"/>
                          <a:sym typeface="Arial"/>
                        </a:rPr>
                        <a:t>&lt;&lt;Doctor&gt;&gt;</a:t>
                      </a:r>
                      <a:endParaRPr sz="900" b="0" i="0" u="none" strike="noStrike" cap="none" dirty="0">
                        <a:latin typeface="Noto Sans SC" panose="020B0200000000000000" pitchFamily="34" charset="-128"/>
                        <a:ea typeface="Noto Sans SC" panose="020B0200000000000000" pitchFamily="34" charset="-128"/>
                        <a:cs typeface="Noto Sans Kannada" panose="020B0502040504020204" pitchFamily="34" charset="0"/>
                        <a:sym typeface="Arial"/>
                      </a:endParaRPr>
                    </a:p>
                  </a:txBody>
                  <a:tcPr marL="0" marR="0" marT="123200" marB="0">
                    <a:lnL w="9525" cap="flat" cmpd="sng">
                      <a:solidFill>
                        <a:srgbClr val="999DC0"/>
                      </a:solidFill>
                      <a:prstDash val="solid"/>
                      <a:round/>
                      <a:headEnd type="none" w="sm" len="sm"/>
                      <a:tailEnd type="none" w="sm" len="sm"/>
                    </a:lnL>
                    <a:lnR w="9525" cap="flat" cmpd="sng">
                      <a:solidFill>
                        <a:srgbClr val="999DC0"/>
                      </a:solidFill>
                      <a:prstDash val="solid"/>
                      <a:round/>
                      <a:headEnd type="none" w="sm" len="sm"/>
                      <a:tailEnd type="none" w="sm" len="sm"/>
                    </a:lnR>
                    <a:lnT w="9525" cap="flat" cmpd="sng">
                      <a:solidFill>
                        <a:srgbClr val="999DC0"/>
                      </a:solidFill>
                      <a:prstDash val="solid"/>
                      <a:round/>
                      <a:headEnd type="none" w="sm" len="sm"/>
                      <a:tailEnd type="none" w="sm" len="sm"/>
                    </a:lnT>
                    <a:lnB w="9525" cap="flat" cmpd="sng">
                      <a:solidFill>
                        <a:srgbClr val="999DC0"/>
                      </a:solidFill>
                      <a:prstDash val="solid"/>
                      <a:round/>
                      <a:headEnd type="none" w="sm" len="sm"/>
                      <a:tailEnd type="none" w="sm" len="sm"/>
                    </a:lnB>
                  </a:tcPr>
                </a:tc>
                <a:extLst>
                  <a:ext uri="{0D108BD9-81ED-4DB2-BD59-A6C34878D82A}">
                    <a16:rowId xmlns:a16="http://schemas.microsoft.com/office/drawing/2014/main" val="2040855376"/>
                  </a:ext>
                </a:extLst>
              </a:tr>
            </a:tbl>
          </a:graphicData>
        </a:graphic>
      </p:graphicFrame>
      <p:sp>
        <p:nvSpPr>
          <p:cNvPr id="28" name="Google Shape;54;p7">
            <a:extLst>
              <a:ext uri="{FF2B5EF4-FFF2-40B4-BE49-F238E27FC236}">
                <a16:creationId xmlns:a16="http://schemas.microsoft.com/office/drawing/2014/main" id="{B966CEDD-5729-32B8-B68E-B775E2D32C98}"/>
              </a:ext>
            </a:extLst>
          </p:cNvPr>
          <p:cNvSpPr txBox="1"/>
          <p:nvPr/>
        </p:nvSpPr>
        <p:spPr>
          <a:xfrm>
            <a:off x="2797745" y="4178808"/>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&lt;&lt;T21 Result&gt;&gt;</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30" name="Google Shape;57;p7">
            <a:extLst>
              <a:ext uri="{FF2B5EF4-FFF2-40B4-BE49-F238E27FC236}">
                <a16:creationId xmlns:a16="http://schemas.microsoft.com/office/drawing/2014/main" id="{D784FBDA-A5C6-F3F4-AC83-C1A35E10C46C}"/>
              </a:ext>
            </a:extLst>
          </p:cNvPr>
          <p:cNvSpPr txBox="1"/>
          <p:nvPr/>
        </p:nvSpPr>
        <p:spPr>
          <a:xfrm>
            <a:off x="2797745" y="4538713"/>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&lt;&lt;T18 Result&gt;&gt;</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31" name="Google Shape;60;p7">
            <a:extLst>
              <a:ext uri="{FF2B5EF4-FFF2-40B4-BE49-F238E27FC236}">
                <a16:creationId xmlns:a16="http://schemas.microsoft.com/office/drawing/2014/main" id="{45F32216-96D4-7BDC-7364-DB2B608B6DC8}"/>
              </a:ext>
            </a:extLst>
          </p:cNvPr>
          <p:cNvSpPr txBox="1"/>
          <p:nvPr/>
        </p:nvSpPr>
        <p:spPr>
          <a:xfrm>
            <a:off x="2797745" y="4898618"/>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&lt;&lt;T13 Result&gt;&gt;</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32" name="Google Shape;63;p7">
            <a:extLst>
              <a:ext uri="{FF2B5EF4-FFF2-40B4-BE49-F238E27FC236}">
                <a16:creationId xmlns:a16="http://schemas.microsoft.com/office/drawing/2014/main" id="{AF05FFB3-8C29-3078-57D6-3FBDDB673030}"/>
              </a:ext>
            </a:extLst>
          </p:cNvPr>
          <p:cNvSpPr txBox="1"/>
          <p:nvPr/>
        </p:nvSpPr>
        <p:spPr>
          <a:xfrm>
            <a:off x="2797745" y="5258523"/>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&lt;&lt;T9 Result&gt;&gt;</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33" name="Google Shape;66;p7">
            <a:extLst>
              <a:ext uri="{FF2B5EF4-FFF2-40B4-BE49-F238E27FC236}">
                <a16:creationId xmlns:a16="http://schemas.microsoft.com/office/drawing/2014/main" id="{1F4577A1-94A5-8484-7F79-91CA3AC19147}"/>
              </a:ext>
            </a:extLst>
          </p:cNvPr>
          <p:cNvSpPr txBox="1"/>
          <p:nvPr/>
        </p:nvSpPr>
        <p:spPr>
          <a:xfrm>
            <a:off x="2797745" y="5618428"/>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&lt;&lt;T16 Result&gt;&gt;</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34" name="Google Shape;69;p7">
            <a:extLst>
              <a:ext uri="{FF2B5EF4-FFF2-40B4-BE49-F238E27FC236}">
                <a16:creationId xmlns:a16="http://schemas.microsoft.com/office/drawing/2014/main" id="{22C82B1D-509F-DF09-9F34-578D074C4445}"/>
              </a:ext>
            </a:extLst>
          </p:cNvPr>
          <p:cNvSpPr txBox="1"/>
          <p:nvPr/>
        </p:nvSpPr>
        <p:spPr>
          <a:xfrm>
            <a:off x="2797745" y="5978321"/>
            <a:ext cx="1087200" cy="151323"/>
          </a:xfrm>
          <a:prstGeom prst="rect">
            <a:avLst/>
          </a:prstGeom>
          <a:noFill/>
          <a:ln>
            <a:noFill/>
          </a:ln>
        </p:spPr>
        <p:txBody>
          <a:bodyPr spcFirstLastPara="1" wrap="square" lIns="0" tIns="12700" rIns="0" bIns="0" anchor="t" anchorCtr="0">
            <a:spAutoFit/>
          </a:bodyPr>
          <a:lstStyle/>
          <a:p>
            <a:pPr marL="12700" lvl="0"/>
            <a:r>
              <a:rPr lang="en-US" sz="900" dirty="0">
                <a:solidFill>
                  <a:srgbClr val="4B5285"/>
                </a:solidFill>
                <a:latin typeface="Calibri" panose="020F0502020204030204" pitchFamily="34" charset="0"/>
                <a:ea typeface="Noto Sans SC" panose="020B0200000000000000" pitchFamily="34" charset="-128"/>
                <a:cs typeface="Calibri" panose="020F0502020204030204" pitchFamily="34" charset="0"/>
                <a:sym typeface="Microsoft YaHei"/>
              </a:rPr>
              <a:t>&lt;&lt;T22 Result&gt;&gt;</a:t>
            </a:r>
            <a:endParaRPr lang="en-US" sz="900" dirty="0">
              <a:latin typeface="Calibri" panose="020F0502020204030204" pitchFamily="34" charset="0"/>
              <a:ea typeface="Noto Sans SC" panose="020B0200000000000000" pitchFamily="34" charset="-128"/>
              <a:cs typeface="Calibri" panose="020F0502020204030204" pitchFamily="34" charset="0"/>
              <a:sym typeface="Microsoft YaHei"/>
            </a:endParaRPr>
          </a:p>
        </p:txBody>
      </p:sp>
      <p:sp>
        <p:nvSpPr>
          <p:cNvPr id="35" name="Google Shape;72;p7">
            <a:extLst>
              <a:ext uri="{FF2B5EF4-FFF2-40B4-BE49-F238E27FC236}">
                <a16:creationId xmlns:a16="http://schemas.microsoft.com/office/drawing/2014/main" id="{AC4E6E58-CD40-BD0F-66D1-E34A62F2AFF1}"/>
              </a:ext>
            </a:extLst>
          </p:cNvPr>
          <p:cNvSpPr txBox="1"/>
          <p:nvPr/>
        </p:nvSpPr>
        <p:spPr>
          <a:xfrm>
            <a:off x="2797745" y="6338226"/>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Calibri" panose="020F0502020204030204" pitchFamily="34" charset="0"/>
                <a:ea typeface="Noto Sans KR" panose="020B0500000000000000" pitchFamily="34" charset="-128"/>
                <a:cs typeface="Calibri" panose="020F0502020204030204" pitchFamily="34" charset="0"/>
                <a:sym typeface="Microsoft YaHei"/>
              </a:rPr>
              <a:t>&lt;&lt;XO Result&gt;&gt;</a:t>
            </a:r>
            <a:endParaRPr sz="900" dirty="0">
              <a:latin typeface="Calibri" panose="020F0502020204030204" pitchFamily="34" charset="0"/>
              <a:ea typeface="Noto Sans KR" panose="020B0500000000000000" pitchFamily="34" charset="-128"/>
              <a:cs typeface="Calibri" panose="020F0502020204030204" pitchFamily="34" charset="0"/>
              <a:sym typeface="Microsoft YaHei"/>
            </a:endParaRPr>
          </a:p>
        </p:txBody>
      </p:sp>
      <p:sp>
        <p:nvSpPr>
          <p:cNvPr id="36" name="Google Shape;75;p7">
            <a:extLst>
              <a:ext uri="{FF2B5EF4-FFF2-40B4-BE49-F238E27FC236}">
                <a16:creationId xmlns:a16="http://schemas.microsoft.com/office/drawing/2014/main" id="{DD6400AB-5F3A-3640-F096-FC31C29E110A}"/>
              </a:ext>
            </a:extLst>
          </p:cNvPr>
          <p:cNvSpPr txBox="1"/>
          <p:nvPr/>
        </p:nvSpPr>
        <p:spPr>
          <a:xfrm>
            <a:off x="2797745" y="6698130"/>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Calibri" panose="020F0502020204030204" pitchFamily="34" charset="0"/>
                <a:ea typeface="Noto Sans KR" panose="020B0500000000000000" pitchFamily="34" charset="-128"/>
                <a:cs typeface="Calibri" panose="020F0502020204030204" pitchFamily="34" charset="0"/>
                <a:sym typeface="Microsoft YaHei"/>
              </a:rPr>
              <a:t>&lt;&lt;XXX Result&gt;&gt;</a:t>
            </a:r>
            <a:endParaRPr sz="900" dirty="0">
              <a:latin typeface="Calibri" panose="020F0502020204030204" pitchFamily="34" charset="0"/>
              <a:ea typeface="Noto Sans KR" panose="020B0500000000000000" pitchFamily="34" charset="-128"/>
              <a:cs typeface="Calibri" panose="020F0502020204030204" pitchFamily="34" charset="0"/>
              <a:sym typeface="Microsoft YaHei"/>
            </a:endParaRPr>
          </a:p>
        </p:txBody>
      </p:sp>
      <p:sp>
        <p:nvSpPr>
          <p:cNvPr id="37" name="Google Shape;78;p7">
            <a:extLst>
              <a:ext uri="{FF2B5EF4-FFF2-40B4-BE49-F238E27FC236}">
                <a16:creationId xmlns:a16="http://schemas.microsoft.com/office/drawing/2014/main" id="{63D799BF-1961-DBB8-9848-2934EC5C8C09}"/>
              </a:ext>
            </a:extLst>
          </p:cNvPr>
          <p:cNvSpPr txBox="1"/>
          <p:nvPr/>
        </p:nvSpPr>
        <p:spPr>
          <a:xfrm>
            <a:off x="2797745" y="7058036"/>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Calibri" panose="020F0502020204030204" pitchFamily="34" charset="0"/>
                <a:ea typeface="Noto Sans KR" panose="020B0500000000000000" pitchFamily="34" charset="-128"/>
                <a:cs typeface="Calibri" panose="020F0502020204030204" pitchFamily="34" charset="0"/>
                <a:sym typeface="Microsoft YaHei"/>
              </a:rPr>
              <a:t>&lt;&lt;XXY Result&gt;&gt;</a:t>
            </a:r>
            <a:endParaRPr sz="900" dirty="0">
              <a:latin typeface="Calibri" panose="020F0502020204030204" pitchFamily="34" charset="0"/>
              <a:ea typeface="Noto Sans KR" panose="020B0500000000000000" pitchFamily="34" charset="-128"/>
              <a:cs typeface="Calibri" panose="020F0502020204030204" pitchFamily="34" charset="0"/>
              <a:sym typeface="Microsoft YaHei"/>
            </a:endParaRPr>
          </a:p>
        </p:txBody>
      </p:sp>
      <p:sp>
        <p:nvSpPr>
          <p:cNvPr id="38" name="Google Shape;81;p7">
            <a:extLst>
              <a:ext uri="{FF2B5EF4-FFF2-40B4-BE49-F238E27FC236}">
                <a16:creationId xmlns:a16="http://schemas.microsoft.com/office/drawing/2014/main" id="{917251C0-3641-759A-D273-1FA88D153475}"/>
              </a:ext>
            </a:extLst>
          </p:cNvPr>
          <p:cNvSpPr txBox="1"/>
          <p:nvPr/>
        </p:nvSpPr>
        <p:spPr>
          <a:xfrm>
            <a:off x="2797745" y="7417941"/>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Calibri" panose="020F0502020204030204" pitchFamily="34" charset="0"/>
                <a:ea typeface="Noto Sans KR" panose="020B0500000000000000" pitchFamily="34" charset="-128"/>
                <a:cs typeface="Calibri" panose="020F0502020204030204" pitchFamily="34" charset="0"/>
                <a:sym typeface="Microsoft YaHei"/>
              </a:rPr>
              <a:t>&lt;&lt;XYY Result&gt;&gt;</a:t>
            </a:r>
            <a:endParaRPr sz="900" dirty="0">
              <a:latin typeface="Calibri" panose="020F0502020204030204" pitchFamily="34" charset="0"/>
              <a:ea typeface="Noto Sans KR" panose="020B0500000000000000" pitchFamily="34" charset="-128"/>
              <a:cs typeface="Calibri" panose="020F0502020204030204" pitchFamily="34" charset="0"/>
              <a:sym typeface="Microsoft YaHei"/>
            </a:endParaRPr>
          </a:p>
        </p:txBody>
      </p:sp>
      <p:sp>
        <p:nvSpPr>
          <p:cNvPr id="39" name="Google Shape;84;p7">
            <a:extLst>
              <a:ext uri="{FF2B5EF4-FFF2-40B4-BE49-F238E27FC236}">
                <a16:creationId xmlns:a16="http://schemas.microsoft.com/office/drawing/2014/main" id="{B87C312F-6245-EBB6-DC6B-0C9F26362FC3}"/>
              </a:ext>
            </a:extLst>
          </p:cNvPr>
          <p:cNvSpPr txBox="1"/>
          <p:nvPr/>
        </p:nvSpPr>
        <p:spPr>
          <a:xfrm>
            <a:off x="2797745" y="7777833"/>
            <a:ext cx="1087200" cy="15132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900" dirty="0">
                <a:solidFill>
                  <a:srgbClr val="4B5285"/>
                </a:solidFill>
                <a:latin typeface="Calibri" panose="020F0502020204030204" pitchFamily="34" charset="0"/>
                <a:ea typeface="Noto Sans KR" panose="020B0500000000000000" pitchFamily="34" charset="-128"/>
                <a:cs typeface="Calibri" panose="020F0502020204030204" pitchFamily="34" charset="0"/>
                <a:sym typeface="Microsoft YaHei"/>
              </a:rPr>
              <a:t>&lt;&lt;Other Result&gt;&gt;</a:t>
            </a:r>
            <a:endParaRPr sz="900" dirty="0">
              <a:latin typeface="Calibri" panose="020F0502020204030204" pitchFamily="34" charset="0"/>
              <a:ea typeface="Noto Sans KR" panose="020B0500000000000000" pitchFamily="34" charset="-128"/>
              <a:cs typeface="Calibri" panose="020F0502020204030204" pitchFamily="34" charset="0"/>
              <a:sym typeface="Microsoft YaHei"/>
            </a:endParaRPr>
          </a:p>
        </p:txBody>
      </p:sp>
      <p:sp>
        <p:nvSpPr>
          <p:cNvPr id="40" name="Google Shape;90;p7">
            <a:extLst>
              <a:ext uri="{FF2B5EF4-FFF2-40B4-BE49-F238E27FC236}">
                <a16:creationId xmlns:a16="http://schemas.microsoft.com/office/drawing/2014/main" id="{164DE0EC-10EF-CCEA-08CE-7B0A562EFD04}"/>
              </a:ext>
            </a:extLst>
          </p:cNvPr>
          <p:cNvSpPr txBox="1"/>
          <p:nvPr/>
        </p:nvSpPr>
        <p:spPr>
          <a:xfrm>
            <a:off x="6187248" y="4154425"/>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Calibri" panose="020F0502020204030204" pitchFamily="34" charset="0"/>
                <a:ea typeface="Noto Sans KR" panose="020B0500000000000000" pitchFamily="34" charset="-128"/>
                <a:cs typeface="Calibri" panose="020F0502020204030204" pitchFamily="34" charset="0"/>
              </a:rPr>
              <a:t>&lt;&lt;MD1&gt;&gt;</a:t>
            </a:r>
          </a:p>
        </p:txBody>
      </p:sp>
      <p:sp>
        <p:nvSpPr>
          <p:cNvPr id="41" name="Google Shape;93;p7">
            <a:extLst>
              <a:ext uri="{FF2B5EF4-FFF2-40B4-BE49-F238E27FC236}">
                <a16:creationId xmlns:a16="http://schemas.microsoft.com/office/drawing/2014/main" id="{34D83DCB-DAEC-C1E2-1DF2-8B46B2EC9A02}"/>
              </a:ext>
            </a:extLst>
          </p:cNvPr>
          <p:cNvSpPr txBox="1"/>
          <p:nvPr/>
        </p:nvSpPr>
        <p:spPr>
          <a:xfrm>
            <a:off x="6187248" y="4514331"/>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Calibri" panose="020F0502020204030204" pitchFamily="34" charset="0"/>
                <a:ea typeface="Noto Sans KR" panose="020B0500000000000000" pitchFamily="34" charset="-128"/>
                <a:cs typeface="Calibri" panose="020F0502020204030204" pitchFamily="34" charset="0"/>
              </a:rPr>
              <a:t>&lt;&lt;MD2&gt;&gt;</a:t>
            </a:r>
          </a:p>
        </p:txBody>
      </p:sp>
      <p:sp>
        <p:nvSpPr>
          <p:cNvPr id="42" name="Google Shape;96;p7">
            <a:extLst>
              <a:ext uri="{FF2B5EF4-FFF2-40B4-BE49-F238E27FC236}">
                <a16:creationId xmlns:a16="http://schemas.microsoft.com/office/drawing/2014/main" id="{8125DDEE-3D5B-33FA-66B9-66EFA239E300}"/>
              </a:ext>
            </a:extLst>
          </p:cNvPr>
          <p:cNvSpPr txBox="1"/>
          <p:nvPr/>
        </p:nvSpPr>
        <p:spPr>
          <a:xfrm>
            <a:off x="6187248" y="4874237"/>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Calibri" panose="020F0502020204030204" pitchFamily="34" charset="0"/>
                <a:ea typeface="Noto Sans KR" panose="020B0500000000000000" pitchFamily="34" charset="-128"/>
                <a:cs typeface="Calibri" panose="020F0502020204030204" pitchFamily="34" charset="0"/>
              </a:rPr>
              <a:t>&lt;&lt;MD3&gt;&gt;</a:t>
            </a:r>
          </a:p>
        </p:txBody>
      </p:sp>
      <p:sp>
        <p:nvSpPr>
          <p:cNvPr id="43" name="Google Shape;99;p7">
            <a:extLst>
              <a:ext uri="{FF2B5EF4-FFF2-40B4-BE49-F238E27FC236}">
                <a16:creationId xmlns:a16="http://schemas.microsoft.com/office/drawing/2014/main" id="{9EB403B0-E270-3B51-82EC-5D64889DD780}"/>
              </a:ext>
            </a:extLst>
          </p:cNvPr>
          <p:cNvSpPr txBox="1"/>
          <p:nvPr/>
        </p:nvSpPr>
        <p:spPr>
          <a:xfrm>
            <a:off x="6187248" y="5234145"/>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kern="1200" dirty="0">
                <a:solidFill>
                  <a:prstClr val="black"/>
                </a:solidFill>
                <a:latin typeface="Calibri" panose="020F0502020204030204" pitchFamily="34" charset="0"/>
                <a:ea typeface="Noto Sans KR" panose="020B0500000000000000" pitchFamily="34" charset="-128"/>
                <a:cs typeface="Calibri" panose="020F0502020204030204" pitchFamily="34" charset="0"/>
              </a:rPr>
              <a:t>&lt;&lt;MD4&gt;&gt;</a:t>
            </a:r>
          </a:p>
        </p:txBody>
      </p:sp>
      <p:sp>
        <p:nvSpPr>
          <p:cNvPr id="44" name="Google Shape;102;p7">
            <a:extLst>
              <a:ext uri="{FF2B5EF4-FFF2-40B4-BE49-F238E27FC236}">
                <a16:creationId xmlns:a16="http://schemas.microsoft.com/office/drawing/2014/main" id="{258B026F-004C-EE1E-5B04-2E666054B913}"/>
              </a:ext>
            </a:extLst>
          </p:cNvPr>
          <p:cNvSpPr txBox="1"/>
          <p:nvPr/>
        </p:nvSpPr>
        <p:spPr>
          <a:xfrm>
            <a:off x="6187248" y="5594051"/>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Calibri" panose="020F0502020204030204" pitchFamily="34" charset="0"/>
                <a:ea typeface="Noto Sans KR" panose="020B0500000000000000" pitchFamily="34" charset="-128"/>
                <a:cs typeface="Calibri" panose="020F0502020204030204" pitchFamily="34" charset="0"/>
              </a:rPr>
              <a:t>&lt;&lt;MD5&gt;&gt;</a:t>
            </a:r>
          </a:p>
        </p:txBody>
      </p:sp>
      <p:sp>
        <p:nvSpPr>
          <p:cNvPr id="50" name="Google Shape;105;p7">
            <a:extLst>
              <a:ext uri="{FF2B5EF4-FFF2-40B4-BE49-F238E27FC236}">
                <a16:creationId xmlns:a16="http://schemas.microsoft.com/office/drawing/2014/main" id="{D7940829-2393-5ED2-148A-4B2C59B6E7D1}"/>
              </a:ext>
            </a:extLst>
          </p:cNvPr>
          <p:cNvSpPr txBox="1"/>
          <p:nvPr/>
        </p:nvSpPr>
        <p:spPr>
          <a:xfrm>
            <a:off x="6187248" y="5953945"/>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Calibri" panose="020F0502020204030204" pitchFamily="34" charset="0"/>
                <a:ea typeface="Noto Sans KR" panose="020B0500000000000000" pitchFamily="34" charset="-128"/>
                <a:cs typeface="Calibri" panose="020F0502020204030204" pitchFamily="34" charset="0"/>
              </a:rPr>
              <a:t>&lt;&lt;MD6&gt;&gt;</a:t>
            </a:r>
          </a:p>
        </p:txBody>
      </p:sp>
      <p:sp>
        <p:nvSpPr>
          <p:cNvPr id="54" name="Google Shape;108;p7">
            <a:extLst>
              <a:ext uri="{FF2B5EF4-FFF2-40B4-BE49-F238E27FC236}">
                <a16:creationId xmlns:a16="http://schemas.microsoft.com/office/drawing/2014/main" id="{66638505-D56F-19B5-0922-B6A997C48D89}"/>
              </a:ext>
            </a:extLst>
          </p:cNvPr>
          <p:cNvSpPr txBox="1"/>
          <p:nvPr/>
        </p:nvSpPr>
        <p:spPr>
          <a:xfrm>
            <a:off x="6187248" y="6313851"/>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Calibri" panose="020F0502020204030204" pitchFamily="34" charset="0"/>
                <a:ea typeface="Noto Sans KR" panose="020B0500000000000000" pitchFamily="34" charset="-128"/>
                <a:cs typeface="Calibri" panose="020F0502020204030204" pitchFamily="34" charset="0"/>
              </a:rPr>
              <a:t>&lt;&lt;MD7&gt;&gt;</a:t>
            </a:r>
          </a:p>
        </p:txBody>
      </p:sp>
      <p:sp>
        <p:nvSpPr>
          <p:cNvPr id="57" name="Google Shape;111;p7">
            <a:extLst>
              <a:ext uri="{FF2B5EF4-FFF2-40B4-BE49-F238E27FC236}">
                <a16:creationId xmlns:a16="http://schemas.microsoft.com/office/drawing/2014/main" id="{3231F2B0-B865-B910-5BD8-6F15BDEBC04B}"/>
              </a:ext>
            </a:extLst>
          </p:cNvPr>
          <p:cNvSpPr txBox="1"/>
          <p:nvPr/>
        </p:nvSpPr>
        <p:spPr>
          <a:xfrm>
            <a:off x="6187248" y="6673757"/>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Calibri" panose="020F0502020204030204" pitchFamily="34" charset="0"/>
                <a:ea typeface="Noto Sans KR" panose="020B0500000000000000" pitchFamily="34" charset="-128"/>
                <a:cs typeface="Calibri" panose="020F0502020204030204" pitchFamily="34" charset="0"/>
              </a:rPr>
              <a:t>&lt;&lt;MD8&gt;&gt;</a:t>
            </a:r>
          </a:p>
        </p:txBody>
      </p:sp>
      <p:sp>
        <p:nvSpPr>
          <p:cNvPr id="60" name="Google Shape;114;p7">
            <a:extLst>
              <a:ext uri="{FF2B5EF4-FFF2-40B4-BE49-F238E27FC236}">
                <a16:creationId xmlns:a16="http://schemas.microsoft.com/office/drawing/2014/main" id="{8B12C707-3626-991A-B328-C615640EB388}"/>
              </a:ext>
            </a:extLst>
          </p:cNvPr>
          <p:cNvSpPr txBox="1"/>
          <p:nvPr/>
        </p:nvSpPr>
        <p:spPr>
          <a:xfrm>
            <a:off x="6187248" y="7057122"/>
            <a:ext cx="993900" cy="151323"/>
          </a:xfrm>
          <a:prstGeom prst="rect">
            <a:avLst/>
          </a:prstGeom>
          <a:noFill/>
          <a:ln>
            <a:noFill/>
          </a:ln>
        </p:spPr>
        <p:txBody>
          <a:bodyPr spcFirstLastPara="1" wrap="square" lIns="0" tIns="12700" rIns="0" bIns="0" anchor="t" anchorCtr="0">
            <a:spAutoFit/>
          </a:bodyPr>
          <a:lstStyle/>
          <a:p>
            <a:pPr lvl="0" defTabSz="685800">
              <a:buClrTx/>
              <a:defRPr/>
            </a:pPr>
            <a:r>
              <a:rPr lang="en-US" sz="900" dirty="0">
                <a:latin typeface="Calibri" panose="020F0502020204030204" pitchFamily="34" charset="0"/>
                <a:ea typeface="Noto Sans KR" panose="020B0500000000000000" pitchFamily="34" charset="-128"/>
                <a:cs typeface="Calibri" panose="020F0502020204030204" pitchFamily="34" charset="0"/>
              </a:rPr>
              <a:t>&lt;&lt;Other MD&gt;&gt;</a:t>
            </a:r>
          </a:p>
        </p:txBody>
      </p:sp>
    </p:spTree>
    <p:extLst>
      <p:ext uri="{BB962C8B-B14F-4D97-AF65-F5344CB8AC3E}">
        <p14:creationId xmlns:p14="http://schemas.microsoft.com/office/powerpoint/2010/main" val="21817505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Shape 126">
          <a:extLst>
            <a:ext uri="{FF2B5EF4-FFF2-40B4-BE49-F238E27FC236}">
              <a16:creationId xmlns:a16="http://schemas.microsoft.com/office/drawing/2014/main" id="{F4B175E6-0EB4-FE7B-C8F8-49A70333DF82}"/>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D66CC83A-7EE5-14E0-DDCC-A12C8734FCA5}"/>
              </a:ext>
            </a:extLst>
          </p:cNvPr>
          <p:cNvSpPr txBox="1"/>
          <p:nvPr/>
        </p:nvSpPr>
        <p:spPr>
          <a:xfrm>
            <a:off x="581031" y="1042313"/>
            <a:ext cx="3620011" cy="389850"/>
          </a:xfrm>
          <a:prstGeom prst="rect">
            <a:avLst/>
          </a:prstGeom>
        </p:spPr>
        <p:txBody>
          <a:bodyPr vert="horz" wrap="square" lIns="0" tIns="12700" rIns="0" bIns="0" rtlCol="0">
            <a:spAutoFit/>
          </a:bodyPr>
          <a:lstStyle/>
          <a:p>
            <a:pPr marL="12700" lvl="0">
              <a:buClr>
                <a:schemeClr val="dk1"/>
              </a:buClr>
            </a:pPr>
            <a:r>
              <a:rPr lang="en-US" sz="1200" dirty="0">
                <a:solidFill>
                  <a:schemeClr val="dk1"/>
                </a:solidFill>
                <a:latin typeface="Calibri" panose="020F0502020204030204" pitchFamily="34" charset="0"/>
                <a:cs typeface="Calibri" panose="020F0502020204030204" pitchFamily="34" charset="0"/>
              </a:rPr>
              <a:t>Other</a:t>
            </a:r>
            <a:r>
              <a:rPr lang="en-US" sz="1200" dirty="0">
                <a:solidFill>
                  <a:schemeClr val="dk1"/>
                </a:solidFill>
                <a:latin typeface="Calibri" panose="020F0502020204030204" pitchFamily="34" charset="0"/>
                <a:ea typeface="Times New Roman"/>
                <a:cs typeface="Calibri" panose="020F0502020204030204" pitchFamily="34" charset="0"/>
                <a:sym typeface="Times New Roman"/>
              </a:rPr>
              <a:t> </a:t>
            </a:r>
            <a:r>
              <a:rPr lang="en-US" sz="1200" dirty="0">
                <a:solidFill>
                  <a:schemeClr val="dk1"/>
                </a:solidFill>
                <a:latin typeface="Calibri" panose="020F0502020204030204" pitchFamily="34" charset="0"/>
                <a:cs typeface="Calibri" panose="020F0502020204030204" pitchFamily="34" charset="0"/>
              </a:rPr>
              <a:t>87</a:t>
            </a:r>
            <a:r>
              <a:rPr lang="en-US" sz="1200" dirty="0">
                <a:solidFill>
                  <a:schemeClr val="dk1"/>
                </a:solidFill>
                <a:latin typeface="Calibri" panose="020F0502020204030204" pitchFamily="34" charset="0"/>
                <a:ea typeface="Times New Roman"/>
                <a:cs typeface="Calibri" panose="020F0502020204030204" pitchFamily="34" charset="0"/>
                <a:sym typeface="Times New Roman"/>
              </a:rPr>
              <a:t> </a:t>
            </a:r>
            <a:r>
              <a:rPr lang="en-US" sz="1200" dirty="0">
                <a:solidFill>
                  <a:schemeClr val="dk1"/>
                </a:solidFill>
                <a:latin typeface="Calibri" panose="020F0502020204030204" pitchFamily="34" charset="0"/>
                <a:cs typeface="Calibri" panose="020F0502020204030204" pitchFamily="34" charset="0"/>
              </a:rPr>
              <a:t>microdeletion/duplication</a:t>
            </a:r>
            <a:r>
              <a:rPr lang="en-US" sz="1200" dirty="0">
                <a:solidFill>
                  <a:schemeClr val="dk1"/>
                </a:solidFill>
                <a:latin typeface="Calibri" panose="020F0502020204030204" pitchFamily="34" charset="0"/>
                <a:ea typeface="Times New Roman"/>
                <a:cs typeface="Calibri" panose="020F0502020204030204" pitchFamily="34" charset="0"/>
                <a:sym typeface="Times New Roman"/>
              </a:rPr>
              <a:t> </a:t>
            </a:r>
            <a:r>
              <a:rPr lang="en-US" sz="1200" dirty="0">
                <a:solidFill>
                  <a:schemeClr val="dk1"/>
                </a:solidFill>
                <a:latin typeface="Calibri" panose="020F0502020204030204" pitchFamily="34" charset="0"/>
                <a:cs typeface="Calibri" panose="020F0502020204030204" pitchFamily="34" charset="0"/>
              </a:rPr>
              <a:t>syndromes</a:t>
            </a:r>
            <a:endParaRPr lang="en-US" sz="1200" dirty="0">
              <a:latin typeface="Calibri" panose="020F0502020204030204" pitchFamily="34" charset="0"/>
              <a:cs typeface="Calibri" panose="020F0502020204030204" pitchFamily="34" charset="0"/>
            </a:endParaRPr>
          </a:p>
          <a:p>
            <a:pPr lvl="0">
              <a:spcBef>
                <a:spcPts val="340"/>
              </a:spcBef>
            </a:pPr>
            <a:r>
              <a:rPr lang="en-US" sz="1000" dirty="0">
                <a:latin typeface="Calibri" panose="020F0502020204030204" pitchFamily="34" charset="0"/>
                <a:cs typeface="Calibri" panose="020F0502020204030204" pitchFamily="34" charset="0"/>
              </a:rPr>
              <a:t>Other</a:t>
            </a:r>
            <a:r>
              <a:rPr lang="en-US" sz="1000" dirty="0">
                <a:latin typeface="Calibri" panose="020F0502020204030204" pitchFamily="34" charset="0"/>
                <a:ea typeface="Times New Roman"/>
                <a:cs typeface="Calibri" panose="020F0502020204030204" pitchFamily="34" charset="0"/>
                <a:sym typeface="Times New Roman"/>
              </a:rPr>
              <a:t> </a:t>
            </a:r>
            <a:r>
              <a:rPr lang="en-US" sz="1000" dirty="0">
                <a:latin typeface="Calibri" panose="020F0502020204030204" pitchFamily="34" charset="0"/>
                <a:cs typeface="Calibri" panose="020F0502020204030204" pitchFamily="34" charset="0"/>
              </a:rPr>
              <a:t>66</a:t>
            </a:r>
            <a:r>
              <a:rPr lang="en-US" sz="1000" dirty="0">
                <a:latin typeface="Calibri" panose="020F0502020204030204" pitchFamily="34" charset="0"/>
                <a:ea typeface="Times New Roman"/>
                <a:cs typeface="Calibri" panose="020F0502020204030204" pitchFamily="34" charset="0"/>
                <a:sym typeface="Times New Roman"/>
              </a:rPr>
              <a:t> </a:t>
            </a:r>
            <a:r>
              <a:rPr lang="en-US" sz="1000" dirty="0">
                <a:latin typeface="Calibri" panose="020F0502020204030204" pitchFamily="34" charset="0"/>
                <a:cs typeface="Calibri" panose="020F0502020204030204" pitchFamily="34" charset="0"/>
              </a:rPr>
              <a:t>microdeletion/duplication</a:t>
            </a:r>
            <a:r>
              <a:rPr lang="en-US" sz="1000" dirty="0">
                <a:latin typeface="Calibri" panose="020F0502020204030204" pitchFamily="34" charset="0"/>
                <a:ea typeface="Times New Roman"/>
                <a:cs typeface="Calibri" panose="020F0502020204030204" pitchFamily="34" charset="0"/>
                <a:sym typeface="Times New Roman"/>
              </a:rPr>
              <a:t> </a:t>
            </a:r>
            <a:r>
              <a:rPr lang="en-US" sz="1000" dirty="0">
                <a:latin typeface="Calibri" panose="020F0502020204030204" pitchFamily="34" charset="0"/>
                <a:cs typeface="Calibri" panose="020F0502020204030204" pitchFamily="34" charset="0"/>
              </a:rPr>
              <a:t>syndromes &gt; 6mb</a:t>
            </a:r>
          </a:p>
        </p:txBody>
      </p:sp>
      <p:graphicFrame>
        <p:nvGraphicFramePr>
          <p:cNvPr id="3" name="object 3">
            <a:extLst>
              <a:ext uri="{FF2B5EF4-FFF2-40B4-BE49-F238E27FC236}">
                <a16:creationId xmlns:a16="http://schemas.microsoft.com/office/drawing/2014/main" id="{2E7F8CE0-BEAF-973A-24DE-DD809DAE1EB5}"/>
              </a:ext>
            </a:extLst>
          </p:cNvPr>
          <p:cNvGraphicFramePr>
            <a:graphicFrameLocks noGrp="1"/>
          </p:cNvGraphicFramePr>
          <p:nvPr/>
        </p:nvGraphicFramePr>
        <p:xfrm>
          <a:off x="581031" y="1503724"/>
          <a:ext cx="1480820" cy="4020184"/>
        </p:xfrm>
        <a:graphic>
          <a:graphicData uri="http://schemas.openxmlformats.org/drawingml/2006/table">
            <a:tbl>
              <a:tblPr firstRow="1" bandRow="1">
                <a:tableStyleId>{2D5ABB26-0587-4C30-8999-92F81FD0307C}</a:tableStyleId>
              </a:tblPr>
              <a:tblGrid>
                <a:gridCol w="1480820">
                  <a:extLst>
                    <a:ext uri="{9D8B030D-6E8A-4147-A177-3AD203B41FA5}">
                      <a16:colId xmlns:a16="http://schemas.microsoft.com/office/drawing/2014/main" val="20000"/>
                    </a:ext>
                  </a:extLst>
                </a:gridCol>
              </a:tblGrid>
              <a:tr h="240029">
                <a:tc>
                  <a:txBody>
                    <a:bodyPr/>
                    <a:lstStyle/>
                    <a:p>
                      <a:pPr algn="ctr">
                        <a:lnSpc>
                          <a:spcPct val="100000"/>
                        </a:lnSpc>
                        <a:spcBef>
                          <a:spcPts val="330"/>
                        </a:spcBef>
                      </a:pPr>
                      <a:r>
                        <a:rPr sz="900" b="1" spc="-10" dirty="0">
                          <a:solidFill>
                            <a:srgbClr val="FFFFFF"/>
                          </a:solidFill>
                          <a:latin typeface="Calibri"/>
                          <a:cs typeface="Calibri"/>
                        </a:rPr>
                        <a:t>Conditions</a:t>
                      </a:r>
                      <a:endParaRPr sz="900">
                        <a:latin typeface="Calibri"/>
                        <a:cs typeface="Calibri"/>
                      </a:endParaRPr>
                    </a:p>
                  </a:txBody>
                  <a:tcPr marL="0" marR="0" marT="41910" marB="0">
                    <a:lnB w="6350">
                      <a:solidFill>
                        <a:srgbClr val="DEDFFD"/>
                      </a:solidFill>
                      <a:prstDash val="solid"/>
                    </a:lnB>
                    <a:solidFill>
                      <a:srgbClr val="999DC0"/>
                    </a:solidFill>
                  </a:tcPr>
                </a:tc>
                <a:extLst>
                  <a:ext uri="{0D108BD9-81ED-4DB2-BD59-A6C34878D82A}">
                    <a16:rowId xmlns:a16="http://schemas.microsoft.com/office/drawing/2014/main" val="10000"/>
                  </a:ext>
                </a:extLst>
              </a:tr>
              <a:tr h="220345">
                <a:tc>
                  <a:txBody>
                    <a:bodyPr/>
                    <a:lstStyle/>
                    <a:p>
                      <a:pPr algn="ctr">
                        <a:lnSpc>
                          <a:spcPct val="100000"/>
                        </a:lnSpc>
                        <a:spcBef>
                          <a:spcPts val="365"/>
                        </a:spcBef>
                      </a:pPr>
                      <a:r>
                        <a:rPr sz="750" spc="30" dirty="0">
                          <a:latin typeface="Calibri"/>
                          <a:cs typeface="Calibri"/>
                        </a:rPr>
                        <a:t>Partial</a:t>
                      </a:r>
                      <a:r>
                        <a:rPr sz="750" spc="25" dirty="0">
                          <a:latin typeface="Calibri"/>
                          <a:cs typeface="Calibri"/>
                        </a:rPr>
                        <a:t> </a:t>
                      </a:r>
                      <a:r>
                        <a:rPr sz="750" spc="30" dirty="0">
                          <a:latin typeface="Calibri"/>
                          <a:cs typeface="Calibri"/>
                        </a:rPr>
                        <a:t>monosomy </a:t>
                      </a:r>
                      <a:r>
                        <a:rPr sz="750" spc="-25" dirty="0">
                          <a:latin typeface="Calibri"/>
                          <a:cs typeface="Calibri"/>
                        </a:rPr>
                        <a:t>1p</a:t>
                      </a:r>
                      <a:endParaRPr sz="750">
                        <a:latin typeface="Calibri"/>
                        <a:cs typeface="Calibri"/>
                      </a:endParaRPr>
                    </a:p>
                  </a:txBody>
                  <a:tcPr marL="0" marR="0" marT="46355" marB="0">
                    <a:lnL w="6350">
                      <a:solidFill>
                        <a:srgbClr val="DEDFFD"/>
                      </a:solidFill>
                      <a:prstDash val="solid"/>
                    </a:lnL>
                    <a:lnR w="6350">
                      <a:solidFill>
                        <a:srgbClr val="DEDFFD"/>
                      </a:solidFill>
                      <a:prstDash val="solid"/>
                    </a:lnR>
                    <a:lnT w="6350">
                      <a:solidFill>
                        <a:srgbClr val="DEDFFD"/>
                      </a:solidFill>
                      <a:prstDash val="solid"/>
                    </a:lnT>
                    <a:lnB w="9525">
                      <a:solidFill>
                        <a:srgbClr val="DEDFFD"/>
                      </a:solidFill>
                      <a:prstDash val="solid"/>
                    </a:lnB>
                  </a:tcPr>
                </a:tc>
                <a:extLst>
                  <a:ext uri="{0D108BD9-81ED-4DB2-BD59-A6C34878D82A}">
                    <a16:rowId xmlns:a16="http://schemas.microsoft.com/office/drawing/2014/main" val="10001"/>
                  </a:ext>
                </a:extLst>
              </a:tr>
              <a:tr h="222885">
                <a:tc>
                  <a:txBody>
                    <a:bodyPr/>
                    <a:lstStyle/>
                    <a:p>
                      <a:pPr algn="ctr">
                        <a:lnSpc>
                          <a:spcPct val="100000"/>
                        </a:lnSpc>
                        <a:spcBef>
                          <a:spcPts val="385"/>
                        </a:spcBef>
                      </a:pPr>
                      <a:r>
                        <a:rPr sz="750" spc="10" dirty="0">
                          <a:latin typeface="Calibri"/>
                          <a:cs typeface="Calibri"/>
                        </a:rPr>
                        <a:t>Monosomy</a:t>
                      </a:r>
                      <a:r>
                        <a:rPr sz="750" spc="285" dirty="0">
                          <a:latin typeface="Calibri"/>
                          <a:cs typeface="Calibri"/>
                        </a:rPr>
                        <a:t> </a:t>
                      </a:r>
                      <a:r>
                        <a:rPr sz="750" spc="10" dirty="0">
                          <a:latin typeface="Calibri"/>
                          <a:cs typeface="Calibri"/>
                        </a:rPr>
                        <a:t>1q21-</a:t>
                      </a:r>
                      <a:r>
                        <a:rPr sz="750" spc="-25" dirty="0">
                          <a:latin typeface="Calibri"/>
                          <a:cs typeface="Calibri"/>
                        </a:rPr>
                        <a:t>q32</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2"/>
                  </a:ext>
                </a:extLst>
              </a:tr>
              <a:tr h="222250">
                <a:tc>
                  <a:txBody>
                    <a:bodyPr/>
                    <a:lstStyle/>
                    <a:p>
                      <a:pPr algn="ctr">
                        <a:lnSpc>
                          <a:spcPct val="100000"/>
                        </a:lnSpc>
                        <a:spcBef>
                          <a:spcPts val="385"/>
                        </a:spcBef>
                      </a:pPr>
                      <a:r>
                        <a:rPr sz="750" spc="10" dirty="0">
                          <a:latin typeface="Calibri"/>
                          <a:cs typeface="Calibri"/>
                        </a:rPr>
                        <a:t>Monosomy</a:t>
                      </a:r>
                      <a:r>
                        <a:rPr sz="750" spc="250" dirty="0">
                          <a:latin typeface="Calibri"/>
                          <a:cs typeface="Calibri"/>
                        </a:rPr>
                        <a:t> </a:t>
                      </a:r>
                      <a:r>
                        <a:rPr sz="750" spc="10" dirty="0">
                          <a:latin typeface="Calibri"/>
                          <a:cs typeface="Calibri"/>
                        </a:rPr>
                        <a:t>1q42-</a:t>
                      </a:r>
                      <a:r>
                        <a:rPr sz="750" spc="-20" dirty="0">
                          <a:latin typeface="Calibri"/>
                          <a:cs typeface="Calibri"/>
                        </a:rPr>
                        <a:t>qter</a:t>
                      </a:r>
                      <a:endParaRPr sz="75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3"/>
                  </a:ext>
                </a:extLst>
              </a:tr>
              <a:tr h="222885">
                <a:tc>
                  <a:txBody>
                    <a:bodyPr/>
                    <a:lstStyle/>
                    <a:p>
                      <a:pPr algn="ctr">
                        <a:lnSpc>
                          <a:spcPct val="100000"/>
                        </a:lnSpc>
                        <a:spcBef>
                          <a:spcPts val="385"/>
                        </a:spcBef>
                      </a:pPr>
                      <a:r>
                        <a:rPr sz="750" spc="10" dirty="0">
                          <a:latin typeface="Calibri"/>
                          <a:cs typeface="Calibri"/>
                        </a:rPr>
                        <a:t>Trisomy</a:t>
                      </a:r>
                      <a:r>
                        <a:rPr sz="750" spc="229" dirty="0">
                          <a:latin typeface="Calibri"/>
                          <a:cs typeface="Calibri"/>
                        </a:rPr>
                        <a:t> </a:t>
                      </a:r>
                      <a:r>
                        <a:rPr sz="750" spc="10" dirty="0">
                          <a:latin typeface="Calibri"/>
                          <a:cs typeface="Calibri"/>
                        </a:rPr>
                        <a:t>1q23-</a:t>
                      </a:r>
                      <a:r>
                        <a:rPr sz="750" spc="-20" dirty="0">
                          <a:latin typeface="Calibri"/>
                          <a:cs typeface="Calibri"/>
                        </a:rPr>
                        <a:t>qter</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4"/>
                  </a:ext>
                </a:extLst>
              </a:tr>
              <a:tr h="222250">
                <a:tc>
                  <a:txBody>
                    <a:bodyPr/>
                    <a:lstStyle/>
                    <a:p>
                      <a:pPr algn="ctr">
                        <a:lnSpc>
                          <a:spcPct val="100000"/>
                        </a:lnSpc>
                        <a:spcBef>
                          <a:spcPts val="385"/>
                        </a:spcBef>
                      </a:pPr>
                      <a:r>
                        <a:rPr sz="750" spc="30" dirty="0">
                          <a:latin typeface="Calibri"/>
                          <a:cs typeface="Calibri"/>
                        </a:rPr>
                        <a:t>Partial</a:t>
                      </a:r>
                      <a:r>
                        <a:rPr sz="750" spc="25" dirty="0">
                          <a:latin typeface="Calibri"/>
                          <a:cs typeface="Calibri"/>
                        </a:rPr>
                        <a:t> </a:t>
                      </a:r>
                      <a:r>
                        <a:rPr sz="750" spc="30" dirty="0">
                          <a:latin typeface="Calibri"/>
                          <a:cs typeface="Calibri"/>
                        </a:rPr>
                        <a:t>monosomy </a:t>
                      </a:r>
                      <a:r>
                        <a:rPr sz="750" spc="-25" dirty="0">
                          <a:latin typeface="Calibri"/>
                          <a:cs typeface="Calibri"/>
                        </a:rPr>
                        <a:t>2p</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5"/>
                  </a:ext>
                </a:extLst>
              </a:tr>
              <a:tr h="222250">
                <a:tc>
                  <a:txBody>
                    <a:bodyPr/>
                    <a:lstStyle/>
                    <a:p>
                      <a:pPr algn="ctr">
                        <a:lnSpc>
                          <a:spcPct val="100000"/>
                        </a:lnSpc>
                        <a:spcBef>
                          <a:spcPts val="385"/>
                        </a:spcBef>
                      </a:pPr>
                      <a:r>
                        <a:rPr sz="750" spc="10" dirty="0">
                          <a:latin typeface="Calibri"/>
                          <a:cs typeface="Calibri"/>
                        </a:rPr>
                        <a:t>Partial</a:t>
                      </a:r>
                      <a:r>
                        <a:rPr sz="750" spc="110" dirty="0">
                          <a:latin typeface="Calibri"/>
                          <a:cs typeface="Calibri"/>
                        </a:rPr>
                        <a:t> </a:t>
                      </a:r>
                      <a:r>
                        <a:rPr sz="750" spc="10" dirty="0">
                          <a:latin typeface="Calibri"/>
                          <a:cs typeface="Calibri"/>
                        </a:rPr>
                        <a:t>trisomy</a:t>
                      </a:r>
                      <a:r>
                        <a:rPr sz="750" spc="114" dirty="0">
                          <a:latin typeface="Calibri"/>
                          <a:cs typeface="Calibri"/>
                        </a:rPr>
                        <a:t> </a:t>
                      </a:r>
                      <a:r>
                        <a:rPr sz="750" spc="-25" dirty="0">
                          <a:latin typeface="Calibri"/>
                          <a:cs typeface="Calibri"/>
                        </a:rPr>
                        <a:t>2p</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6"/>
                  </a:ext>
                </a:extLst>
              </a:tr>
              <a:tr h="222885">
                <a:tc>
                  <a:txBody>
                    <a:bodyPr/>
                    <a:lstStyle/>
                    <a:p>
                      <a:pPr algn="ctr">
                        <a:lnSpc>
                          <a:spcPct val="100000"/>
                        </a:lnSpc>
                        <a:spcBef>
                          <a:spcPts val="385"/>
                        </a:spcBef>
                      </a:pPr>
                      <a:r>
                        <a:rPr sz="750" spc="30" dirty="0">
                          <a:latin typeface="Calibri"/>
                          <a:cs typeface="Calibri"/>
                        </a:rPr>
                        <a:t>Partial</a:t>
                      </a:r>
                      <a:r>
                        <a:rPr sz="750" spc="25" dirty="0">
                          <a:latin typeface="Calibri"/>
                          <a:cs typeface="Calibri"/>
                        </a:rPr>
                        <a:t> </a:t>
                      </a:r>
                      <a:r>
                        <a:rPr sz="750" spc="30" dirty="0">
                          <a:latin typeface="Calibri"/>
                          <a:cs typeface="Calibri"/>
                        </a:rPr>
                        <a:t>monosomy </a:t>
                      </a:r>
                      <a:r>
                        <a:rPr sz="750" spc="-25" dirty="0">
                          <a:latin typeface="Calibri"/>
                          <a:cs typeface="Calibri"/>
                        </a:rPr>
                        <a:t>2q</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7"/>
                  </a:ext>
                </a:extLst>
              </a:tr>
              <a:tr h="222250">
                <a:tc>
                  <a:txBody>
                    <a:bodyPr/>
                    <a:lstStyle/>
                    <a:p>
                      <a:pPr algn="ctr">
                        <a:lnSpc>
                          <a:spcPct val="100000"/>
                        </a:lnSpc>
                        <a:spcBef>
                          <a:spcPts val="385"/>
                        </a:spcBef>
                      </a:pPr>
                      <a:r>
                        <a:rPr sz="750" spc="10" dirty="0">
                          <a:latin typeface="Calibri"/>
                          <a:cs typeface="Calibri"/>
                        </a:rPr>
                        <a:t>Partial</a:t>
                      </a:r>
                      <a:r>
                        <a:rPr sz="750" spc="110" dirty="0">
                          <a:latin typeface="Calibri"/>
                          <a:cs typeface="Calibri"/>
                        </a:rPr>
                        <a:t> </a:t>
                      </a:r>
                      <a:r>
                        <a:rPr sz="750" spc="10" dirty="0">
                          <a:latin typeface="Calibri"/>
                          <a:cs typeface="Calibri"/>
                        </a:rPr>
                        <a:t>trisomy</a:t>
                      </a:r>
                      <a:r>
                        <a:rPr sz="750" spc="114" dirty="0">
                          <a:latin typeface="Calibri"/>
                          <a:cs typeface="Calibri"/>
                        </a:rPr>
                        <a:t> </a:t>
                      </a:r>
                      <a:r>
                        <a:rPr sz="750" spc="-25" dirty="0">
                          <a:latin typeface="Calibri"/>
                          <a:cs typeface="Calibri"/>
                        </a:rPr>
                        <a:t>2q</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8"/>
                  </a:ext>
                </a:extLst>
              </a:tr>
              <a:tr h="222885">
                <a:tc>
                  <a:txBody>
                    <a:bodyPr/>
                    <a:lstStyle/>
                    <a:p>
                      <a:pPr algn="ctr">
                        <a:lnSpc>
                          <a:spcPct val="100000"/>
                        </a:lnSpc>
                        <a:spcBef>
                          <a:spcPts val="385"/>
                        </a:spcBef>
                      </a:pPr>
                      <a:r>
                        <a:rPr sz="750" spc="10" dirty="0">
                          <a:latin typeface="Calibri"/>
                          <a:cs typeface="Calibri"/>
                        </a:rPr>
                        <a:t>Monosomy</a:t>
                      </a:r>
                      <a:r>
                        <a:rPr sz="750" spc="285" dirty="0">
                          <a:latin typeface="Calibri"/>
                          <a:cs typeface="Calibri"/>
                        </a:rPr>
                        <a:t> </a:t>
                      </a:r>
                      <a:r>
                        <a:rPr sz="750" spc="10" dirty="0">
                          <a:latin typeface="Calibri"/>
                          <a:cs typeface="Calibri"/>
                        </a:rPr>
                        <a:t>3p11-</a:t>
                      </a:r>
                      <a:r>
                        <a:rPr sz="750" spc="-25" dirty="0">
                          <a:latin typeface="Calibri"/>
                          <a:cs typeface="Calibri"/>
                        </a:rPr>
                        <a:t>p21</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9"/>
                  </a:ext>
                </a:extLst>
              </a:tr>
              <a:tr h="222250">
                <a:tc>
                  <a:txBody>
                    <a:bodyPr/>
                    <a:lstStyle/>
                    <a:p>
                      <a:pPr algn="ctr">
                        <a:lnSpc>
                          <a:spcPct val="100000"/>
                        </a:lnSpc>
                        <a:spcBef>
                          <a:spcPts val="385"/>
                        </a:spcBef>
                      </a:pPr>
                      <a:r>
                        <a:rPr sz="750" spc="10" dirty="0">
                          <a:latin typeface="Calibri"/>
                          <a:cs typeface="Calibri"/>
                        </a:rPr>
                        <a:t>Monosomy</a:t>
                      </a:r>
                      <a:r>
                        <a:rPr sz="750" spc="250" dirty="0">
                          <a:latin typeface="Calibri"/>
                          <a:cs typeface="Calibri"/>
                        </a:rPr>
                        <a:t> </a:t>
                      </a:r>
                      <a:r>
                        <a:rPr sz="750" spc="10" dirty="0">
                          <a:latin typeface="Calibri"/>
                          <a:cs typeface="Calibri"/>
                        </a:rPr>
                        <a:t>3p25-</a:t>
                      </a:r>
                      <a:r>
                        <a:rPr sz="750" spc="-20" dirty="0">
                          <a:latin typeface="Calibri"/>
                          <a:cs typeface="Calibri"/>
                        </a:rPr>
                        <a:t>pter</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0"/>
                  </a:ext>
                </a:extLst>
              </a:tr>
              <a:tr h="222885">
                <a:tc>
                  <a:txBody>
                    <a:bodyPr/>
                    <a:lstStyle/>
                    <a:p>
                      <a:pPr algn="ctr">
                        <a:lnSpc>
                          <a:spcPct val="100000"/>
                        </a:lnSpc>
                        <a:spcBef>
                          <a:spcPts val="385"/>
                        </a:spcBef>
                      </a:pPr>
                      <a:r>
                        <a:rPr sz="750" spc="10" dirty="0">
                          <a:latin typeface="Calibri"/>
                          <a:cs typeface="Calibri"/>
                        </a:rPr>
                        <a:t>Partial</a:t>
                      </a:r>
                      <a:r>
                        <a:rPr sz="750" spc="110" dirty="0">
                          <a:latin typeface="Calibri"/>
                          <a:cs typeface="Calibri"/>
                        </a:rPr>
                        <a:t> </a:t>
                      </a:r>
                      <a:r>
                        <a:rPr sz="750" spc="10" dirty="0">
                          <a:latin typeface="Calibri"/>
                          <a:cs typeface="Calibri"/>
                        </a:rPr>
                        <a:t>trisomy</a:t>
                      </a:r>
                      <a:r>
                        <a:rPr sz="750" spc="114" dirty="0">
                          <a:latin typeface="Calibri"/>
                          <a:cs typeface="Calibri"/>
                        </a:rPr>
                        <a:t> </a:t>
                      </a:r>
                      <a:r>
                        <a:rPr sz="750" spc="-25" dirty="0">
                          <a:latin typeface="Calibri"/>
                          <a:cs typeface="Calibri"/>
                        </a:rPr>
                        <a:t>3p</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1"/>
                  </a:ext>
                </a:extLst>
              </a:tr>
              <a:tr h="222250">
                <a:tc>
                  <a:txBody>
                    <a:bodyPr/>
                    <a:lstStyle/>
                    <a:p>
                      <a:pPr algn="ctr">
                        <a:lnSpc>
                          <a:spcPct val="100000"/>
                        </a:lnSpc>
                        <a:spcBef>
                          <a:spcPts val="385"/>
                        </a:spcBef>
                      </a:pPr>
                      <a:r>
                        <a:rPr sz="750" spc="30" dirty="0">
                          <a:latin typeface="Calibri"/>
                          <a:cs typeface="Calibri"/>
                        </a:rPr>
                        <a:t>Partial</a:t>
                      </a:r>
                      <a:r>
                        <a:rPr sz="750" spc="25" dirty="0">
                          <a:latin typeface="Calibri"/>
                          <a:cs typeface="Calibri"/>
                        </a:rPr>
                        <a:t> </a:t>
                      </a:r>
                      <a:r>
                        <a:rPr sz="750" spc="30" dirty="0">
                          <a:latin typeface="Calibri"/>
                          <a:cs typeface="Calibri"/>
                        </a:rPr>
                        <a:t>monosomy </a:t>
                      </a:r>
                      <a:r>
                        <a:rPr sz="750" spc="-25" dirty="0">
                          <a:latin typeface="Calibri"/>
                          <a:cs typeface="Calibri"/>
                        </a:rPr>
                        <a:t>3q</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2"/>
                  </a:ext>
                </a:extLst>
              </a:tr>
              <a:tr h="222885">
                <a:tc>
                  <a:txBody>
                    <a:bodyPr/>
                    <a:lstStyle/>
                    <a:p>
                      <a:pPr algn="ctr">
                        <a:lnSpc>
                          <a:spcPct val="100000"/>
                        </a:lnSpc>
                        <a:spcBef>
                          <a:spcPts val="385"/>
                        </a:spcBef>
                      </a:pPr>
                      <a:r>
                        <a:rPr sz="750" spc="10" dirty="0">
                          <a:latin typeface="Calibri"/>
                          <a:cs typeface="Calibri"/>
                        </a:rPr>
                        <a:t>Partial</a:t>
                      </a:r>
                      <a:r>
                        <a:rPr sz="750" spc="110" dirty="0">
                          <a:latin typeface="Calibri"/>
                          <a:cs typeface="Calibri"/>
                        </a:rPr>
                        <a:t> </a:t>
                      </a:r>
                      <a:r>
                        <a:rPr sz="750" spc="10" dirty="0">
                          <a:latin typeface="Calibri"/>
                          <a:cs typeface="Calibri"/>
                        </a:rPr>
                        <a:t>trisomy</a:t>
                      </a:r>
                      <a:r>
                        <a:rPr sz="750" spc="114" dirty="0">
                          <a:latin typeface="Calibri"/>
                          <a:cs typeface="Calibri"/>
                        </a:rPr>
                        <a:t> </a:t>
                      </a:r>
                      <a:r>
                        <a:rPr sz="750" spc="-25" dirty="0">
                          <a:latin typeface="Calibri"/>
                          <a:cs typeface="Calibri"/>
                        </a:rPr>
                        <a:t>3q</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3"/>
                  </a:ext>
                </a:extLst>
              </a:tr>
              <a:tr h="222885">
                <a:tc>
                  <a:txBody>
                    <a:bodyPr/>
                    <a:lstStyle/>
                    <a:p>
                      <a:pPr algn="ctr">
                        <a:lnSpc>
                          <a:spcPct val="100000"/>
                        </a:lnSpc>
                        <a:spcBef>
                          <a:spcPts val="385"/>
                        </a:spcBef>
                      </a:pPr>
                      <a:r>
                        <a:rPr sz="750" spc="30" dirty="0">
                          <a:latin typeface="Calibri"/>
                          <a:cs typeface="Calibri"/>
                        </a:rPr>
                        <a:t>Partial</a:t>
                      </a:r>
                      <a:r>
                        <a:rPr sz="750" spc="25" dirty="0">
                          <a:latin typeface="Calibri"/>
                          <a:cs typeface="Calibri"/>
                        </a:rPr>
                        <a:t> </a:t>
                      </a:r>
                      <a:r>
                        <a:rPr sz="750" spc="30" dirty="0">
                          <a:latin typeface="Calibri"/>
                          <a:cs typeface="Calibri"/>
                        </a:rPr>
                        <a:t>monosomy </a:t>
                      </a:r>
                      <a:r>
                        <a:rPr sz="750" spc="-25" dirty="0">
                          <a:latin typeface="Calibri"/>
                          <a:cs typeface="Calibri"/>
                        </a:rPr>
                        <a:t>3p</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4"/>
                  </a:ext>
                </a:extLst>
              </a:tr>
              <a:tr h="222885">
                <a:tc>
                  <a:txBody>
                    <a:bodyPr/>
                    <a:lstStyle/>
                    <a:p>
                      <a:pPr algn="ctr">
                        <a:lnSpc>
                          <a:spcPct val="100000"/>
                        </a:lnSpc>
                        <a:spcBef>
                          <a:spcPts val="385"/>
                        </a:spcBef>
                      </a:pPr>
                      <a:r>
                        <a:rPr sz="750" spc="30" dirty="0">
                          <a:latin typeface="Calibri"/>
                          <a:cs typeface="Calibri"/>
                        </a:rPr>
                        <a:t>Partial</a:t>
                      </a:r>
                      <a:r>
                        <a:rPr sz="750" spc="25" dirty="0">
                          <a:latin typeface="Calibri"/>
                          <a:cs typeface="Calibri"/>
                        </a:rPr>
                        <a:t> </a:t>
                      </a:r>
                      <a:r>
                        <a:rPr sz="750" spc="30" dirty="0">
                          <a:latin typeface="Calibri"/>
                          <a:cs typeface="Calibri"/>
                        </a:rPr>
                        <a:t>monosomy </a:t>
                      </a:r>
                      <a:r>
                        <a:rPr sz="750" spc="-25" dirty="0">
                          <a:latin typeface="Calibri"/>
                          <a:cs typeface="Calibri"/>
                        </a:rPr>
                        <a:t>4p</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5"/>
                  </a:ext>
                </a:extLst>
              </a:tr>
              <a:tr h="222885">
                <a:tc>
                  <a:txBody>
                    <a:bodyPr/>
                    <a:lstStyle/>
                    <a:p>
                      <a:pPr algn="ctr">
                        <a:lnSpc>
                          <a:spcPct val="100000"/>
                        </a:lnSpc>
                        <a:spcBef>
                          <a:spcPts val="385"/>
                        </a:spcBef>
                      </a:pPr>
                      <a:r>
                        <a:rPr sz="750" spc="10" dirty="0">
                          <a:latin typeface="Calibri"/>
                          <a:cs typeface="Calibri"/>
                        </a:rPr>
                        <a:t>Partial</a:t>
                      </a:r>
                      <a:r>
                        <a:rPr sz="750" spc="110" dirty="0">
                          <a:latin typeface="Calibri"/>
                          <a:cs typeface="Calibri"/>
                        </a:rPr>
                        <a:t> </a:t>
                      </a:r>
                      <a:r>
                        <a:rPr sz="750" spc="10" dirty="0">
                          <a:latin typeface="Calibri"/>
                          <a:cs typeface="Calibri"/>
                        </a:rPr>
                        <a:t>trisomy</a:t>
                      </a:r>
                      <a:r>
                        <a:rPr sz="750" spc="114" dirty="0">
                          <a:latin typeface="Calibri"/>
                          <a:cs typeface="Calibri"/>
                        </a:rPr>
                        <a:t> </a:t>
                      </a:r>
                      <a:r>
                        <a:rPr sz="750" spc="-25" dirty="0">
                          <a:latin typeface="Calibri"/>
                          <a:cs typeface="Calibri"/>
                        </a:rPr>
                        <a:t>4p</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6"/>
                  </a:ext>
                </a:extLst>
              </a:tr>
              <a:tr h="220345">
                <a:tc>
                  <a:txBody>
                    <a:bodyPr/>
                    <a:lstStyle/>
                    <a:p>
                      <a:pPr algn="ctr">
                        <a:lnSpc>
                          <a:spcPct val="100000"/>
                        </a:lnSpc>
                        <a:spcBef>
                          <a:spcPts val="385"/>
                        </a:spcBef>
                      </a:pPr>
                      <a:r>
                        <a:rPr sz="750" spc="10" dirty="0">
                          <a:latin typeface="Calibri"/>
                          <a:cs typeface="Calibri"/>
                        </a:rPr>
                        <a:t>Monosomy</a:t>
                      </a:r>
                      <a:r>
                        <a:rPr sz="750" spc="285" dirty="0">
                          <a:latin typeface="Calibri"/>
                          <a:cs typeface="Calibri"/>
                        </a:rPr>
                        <a:t> </a:t>
                      </a:r>
                      <a:r>
                        <a:rPr sz="750" spc="10" dirty="0">
                          <a:latin typeface="Calibri"/>
                          <a:cs typeface="Calibri"/>
                        </a:rPr>
                        <a:t>4q21-</a:t>
                      </a:r>
                      <a:r>
                        <a:rPr sz="750" spc="-25" dirty="0">
                          <a:latin typeface="Calibri"/>
                          <a:cs typeface="Calibri"/>
                        </a:rPr>
                        <a:t>q31</a:t>
                      </a:r>
                      <a:endParaRPr sz="750" dirty="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6350">
                      <a:solidFill>
                        <a:srgbClr val="DEDFFD"/>
                      </a:solidFill>
                      <a:prstDash val="solid"/>
                    </a:lnB>
                  </a:tcPr>
                </a:tc>
                <a:extLst>
                  <a:ext uri="{0D108BD9-81ED-4DB2-BD59-A6C34878D82A}">
                    <a16:rowId xmlns:a16="http://schemas.microsoft.com/office/drawing/2014/main" val="10017"/>
                  </a:ext>
                </a:extLst>
              </a:tr>
            </a:tbl>
          </a:graphicData>
        </a:graphic>
      </p:graphicFrame>
      <p:graphicFrame>
        <p:nvGraphicFramePr>
          <p:cNvPr id="4" name="object 4">
            <a:extLst>
              <a:ext uri="{FF2B5EF4-FFF2-40B4-BE49-F238E27FC236}">
                <a16:creationId xmlns:a16="http://schemas.microsoft.com/office/drawing/2014/main" id="{9C571498-CD8F-DC9C-31AB-7EA711B15E19}"/>
              </a:ext>
            </a:extLst>
          </p:cNvPr>
          <p:cNvGraphicFramePr>
            <a:graphicFrameLocks noGrp="1"/>
          </p:cNvGraphicFramePr>
          <p:nvPr/>
        </p:nvGraphicFramePr>
        <p:xfrm>
          <a:off x="2174132" y="1503724"/>
          <a:ext cx="1481455" cy="4020184"/>
        </p:xfrm>
        <a:graphic>
          <a:graphicData uri="http://schemas.openxmlformats.org/drawingml/2006/table">
            <a:tbl>
              <a:tblPr firstRow="1" bandRow="1">
                <a:tableStyleId>{2D5ABB26-0587-4C30-8999-92F81FD0307C}</a:tableStyleId>
              </a:tblPr>
              <a:tblGrid>
                <a:gridCol w="1481455">
                  <a:extLst>
                    <a:ext uri="{9D8B030D-6E8A-4147-A177-3AD203B41FA5}">
                      <a16:colId xmlns:a16="http://schemas.microsoft.com/office/drawing/2014/main" val="20000"/>
                    </a:ext>
                  </a:extLst>
                </a:gridCol>
              </a:tblGrid>
              <a:tr h="240029">
                <a:tc>
                  <a:txBody>
                    <a:bodyPr/>
                    <a:lstStyle/>
                    <a:p>
                      <a:pPr algn="ctr">
                        <a:lnSpc>
                          <a:spcPct val="100000"/>
                        </a:lnSpc>
                        <a:spcBef>
                          <a:spcPts val="330"/>
                        </a:spcBef>
                      </a:pPr>
                      <a:r>
                        <a:rPr sz="900" b="1" spc="-10" dirty="0">
                          <a:solidFill>
                            <a:srgbClr val="FFFFFF"/>
                          </a:solidFill>
                          <a:latin typeface="Calibri"/>
                          <a:cs typeface="Calibri"/>
                        </a:rPr>
                        <a:t>Conditions</a:t>
                      </a:r>
                      <a:endParaRPr sz="900">
                        <a:latin typeface="Calibri"/>
                        <a:cs typeface="Calibri"/>
                      </a:endParaRPr>
                    </a:p>
                  </a:txBody>
                  <a:tcPr marL="0" marR="0" marT="41910" marB="0">
                    <a:lnB w="6350">
                      <a:solidFill>
                        <a:srgbClr val="DEDFFD"/>
                      </a:solidFill>
                      <a:prstDash val="solid"/>
                    </a:lnB>
                    <a:solidFill>
                      <a:srgbClr val="999DC0"/>
                    </a:solidFill>
                  </a:tcPr>
                </a:tc>
                <a:extLst>
                  <a:ext uri="{0D108BD9-81ED-4DB2-BD59-A6C34878D82A}">
                    <a16:rowId xmlns:a16="http://schemas.microsoft.com/office/drawing/2014/main" val="10000"/>
                  </a:ext>
                </a:extLst>
              </a:tr>
              <a:tr h="220345">
                <a:tc>
                  <a:txBody>
                    <a:bodyPr/>
                    <a:lstStyle/>
                    <a:p>
                      <a:pPr algn="ctr">
                        <a:lnSpc>
                          <a:spcPct val="100000"/>
                        </a:lnSpc>
                        <a:spcBef>
                          <a:spcPts val="365"/>
                        </a:spcBef>
                      </a:pPr>
                      <a:r>
                        <a:rPr sz="750" spc="10" dirty="0">
                          <a:latin typeface="Calibri"/>
                          <a:cs typeface="Calibri"/>
                        </a:rPr>
                        <a:t>Monosomy</a:t>
                      </a:r>
                      <a:r>
                        <a:rPr sz="750" spc="250" dirty="0">
                          <a:latin typeface="Calibri"/>
                          <a:cs typeface="Calibri"/>
                        </a:rPr>
                        <a:t> </a:t>
                      </a:r>
                      <a:r>
                        <a:rPr sz="750" spc="10" dirty="0">
                          <a:latin typeface="Calibri"/>
                          <a:cs typeface="Calibri"/>
                        </a:rPr>
                        <a:t>4q31-</a:t>
                      </a:r>
                      <a:r>
                        <a:rPr sz="750" spc="-20" dirty="0">
                          <a:latin typeface="Calibri"/>
                          <a:cs typeface="Calibri"/>
                        </a:rPr>
                        <a:t>qter</a:t>
                      </a:r>
                      <a:endParaRPr sz="750">
                        <a:latin typeface="Calibri"/>
                        <a:cs typeface="Calibri"/>
                      </a:endParaRPr>
                    </a:p>
                  </a:txBody>
                  <a:tcPr marL="0" marR="0" marT="46355" marB="0">
                    <a:lnL w="6350">
                      <a:solidFill>
                        <a:srgbClr val="DEDFFD"/>
                      </a:solidFill>
                      <a:prstDash val="solid"/>
                    </a:lnL>
                    <a:lnR w="6350">
                      <a:solidFill>
                        <a:srgbClr val="DEDFFD"/>
                      </a:solidFill>
                      <a:prstDash val="solid"/>
                    </a:lnR>
                    <a:lnT w="6350">
                      <a:solidFill>
                        <a:srgbClr val="DEDFFD"/>
                      </a:solidFill>
                      <a:prstDash val="solid"/>
                    </a:lnT>
                    <a:lnB w="9525">
                      <a:solidFill>
                        <a:srgbClr val="DEDFFD"/>
                      </a:solidFill>
                      <a:prstDash val="solid"/>
                    </a:lnB>
                  </a:tcPr>
                </a:tc>
                <a:extLst>
                  <a:ext uri="{0D108BD9-81ED-4DB2-BD59-A6C34878D82A}">
                    <a16:rowId xmlns:a16="http://schemas.microsoft.com/office/drawing/2014/main" val="10001"/>
                  </a:ext>
                </a:extLst>
              </a:tr>
              <a:tr h="222885">
                <a:tc>
                  <a:txBody>
                    <a:bodyPr/>
                    <a:lstStyle/>
                    <a:p>
                      <a:pPr algn="ctr">
                        <a:lnSpc>
                          <a:spcPct val="100000"/>
                        </a:lnSpc>
                        <a:spcBef>
                          <a:spcPts val="385"/>
                        </a:spcBef>
                      </a:pPr>
                      <a:r>
                        <a:rPr sz="750" spc="10" dirty="0">
                          <a:latin typeface="Calibri"/>
                          <a:cs typeface="Calibri"/>
                        </a:rPr>
                        <a:t>Partial</a:t>
                      </a:r>
                      <a:r>
                        <a:rPr sz="750" spc="110" dirty="0">
                          <a:latin typeface="Calibri"/>
                          <a:cs typeface="Calibri"/>
                        </a:rPr>
                        <a:t> </a:t>
                      </a:r>
                      <a:r>
                        <a:rPr sz="750" spc="10" dirty="0">
                          <a:latin typeface="Calibri"/>
                          <a:cs typeface="Calibri"/>
                        </a:rPr>
                        <a:t>trisomy</a:t>
                      </a:r>
                      <a:r>
                        <a:rPr sz="750" spc="114" dirty="0">
                          <a:latin typeface="Calibri"/>
                          <a:cs typeface="Calibri"/>
                        </a:rPr>
                        <a:t> </a:t>
                      </a:r>
                      <a:r>
                        <a:rPr sz="750" spc="-25" dirty="0">
                          <a:latin typeface="Calibri"/>
                          <a:cs typeface="Calibri"/>
                        </a:rPr>
                        <a:t>4q</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2"/>
                  </a:ext>
                </a:extLst>
              </a:tr>
              <a:tr h="222250">
                <a:tc>
                  <a:txBody>
                    <a:bodyPr/>
                    <a:lstStyle/>
                    <a:p>
                      <a:pPr algn="ctr">
                        <a:lnSpc>
                          <a:spcPct val="100000"/>
                        </a:lnSpc>
                        <a:spcBef>
                          <a:spcPts val="385"/>
                        </a:spcBef>
                      </a:pPr>
                      <a:r>
                        <a:rPr sz="750" spc="30" dirty="0">
                          <a:latin typeface="Calibri"/>
                          <a:cs typeface="Calibri"/>
                        </a:rPr>
                        <a:t>Partial</a:t>
                      </a:r>
                      <a:r>
                        <a:rPr sz="750" spc="25" dirty="0">
                          <a:latin typeface="Calibri"/>
                          <a:cs typeface="Calibri"/>
                        </a:rPr>
                        <a:t> </a:t>
                      </a:r>
                      <a:r>
                        <a:rPr sz="750" spc="30" dirty="0">
                          <a:latin typeface="Calibri"/>
                          <a:cs typeface="Calibri"/>
                        </a:rPr>
                        <a:t>monosomy </a:t>
                      </a:r>
                      <a:r>
                        <a:rPr sz="750" spc="-25" dirty="0">
                          <a:latin typeface="Calibri"/>
                          <a:cs typeface="Calibri"/>
                        </a:rPr>
                        <a:t>4p</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3"/>
                  </a:ext>
                </a:extLst>
              </a:tr>
              <a:tr h="222885">
                <a:tc>
                  <a:txBody>
                    <a:bodyPr/>
                    <a:lstStyle/>
                    <a:p>
                      <a:pPr algn="ctr">
                        <a:lnSpc>
                          <a:spcPct val="100000"/>
                        </a:lnSpc>
                        <a:spcBef>
                          <a:spcPts val="385"/>
                        </a:spcBef>
                      </a:pPr>
                      <a:r>
                        <a:rPr sz="750" spc="10" dirty="0">
                          <a:latin typeface="Calibri"/>
                          <a:cs typeface="Calibri"/>
                        </a:rPr>
                        <a:t>Partial</a:t>
                      </a:r>
                      <a:r>
                        <a:rPr sz="750" spc="110" dirty="0">
                          <a:latin typeface="Calibri"/>
                          <a:cs typeface="Calibri"/>
                        </a:rPr>
                        <a:t> </a:t>
                      </a:r>
                      <a:r>
                        <a:rPr sz="750" spc="10" dirty="0">
                          <a:latin typeface="Calibri"/>
                          <a:cs typeface="Calibri"/>
                        </a:rPr>
                        <a:t>trisomy</a:t>
                      </a:r>
                      <a:r>
                        <a:rPr sz="750" spc="114" dirty="0">
                          <a:latin typeface="Calibri"/>
                          <a:cs typeface="Calibri"/>
                        </a:rPr>
                        <a:t> </a:t>
                      </a:r>
                      <a:r>
                        <a:rPr sz="750" spc="-25" dirty="0">
                          <a:latin typeface="Calibri"/>
                          <a:cs typeface="Calibri"/>
                        </a:rPr>
                        <a:t>5p</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4"/>
                  </a:ext>
                </a:extLst>
              </a:tr>
              <a:tr h="222250">
                <a:tc>
                  <a:txBody>
                    <a:bodyPr/>
                    <a:lstStyle/>
                    <a:p>
                      <a:pPr algn="ctr">
                        <a:lnSpc>
                          <a:spcPct val="100000"/>
                        </a:lnSpc>
                        <a:spcBef>
                          <a:spcPts val="385"/>
                        </a:spcBef>
                      </a:pPr>
                      <a:r>
                        <a:rPr sz="750" spc="30" dirty="0">
                          <a:latin typeface="Calibri"/>
                          <a:cs typeface="Calibri"/>
                        </a:rPr>
                        <a:t>Partial</a:t>
                      </a:r>
                      <a:r>
                        <a:rPr sz="750" spc="25" dirty="0">
                          <a:latin typeface="Calibri"/>
                          <a:cs typeface="Calibri"/>
                        </a:rPr>
                        <a:t> </a:t>
                      </a:r>
                      <a:r>
                        <a:rPr sz="750" spc="30" dirty="0">
                          <a:latin typeface="Calibri"/>
                          <a:cs typeface="Calibri"/>
                        </a:rPr>
                        <a:t>monosomy </a:t>
                      </a:r>
                      <a:r>
                        <a:rPr sz="750" spc="-25" dirty="0">
                          <a:latin typeface="Calibri"/>
                          <a:cs typeface="Calibri"/>
                        </a:rPr>
                        <a:t>5q</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5"/>
                  </a:ext>
                </a:extLst>
              </a:tr>
              <a:tr h="222250">
                <a:tc>
                  <a:txBody>
                    <a:bodyPr/>
                    <a:lstStyle/>
                    <a:p>
                      <a:pPr algn="ctr">
                        <a:lnSpc>
                          <a:spcPct val="100000"/>
                        </a:lnSpc>
                        <a:spcBef>
                          <a:spcPts val="385"/>
                        </a:spcBef>
                      </a:pPr>
                      <a:r>
                        <a:rPr sz="750" spc="10" dirty="0">
                          <a:latin typeface="Calibri"/>
                          <a:cs typeface="Calibri"/>
                        </a:rPr>
                        <a:t>Partial</a:t>
                      </a:r>
                      <a:r>
                        <a:rPr sz="750" spc="110" dirty="0">
                          <a:latin typeface="Calibri"/>
                          <a:cs typeface="Calibri"/>
                        </a:rPr>
                        <a:t> </a:t>
                      </a:r>
                      <a:r>
                        <a:rPr sz="750" spc="10" dirty="0">
                          <a:latin typeface="Calibri"/>
                          <a:cs typeface="Calibri"/>
                        </a:rPr>
                        <a:t>trisomy</a:t>
                      </a:r>
                      <a:r>
                        <a:rPr sz="750" spc="114" dirty="0">
                          <a:latin typeface="Calibri"/>
                          <a:cs typeface="Calibri"/>
                        </a:rPr>
                        <a:t> </a:t>
                      </a:r>
                      <a:r>
                        <a:rPr sz="750" spc="-25" dirty="0">
                          <a:latin typeface="Calibri"/>
                          <a:cs typeface="Calibri"/>
                        </a:rPr>
                        <a:t>5q</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6"/>
                  </a:ext>
                </a:extLst>
              </a:tr>
              <a:tr h="222885">
                <a:tc>
                  <a:txBody>
                    <a:bodyPr/>
                    <a:lstStyle/>
                    <a:p>
                      <a:pPr algn="ctr">
                        <a:lnSpc>
                          <a:spcPct val="100000"/>
                        </a:lnSpc>
                        <a:spcBef>
                          <a:spcPts val="385"/>
                        </a:spcBef>
                      </a:pPr>
                      <a:r>
                        <a:rPr sz="750" spc="10" dirty="0">
                          <a:latin typeface="Calibri"/>
                          <a:cs typeface="Calibri"/>
                        </a:rPr>
                        <a:t>Partial</a:t>
                      </a:r>
                      <a:r>
                        <a:rPr sz="750" spc="110" dirty="0">
                          <a:latin typeface="Calibri"/>
                          <a:cs typeface="Calibri"/>
                        </a:rPr>
                        <a:t> </a:t>
                      </a:r>
                      <a:r>
                        <a:rPr sz="750" spc="10" dirty="0">
                          <a:latin typeface="Calibri"/>
                          <a:cs typeface="Calibri"/>
                        </a:rPr>
                        <a:t>trisomy</a:t>
                      </a:r>
                      <a:r>
                        <a:rPr sz="750" spc="114" dirty="0">
                          <a:latin typeface="Calibri"/>
                          <a:cs typeface="Calibri"/>
                        </a:rPr>
                        <a:t> </a:t>
                      </a:r>
                      <a:r>
                        <a:rPr sz="750" spc="-25" dirty="0">
                          <a:latin typeface="Calibri"/>
                          <a:cs typeface="Calibri"/>
                        </a:rPr>
                        <a:t>6p</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7"/>
                  </a:ext>
                </a:extLst>
              </a:tr>
              <a:tr h="222250">
                <a:tc>
                  <a:txBody>
                    <a:bodyPr/>
                    <a:lstStyle/>
                    <a:p>
                      <a:pPr algn="ctr">
                        <a:lnSpc>
                          <a:spcPct val="100000"/>
                        </a:lnSpc>
                        <a:spcBef>
                          <a:spcPts val="385"/>
                        </a:spcBef>
                      </a:pPr>
                      <a:r>
                        <a:rPr sz="750" spc="30" dirty="0">
                          <a:latin typeface="Calibri"/>
                          <a:cs typeface="Calibri"/>
                        </a:rPr>
                        <a:t>Partial</a:t>
                      </a:r>
                      <a:r>
                        <a:rPr sz="750" spc="25" dirty="0">
                          <a:latin typeface="Calibri"/>
                          <a:cs typeface="Calibri"/>
                        </a:rPr>
                        <a:t> </a:t>
                      </a:r>
                      <a:r>
                        <a:rPr sz="750" spc="30" dirty="0">
                          <a:latin typeface="Calibri"/>
                          <a:cs typeface="Calibri"/>
                        </a:rPr>
                        <a:t>monosomy </a:t>
                      </a:r>
                      <a:r>
                        <a:rPr sz="750" spc="-25" dirty="0">
                          <a:latin typeface="Calibri"/>
                          <a:cs typeface="Calibri"/>
                        </a:rPr>
                        <a:t>6q</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8"/>
                  </a:ext>
                </a:extLst>
              </a:tr>
              <a:tr h="222885">
                <a:tc>
                  <a:txBody>
                    <a:bodyPr/>
                    <a:lstStyle/>
                    <a:p>
                      <a:pPr algn="ctr">
                        <a:lnSpc>
                          <a:spcPct val="100000"/>
                        </a:lnSpc>
                        <a:spcBef>
                          <a:spcPts val="385"/>
                        </a:spcBef>
                      </a:pPr>
                      <a:r>
                        <a:rPr sz="750" spc="10" dirty="0">
                          <a:latin typeface="Calibri"/>
                          <a:cs typeface="Calibri"/>
                        </a:rPr>
                        <a:t>Partial</a:t>
                      </a:r>
                      <a:r>
                        <a:rPr sz="750" spc="110" dirty="0">
                          <a:latin typeface="Calibri"/>
                          <a:cs typeface="Calibri"/>
                        </a:rPr>
                        <a:t> </a:t>
                      </a:r>
                      <a:r>
                        <a:rPr sz="750" spc="10" dirty="0">
                          <a:latin typeface="Calibri"/>
                          <a:cs typeface="Calibri"/>
                        </a:rPr>
                        <a:t>trisomy</a:t>
                      </a:r>
                      <a:r>
                        <a:rPr sz="750" spc="114" dirty="0">
                          <a:latin typeface="Calibri"/>
                          <a:cs typeface="Calibri"/>
                        </a:rPr>
                        <a:t> </a:t>
                      </a:r>
                      <a:r>
                        <a:rPr sz="750" spc="-25" dirty="0">
                          <a:latin typeface="Calibri"/>
                          <a:cs typeface="Calibri"/>
                        </a:rPr>
                        <a:t>6q</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9"/>
                  </a:ext>
                </a:extLst>
              </a:tr>
              <a:tr h="222250">
                <a:tc>
                  <a:txBody>
                    <a:bodyPr/>
                    <a:lstStyle/>
                    <a:p>
                      <a:pPr algn="ctr">
                        <a:lnSpc>
                          <a:spcPct val="100000"/>
                        </a:lnSpc>
                        <a:spcBef>
                          <a:spcPts val="385"/>
                        </a:spcBef>
                      </a:pPr>
                      <a:r>
                        <a:rPr sz="750" spc="30" dirty="0">
                          <a:latin typeface="Calibri"/>
                          <a:cs typeface="Calibri"/>
                        </a:rPr>
                        <a:t>Partial</a:t>
                      </a:r>
                      <a:r>
                        <a:rPr sz="750" spc="25" dirty="0">
                          <a:latin typeface="Calibri"/>
                          <a:cs typeface="Calibri"/>
                        </a:rPr>
                        <a:t> </a:t>
                      </a:r>
                      <a:r>
                        <a:rPr sz="750" spc="30" dirty="0">
                          <a:latin typeface="Calibri"/>
                          <a:cs typeface="Calibri"/>
                        </a:rPr>
                        <a:t>monosomy </a:t>
                      </a:r>
                      <a:r>
                        <a:rPr sz="750" spc="-25" dirty="0">
                          <a:latin typeface="Calibri"/>
                          <a:cs typeface="Calibri"/>
                        </a:rPr>
                        <a:t>7p</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0"/>
                  </a:ext>
                </a:extLst>
              </a:tr>
              <a:tr h="222885">
                <a:tc>
                  <a:txBody>
                    <a:bodyPr/>
                    <a:lstStyle/>
                    <a:p>
                      <a:pPr algn="ctr">
                        <a:lnSpc>
                          <a:spcPct val="100000"/>
                        </a:lnSpc>
                        <a:spcBef>
                          <a:spcPts val="385"/>
                        </a:spcBef>
                      </a:pPr>
                      <a:r>
                        <a:rPr sz="750" spc="10" dirty="0">
                          <a:latin typeface="Calibri"/>
                          <a:cs typeface="Calibri"/>
                        </a:rPr>
                        <a:t>Partial</a:t>
                      </a:r>
                      <a:r>
                        <a:rPr sz="750" spc="110" dirty="0">
                          <a:latin typeface="Calibri"/>
                          <a:cs typeface="Calibri"/>
                        </a:rPr>
                        <a:t> </a:t>
                      </a:r>
                      <a:r>
                        <a:rPr sz="750" spc="10" dirty="0">
                          <a:latin typeface="Calibri"/>
                          <a:cs typeface="Calibri"/>
                        </a:rPr>
                        <a:t>trisomy</a:t>
                      </a:r>
                      <a:r>
                        <a:rPr sz="750" spc="114" dirty="0">
                          <a:latin typeface="Calibri"/>
                          <a:cs typeface="Calibri"/>
                        </a:rPr>
                        <a:t> </a:t>
                      </a:r>
                      <a:r>
                        <a:rPr sz="750" spc="-25" dirty="0">
                          <a:latin typeface="Calibri"/>
                          <a:cs typeface="Calibri"/>
                        </a:rPr>
                        <a:t>7p</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1"/>
                  </a:ext>
                </a:extLst>
              </a:tr>
              <a:tr h="222250">
                <a:tc>
                  <a:txBody>
                    <a:bodyPr/>
                    <a:lstStyle/>
                    <a:p>
                      <a:pPr algn="ctr">
                        <a:lnSpc>
                          <a:spcPct val="100000"/>
                        </a:lnSpc>
                        <a:spcBef>
                          <a:spcPts val="385"/>
                        </a:spcBef>
                      </a:pPr>
                      <a:r>
                        <a:rPr sz="750" spc="30" dirty="0">
                          <a:latin typeface="Calibri"/>
                          <a:cs typeface="Calibri"/>
                        </a:rPr>
                        <a:t>monosomy</a:t>
                      </a:r>
                      <a:r>
                        <a:rPr sz="750" spc="90" dirty="0">
                          <a:latin typeface="Calibri"/>
                          <a:cs typeface="Calibri"/>
                        </a:rPr>
                        <a:t> </a:t>
                      </a:r>
                      <a:r>
                        <a:rPr sz="750" spc="30" dirty="0">
                          <a:latin typeface="Calibri"/>
                          <a:cs typeface="Calibri"/>
                        </a:rPr>
                        <a:t>7q32-</a:t>
                      </a:r>
                      <a:r>
                        <a:rPr sz="750" spc="-20" dirty="0">
                          <a:latin typeface="Calibri"/>
                          <a:cs typeface="Calibri"/>
                        </a:rPr>
                        <a:t>qter</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2"/>
                  </a:ext>
                </a:extLst>
              </a:tr>
              <a:tr h="222885">
                <a:tc>
                  <a:txBody>
                    <a:bodyPr/>
                    <a:lstStyle/>
                    <a:p>
                      <a:pPr algn="ctr">
                        <a:lnSpc>
                          <a:spcPct val="100000"/>
                        </a:lnSpc>
                        <a:spcBef>
                          <a:spcPts val="385"/>
                        </a:spcBef>
                      </a:pPr>
                      <a:r>
                        <a:rPr sz="750" spc="10" dirty="0">
                          <a:latin typeface="Calibri"/>
                          <a:cs typeface="Calibri"/>
                        </a:rPr>
                        <a:t>Trisomy</a:t>
                      </a:r>
                      <a:r>
                        <a:rPr sz="750" spc="265" dirty="0">
                          <a:latin typeface="Calibri"/>
                          <a:cs typeface="Calibri"/>
                        </a:rPr>
                        <a:t> </a:t>
                      </a:r>
                      <a:r>
                        <a:rPr sz="750" spc="10" dirty="0">
                          <a:latin typeface="Calibri"/>
                          <a:cs typeface="Calibri"/>
                        </a:rPr>
                        <a:t>7q21-</a:t>
                      </a:r>
                      <a:r>
                        <a:rPr sz="750" spc="-25" dirty="0">
                          <a:latin typeface="Calibri"/>
                          <a:cs typeface="Calibri"/>
                        </a:rPr>
                        <a:t>q31</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3"/>
                  </a:ext>
                </a:extLst>
              </a:tr>
              <a:tr h="222885">
                <a:tc>
                  <a:txBody>
                    <a:bodyPr/>
                    <a:lstStyle/>
                    <a:p>
                      <a:pPr algn="ctr">
                        <a:lnSpc>
                          <a:spcPct val="100000"/>
                        </a:lnSpc>
                        <a:spcBef>
                          <a:spcPts val="385"/>
                        </a:spcBef>
                      </a:pPr>
                      <a:r>
                        <a:rPr sz="750" spc="10" dirty="0">
                          <a:latin typeface="Calibri"/>
                          <a:cs typeface="Calibri"/>
                        </a:rPr>
                        <a:t>Trisomy</a:t>
                      </a:r>
                      <a:r>
                        <a:rPr sz="750" spc="229" dirty="0">
                          <a:latin typeface="Calibri"/>
                          <a:cs typeface="Calibri"/>
                        </a:rPr>
                        <a:t> </a:t>
                      </a:r>
                      <a:r>
                        <a:rPr sz="750" spc="10" dirty="0">
                          <a:latin typeface="Calibri"/>
                          <a:cs typeface="Calibri"/>
                        </a:rPr>
                        <a:t>7q32-</a:t>
                      </a:r>
                      <a:r>
                        <a:rPr sz="750" spc="-20" dirty="0">
                          <a:latin typeface="Calibri"/>
                          <a:cs typeface="Calibri"/>
                        </a:rPr>
                        <a:t>qter</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4"/>
                  </a:ext>
                </a:extLst>
              </a:tr>
              <a:tr h="222885">
                <a:tc>
                  <a:txBody>
                    <a:bodyPr/>
                    <a:lstStyle/>
                    <a:p>
                      <a:pPr algn="ctr">
                        <a:lnSpc>
                          <a:spcPct val="100000"/>
                        </a:lnSpc>
                        <a:spcBef>
                          <a:spcPts val="385"/>
                        </a:spcBef>
                      </a:pPr>
                      <a:r>
                        <a:rPr sz="750" spc="10" dirty="0">
                          <a:latin typeface="Calibri"/>
                          <a:cs typeface="Calibri"/>
                        </a:rPr>
                        <a:t>Partial</a:t>
                      </a:r>
                      <a:r>
                        <a:rPr sz="750" spc="110" dirty="0">
                          <a:latin typeface="Calibri"/>
                          <a:cs typeface="Calibri"/>
                        </a:rPr>
                        <a:t> </a:t>
                      </a:r>
                      <a:r>
                        <a:rPr sz="750" spc="10" dirty="0">
                          <a:latin typeface="Calibri"/>
                          <a:cs typeface="Calibri"/>
                        </a:rPr>
                        <a:t>trisomy</a:t>
                      </a:r>
                      <a:r>
                        <a:rPr sz="750" spc="114" dirty="0">
                          <a:latin typeface="Calibri"/>
                          <a:cs typeface="Calibri"/>
                        </a:rPr>
                        <a:t> </a:t>
                      </a:r>
                      <a:r>
                        <a:rPr sz="750" spc="-25" dirty="0">
                          <a:latin typeface="Calibri"/>
                          <a:cs typeface="Calibri"/>
                        </a:rPr>
                        <a:t>8q</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5"/>
                  </a:ext>
                </a:extLst>
              </a:tr>
              <a:tr h="222885">
                <a:tc>
                  <a:txBody>
                    <a:bodyPr/>
                    <a:lstStyle/>
                    <a:p>
                      <a:pPr algn="ctr">
                        <a:lnSpc>
                          <a:spcPct val="100000"/>
                        </a:lnSpc>
                        <a:spcBef>
                          <a:spcPts val="385"/>
                        </a:spcBef>
                      </a:pPr>
                      <a:r>
                        <a:rPr sz="750" spc="30" dirty="0">
                          <a:latin typeface="Calibri"/>
                          <a:cs typeface="Calibri"/>
                        </a:rPr>
                        <a:t>Partial</a:t>
                      </a:r>
                      <a:r>
                        <a:rPr sz="750" spc="25" dirty="0">
                          <a:latin typeface="Calibri"/>
                          <a:cs typeface="Calibri"/>
                        </a:rPr>
                        <a:t> </a:t>
                      </a:r>
                      <a:r>
                        <a:rPr sz="750" spc="30" dirty="0">
                          <a:latin typeface="Calibri"/>
                          <a:cs typeface="Calibri"/>
                        </a:rPr>
                        <a:t>monosomy </a:t>
                      </a:r>
                      <a:r>
                        <a:rPr sz="750" spc="-25" dirty="0">
                          <a:latin typeface="Calibri"/>
                          <a:cs typeface="Calibri"/>
                        </a:rPr>
                        <a:t>9p</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6"/>
                  </a:ext>
                </a:extLst>
              </a:tr>
              <a:tr h="220345">
                <a:tc>
                  <a:txBody>
                    <a:bodyPr/>
                    <a:lstStyle/>
                    <a:p>
                      <a:pPr algn="ctr">
                        <a:lnSpc>
                          <a:spcPct val="100000"/>
                        </a:lnSpc>
                        <a:spcBef>
                          <a:spcPts val="385"/>
                        </a:spcBef>
                      </a:pPr>
                      <a:r>
                        <a:rPr sz="750" spc="10" dirty="0">
                          <a:latin typeface="Calibri"/>
                          <a:cs typeface="Calibri"/>
                        </a:rPr>
                        <a:t>Partial</a:t>
                      </a:r>
                      <a:r>
                        <a:rPr sz="750" spc="110" dirty="0">
                          <a:latin typeface="Calibri"/>
                          <a:cs typeface="Calibri"/>
                        </a:rPr>
                        <a:t> </a:t>
                      </a:r>
                      <a:r>
                        <a:rPr sz="750" spc="10" dirty="0">
                          <a:latin typeface="Calibri"/>
                          <a:cs typeface="Calibri"/>
                        </a:rPr>
                        <a:t>trisomy</a:t>
                      </a:r>
                      <a:r>
                        <a:rPr sz="750" spc="114" dirty="0">
                          <a:latin typeface="Calibri"/>
                          <a:cs typeface="Calibri"/>
                        </a:rPr>
                        <a:t> </a:t>
                      </a:r>
                      <a:r>
                        <a:rPr sz="750" spc="-25" dirty="0">
                          <a:latin typeface="Calibri"/>
                          <a:cs typeface="Calibri"/>
                        </a:rPr>
                        <a:t>9p</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6350">
                      <a:solidFill>
                        <a:srgbClr val="DEDFFD"/>
                      </a:solidFill>
                      <a:prstDash val="solid"/>
                    </a:lnB>
                  </a:tcPr>
                </a:tc>
                <a:extLst>
                  <a:ext uri="{0D108BD9-81ED-4DB2-BD59-A6C34878D82A}">
                    <a16:rowId xmlns:a16="http://schemas.microsoft.com/office/drawing/2014/main" val="10017"/>
                  </a:ext>
                </a:extLst>
              </a:tr>
            </a:tbl>
          </a:graphicData>
        </a:graphic>
      </p:graphicFrame>
      <p:graphicFrame>
        <p:nvGraphicFramePr>
          <p:cNvPr id="5" name="object 5">
            <a:extLst>
              <a:ext uri="{FF2B5EF4-FFF2-40B4-BE49-F238E27FC236}">
                <a16:creationId xmlns:a16="http://schemas.microsoft.com/office/drawing/2014/main" id="{CCBD8B79-C607-209D-0903-929D1BADC512}"/>
              </a:ext>
            </a:extLst>
          </p:cNvPr>
          <p:cNvGraphicFramePr>
            <a:graphicFrameLocks noGrp="1"/>
          </p:cNvGraphicFramePr>
          <p:nvPr/>
        </p:nvGraphicFramePr>
        <p:xfrm>
          <a:off x="3767232" y="1503724"/>
          <a:ext cx="1481455" cy="4020184"/>
        </p:xfrm>
        <a:graphic>
          <a:graphicData uri="http://schemas.openxmlformats.org/drawingml/2006/table">
            <a:tbl>
              <a:tblPr firstRow="1" bandRow="1">
                <a:tableStyleId>{2D5ABB26-0587-4C30-8999-92F81FD0307C}</a:tableStyleId>
              </a:tblPr>
              <a:tblGrid>
                <a:gridCol w="1481455">
                  <a:extLst>
                    <a:ext uri="{9D8B030D-6E8A-4147-A177-3AD203B41FA5}">
                      <a16:colId xmlns:a16="http://schemas.microsoft.com/office/drawing/2014/main" val="20000"/>
                    </a:ext>
                  </a:extLst>
                </a:gridCol>
              </a:tblGrid>
              <a:tr h="240029">
                <a:tc>
                  <a:txBody>
                    <a:bodyPr/>
                    <a:lstStyle/>
                    <a:p>
                      <a:pPr algn="ctr">
                        <a:lnSpc>
                          <a:spcPct val="100000"/>
                        </a:lnSpc>
                        <a:spcBef>
                          <a:spcPts val="330"/>
                        </a:spcBef>
                      </a:pPr>
                      <a:r>
                        <a:rPr sz="900" b="1" spc="-10" dirty="0">
                          <a:solidFill>
                            <a:srgbClr val="FFFFFF"/>
                          </a:solidFill>
                          <a:latin typeface="Calibri"/>
                          <a:cs typeface="Calibri"/>
                        </a:rPr>
                        <a:t>Conditions</a:t>
                      </a:r>
                      <a:endParaRPr sz="900">
                        <a:latin typeface="Calibri"/>
                        <a:cs typeface="Calibri"/>
                      </a:endParaRPr>
                    </a:p>
                  </a:txBody>
                  <a:tcPr marL="0" marR="0" marT="41910" marB="0">
                    <a:lnB w="6350">
                      <a:solidFill>
                        <a:srgbClr val="DEDFFD"/>
                      </a:solidFill>
                      <a:prstDash val="solid"/>
                    </a:lnB>
                    <a:solidFill>
                      <a:srgbClr val="999DC0"/>
                    </a:solidFill>
                  </a:tcPr>
                </a:tc>
                <a:extLst>
                  <a:ext uri="{0D108BD9-81ED-4DB2-BD59-A6C34878D82A}">
                    <a16:rowId xmlns:a16="http://schemas.microsoft.com/office/drawing/2014/main" val="10000"/>
                  </a:ext>
                </a:extLst>
              </a:tr>
              <a:tr h="220345">
                <a:tc>
                  <a:txBody>
                    <a:bodyPr/>
                    <a:lstStyle/>
                    <a:p>
                      <a:pPr algn="ctr">
                        <a:lnSpc>
                          <a:spcPct val="100000"/>
                        </a:lnSpc>
                        <a:spcBef>
                          <a:spcPts val="365"/>
                        </a:spcBef>
                      </a:pPr>
                      <a:r>
                        <a:rPr sz="750" spc="30" dirty="0">
                          <a:latin typeface="Calibri"/>
                          <a:cs typeface="Calibri"/>
                        </a:rPr>
                        <a:t>Partial</a:t>
                      </a:r>
                      <a:r>
                        <a:rPr sz="750" spc="25" dirty="0">
                          <a:latin typeface="Calibri"/>
                          <a:cs typeface="Calibri"/>
                        </a:rPr>
                        <a:t> </a:t>
                      </a:r>
                      <a:r>
                        <a:rPr sz="750" spc="30" dirty="0">
                          <a:latin typeface="Calibri"/>
                          <a:cs typeface="Calibri"/>
                        </a:rPr>
                        <a:t>monosomy </a:t>
                      </a:r>
                      <a:r>
                        <a:rPr sz="750" spc="-25" dirty="0">
                          <a:latin typeface="Calibri"/>
                          <a:cs typeface="Calibri"/>
                        </a:rPr>
                        <a:t>9q</a:t>
                      </a:r>
                      <a:endParaRPr sz="750">
                        <a:latin typeface="Calibri"/>
                        <a:cs typeface="Calibri"/>
                      </a:endParaRPr>
                    </a:p>
                  </a:txBody>
                  <a:tcPr marL="0" marR="0" marT="46355" marB="0">
                    <a:lnL w="6350">
                      <a:solidFill>
                        <a:srgbClr val="DEDFFD"/>
                      </a:solidFill>
                      <a:prstDash val="solid"/>
                    </a:lnL>
                    <a:lnR w="6350">
                      <a:solidFill>
                        <a:srgbClr val="DEDFFD"/>
                      </a:solidFill>
                      <a:prstDash val="solid"/>
                    </a:lnR>
                    <a:lnT w="6350">
                      <a:solidFill>
                        <a:srgbClr val="DEDFFD"/>
                      </a:solidFill>
                      <a:prstDash val="solid"/>
                    </a:lnT>
                    <a:lnB w="9525">
                      <a:solidFill>
                        <a:srgbClr val="DEDFFD"/>
                      </a:solidFill>
                      <a:prstDash val="solid"/>
                    </a:lnB>
                  </a:tcPr>
                </a:tc>
                <a:extLst>
                  <a:ext uri="{0D108BD9-81ED-4DB2-BD59-A6C34878D82A}">
                    <a16:rowId xmlns:a16="http://schemas.microsoft.com/office/drawing/2014/main" val="10001"/>
                  </a:ext>
                </a:extLst>
              </a:tr>
              <a:tr h="222885">
                <a:tc>
                  <a:txBody>
                    <a:bodyPr/>
                    <a:lstStyle/>
                    <a:p>
                      <a:pPr algn="ctr">
                        <a:lnSpc>
                          <a:spcPct val="100000"/>
                        </a:lnSpc>
                        <a:spcBef>
                          <a:spcPts val="385"/>
                        </a:spcBef>
                      </a:pPr>
                      <a:r>
                        <a:rPr sz="750" spc="10" dirty="0">
                          <a:latin typeface="Calibri"/>
                          <a:cs typeface="Calibri"/>
                        </a:rPr>
                        <a:t>Partial</a:t>
                      </a:r>
                      <a:r>
                        <a:rPr sz="750" spc="110" dirty="0">
                          <a:latin typeface="Calibri"/>
                          <a:cs typeface="Calibri"/>
                        </a:rPr>
                        <a:t> </a:t>
                      </a:r>
                      <a:r>
                        <a:rPr sz="750" spc="10" dirty="0">
                          <a:latin typeface="Calibri"/>
                          <a:cs typeface="Calibri"/>
                        </a:rPr>
                        <a:t>trisomy</a:t>
                      </a:r>
                      <a:r>
                        <a:rPr sz="750" spc="114" dirty="0">
                          <a:latin typeface="Calibri"/>
                          <a:cs typeface="Calibri"/>
                        </a:rPr>
                        <a:t> </a:t>
                      </a:r>
                      <a:r>
                        <a:rPr sz="750" spc="-25" dirty="0">
                          <a:latin typeface="Calibri"/>
                          <a:cs typeface="Calibri"/>
                        </a:rPr>
                        <a:t>9q</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2"/>
                  </a:ext>
                </a:extLst>
              </a:tr>
              <a:tr h="222250">
                <a:tc>
                  <a:txBody>
                    <a:bodyPr/>
                    <a:lstStyle/>
                    <a:p>
                      <a:pPr algn="ctr">
                        <a:lnSpc>
                          <a:spcPct val="100000"/>
                        </a:lnSpc>
                        <a:spcBef>
                          <a:spcPts val="385"/>
                        </a:spcBef>
                      </a:pPr>
                      <a:r>
                        <a:rPr sz="750" spc="30" dirty="0">
                          <a:latin typeface="Calibri"/>
                          <a:cs typeface="Calibri"/>
                        </a:rPr>
                        <a:t>Partial</a:t>
                      </a:r>
                      <a:r>
                        <a:rPr sz="750" spc="25" dirty="0">
                          <a:latin typeface="Calibri"/>
                          <a:cs typeface="Calibri"/>
                        </a:rPr>
                        <a:t> </a:t>
                      </a:r>
                      <a:r>
                        <a:rPr sz="750" spc="30" dirty="0">
                          <a:latin typeface="Calibri"/>
                          <a:cs typeface="Calibri"/>
                        </a:rPr>
                        <a:t>monosomy </a:t>
                      </a:r>
                      <a:r>
                        <a:rPr sz="750" spc="-25" dirty="0">
                          <a:latin typeface="Calibri"/>
                          <a:cs typeface="Calibri"/>
                        </a:rPr>
                        <a:t>10p</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3"/>
                  </a:ext>
                </a:extLst>
              </a:tr>
              <a:tr h="222885">
                <a:tc>
                  <a:txBody>
                    <a:bodyPr/>
                    <a:lstStyle/>
                    <a:p>
                      <a:pPr algn="ctr">
                        <a:lnSpc>
                          <a:spcPct val="100000"/>
                        </a:lnSpc>
                        <a:spcBef>
                          <a:spcPts val="385"/>
                        </a:spcBef>
                      </a:pPr>
                      <a:r>
                        <a:rPr sz="750" spc="10" dirty="0">
                          <a:latin typeface="Calibri"/>
                          <a:cs typeface="Calibri"/>
                        </a:rPr>
                        <a:t>Partial</a:t>
                      </a:r>
                      <a:r>
                        <a:rPr sz="750" spc="110" dirty="0">
                          <a:latin typeface="Calibri"/>
                          <a:cs typeface="Calibri"/>
                        </a:rPr>
                        <a:t> </a:t>
                      </a:r>
                      <a:r>
                        <a:rPr sz="750" spc="10" dirty="0">
                          <a:latin typeface="Calibri"/>
                          <a:cs typeface="Calibri"/>
                        </a:rPr>
                        <a:t>trisomy</a:t>
                      </a:r>
                      <a:r>
                        <a:rPr sz="750" spc="114" dirty="0">
                          <a:latin typeface="Calibri"/>
                          <a:cs typeface="Calibri"/>
                        </a:rPr>
                        <a:t> </a:t>
                      </a:r>
                      <a:r>
                        <a:rPr sz="750" spc="-25" dirty="0">
                          <a:latin typeface="Calibri"/>
                          <a:cs typeface="Calibri"/>
                        </a:rPr>
                        <a:t>10p</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4"/>
                  </a:ext>
                </a:extLst>
              </a:tr>
              <a:tr h="222250">
                <a:tc>
                  <a:txBody>
                    <a:bodyPr/>
                    <a:lstStyle/>
                    <a:p>
                      <a:pPr algn="ctr">
                        <a:lnSpc>
                          <a:spcPct val="100000"/>
                        </a:lnSpc>
                        <a:spcBef>
                          <a:spcPts val="385"/>
                        </a:spcBef>
                      </a:pPr>
                      <a:r>
                        <a:rPr sz="750" spc="30" dirty="0">
                          <a:latin typeface="Calibri"/>
                          <a:cs typeface="Calibri"/>
                        </a:rPr>
                        <a:t>Partial</a:t>
                      </a:r>
                      <a:r>
                        <a:rPr sz="750" spc="25" dirty="0">
                          <a:latin typeface="Calibri"/>
                          <a:cs typeface="Calibri"/>
                        </a:rPr>
                        <a:t> </a:t>
                      </a:r>
                      <a:r>
                        <a:rPr sz="750" spc="30" dirty="0">
                          <a:latin typeface="Calibri"/>
                          <a:cs typeface="Calibri"/>
                        </a:rPr>
                        <a:t>monosomy </a:t>
                      </a:r>
                      <a:r>
                        <a:rPr sz="750" spc="-25" dirty="0">
                          <a:latin typeface="Calibri"/>
                          <a:cs typeface="Calibri"/>
                        </a:rPr>
                        <a:t>10q</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5"/>
                  </a:ext>
                </a:extLst>
              </a:tr>
              <a:tr h="222250">
                <a:tc>
                  <a:txBody>
                    <a:bodyPr/>
                    <a:lstStyle/>
                    <a:p>
                      <a:pPr algn="ctr">
                        <a:lnSpc>
                          <a:spcPct val="100000"/>
                        </a:lnSpc>
                        <a:spcBef>
                          <a:spcPts val="385"/>
                        </a:spcBef>
                      </a:pPr>
                      <a:r>
                        <a:rPr sz="750" spc="10" dirty="0">
                          <a:latin typeface="Calibri"/>
                          <a:cs typeface="Calibri"/>
                        </a:rPr>
                        <a:t>Partial</a:t>
                      </a:r>
                      <a:r>
                        <a:rPr sz="750" spc="110" dirty="0">
                          <a:latin typeface="Calibri"/>
                          <a:cs typeface="Calibri"/>
                        </a:rPr>
                        <a:t> </a:t>
                      </a:r>
                      <a:r>
                        <a:rPr sz="750" spc="10" dirty="0">
                          <a:latin typeface="Calibri"/>
                          <a:cs typeface="Calibri"/>
                        </a:rPr>
                        <a:t>trisomy</a:t>
                      </a:r>
                      <a:r>
                        <a:rPr sz="750" spc="114" dirty="0">
                          <a:latin typeface="Calibri"/>
                          <a:cs typeface="Calibri"/>
                        </a:rPr>
                        <a:t> </a:t>
                      </a:r>
                      <a:r>
                        <a:rPr sz="750" spc="-25" dirty="0">
                          <a:latin typeface="Calibri"/>
                          <a:cs typeface="Calibri"/>
                        </a:rPr>
                        <a:t>10q</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6"/>
                  </a:ext>
                </a:extLst>
              </a:tr>
              <a:tr h="222885">
                <a:tc>
                  <a:txBody>
                    <a:bodyPr/>
                    <a:lstStyle/>
                    <a:p>
                      <a:pPr algn="ctr">
                        <a:lnSpc>
                          <a:spcPct val="100000"/>
                        </a:lnSpc>
                        <a:spcBef>
                          <a:spcPts val="385"/>
                        </a:spcBef>
                      </a:pPr>
                      <a:r>
                        <a:rPr sz="750" spc="10" dirty="0">
                          <a:latin typeface="Calibri"/>
                          <a:cs typeface="Calibri"/>
                        </a:rPr>
                        <a:t>Partial</a:t>
                      </a:r>
                      <a:r>
                        <a:rPr sz="750" spc="110" dirty="0">
                          <a:latin typeface="Calibri"/>
                          <a:cs typeface="Calibri"/>
                        </a:rPr>
                        <a:t> </a:t>
                      </a:r>
                      <a:r>
                        <a:rPr sz="750" spc="10" dirty="0">
                          <a:latin typeface="Calibri"/>
                          <a:cs typeface="Calibri"/>
                        </a:rPr>
                        <a:t>trisomy</a:t>
                      </a:r>
                      <a:r>
                        <a:rPr sz="750" spc="114" dirty="0">
                          <a:latin typeface="Calibri"/>
                          <a:cs typeface="Calibri"/>
                        </a:rPr>
                        <a:t> </a:t>
                      </a:r>
                      <a:r>
                        <a:rPr sz="750" spc="-25" dirty="0">
                          <a:latin typeface="Calibri"/>
                          <a:cs typeface="Calibri"/>
                        </a:rPr>
                        <a:t>11p</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7"/>
                  </a:ext>
                </a:extLst>
              </a:tr>
              <a:tr h="222250">
                <a:tc>
                  <a:txBody>
                    <a:bodyPr/>
                    <a:lstStyle/>
                    <a:p>
                      <a:pPr algn="ctr">
                        <a:lnSpc>
                          <a:spcPct val="100000"/>
                        </a:lnSpc>
                        <a:spcBef>
                          <a:spcPts val="385"/>
                        </a:spcBef>
                      </a:pPr>
                      <a:r>
                        <a:rPr sz="750" spc="30" dirty="0">
                          <a:latin typeface="Calibri"/>
                          <a:cs typeface="Calibri"/>
                        </a:rPr>
                        <a:t>Partial</a:t>
                      </a:r>
                      <a:r>
                        <a:rPr sz="750" spc="25" dirty="0">
                          <a:latin typeface="Calibri"/>
                          <a:cs typeface="Calibri"/>
                        </a:rPr>
                        <a:t> </a:t>
                      </a:r>
                      <a:r>
                        <a:rPr sz="750" spc="30" dirty="0">
                          <a:latin typeface="Calibri"/>
                          <a:cs typeface="Calibri"/>
                        </a:rPr>
                        <a:t>monosomy </a:t>
                      </a:r>
                      <a:r>
                        <a:rPr sz="750" spc="-25" dirty="0">
                          <a:latin typeface="Calibri"/>
                          <a:cs typeface="Calibri"/>
                        </a:rPr>
                        <a:t>11q</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8"/>
                  </a:ext>
                </a:extLst>
              </a:tr>
              <a:tr h="222885">
                <a:tc>
                  <a:txBody>
                    <a:bodyPr/>
                    <a:lstStyle/>
                    <a:p>
                      <a:pPr algn="ctr">
                        <a:lnSpc>
                          <a:spcPct val="100000"/>
                        </a:lnSpc>
                        <a:spcBef>
                          <a:spcPts val="385"/>
                        </a:spcBef>
                      </a:pPr>
                      <a:r>
                        <a:rPr sz="750" spc="10" dirty="0">
                          <a:latin typeface="Calibri"/>
                          <a:cs typeface="Calibri"/>
                        </a:rPr>
                        <a:t>Partial</a:t>
                      </a:r>
                      <a:r>
                        <a:rPr sz="750" spc="110" dirty="0">
                          <a:latin typeface="Calibri"/>
                          <a:cs typeface="Calibri"/>
                        </a:rPr>
                        <a:t> </a:t>
                      </a:r>
                      <a:r>
                        <a:rPr sz="750" spc="10" dirty="0">
                          <a:latin typeface="Calibri"/>
                          <a:cs typeface="Calibri"/>
                        </a:rPr>
                        <a:t>trisomy</a:t>
                      </a:r>
                      <a:r>
                        <a:rPr sz="750" spc="114" dirty="0">
                          <a:latin typeface="Calibri"/>
                          <a:cs typeface="Calibri"/>
                        </a:rPr>
                        <a:t> </a:t>
                      </a:r>
                      <a:r>
                        <a:rPr sz="750" spc="-25" dirty="0">
                          <a:latin typeface="Calibri"/>
                          <a:cs typeface="Calibri"/>
                        </a:rPr>
                        <a:t>11q</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9"/>
                  </a:ext>
                </a:extLst>
              </a:tr>
              <a:tr h="222250">
                <a:tc>
                  <a:txBody>
                    <a:bodyPr/>
                    <a:lstStyle/>
                    <a:p>
                      <a:pPr algn="ctr">
                        <a:lnSpc>
                          <a:spcPct val="100000"/>
                        </a:lnSpc>
                        <a:spcBef>
                          <a:spcPts val="385"/>
                        </a:spcBef>
                      </a:pPr>
                      <a:r>
                        <a:rPr sz="750" spc="30" dirty="0">
                          <a:latin typeface="Calibri"/>
                          <a:cs typeface="Calibri"/>
                        </a:rPr>
                        <a:t>Partial</a:t>
                      </a:r>
                      <a:r>
                        <a:rPr sz="750" spc="25" dirty="0">
                          <a:latin typeface="Calibri"/>
                          <a:cs typeface="Calibri"/>
                        </a:rPr>
                        <a:t> </a:t>
                      </a:r>
                      <a:r>
                        <a:rPr sz="750" spc="30" dirty="0">
                          <a:latin typeface="Calibri"/>
                          <a:cs typeface="Calibri"/>
                        </a:rPr>
                        <a:t>monosomy </a:t>
                      </a:r>
                      <a:r>
                        <a:rPr sz="750" spc="-25" dirty="0">
                          <a:latin typeface="Calibri"/>
                          <a:cs typeface="Calibri"/>
                        </a:rPr>
                        <a:t>12p</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0"/>
                  </a:ext>
                </a:extLst>
              </a:tr>
              <a:tr h="222885">
                <a:tc>
                  <a:txBody>
                    <a:bodyPr/>
                    <a:lstStyle/>
                    <a:p>
                      <a:pPr algn="ctr">
                        <a:lnSpc>
                          <a:spcPct val="100000"/>
                        </a:lnSpc>
                        <a:spcBef>
                          <a:spcPts val="385"/>
                        </a:spcBef>
                      </a:pPr>
                      <a:r>
                        <a:rPr sz="750" spc="10" dirty="0">
                          <a:latin typeface="Calibri"/>
                          <a:cs typeface="Calibri"/>
                        </a:rPr>
                        <a:t>Partial</a:t>
                      </a:r>
                      <a:r>
                        <a:rPr sz="750" spc="110" dirty="0">
                          <a:latin typeface="Calibri"/>
                          <a:cs typeface="Calibri"/>
                        </a:rPr>
                        <a:t> </a:t>
                      </a:r>
                      <a:r>
                        <a:rPr sz="750" spc="10" dirty="0">
                          <a:latin typeface="Calibri"/>
                          <a:cs typeface="Calibri"/>
                        </a:rPr>
                        <a:t>trisomy</a:t>
                      </a:r>
                      <a:r>
                        <a:rPr sz="750" spc="114" dirty="0">
                          <a:latin typeface="Calibri"/>
                          <a:cs typeface="Calibri"/>
                        </a:rPr>
                        <a:t> </a:t>
                      </a:r>
                      <a:r>
                        <a:rPr sz="750" spc="-25" dirty="0">
                          <a:latin typeface="Calibri"/>
                          <a:cs typeface="Calibri"/>
                        </a:rPr>
                        <a:t>12p</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1"/>
                  </a:ext>
                </a:extLst>
              </a:tr>
              <a:tr h="222250">
                <a:tc>
                  <a:txBody>
                    <a:bodyPr/>
                    <a:lstStyle/>
                    <a:p>
                      <a:pPr algn="ctr">
                        <a:lnSpc>
                          <a:spcPct val="100000"/>
                        </a:lnSpc>
                        <a:spcBef>
                          <a:spcPts val="385"/>
                        </a:spcBef>
                      </a:pPr>
                      <a:r>
                        <a:rPr sz="750" spc="10" dirty="0">
                          <a:latin typeface="Calibri"/>
                          <a:cs typeface="Calibri"/>
                        </a:rPr>
                        <a:t>Partial</a:t>
                      </a:r>
                      <a:r>
                        <a:rPr sz="750" spc="110" dirty="0">
                          <a:latin typeface="Calibri"/>
                          <a:cs typeface="Calibri"/>
                        </a:rPr>
                        <a:t> </a:t>
                      </a:r>
                      <a:r>
                        <a:rPr sz="750" spc="10" dirty="0">
                          <a:latin typeface="Calibri"/>
                          <a:cs typeface="Calibri"/>
                        </a:rPr>
                        <a:t>trisomy</a:t>
                      </a:r>
                      <a:r>
                        <a:rPr sz="750" spc="114" dirty="0">
                          <a:latin typeface="Calibri"/>
                          <a:cs typeface="Calibri"/>
                        </a:rPr>
                        <a:t> </a:t>
                      </a:r>
                      <a:r>
                        <a:rPr sz="750" spc="-25" dirty="0">
                          <a:latin typeface="Calibri"/>
                          <a:cs typeface="Calibri"/>
                        </a:rPr>
                        <a:t>12q</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2"/>
                  </a:ext>
                </a:extLst>
              </a:tr>
              <a:tr h="222885">
                <a:tc>
                  <a:txBody>
                    <a:bodyPr/>
                    <a:lstStyle/>
                    <a:p>
                      <a:pPr algn="ctr">
                        <a:lnSpc>
                          <a:spcPct val="100000"/>
                        </a:lnSpc>
                        <a:spcBef>
                          <a:spcPts val="385"/>
                        </a:spcBef>
                      </a:pPr>
                      <a:r>
                        <a:rPr sz="750" spc="10" dirty="0">
                          <a:latin typeface="Calibri"/>
                          <a:cs typeface="Calibri"/>
                        </a:rPr>
                        <a:t>Monosomy</a:t>
                      </a:r>
                      <a:r>
                        <a:rPr sz="750" spc="150" dirty="0">
                          <a:latin typeface="Calibri"/>
                          <a:cs typeface="Calibri"/>
                        </a:rPr>
                        <a:t> </a:t>
                      </a:r>
                      <a:r>
                        <a:rPr sz="750" spc="-10" dirty="0">
                          <a:latin typeface="Calibri"/>
                          <a:cs typeface="Calibri"/>
                        </a:rPr>
                        <a:t>13q14</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3"/>
                  </a:ext>
                </a:extLst>
              </a:tr>
              <a:tr h="222885">
                <a:tc>
                  <a:txBody>
                    <a:bodyPr/>
                    <a:lstStyle/>
                    <a:p>
                      <a:pPr algn="ctr">
                        <a:lnSpc>
                          <a:spcPct val="100000"/>
                        </a:lnSpc>
                        <a:spcBef>
                          <a:spcPts val="385"/>
                        </a:spcBef>
                      </a:pPr>
                      <a:r>
                        <a:rPr sz="750" spc="10" dirty="0">
                          <a:latin typeface="Calibri"/>
                          <a:cs typeface="Calibri"/>
                        </a:rPr>
                        <a:t>Monosomy</a:t>
                      </a:r>
                      <a:r>
                        <a:rPr sz="750" spc="270" dirty="0">
                          <a:latin typeface="Calibri"/>
                          <a:cs typeface="Calibri"/>
                        </a:rPr>
                        <a:t> </a:t>
                      </a:r>
                      <a:r>
                        <a:rPr sz="750" spc="10" dirty="0">
                          <a:latin typeface="Calibri"/>
                          <a:cs typeface="Calibri"/>
                        </a:rPr>
                        <a:t>13q21-</a:t>
                      </a:r>
                      <a:r>
                        <a:rPr sz="750" spc="-20" dirty="0">
                          <a:latin typeface="Calibri"/>
                          <a:cs typeface="Calibri"/>
                        </a:rPr>
                        <a:t>qter</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4"/>
                  </a:ext>
                </a:extLst>
              </a:tr>
              <a:tr h="222885">
                <a:tc>
                  <a:txBody>
                    <a:bodyPr/>
                    <a:lstStyle/>
                    <a:p>
                      <a:pPr algn="ctr">
                        <a:lnSpc>
                          <a:spcPct val="100000"/>
                        </a:lnSpc>
                        <a:spcBef>
                          <a:spcPts val="385"/>
                        </a:spcBef>
                      </a:pPr>
                      <a:r>
                        <a:rPr sz="750" spc="10" dirty="0">
                          <a:latin typeface="Calibri"/>
                          <a:cs typeface="Calibri"/>
                        </a:rPr>
                        <a:t>Trisomy</a:t>
                      </a:r>
                      <a:r>
                        <a:rPr sz="750" spc="310" dirty="0">
                          <a:latin typeface="Calibri"/>
                          <a:cs typeface="Calibri"/>
                        </a:rPr>
                        <a:t> </a:t>
                      </a:r>
                      <a:r>
                        <a:rPr sz="750" spc="10" dirty="0">
                          <a:latin typeface="Calibri"/>
                          <a:cs typeface="Calibri"/>
                        </a:rPr>
                        <a:t>13cen-</a:t>
                      </a:r>
                      <a:r>
                        <a:rPr sz="750" spc="-25" dirty="0">
                          <a:latin typeface="Calibri"/>
                          <a:cs typeface="Calibri"/>
                        </a:rPr>
                        <a:t>q14</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5"/>
                  </a:ext>
                </a:extLst>
              </a:tr>
              <a:tr h="222885">
                <a:tc>
                  <a:txBody>
                    <a:bodyPr/>
                    <a:lstStyle/>
                    <a:p>
                      <a:pPr algn="ctr">
                        <a:lnSpc>
                          <a:spcPct val="100000"/>
                        </a:lnSpc>
                        <a:spcBef>
                          <a:spcPts val="385"/>
                        </a:spcBef>
                      </a:pPr>
                      <a:r>
                        <a:rPr sz="750" spc="10" dirty="0">
                          <a:latin typeface="Calibri"/>
                          <a:cs typeface="Calibri"/>
                        </a:rPr>
                        <a:t>Trisomy</a:t>
                      </a:r>
                      <a:r>
                        <a:rPr sz="750" spc="245" dirty="0">
                          <a:latin typeface="Calibri"/>
                          <a:cs typeface="Calibri"/>
                        </a:rPr>
                        <a:t> </a:t>
                      </a:r>
                      <a:r>
                        <a:rPr sz="750" spc="10" dirty="0">
                          <a:latin typeface="Calibri"/>
                          <a:cs typeface="Calibri"/>
                        </a:rPr>
                        <a:t>13q21-</a:t>
                      </a:r>
                      <a:r>
                        <a:rPr sz="750" spc="-20" dirty="0">
                          <a:latin typeface="Calibri"/>
                          <a:cs typeface="Calibri"/>
                        </a:rPr>
                        <a:t>qter</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6"/>
                  </a:ext>
                </a:extLst>
              </a:tr>
              <a:tr h="220345">
                <a:tc>
                  <a:txBody>
                    <a:bodyPr/>
                    <a:lstStyle/>
                    <a:p>
                      <a:pPr algn="ctr">
                        <a:lnSpc>
                          <a:spcPct val="100000"/>
                        </a:lnSpc>
                        <a:spcBef>
                          <a:spcPts val="385"/>
                        </a:spcBef>
                      </a:pPr>
                      <a:r>
                        <a:rPr sz="750" spc="10" dirty="0">
                          <a:latin typeface="Calibri"/>
                          <a:cs typeface="Calibri"/>
                        </a:rPr>
                        <a:t>Partial</a:t>
                      </a:r>
                      <a:r>
                        <a:rPr sz="750" spc="110" dirty="0">
                          <a:latin typeface="Calibri"/>
                          <a:cs typeface="Calibri"/>
                        </a:rPr>
                        <a:t> </a:t>
                      </a:r>
                      <a:r>
                        <a:rPr sz="750" spc="10" dirty="0">
                          <a:latin typeface="Calibri"/>
                          <a:cs typeface="Calibri"/>
                        </a:rPr>
                        <a:t>trisomy</a:t>
                      </a:r>
                      <a:r>
                        <a:rPr sz="750" spc="114" dirty="0">
                          <a:latin typeface="Calibri"/>
                          <a:cs typeface="Calibri"/>
                        </a:rPr>
                        <a:t> </a:t>
                      </a:r>
                      <a:r>
                        <a:rPr sz="750" spc="-25" dirty="0">
                          <a:latin typeface="Calibri"/>
                          <a:cs typeface="Calibri"/>
                        </a:rPr>
                        <a:t>14</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6350">
                      <a:solidFill>
                        <a:srgbClr val="DEDFFD"/>
                      </a:solidFill>
                      <a:prstDash val="solid"/>
                    </a:lnB>
                  </a:tcPr>
                </a:tc>
                <a:extLst>
                  <a:ext uri="{0D108BD9-81ED-4DB2-BD59-A6C34878D82A}">
                    <a16:rowId xmlns:a16="http://schemas.microsoft.com/office/drawing/2014/main" val="10017"/>
                  </a:ext>
                </a:extLst>
              </a:tr>
            </a:tbl>
          </a:graphicData>
        </a:graphic>
      </p:graphicFrame>
      <p:graphicFrame>
        <p:nvGraphicFramePr>
          <p:cNvPr id="6" name="object 6">
            <a:extLst>
              <a:ext uri="{FF2B5EF4-FFF2-40B4-BE49-F238E27FC236}">
                <a16:creationId xmlns:a16="http://schemas.microsoft.com/office/drawing/2014/main" id="{2E3B690F-FC00-5946-0CCE-237DB599F7D9}"/>
              </a:ext>
            </a:extLst>
          </p:cNvPr>
          <p:cNvGraphicFramePr>
            <a:graphicFrameLocks noGrp="1"/>
          </p:cNvGraphicFramePr>
          <p:nvPr/>
        </p:nvGraphicFramePr>
        <p:xfrm>
          <a:off x="5360333" y="1503724"/>
          <a:ext cx="1480820" cy="3574414"/>
        </p:xfrm>
        <a:graphic>
          <a:graphicData uri="http://schemas.openxmlformats.org/drawingml/2006/table">
            <a:tbl>
              <a:tblPr firstRow="1" bandRow="1">
                <a:tableStyleId>{2D5ABB26-0587-4C30-8999-92F81FD0307C}</a:tableStyleId>
              </a:tblPr>
              <a:tblGrid>
                <a:gridCol w="1480820">
                  <a:extLst>
                    <a:ext uri="{9D8B030D-6E8A-4147-A177-3AD203B41FA5}">
                      <a16:colId xmlns:a16="http://schemas.microsoft.com/office/drawing/2014/main" val="20000"/>
                    </a:ext>
                  </a:extLst>
                </a:gridCol>
              </a:tblGrid>
              <a:tr h="240029">
                <a:tc>
                  <a:txBody>
                    <a:bodyPr/>
                    <a:lstStyle/>
                    <a:p>
                      <a:pPr algn="ctr">
                        <a:lnSpc>
                          <a:spcPct val="100000"/>
                        </a:lnSpc>
                        <a:spcBef>
                          <a:spcPts val="330"/>
                        </a:spcBef>
                      </a:pPr>
                      <a:r>
                        <a:rPr sz="900" spc="-10" dirty="0">
                          <a:solidFill>
                            <a:srgbClr val="FFFFFF"/>
                          </a:solidFill>
                          <a:latin typeface="Calibri"/>
                          <a:cs typeface="Calibri"/>
                        </a:rPr>
                        <a:t>Conditions</a:t>
                      </a:r>
                      <a:endParaRPr sz="900">
                        <a:latin typeface="Calibri"/>
                        <a:cs typeface="Calibri"/>
                      </a:endParaRPr>
                    </a:p>
                  </a:txBody>
                  <a:tcPr marL="0" marR="0" marT="41910" marB="0">
                    <a:lnB w="6350">
                      <a:solidFill>
                        <a:srgbClr val="DEDFFD"/>
                      </a:solidFill>
                      <a:prstDash val="solid"/>
                    </a:lnB>
                    <a:solidFill>
                      <a:srgbClr val="999DC0"/>
                    </a:solidFill>
                  </a:tcPr>
                </a:tc>
                <a:extLst>
                  <a:ext uri="{0D108BD9-81ED-4DB2-BD59-A6C34878D82A}">
                    <a16:rowId xmlns:a16="http://schemas.microsoft.com/office/drawing/2014/main" val="10000"/>
                  </a:ext>
                </a:extLst>
              </a:tr>
              <a:tr h="220345">
                <a:tc>
                  <a:txBody>
                    <a:bodyPr/>
                    <a:lstStyle/>
                    <a:p>
                      <a:pPr algn="ctr">
                        <a:lnSpc>
                          <a:spcPct val="100000"/>
                        </a:lnSpc>
                        <a:spcBef>
                          <a:spcPts val="365"/>
                        </a:spcBef>
                      </a:pPr>
                      <a:r>
                        <a:rPr sz="750" spc="10" dirty="0">
                          <a:latin typeface="Calibri"/>
                          <a:cs typeface="Calibri"/>
                        </a:rPr>
                        <a:t>Trisomy</a:t>
                      </a:r>
                      <a:r>
                        <a:rPr sz="750" spc="245" dirty="0">
                          <a:latin typeface="Calibri"/>
                          <a:cs typeface="Calibri"/>
                        </a:rPr>
                        <a:t> </a:t>
                      </a:r>
                      <a:r>
                        <a:rPr sz="750" spc="10" dirty="0">
                          <a:latin typeface="Calibri"/>
                          <a:cs typeface="Calibri"/>
                        </a:rPr>
                        <a:t>14q24-</a:t>
                      </a:r>
                      <a:r>
                        <a:rPr sz="750" spc="-20" dirty="0">
                          <a:latin typeface="Calibri"/>
                          <a:cs typeface="Calibri"/>
                        </a:rPr>
                        <a:t>qter</a:t>
                      </a:r>
                      <a:endParaRPr sz="750">
                        <a:latin typeface="Calibri"/>
                        <a:cs typeface="Calibri"/>
                      </a:endParaRPr>
                    </a:p>
                  </a:txBody>
                  <a:tcPr marL="0" marR="0" marT="46355" marB="0">
                    <a:lnL w="6350">
                      <a:solidFill>
                        <a:srgbClr val="DEDFFD"/>
                      </a:solidFill>
                      <a:prstDash val="solid"/>
                    </a:lnL>
                    <a:lnR w="6350">
                      <a:solidFill>
                        <a:srgbClr val="DEDFFD"/>
                      </a:solidFill>
                      <a:prstDash val="solid"/>
                    </a:lnR>
                    <a:lnT w="6350">
                      <a:solidFill>
                        <a:srgbClr val="DEDFFD"/>
                      </a:solidFill>
                      <a:prstDash val="solid"/>
                    </a:lnT>
                    <a:lnB w="9525">
                      <a:solidFill>
                        <a:srgbClr val="DEDFFD"/>
                      </a:solidFill>
                      <a:prstDash val="solid"/>
                    </a:lnB>
                  </a:tcPr>
                </a:tc>
                <a:extLst>
                  <a:ext uri="{0D108BD9-81ED-4DB2-BD59-A6C34878D82A}">
                    <a16:rowId xmlns:a16="http://schemas.microsoft.com/office/drawing/2014/main" val="10001"/>
                  </a:ext>
                </a:extLst>
              </a:tr>
              <a:tr h="222885">
                <a:tc>
                  <a:txBody>
                    <a:bodyPr/>
                    <a:lstStyle/>
                    <a:p>
                      <a:pPr algn="ctr">
                        <a:lnSpc>
                          <a:spcPct val="100000"/>
                        </a:lnSpc>
                        <a:spcBef>
                          <a:spcPts val="385"/>
                        </a:spcBef>
                      </a:pPr>
                      <a:r>
                        <a:rPr sz="750" spc="20" dirty="0">
                          <a:latin typeface="Calibri"/>
                          <a:cs typeface="Calibri"/>
                        </a:rPr>
                        <a:t>Supernumerary</a:t>
                      </a:r>
                      <a:r>
                        <a:rPr sz="750" spc="60" dirty="0">
                          <a:latin typeface="Calibri"/>
                          <a:cs typeface="Calibri"/>
                        </a:rPr>
                        <a:t> </a:t>
                      </a:r>
                      <a:r>
                        <a:rPr sz="750" spc="20" dirty="0">
                          <a:latin typeface="Calibri"/>
                          <a:cs typeface="Calibri"/>
                        </a:rPr>
                        <a:t>inv</a:t>
                      </a:r>
                      <a:r>
                        <a:rPr sz="750" spc="60" dirty="0">
                          <a:latin typeface="Calibri"/>
                          <a:cs typeface="Calibri"/>
                        </a:rPr>
                        <a:t> </a:t>
                      </a:r>
                      <a:r>
                        <a:rPr sz="750" spc="20" dirty="0">
                          <a:latin typeface="Calibri"/>
                          <a:cs typeface="Calibri"/>
                        </a:rPr>
                        <a:t>dup</a:t>
                      </a:r>
                      <a:r>
                        <a:rPr sz="750" spc="60" dirty="0">
                          <a:latin typeface="Calibri"/>
                          <a:cs typeface="Calibri"/>
                        </a:rPr>
                        <a:t> </a:t>
                      </a:r>
                      <a:r>
                        <a:rPr sz="750" spc="-20" dirty="0">
                          <a:latin typeface="Calibri"/>
                          <a:cs typeface="Calibri"/>
                        </a:rPr>
                        <a:t>(15)</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2"/>
                  </a:ext>
                </a:extLst>
              </a:tr>
              <a:tr h="222250">
                <a:tc>
                  <a:txBody>
                    <a:bodyPr/>
                    <a:lstStyle/>
                    <a:p>
                      <a:pPr algn="ctr">
                        <a:lnSpc>
                          <a:spcPct val="100000"/>
                        </a:lnSpc>
                        <a:spcBef>
                          <a:spcPts val="385"/>
                        </a:spcBef>
                      </a:pPr>
                      <a:r>
                        <a:rPr sz="750" spc="10" dirty="0">
                          <a:latin typeface="Calibri"/>
                          <a:cs typeface="Calibri"/>
                        </a:rPr>
                        <a:t>Trisomy</a:t>
                      </a:r>
                      <a:r>
                        <a:rPr sz="750" spc="245" dirty="0">
                          <a:latin typeface="Calibri"/>
                          <a:cs typeface="Calibri"/>
                        </a:rPr>
                        <a:t> </a:t>
                      </a:r>
                      <a:r>
                        <a:rPr sz="750" spc="10" dirty="0">
                          <a:latin typeface="Calibri"/>
                          <a:cs typeface="Calibri"/>
                        </a:rPr>
                        <a:t>15q22-</a:t>
                      </a:r>
                      <a:r>
                        <a:rPr sz="750" spc="-20" dirty="0">
                          <a:latin typeface="Calibri"/>
                          <a:cs typeface="Calibri"/>
                        </a:rPr>
                        <a:t>qter</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3"/>
                  </a:ext>
                </a:extLst>
              </a:tr>
              <a:tr h="222885">
                <a:tc>
                  <a:txBody>
                    <a:bodyPr/>
                    <a:lstStyle/>
                    <a:p>
                      <a:pPr algn="ctr">
                        <a:lnSpc>
                          <a:spcPct val="100000"/>
                        </a:lnSpc>
                        <a:spcBef>
                          <a:spcPts val="385"/>
                        </a:spcBef>
                      </a:pPr>
                      <a:r>
                        <a:rPr sz="750" spc="10" dirty="0">
                          <a:latin typeface="Calibri"/>
                          <a:cs typeface="Calibri"/>
                        </a:rPr>
                        <a:t>Partial</a:t>
                      </a:r>
                      <a:r>
                        <a:rPr sz="750" spc="110" dirty="0">
                          <a:latin typeface="Calibri"/>
                          <a:cs typeface="Calibri"/>
                        </a:rPr>
                        <a:t> </a:t>
                      </a:r>
                      <a:r>
                        <a:rPr sz="750" spc="10" dirty="0">
                          <a:latin typeface="Calibri"/>
                          <a:cs typeface="Calibri"/>
                        </a:rPr>
                        <a:t>trisomy</a:t>
                      </a:r>
                      <a:r>
                        <a:rPr sz="750" spc="114" dirty="0">
                          <a:latin typeface="Calibri"/>
                          <a:cs typeface="Calibri"/>
                        </a:rPr>
                        <a:t> </a:t>
                      </a:r>
                      <a:r>
                        <a:rPr sz="750" spc="-25" dirty="0">
                          <a:latin typeface="Calibri"/>
                          <a:cs typeface="Calibri"/>
                        </a:rPr>
                        <a:t>16p</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4"/>
                  </a:ext>
                </a:extLst>
              </a:tr>
              <a:tr h="222250">
                <a:tc>
                  <a:txBody>
                    <a:bodyPr/>
                    <a:lstStyle/>
                    <a:p>
                      <a:pPr algn="ctr">
                        <a:lnSpc>
                          <a:spcPct val="100000"/>
                        </a:lnSpc>
                        <a:spcBef>
                          <a:spcPts val="385"/>
                        </a:spcBef>
                      </a:pPr>
                      <a:r>
                        <a:rPr sz="750" spc="30" dirty="0">
                          <a:latin typeface="Calibri"/>
                          <a:cs typeface="Calibri"/>
                        </a:rPr>
                        <a:t>Partial</a:t>
                      </a:r>
                      <a:r>
                        <a:rPr sz="750" spc="25" dirty="0">
                          <a:latin typeface="Calibri"/>
                          <a:cs typeface="Calibri"/>
                        </a:rPr>
                        <a:t> </a:t>
                      </a:r>
                      <a:r>
                        <a:rPr sz="750" spc="30" dirty="0">
                          <a:latin typeface="Calibri"/>
                          <a:cs typeface="Calibri"/>
                        </a:rPr>
                        <a:t>monosomy </a:t>
                      </a:r>
                      <a:r>
                        <a:rPr sz="750" spc="-25" dirty="0">
                          <a:latin typeface="Calibri"/>
                          <a:cs typeface="Calibri"/>
                        </a:rPr>
                        <a:t>16q</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5"/>
                  </a:ext>
                </a:extLst>
              </a:tr>
              <a:tr h="222250">
                <a:tc>
                  <a:txBody>
                    <a:bodyPr/>
                    <a:lstStyle/>
                    <a:p>
                      <a:pPr algn="ctr">
                        <a:lnSpc>
                          <a:spcPct val="100000"/>
                        </a:lnSpc>
                        <a:spcBef>
                          <a:spcPts val="385"/>
                        </a:spcBef>
                      </a:pPr>
                      <a:r>
                        <a:rPr sz="750" spc="10" dirty="0">
                          <a:latin typeface="Calibri"/>
                          <a:cs typeface="Calibri"/>
                        </a:rPr>
                        <a:t>Partial</a:t>
                      </a:r>
                      <a:r>
                        <a:rPr sz="750" spc="110" dirty="0">
                          <a:latin typeface="Calibri"/>
                          <a:cs typeface="Calibri"/>
                        </a:rPr>
                        <a:t> </a:t>
                      </a:r>
                      <a:r>
                        <a:rPr sz="750" spc="10" dirty="0">
                          <a:latin typeface="Calibri"/>
                          <a:cs typeface="Calibri"/>
                        </a:rPr>
                        <a:t>trisomy</a:t>
                      </a:r>
                      <a:r>
                        <a:rPr sz="750" spc="114" dirty="0">
                          <a:latin typeface="Calibri"/>
                          <a:cs typeface="Calibri"/>
                        </a:rPr>
                        <a:t> </a:t>
                      </a:r>
                      <a:r>
                        <a:rPr sz="750" spc="-25" dirty="0">
                          <a:latin typeface="Calibri"/>
                          <a:cs typeface="Calibri"/>
                        </a:rPr>
                        <a:t>16q</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6"/>
                  </a:ext>
                </a:extLst>
              </a:tr>
              <a:tr h="222885">
                <a:tc>
                  <a:txBody>
                    <a:bodyPr/>
                    <a:lstStyle/>
                    <a:p>
                      <a:pPr algn="ctr">
                        <a:lnSpc>
                          <a:spcPct val="100000"/>
                        </a:lnSpc>
                        <a:spcBef>
                          <a:spcPts val="385"/>
                        </a:spcBef>
                      </a:pPr>
                      <a:r>
                        <a:rPr sz="750" spc="10" dirty="0">
                          <a:latin typeface="Calibri"/>
                          <a:cs typeface="Calibri"/>
                        </a:rPr>
                        <a:t>Trisomy</a:t>
                      </a:r>
                      <a:r>
                        <a:rPr sz="750" spc="250" dirty="0">
                          <a:latin typeface="Calibri"/>
                          <a:cs typeface="Calibri"/>
                        </a:rPr>
                        <a:t> </a:t>
                      </a:r>
                      <a:r>
                        <a:rPr sz="750" spc="10" dirty="0">
                          <a:latin typeface="Calibri"/>
                          <a:cs typeface="Calibri"/>
                        </a:rPr>
                        <a:t>17pter-</a:t>
                      </a:r>
                      <a:r>
                        <a:rPr sz="750" spc="-25" dirty="0">
                          <a:latin typeface="Calibri"/>
                          <a:cs typeface="Calibri"/>
                        </a:rPr>
                        <a:t>q21</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7"/>
                  </a:ext>
                </a:extLst>
              </a:tr>
              <a:tr h="222250">
                <a:tc>
                  <a:txBody>
                    <a:bodyPr/>
                    <a:lstStyle/>
                    <a:p>
                      <a:pPr algn="ctr">
                        <a:lnSpc>
                          <a:spcPct val="100000"/>
                        </a:lnSpc>
                        <a:spcBef>
                          <a:spcPts val="385"/>
                        </a:spcBef>
                      </a:pPr>
                      <a:r>
                        <a:rPr sz="750" spc="30" dirty="0">
                          <a:latin typeface="Calibri"/>
                          <a:cs typeface="Calibri"/>
                        </a:rPr>
                        <a:t>Partial</a:t>
                      </a:r>
                      <a:r>
                        <a:rPr sz="750" spc="25" dirty="0">
                          <a:latin typeface="Calibri"/>
                          <a:cs typeface="Calibri"/>
                        </a:rPr>
                        <a:t> </a:t>
                      </a:r>
                      <a:r>
                        <a:rPr sz="750" spc="30" dirty="0">
                          <a:latin typeface="Calibri"/>
                          <a:cs typeface="Calibri"/>
                        </a:rPr>
                        <a:t>monosomy </a:t>
                      </a:r>
                      <a:r>
                        <a:rPr sz="750" spc="-25" dirty="0">
                          <a:latin typeface="Calibri"/>
                          <a:cs typeface="Calibri"/>
                        </a:rPr>
                        <a:t>18p</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8"/>
                  </a:ext>
                </a:extLst>
              </a:tr>
              <a:tr h="222885">
                <a:tc>
                  <a:txBody>
                    <a:bodyPr/>
                    <a:lstStyle/>
                    <a:p>
                      <a:pPr algn="ctr">
                        <a:lnSpc>
                          <a:spcPct val="100000"/>
                        </a:lnSpc>
                        <a:spcBef>
                          <a:spcPts val="385"/>
                        </a:spcBef>
                      </a:pPr>
                      <a:r>
                        <a:rPr sz="750" spc="20" dirty="0">
                          <a:latin typeface="Calibri"/>
                          <a:cs typeface="Calibri"/>
                        </a:rPr>
                        <a:t>Partial</a:t>
                      </a:r>
                      <a:r>
                        <a:rPr sz="750" spc="55" dirty="0">
                          <a:latin typeface="Calibri"/>
                          <a:cs typeface="Calibri"/>
                        </a:rPr>
                        <a:t> </a:t>
                      </a:r>
                      <a:r>
                        <a:rPr sz="750" spc="20" dirty="0">
                          <a:latin typeface="Calibri"/>
                          <a:cs typeface="Calibri"/>
                        </a:rPr>
                        <a:t>tetrasomy</a:t>
                      </a:r>
                      <a:r>
                        <a:rPr sz="750" spc="60" dirty="0">
                          <a:latin typeface="Calibri"/>
                          <a:cs typeface="Calibri"/>
                        </a:rPr>
                        <a:t> </a:t>
                      </a:r>
                      <a:r>
                        <a:rPr sz="750" spc="-25" dirty="0">
                          <a:latin typeface="Calibri"/>
                          <a:cs typeface="Calibri"/>
                        </a:rPr>
                        <a:t>18p</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9"/>
                  </a:ext>
                </a:extLst>
              </a:tr>
              <a:tr h="222250">
                <a:tc>
                  <a:txBody>
                    <a:bodyPr/>
                    <a:lstStyle/>
                    <a:p>
                      <a:pPr algn="ctr">
                        <a:lnSpc>
                          <a:spcPct val="100000"/>
                        </a:lnSpc>
                        <a:spcBef>
                          <a:spcPts val="385"/>
                        </a:spcBef>
                      </a:pPr>
                      <a:r>
                        <a:rPr sz="750" spc="10" dirty="0">
                          <a:latin typeface="Calibri"/>
                          <a:cs typeface="Calibri"/>
                        </a:rPr>
                        <a:t>Trisomy</a:t>
                      </a:r>
                      <a:r>
                        <a:rPr sz="750" spc="250" dirty="0">
                          <a:latin typeface="Calibri"/>
                          <a:cs typeface="Calibri"/>
                        </a:rPr>
                        <a:t> </a:t>
                      </a:r>
                      <a:r>
                        <a:rPr sz="750" spc="10" dirty="0">
                          <a:latin typeface="Calibri"/>
                          <a:cs typeface="Calibri"/>
                        </a:rPr>
                        <a:t>18pter-</a:t>
                      </a:r>
                      <a:r>
                        <a:rPr sz="750" spc="-25" dirty="0">
                          <a:latin typeface="Calibri"/>
                          <a:cs typeface="Calibri"/>
                        </a:rPr>
                        <a:t>q12</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0"/>
                  </a:ext>
                </a:extLst>
              </a:tr>
              <a:tr h="222885">
                <a:tc>
                  <a:txBody>
                    <a:bodyPr/>
                    <a:lstStyle/>
                    <a:p>
                      <a:pPr algn="ctr">
                        <a:lnSpc>
                          <a:spcPct val="100000"/>
                        </a:lnSpc>
                        <a:spcBef>
                          <a:spcPts val="385"/>
                        </a:spcBef>
                      </a:pPr>
                      <a:r>
                        <a:rPr sz="750" spc="10" dirty="0">
                          <a:latin typeface="Calibri"/>
                          <a:cs typeface="Calibri"/>
                        </a:rPr>
                        <a:t>Monosomy</a:t>
                      </a:r>
                      <a:r>
                        <a:rPr sz="750" spc="270" dirty="0">
                          <a:latin typeface="Calibri"/>
                          <a:cs typeface="Calibri"/>
                        </a:rPr>
                        <a:t> </a:t>
                      </a:r>
                      <a:r>
                        <a:rPr sz="750" spc="10" dirty="0">
                          <a:latin typeface="Calibri"/>
                          <a:cs typeface="Calibri"/>
                        </a:rPr>
                        <a:t>18q21-</a:t>
                      </a:r>
                      <a:r>
                        <a:rPr sz="750" spc="-20" dirty="0">
                          <a:latin typeface="Calibri"/>
                          <a:cs typeface="Calibri"/>
                        </a:rPr>
                        <a:t>qter</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1"/>
                  </a:ext>
                </a:extLst>
              </a:tr>
              <a:tr h="222250">
                <a:tc>
                  <a:txBody>
                    <a:bodyPr/>
                    <a:lstStyle/>
                    <a:p>
                      <a:pPr algn="ctr">
                        <a:lnSpc>
                          <a:spcPct val="100000"/>
                        </a:lnSpc>
                        <a:spcBef>
                          <a:spcPts val="385"/>
                        </a:spcBef>
                      </a:pPr>
                      <a:r>
                        <a:rPr sz="750" spc="10" dirty="0">
                          <a:latin typeface="Calibri"/>
                          <a:cs typeface="Calibri"/>
                        </a:rPr>
                        <a:t>Trisomy</a:t>
                      </a:r>
                      <a:r>
                        <a:rPr sz="750" spc="245" dirty="0">
                          <a:latin typeface="Calibri"/>
                          <a:cs typeface="Calibri"/>
                        </a:rPr>
                        <a:t> </a:t>
                      </a:r>
                      <a:r>
                        <a:rPr sz="750" spc="10" dirty="0">
                          <a:latin typeface="Calibri"/>
                          <a:cs typeface="Calibri"/>
                        </a:rPr>
                        <a:t>18q12-</a:t>
                      </a:r>
                      <a:r>
                        <a:rPr sz="750" spc="-20" dirty="0">
                          <a:latin typeface="Calibri"/>
                          <a:cs typeface="Calibri"/>
                        </a:rPr>
                        <a:t>qter</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2"/>
                  </a:ext>
                </a:extLst>
              </a:tr>
              <a:tr h="222885">
                <a:tc>
                  <a:txBody>
                    <a:bodyPr/>
                    <a:lstStyle/>
                    <a:p>
                      <a:pPr algn="ctr">
                        <a:lnSpc>
                          <a:spcPct val="100000"/>
                        </a:lnSpc>
                        <a:spcBef>
                          <a:spcPts val="385"/>
                        </a:spcBef>
                      </a:pPr>
                      <a:r>
                        <a:rPr sz="750" spc="30" dirty="0">
                          <a:latin typeface="Calibri"/>
                          <a:cs typeface="Calibri"/>
                        </a:rPr>
                        <a:t>Partial</a:t>
                      </a:r>
                      <a:r>
                        <a:rPr sz="750" spc="25" dirty="0">
                          <a:latin typeface="Calibri"/>
                          <a:cs typeface="Calibri"/>
                        </a:rPr>
                        <a:t> </a:t>
                      </a:r>
                      <a:r>
                        <a:rPr sz="750" spc="30" dirty="0">
                          <a:latin typeface="Calibri"/>
                          <a:cs typeface="Calibri"/>
                        </a:rPr>
                        <a:t>monosomy </a:t>
                      </a:r>
                      <a:r>
                        <a:rPr sz="750" spc="-25" dirty="0">
                          <a:latin typeface="Calibri"/>
                          <a:cs typeface="Calibri"/>
                        </a:rPr>
                        <a:t>20p</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3"/>
                  </a:ext>
                </a:extLst>
              </a:tr>
              <a:tr h="222885">
                <a:tc>
                  <a:txBody>
                    <a:bodyPr/>
                    <a:lstStyle/>
                    <a:p>
                      <a:pPr algn="ctr">
                        <a:lnSpc>
                          <a:spcPct val="100000"/>
                        </a:lnSpc>
                        <a:spcBef>
                          <a:spcPts val="385"/>
                        </a:spcBef>
                      </a:pPr>
                      <a:r>
                        <a:rPr sz="750" spc="10" dirty="0">
                          <a:latin typeface="Calibri"/>
                          <a:cs typeface="Calibri"/>
                        </a:rPr>
                        <a:t>Trisomy</a:t>
                      </a:r>
                      <a:r>
                        <a:rPr sz="750" spc="130" dirty="0">
                          <a:latin typeface="Calibri"/>
                          <a:cs typeface="Calibri"/>
                        </a:rPr>
                        <a:t> </a:t>
                      </a:r>
                      <a:r>
                        <a:rPr sz="750" spc="-25" dirty="0">
                          <a:latin typeface="Calibri"/>
                          <a:cs typeface="Calibri"/>
                        </a:rPr>
                        <a:t>20p</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14"/>
                  </a:ext>
                </a:extLst>
              </a:tr>
              <a:tr h="220345">
                <a:tc>
                  <a:txBody>
                    <a:bodyPr/>
                    <a:lstStyle/>
                    <a:p>
                      <a:pPr algn="ctr">
                        <a:lnSpc>
                          <a:spcPct val="100000"/>
                        </a:lnSpc>
                        <a:spcBef>
                          <a:spcPts val="385"/>
                        </a:spcBef>
                      </a:pPr>
                      <a:r>
                        <a:rPr sz="750" spc="30" dirty="0">
                          <a:latin typeface="Calibri"/>
                          <a:cs typeface="Calibri"/>
                        </a:rPr>
                        <a:t>Partial</a:t>
                      </a:r>
                      <a:r>
                        <a:rPr sz="750" spc="25" dirty="0">
                          <a:latin typeface="Calibri"/>
                          <a:cs typeface="Calibri"/>
                        </a:rPr>
                        <a:t> </a:t>
                      </a:r>
                      <a:r>
                        <a:rPr sz="750" spc="30" dirty="0">
                          <a:latin typeface="Calibri"/>
                          <a:cs typeface="Calibri"/>
                        </a:rPr>
                        <a:t>monosomy </a:t>
                      </a:r>
                      <a:r>
                        <a:rPr sz="750" spc="-25" dirty="0">
                          <a:latin typeface="Calibri"/>
                          <a:cs typeface="Calibri"/>
                        </a:rPr>
                        <a:t>21</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6350">
                      <a:solidFill>
                        <a:srgbClr val="DEDFFD"/>
                      </a:solidFill>
                      <a:prstDash val="solid"/>
                    </a:lnB>
                  </a:tcPr>
                </a:tc>
                <a:extLst>
                  <a:ext uri="{0D108BD9-81ED-4DB2-BD59-A6C34878D82A}">
                    <a16:rowId xmlns:a16="http://schemas.microsoft.com/office/drawing/2014/main" val="10015"/>
                  </a:ext>
                </a:extLst>
              </a:tr>
            </a:tbl>
          </a:graphicData>
        </a:graphic>
      </p:graphicFrame>
      <p:sp>
        <p:nvSpPr>
          <p:cNvPr id="7" name="object 7">
            <a:extLst>
              <a:ext uri="{FF2B5EF4-FFF2-40B4-BE49-F238E27FC236}">
                <a16:creationId xmlns:a16="http://schemas.microsoft.com/office/drawing/2014/main" id="{4B8BDE44-F762-21F1-9605-56D9BE01B2AC}"/>
              </a:ext>
            </a:extLst>
          </p:cNvPr>
          <p:cNvSpPr txBox="1"/>
          <p:nvPr/>
        </p:nvSpPr>
        <p:spPr>
          <a:xfrm>
            <a:off x="568325" y="5914542"/>
            <a:ext cx="3620011" cy="169918"/>
          </a:xfrm>
          <a:prstGeom prst="rect">
            <a:avLst/>
          </a:prstGeom>
        </p:spPr>
        <p:txBody>
          <a:bodyPr vert="horz" wrap="square" lIns="0" tIns="15875" rIns="0" bIns="0" rtlCol="0">
            <a:spAutoFit/>
          </a:bodyPr>
          <a:lstStyle/>
          <a:p>
            <a:pPr marL="12700" lvl="0"/>
            <a:r>
              <a:rPr lang="en-US" sz="1000" dirty="0">
                <a:solidFill>
                  <a:schemeClr val="dk1"/>
                </a:solidFill>
                <a:latin typeface="Calibri" panose="020F0502020204030204" pitchFamily="34" charset="0"/>
                <a:cs typeface="Calibri" panose="020F0502020204030204" pitchFamily="34" charset="0"/>
              </a:rPr>
              <a:t>Other</a:t>
            </a:r>
            <a:r>
              <a:rPr lang="en-US" sz="1000" dirty="0">
                <a:solidFill>
                  <a:schemeClr val="dk1"/>
                </a:solidFill>
                <a:latin typeface="Calibri" panose="020F0502020204030204" pitchFamily="34" charset="0"/>
                <a:ea typeface="Times New Roman"/>
                <a:cs typeface="Calibri" panose="020F0502020204030204" pitchFamily="34" charset="0"/>
                <a:sym typeface="Times New Roman"/>
              </a:rPr>
              <a:t> </a:t>
            </a:r>
            <a:r>
              <a:rPr lang="en-US" sz="1000" dirty="0">
                <a:solidFill>
                  <a:schemeClr val="dk1"/>
                </a:solidFill>
                <a:latin typeface="Calibri" panose="020F0502020204030204" pitchFamily="34" charset="0"/>
                <a:cs typeface="Calibri" panose="020F0502020204030204" pitchFamily="34" charset="0"/>
              </a:rPr>
              <a:t>21</a:t>
            </a:r>
            <a:r>
              <a:rPr lang="en-US" sz="1000" dirty="0">
                <a:solidFill>
                  <a:schemeClr val="dk1"/>
                </a:solidFill>
                <a:latin typeface="Calibri" panose="020F0502020204030204" pitchFamily="34" charset="0"/>
                <a:ea typeface="Times New Roman"/>
                <a:cs typeface="Calibri" panose="020F0502020204030204" pitchFamily="34" charset="0"/>
                <a:sym typeface="Times New Roman"/>
              </a:rPr>
              <a:t> </a:t>
            </a:r>
            <a:r>
              <a:rPr lang="en-US" sz="1000" dirty="0">
                <a:solidFill>
                  <a:schemeClr val="dk1"/>
                </a:solidFill>
                <a:latin typeface="Calibri" panose="020F0502020204030204" pitchFamily="34" charset="0"/>
                <a:cs typeface="Calibri" panose="020F0502020204030204" pitchFamily="34" charset="0"/>
              </a:rPr>
              <a:t>microdeletion/duplication</a:t>
            </a:r>
            <a:r>
              <a:rPr lang="en-US" sz="1000" dirty="0">
                <a:solidFill>
                  <a:schemeClr val="dk1"/>
                </a:solidFill>
                <a:latin typeface="Calibri" panose="020F0502020204030204" pitchFamily="34" charset="0"/>
                <a:ea typeface="Times New Roman"/>
                <a:cs typeface="Calibri" panose="020F0502020204030204" pitchFamily="34" charset="0"/>
                <a:sym typeface="Times New Roman"/>
              </a:rPr>
              <a:t> </a:t>
            </a:r>
            <a:r>
              <a:rPr lang="en-US" sz="1000" dirty="0">
                <a:solidFill>
                  <a:schemeClr val="dk1"/>
                </a:solidFill>
                <a:latin typeface="Calibri" panose="020F0502020204030204" pitchFamily="34" charset="0"/>
                <a:cs typeface="Calibri" panose="020F0502020204030204" pitchFamily="34" charset="0"/>
              </a:rPr>
              <a:t>syndromes &gt; 2.5mb</a:t>
            </a:r>
            <a:endParaRPr lang="en-US" sz="800" dirty="0">
              <a:latin typeface="Calibri" panose="020F0502020204030204" pitchFamily="34" charset="0"/>
              <a:ea typeface="Microsoft YaHei"/>
              <a:cs typeface="Calibri" panose="020F0502020204030204" pitchFamily="34" charset="0"/>
              <a:sym typeface="Microsoft YaHei"/>
            </a:endParaRPr>
          </a:p>
        </p:txBody>
      </p:sp>
      <p:graphicFrame>
        <p:nvGraphicFramePr>
          <p:cNvPr id="8" name="object 8">
            <a:extLst>
              <a:ext uri="{FF2B5EF4-FFF2-40B4-BE49-F238E27FC236}">
                <a16:creationId xmlns:a16="http://schemas.microsoft.com/office/drawing/2014/main" id="{6D07FB65-1B12-04F2-8EA7-D050800834A1}"/>
              </a:ext>
            </a:extLst>
          </p:cNvPr>
          <p:cNvGraphicFramePr>
            <a:graphicFrameLocks noGrp="1"/>
          </p:cNvGraphicFramePr>
          <p:nvPr/>
        </p:nvGraphicFramePr>
        <p:xfrm>
          <a:off x="581031" y="6231655"/>
          <a:ext cx="1480820" cy="1571624"/>
        </p:xfrm>
        <a:graphic>
          <a:graphicData uri="http://schemas.openxmlformats.org/drawingml/2006/table">
            <a:tbl>
              <a:tblPr firstRow="1" bandRow="1">
                <a:tableStyleId>{2D5ABB26-0587-4C30-8999-92F81FD0307C}</a:tableStyleId>
              </a:tblPr>
              <a:tblGrid>
                <a:gridCol w="1480820">
                  <a:extLst>
                    <a:ext uri="{9D8B030D-6E8A-4147-A177-3AD203B41FA5}">
                      <a16:colId xmlns:a16="http://schemas.microsoft.com/office/drawing/2014/main" val="20000"/>
                    </a:ext>
                  </a:extLst>
                </a:gridCol>
              </a:tblGrid>
              <a:tr h="240029">
                <a:tc>
                  <a:txBody>
                    <a:bodyPr/>
                    <a:lstStyle/>
                    <a:p>
                      <a:pPr algn="ctr">
                        <a:lnSpc>
                          <a:spcPct val="100000"/>
                        </a:lnSpc>
                        <a:spcBef>
                          <a:spcPts val="330"/>
                        </a:spcBef>
                      </a:pPr>
                      <a:r>
                        <a:rPr sz="900" b="1" spc="-10" dirty="0">
                          <a:solidFill>
                            <a:srgbClr val="FFFFFF"/>
                          </a:solidFill>
                          <a:latin typeface="Calibri"/>
                          <a:cs typeface="Calibri"/>
                        </a:rPr>
                        <a:t>Conditions</a:t>
                      </a:r>
                      <a:endParaRPr sz="900">
                        <a:latin typeface="Calibri"/>
                        <a:cs typeface="Calibri"/>
                      </a:endParaRPr>
                    </a:p>
                  </a:txBody>
                  <a:tcPr marL="0" marR="0" marT="41910" marB="0">
                    <a:lnB w="6350">
                      <a:solidFill>
                        <a:srgbClr val="DEDFFD"/>
                      </a:solidFill>
                      <a:prstDash val="solid"/>
                    </a:lnB>
                    <a:solidFill>
                      <a:srgbClr val="999DC0"/>
                    </a:solidFill>
                  </a:tcPr>
                </a:tc>
                <a:extLst>
                  <a:ext uri="{0D108BD9-81ED-4DB2-BD59-A6C34878D82A}">
                    <a16:rowId xmlns:a16="http://schemas.microsoft.com/office/drawing/2014/main" val="10000"/>
                  </a:ext>
                </a:extLst>
              </a:tr>
              <a:tr h="220345">
                <a:tc>
                  <a:txBody>
                    <a:bodyPr/>
                    <a:lstStyle/>
                    <a:p>
                      <a:pPr algn="ctr">
                        <a:lnSpc>
                          <a:spcPct val="100000"/>
                        </a:lnSpc>
                        <a:spcBef>
                          <a:spcPts val="365"/>
                        </a:spcBef>
                      </a:pPr>
                      <a:r>
                        <a:rPr sz="750" spc="10" dirty="0">
                          <a:latin typeface="Calibri"/>
                          <a:cs typeface="Calibri"/>
                        </a:rPr>
                        <a:t>1p36</a:t>
                      </a:r>
                      <a:r>
                        <a:rPr sz="750" spc="100" dirty="0">
                          <a:latin typeface="Calibri"/>
                          <a:cs typeface="Calibri"/>
                        </a:rPr>
                        <a:t> </a:t>
                      </a:r>
                      <a:r>
                        <a:rPr sz="750" spc="10" dirty="0">
                          <a:latin typeface="Calibri"/>
                          <a:cs typeface="Calibri"/>
                        </a:rPr>
                        <a:t>deletion</a:t>
                      </a:r>
                      <a:r>
                        <a:rPr sz="750" spc="105" dirty="0">
                          <a:latin typeface="Calibri"/>
                          <a:cs typeface="Calibri"/>
                        </a:rPr>
                        <a:t> </a:t>
                      </a:r>
                      <a:r>
                        <a:rPr sz="750" spc="-10" dirty="0">
                          <a:latin typeface="Calibri"/>
                          <a:cs typeface="Calibri"/>
                        </a:rPr>
                        <a:t>syndrome</a:t>
                      </a:r>
                      <a:endParaRPr sz="750">
                        <a:latin typeface="Calibri"/>
                        <a:cs typeface="Calibri"/>
                      </a:endParaRPr>
                    </a:p>
                  </a:txBody>
                  <a:tcPr marL="0" marR="0" marT="46355" marB="0">
                    <a:lnL w="6350">
                      <a:solidFill>
                        <a:srgbClr val="DEDFFD"/>
                      </a:solidFill>
                      <a:prstDash val="solid"/>
                    </a:lnL>
                    <a:lnR w="6350">
                      <a:solidFill>
                        <a:srgbClr val="DEDFFD"/>
                      </a:solidFill>
                      <a:prstDash val="solid"/>
                    </a:lnR>
                    <a:lnT w="6350">
                      <a:solidFill>
                        <a:srgbClr val="DEDFFD"/>
                      </a:solidFill>
                      <a:prstDash val="solid"/>
                    </a:lnT>
                    <a:lnB w="9525">
                      <a:solidFill>
                        <a:srgbClr val="DEDFFD"/>
                      </a:solidFill>
                      <a:prstDash val="solid"/>
                    </a:lnB>
                  </a:tcPr>
                </a:tc>
                <a:extLst>
                  <a:ext uri="{0D108BD9-81ED-4DB2-BD59-A6C34878D82A}">
                    <a16:rowId xmlns:a16="http://schemas.microsoft.com/office/drawing/2014/main" val="10001"/>
                  </a:ext>
                </a:extLst>
              </a:tr>
              <a:tr h="222885">
                <a:tc>
                  <a:txBody>
                    <a:bodyPr/>
                    <a:lstStyle/>
                    <a:p>
                      <a:pPr algn="ctr">
                        <a:lnSpc>
                          <a:spcPct val="100000"/>
                        </a:lnSpc>
                        <a:spcBef>
                          <a:spcPts val="385"/>
                        </a:spcBef>
                      </a:pPr>
                      <a:r>
                        <a:rPr sz="750" spc="10" dirty="0">
                          <a:latin typeface="Calibri"/>
                          <a:cs typeface="Calibri"/>
                        </a:rPr>
                        <a:t>2p16.1-p15</a:t>
                      </a:r>
                      <a:r>
                        <a:rPr sz="750" spc="180" dirty="0">
                          <a:latin typeface="Calibri"/>
                          <a:cs typeface="Calibri"/>
                        </a:rPr>
                        <a:t> </a:t>
                      </a:r>
                      <a:r>
                        <a:rPr sz="750" spc="10" dirty="0">
                          <a:latin typeface="Calibri"/>
                          <a:cs typeface="Calibri"/>
                        </a:rPr>
                        <a:t>deletion</a:t>
                      </a:r>
                      <a:r>
                        <a:rPr sz="750" spc="185" dirty="0">
                          <a:latin typeface="Calibri"/>
                          <a:cs typeface="Calibri"/>
                        </a:rPr>
                        <a:t> </a:t>
                      </a:r>
                      <a:r>
                        <a:rPr sz="750" spc="-10" dirty="0">
                          <a:latin typeface="Calibri"/>
                          <a:cs typeface="Calibri"/>
                        </a:rPr>
                        <a:t>syndrome</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2"/>
                  </a:ext>
                </a:extLst>
              </a:tr>
              <a:tr h="222885">
                <a:tc>
                  <a:txBody>
                    <a:bodyPr/>
                    <a:lstStyle/>
                    <a:p>
                      <a:pPr algn="ctr">
                        <a:lnSpc>
                          <a:spcPct val="100000"/>
                        </a:lnSpc>
                        <a:spcBef>
                          <a:spcPts val="385"/>
                        </a:spcBef>
                      </a:pPr>
                      <a:r>
                        <a:rPr sz="750" spc="10" dirty="0">
                          <a:latin typeface="Calibri"/>
                          <a:cs typeface="Calibri"/>
                        </a:rPr>
                        <a:t>2q33.1</a:t>
                      </a:r>
                      <a:r>
                        <a:rPr sz="750" spc="130" dirty="0">
                          <a:latin typeface="Calibri"/>
                          <a:cs typeface="Calibri"/>
                        </a:rPr>
                        <a:t> </a:t>
                      </a:r>
                      <a:r>
                        <a:rPr sz="750" spc="10" dirty="0">
                          <a:latin typeface="Calibri"/>
                          <a:cs typeface="Calibri"/>
                        </a:rPr>
                        <a:t>deletion</a:t>
                      </a:r>
                      <a:r>
                        <a:rPr sz="750" spc="130" dirty="0">
                          <a:latin typeface="Calibri"/>
                          <a:cs typeface="Calibri"/>
                        </a:rPr>
                        <a:t> </a:t>
                      </a:r>
                      <a:r>
                        <a:rPr sz="750" spc="-10" dirty="0">
                          <a:latin typeface="Calibri"/>
                          <a:cs typeface="Calibri"/>
                        </a:rPr>
                        <a:t>syndrome</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3"/>
                  </a:ext>
                </a:extLst>
              </a:tr>
              <a:tr h="222885">
                <a:tc>
                  <a:txBody>
                    <a:bodyPr/>
                    <a:lstStyle/>
                    <a:p>
                      <a:pPr algn="ctr">
                        <a:lnSpc>
                          <a:spcPct val="100000"/>
                        </a:lnSpc>
                        <a:spcBef>
                          <a:spcPts val="385"/>
                        </a:spcBef>
                      </a:pPr>
                      <a:r>
                        <a:rPr sz="750" spc="10" dirty="0">
                          <a:latin typeface="Calibri"/>
                          <a:cs typeface="Calibri"/>
                        </a:rPr>
                        <a:t>2q37</a:t>
                      </a:r>
                      <a:r>
                        <a:rPr sz="750" spc="100" dirty="0">
                          <a:latin typeface="Calibri"/>
                          <a:cs typeface="Calibri"/>
                        </a:rPr>
                        <a:t> </a:t>
                      </a:r>
                      <a:r>
                        <a:rPr sz="750" spc="10" dirty="0">
                          <a:latin typeface="Calibri"/>
                          <a:cs typeface="Calibri"/>
                        </a:rPr>
                        <a:t>deletion</a:t>
                      </a:r>
                      <a:r>
                        <a:rPr sz="750" spc="105" dirty="0">
                          <a:latin typeface="Calibri"/>
                          <a:cs typeface="Calibri"/>
                        </a:rPr>
                        <a:t> </a:t>
                      </a:r>
                      <a:r>
                        <a:rPr sz="750" spc="-10" dirty="0">
                          <a:latin typeface="Calibri"/>
                          <a:cs typeface="Calibri"/>
                        </a:rPr>
                        <a:t>syndrome</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4"/>
                  </a:ext>
                </a:extLst>
              </a:tr>
              <a:tr h="222250">
                <a:tc>
                  <a:txBody>
                    <a:bodyPr/>
                    <a:lstStyle/>
                    <a:p>
                      <a:pPr algn="ctr">
                        <a:lnSpc>
                          <a:spcPct val="100000"/>
                        </a:lnSpc>
                        <a:spcBef>
                          <a:spcPts val="385"/>
                        </a:spcBef>
                      </a:pPr>
                      <a:r>
                        <a:rPr sz="750" spc="10" dirty="0">
                          <a:latin typeface="Calibri"/>
                          <a:cs typeface="Calibri"/>
                        </a:rPr>
                        <a:t>3p</a:t>
                      </a:r>
                      <a:r>
                        <a:rPr sz="750" spc="75" dirty="0">
                          <a:latin typeface="Calibri"/>
                          <a:cs typeface="Calibri"/>
                        </a:rPr>
                        <a:t> </a:t>
                      </a:r>
                      <a:r>
                        <a:rPr sz="750" spc="10" dirty="0">
                          <a:latin typeface="Calibri"/>
                          <a:cs typeface="Calibri"/>
                        </a:rPr>
                        <a:t>deletion</a:t>
                      </a:r>
                      <a:r>
                        <a:rPr sz="750" spc="80" dirty="0">
                          <a:latin typeface="Calibri"/>
                          <a:cs typeface="Calibri"/>
                        </a:rPr>
                        <a:t> </a:t>
                      </a:r>
                      <a:r>
                        <a:rPr sz="750" spc="-10" dirty="0">
                          <a:latin typeface="Calibri"/>
                          <a:cs typeface="Calibri"/>
                        </a:rPr>
                        <a:t>syndrome</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5"/>
                  </a:ext>
                </a:extLst>
              </a:tr>
              <a:tr h="220345">
                <a:tc>
                  <a:txBody>
                    <a:bodyPr/>
                    <a:lstStyle/>
                    <a:p>
                      <a:pPr algn="ctr">
                        <a:lnSpc>
                          <a:spcPct val="100000"/>
                        </a:lnSpc>
                        <a:spcBef>
                          <a:spcPts val="385"/>
                        </a:spcBef>
                      </a:pPr>
                      <a:r>
                        <a:rPr sz="750" spc="20" dirty="0">
                          <a:latin typeface="Calibri"/>
                          <a:cs typeface="Calibri"/>
                        </a:rPr>
                        <a:t>4p16.31</a:t>
                      </a:r>
                      <a:r>
                        <a:rPr sz="750" spc="70" dirty="0">
                          <a:latin typeface="Calibri"/>
                          <a:cs typeface="Calibri"/>
                        </a:rPr>
                        <a:t> </a:t>
                      </a:r>
                      <a:r>
                        <a:rPr sz="750" spc="20" dirty="0">
                          <a:latin typeface="Calibri"/>
                          <a:cs typeface="Calibri"/>
                        </a:rPr>
                        <a:t>deletion</a:t>
                      </a:r>
                      <a:r>
                        <a:rPr sz="750" spc="70" dirty="0">
                          <a:latin typeface="Calibri"/>
                          <a:cs typeface="Calibri"/>
                        </a:rPr>
                        <a:t> </a:t>
                      </a:r>
                      <a:r>
                        <a:rPr sz="750" spc="-10" dirty="0">
                          <a:latin typeface="Calibri"/>
                          <a:cs typeface="Calibri"/>
                        </a:rPr>
                        <a:t>syndrome</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6350">
                      <a:solidFill>
                        <a:srgbClr val="DEDFFD"/>
                      </a:solidFill>
                      <a:prstDash val="solid"/>
                    </a:lnB>
                  </a:tcPr>
                </a:tc>
                <a:extLst>
                  <a:ext uri="{0D108BD9-81ED-4DB2-BD59-A6C34878D82A}">
                    <a16:rowId xmlns:a16="http://schemas.microsoft.com/office/drawing/2014/main" val="10006"/>
                  </a:ext>
                </a:extLst>
              </a:tr>
            </a:tbl>
          </a:graphicData>
        </a:graphic>
      </p:graphicFrame>
      <p:graphicFrame>
        <p:nvGraphicFramePr>
          <p:cNvPr id="9" name="object 9">
            <a:extLst>
              <a:ext uri="{FF2B5EF4-FFF2-40B4-BE49-F238E27FC236}">
                <a16:creationId xmlns:a16="http://schemas.microsoft.com/office/drawing/2014/main" id="{8013B626-78D8-1906-5210-512D2136A693}"/>
              </a:ext>
            </a:extLst>
          </p:cNvPr>
          <p:cNvGraphicFramePr>
            <a:graphicFrameLocks noGrp="1"/>
          </p:cNvGraphicFramePr>
          <p:nvPr/>
        </p:nvGraphicFramePr>
        <p:xfrm>
          <a:off x="2174132" y="6231655"/>
          <a:ext cx="1481455" cy="1571624"/>
        </p:xfrm>
        <a:graphic>
          <a:graphicData uri="http://schemas.openxmlformats.org/drawingml/2006/table">
            <a:tbl>
              <a:tblPr firstRow="1" bandRow="1">
                <a:tableStyleId>{2D5ABB26-0587-4C30-8999-92F81FD0307C}</a:tableStyleId>
              </a:tblPr>
              <a:tblGrid>
                <a:gridCol w="1481455">
                  <a:extLst>
                    <a:ext uri="{9D8B030D-6E8A-4147-A177-3AD203B41FA5}">
                      <a16:colId xmlns:a16="http://schemas.microsoft.com/office/drawing/2014/main" val="20000"/>
                    </a:ext>
                  </a:extLst>
                </a:gridCol>
              </a:tblGrid>
              <a:tr h="240029">
                <a:tc>
                  <a:txBody>
                    <a:bodyPr/>
                    <a:lstStyle/>
                    <a:p>
                      <a:pPr algn="ctr">
                        <a:lnSpc>
                          <a:spcPct val="100000"/>
                        </a:lnSpc>
                        <a:spcBef>
                          <a:spcPts val="330"/>
                        </a:spcBef>
                      </a:pPr>
                      <a:r>
                        <a:rPr sz="900" b="1" spc="-10" dirty="0">
                          <a:solidFill>
                            <a:srgbClr val="FFFFFF"/>
                          </a:solidFill>
                          <a:latin typeface="Calibri"/>
                          <a:cs typeface="Calibri"/>
                        </a:rPr>
                        <a:t>Conditions</a:t>
                      </a:r>
                      <a:endParaRPr sz="900">
                        <a:latin typeface="Calibri"/>
                        <a:cs typeface="Calibri"/>
                      </a:endParaRPr>
                    </a:p>
                  </a:txBody>
                  <a:tcPr marL="0" marR="0" marT="41910" marB="0">
                    <a:lnB w="6350">
                      <a:solidFill>
                        <a:srgbClr val="DEDFFD"/>
                      </a:solidFill>
                      <a:prstDash val="solid"/>
                    </a:lnB>
                    <a:solidFill>
                      <a:srgbClr val="999DC0"/>
                    </a:solidFill>
                  </a:tcPr>
                </a:tc>
                <a:extLst>
                  <a:ext uri="{0D108BD9-81ED-4DB2-BD59-A6C34878D82A}">
                    <a16:rowId xmlns:a16="http://schemas.microsoft.com/office/drawing/2014/main" val="10000"/>
                  </a:ext>
                </a:extLst>
              </a:tr>
              <a:tr h="220345">
                <a:tc>
                  <a:txBody>
                    <a:bodyPr/>
                    <a:lstStyle/>
                    <a:p>
                      <a:pPr algn="ctr">
                        <a:lnSpc>
                          <a:spcPct val="100000"/>
                        </a:lnSpc>
                        <a:spcBef>
                          <a:spcPts val="365"/>
                        </a:spcBef>
                      </a:pPr>
                      <a:r>
                        <a:rPr sz="750" spc="10" dirty="0">
                          <a:latin typeface="Calibri"/>
                          <a:cs typeface="Calibri"/>
                        </a:rPr>
                        <a:t>Cri-du-chat</a:t>
                      </a:r>
                      <a:r>
                        <a:rPr sz="750" spc="340" dirty="0">
                          <a:latin typeface="Calibri"/>
                          <a:cs typeface="Calibri"/>
                        </a:rPr>
                        <a:t> </a:t>
                      </a:r>
                      <a:r>
                        <a:rPr sz="750" spc="-10" dirty="0">
                          <a:latin typeface="Calibri"/>
                          <a:cs typeface="Calibri"/>
                        </a:rPr>
                        <a:t>syndrome</a:t>
                      </a:r>
                      <a:endParaRPr sz="750">
                        <a:latin typeface="Calibri"/>
                        <a:cs typeface="Calibri"/>
                      </a:endParaRPr>
                    </a:p>
                  </a:txBody>
                  <a:tcPr marL="0" marR="0" marT="46355" marB="0">
                    <a:lnL w="6350">
                      <a:solidFill>
                        <a:srgbClr val="DEDFFD"/>
                      </a:solidFill>
                      <a:prstDash val="solid"/>
                    </a:lnL>
                    <a:lnR w="6350">
                      <a:solidFill>
                        <a:srgbClr val="DEDFFD"/>
                      </a:solidFill>
                      <a:prstDash val="solid"/>
                    </a:lnR>
                    <a:lnT w="6350">
                      <a:solidFill>
                        <a:srgbClr val="DEDFFD"/>
                      </a:solidFill>
                      <a:prstDash val="solid"/>
                    </a:lnT>
                    <a:lnB w="9525">
                      <a:solidFill>
                        <a:srgbClr val="DEDFFD"/>
                      </a:solidFill>
                      <a:prstDash val="solid"/>
                    </a:lnB>
                  </a:tcPr>
                </a:tc>
                <a:extLst>
                  <a:ext uri="{0D108BD9-81ED-4DB2-BD59-A6C34878D82A}">
                    <a16:rowId xmlns:a16="http://schemas.microsoft.com/office/drawing/2014/main" val="10001"/>
                  </a:ext>
                </a:extLst>
              </a:tr>
              <a:tr h="222885">
                <a:tc>
                  <a:txBody>
                    <a:bodyPr/>
                    <a:lstStyle/>
                    <a:p>
                      <a:pPr algn="ctr">
                        <a:lnSpc>
                          <a:spcPct val="100000"/>
                        </a:lnSpc>
                        <a:spcBef>
                          <a:spcPts val="385"/>
                        </a:spcBef>
                      </a:pPr>
                      <a:r>
                        <a:rPr sz="750" spc="10" dirty="0">
                          <a:latin typeface="Calibri"/>
                          <a:cs typeface="Calibri"/>
                        </a:rPr>
                        <a:t>7q11.2</a:t>
                      </a:r>
                      <a:r>
                        <a:rPr sz="750" spc="130" dirty="0">
                          <a:latin typeface="Calibri"/>
                          <a:cs typeface="Calibri"/>
                        </a:rPr>
                        <a:t> </a:t>
                      </a:r>
                      <a:r>
                        <a:rPr sz="750" spc="10" dirty="0">
                          <a:latin typeface="Calibri"/>
                          <a:cs typeface="Calibri"/>
                        </a:rPr>
                        <a:t>deletion</a:t>
                      </a:r>
                      <a:r>
                        <a:rPr sz="750" spc="130" dirty="0">
                          <a:latin typeface="Calibri"/>
                          <a:cs typeface="Calibri"/>
                        </a:rPr>
                        <a:t> </a:t>
                      </a:r>
                      <a:r>
                        <a:rPr sz="750" spc="-10" dirty="0">
                          <a:latin typeface="Calibri"/>
                          <a:cs typeface="Calibri"/>
                        </a:rPr>
                        <a:t>syndrome</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2"/>
                  </a:ext>
                </a:extLst>
              </a:tr>
              <a:tr h="222885">
                <a:tc>
                  <a:txBody>
                    <a:bodyPr/>
                    <a:lstStyle/>
                    <a:p>
                      <a:pPr algn="ctr">
                        <a:lnSpc>
                          <a:spcPct val="100000"/>
                        </a:lnSpc>
                        <a:spcBef>
                          <a:spcPts val="385"/>
                        </a:spcBef>
                      </a:pPr>
                      <a:r>
                        <a:rPr sz="750" spc="10" dirty="0">
                          <a:latin typeface="Calibri"/>
                          <a:cs typeface="Calibri"/>
                        </a:rPr>
                        <a:t>Langer-Giedion</a:t>
                      </a:r>
                      <a:r>
                        <a:rPr sz="750" spc="300" dirty="0">
                          <a:latin typeface="Calibri"/>
                          <a:cs typeface="Calibri"/>
                        </a:rPr>
                        <a:t> </a:t>
                      </a:r>
                      <a:r>
                        <a:rPr sz="750" spc="-10" dirty="0">
                          <a:latin typeface="Calibri"/>
                          <a:cs typeface="Calibri"/>
                        </a:rPr>
                        <a:t>syndrome</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3"/>
                  </a:ext>
                </a:extLst>
              </a:tr>
              <a:tr h="222885">
                <a:tc>
                  <a:txBody>
                    <a:bodyPr/>
                    <a:lstStyle/>
                    <a:p>
                      <a:pPr algn="ctr">
                        <a:lnSpc>
                          <a:spcPct val="100000"/>
                        </a:lnSpc>
                        <a:spcBef>
                          <a:spcPts val="385"/>
                        </a:spcBef>
                      </a:pPr>
                      <a:r>
                        <a:rPr sz="750" spc="10" dirty="0">
                          <a:latin typeface="Calibri"/>
                          <a:cs typeface="Calibri"/>
                        </a:rPr>
                        <a:t>8p23.1</a:t>
                      </a:r>
                      <a:r>
                        <a:rPr sz="750" spc="130" dirty="0">
                          <a:latin typeface="Calibri"/>
                          <a:cs typeface="Calibri"/>
                        </a:rPr>
                        <a:t> </a:t>
                      </a:r>
                      <a:r>
                        <a:rPr sz="750" spc="10" dirty="0">
                          <a:latin typeface="Calibri"/>
                          <a:cs typeface="Calibri"/>
                        </a:rPr>
                        <a:t>deletion</a:t>
                      </a:r>
                      <a:r>
                        <a:rPr sz="750" spc="130" dirty="0">
                          <a:latin typeface="Calibri"/>
                          <a:cs typeface="Calibri"/>
                        </a:rPr>
                        <a:t> </a:t>
                      </a:r>
                      <a:r>
                        <a:rPr sz="750" spc="-10" dirty="0">
                          <a:latin typeface="Calibri"/>
                          <a:cs typeface="Calibri"/>
                        </a:rPr>
                        <a:t>syndrome</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4"/>
                  </a:ext>
                </a:extLst>
              </a:tr>
              <a:tr h="222250">
                <a:tc>
                  <a:txBody>
                    <a:bodyPr/>
                    <a:lstStyle/>
                    <a:p>
                      <a:pPr algn="ctr">
                        <a:lnSpc>
                          <a:spcPct val="100000"/>
                        </a:lnSpc>
                        <a:spcBef>
                          <a:spcPts val="385"/>
                        </a:spcBef>
                      </a:pPr>
                      <a:r>
                        <a:rPr sz="750" spc="20" dirty="0">
                          <a:latin typeface="Calibri"/>
                          <a:cs typeface="Calibri"/>
                        </a:rPr>
                        <a:t>8p23.1</a:t>
                      </a:r>
                      <a:r>
                        <a:rPr sz="750" spc="95" dirty="0">
                          <a:latin typeface="Calibri"/>
                          <a:cs typeface="Calibri"/>
                        </a:rPr>
                        <a:t> </a:t>
                      </a:r>
                      <a:r>
                        <a:rPr sz="750" spc="20" dirty="0">
                          <a:latin typeface="Calibri"/>
                          <a:cs typeface="Calibri"/>
                        </a:rPr>
                        <a:t>duplication</a:t>
                      </a:r>
                      <a:r>
                        <a:rPr sz="750" spc="100" dirty="0">
                          <a:latin typeface="Calibri"/>
                          <a:cs typeface="Calibri"/>
                        </a:rPr>
                        <a:t> </a:t>
                      </a:r>
                      <a:r>
                        <a:rPr sz="750" spc="-10" dirty="0">
                          <a:latin typeface="Calibri"/>
                          <a:cs typeface="Calibri"/>
                        </a:rPr>
                        <a:t>syndrome</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5"/>
                  </a:ext>
                </a:extLst>
              </a:tr>
              <a:tr h="220345">
                <a:tc>
                  <a:txBody>
                    <a:bodyPr/>
                    <a:lstStyle/>
                    <a:p>
                      <a:pPr algn="ctr">
                        <a:lnSpc>
                          <a:spcPct val="100000"/>
                        </a:lnSpc>
                        <a:spcBef>
                          <a:spcPts val="385"/>
                        </a:spcBef>
                      </a:pPr>
                      <a:r>
                        <a:rPr sz="750" spc="10" dirty="0">
                          <a:latin typeface="Calibri"/>
                          <a:cs typeface="Calibri"/>
                        </a:rPr>
                        <a:t>11q23.3-q25</a:t>
                      </a:r>
                      <a:r>
                        <a:rPr sz="750" spc="185" dirty="0">
                          <a:latin typeface="Calibri"/>
                          <a:cs typeface="Calibri"/>
                        </a:rPr>
                        <a:t> </a:t>
                      </a:r>
                      <a:r>
                        <a:rPr sz="750" spc="10" dirty="0">
                          <a:latin typeface="Calibri"/>
                          <a:cs typeface="Calibri"/>
                        </a:rPr>
                        <a:t>deletion</a:t>
                      </a:r>
                      <a:r>
                        <a:rPr sz="750" spc="200" dirty="0">
                          <a:latin typeface="Calibri"/>
                          <a:cs typeface="Calibri"/>
                        </a:rPr>
                        <a:t> </a:t>
                      </a:r>
                      <a:r>
                        <a:rPr sz="750" spc="-10" dirty="0">
                          <a:latin typeface="Calibri"/>
                          <a:cs typeface="Calibri"/>
                        </a:rPr>
                        <a:t>syndrome</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6350">
                      <a:solidFill>
                        <a:srgbClr val="DEDFFD"/>
                      </a:solidFill>
                      <a:prstDash val="solid"/>
                    </a:lnB>
                  </a:tcPr>
                </a:tc>
                <a:extLst>
                  <a:ext uri="{0D108BD9-81ED-4DB2-BD59-A6C34878D82A}">
                    <a16:rowId xmlns:a16="http://schemas.microsoft.com/office/drawing/2014/main" val="10006"/>
                  </a:ext>
                </a:extLst>
              </a:tr>
            </a:tbl>
          </a:graphicData>
        </a:graphic>
      </p:graphicFrame>
      <p:graphicFrame>
        <p:nvGraphicFramePr>
          <p:cNvPr id="10" name="object 10">
            <a:extLst>
              <a:ext uri="{FF2B5EF4-FFF2-40B4-BE49-F238E27FC236}">
                <a16:creationId xmlns:a16="http://schemas.microsoft.com/office/drawing/2014/main" id="{6A8929A7-5981-5589-E6CA-4E5F9E49ACD9}"/>
              </a:ext>
            </a:extLst>
          </p:cNvPr>
          <p:cNvGraphicFramePr>
            <a:graphicFrameLocks noGrp="1"/>
          </p:cNvGraphicFramePr>
          <p:nvPr/>
        </p:nvGraphicFramePr>
        <p:xfrm>
          <a:off x="3767232" y="6231655"/>
          <a:ext cx="1481455" cy="1589404"/>
        </p:xfrm>
        <a:graphic>
          <a:graphicData uri="http://schemas.openxmlformats.org/drawingml/2006/table">
            <a:tbl>
              <a:tblPr firstRow="1" bandRow="1">
                <a:tableStyleId>{2D5ABB26-0587-4C30-8999-92F81FD0307C}</a:tableStyleId>
              </a:tblPr>
              <a:tblGrid>
                <a:gridCol w="1481455">
                  <a:extLst>
                    <a:ext uri="{9D8B030D-6E8A-4147-A177-3AD203B41FA5}">
                      <a16:colId xmlns:a16="http://schemas.microsoft.com/office/drawing/2014/main" val="20000"/>
                    </a:ext>
                  </a:extLst>
                </a:gridCol>
              </a:tblGrid>
              <a:tr h="240029">
                <a:tc>
                  <a:txBody>
                    <a:bodyPr/>
                    <a:lstStyle/>
                    <a:p>
                      <a:pPr algn="ctr">
                        <a:lnSpc>
                          <a:spcPct val="100000"/>
                        </a:lnSpc>
                        <a:spcBef>
                          <a:spcPts val="330"/>
                        </a:spcBef>
                      </a:pPr>
                      <a:r>
                        <a:rPr sz="900" b="1" spc="-10" dirty="0">
                          <a:solidFill>
                            <a:srgbClr val="FFFFFF"/>
                          </a:solidFill>
                          <a:latin typeface="Calibri"/>
                          <a:cs typeface="Calibri"/>
                        </a:rPr>
                        <a:t>Conditions</a:t>
                      </a:r>
                      <a:endParaRPr sz="900">
                        <a:latin typeface="Calibri"/>
                        <a:cs typeface="Calibri"/>
                      </a:endParaRPr>
                    </a:p>
                  </a:txBody>
                  <a:tcPr marL="0" marR="0" marT="41910" marB="0">
                    <a:lnB w="6350">
                      <a:solidFill>
                        <a:srgbClr val="DEDFFD"/>
                      </a:solidFill>
                      <a:prstDash val="solid"/>
                    </a:lnB>
                    <a:solidFill>
                      <a:srgbClr val="999DC0"/>
                    </a:solidFill>
                  </a:tcPr>
                </a:tc>
                <a:extLst>
                  <a:ext uri="{0D108BD9-81ED-4DB2-BD59-A6C34878D82A}">
                    <a16:rowId xmlns:a16="http://schemas.microsoft.com/office/drawing/2014/main" val="10000"/>
                  </a:ext>
                </a:extLst>
              </a:tr>
              <a:tr h="220345">
                <a:tc>
                  <a:txBody>
                    <a:bodyPr/>
                    <a:lstStyle/>
                    <a:p>
                      <a:pPr algn="ctr">
                        <a:lnSpc>
                          <a:spcPct val="100000"/>
                        </a:lnSpc>
                        <a:spcBef>
                          <a:spcPts val="365"/>
                        </a:spcBef>
                      </a:pPr>
                      <a:r>
                        <a:rPr sz="750" spc="20" dirty="0">
                          <a:latin typeface="Calibri"/>
                          <a:cs typeface="Calibri"/>
                        </a:rPr>
                        <a:t>Angelman</a:t>
                      </a:r>
                      <a:r>
                        <a:rPr sz="750" spc="105" dirty="0">
                          <a:latin typeface="Calibri"/>
                          <a:cs typeface="Calibri"/>
                        </a:rPr>
                        <a:t> </a:t>
                      </a:r>
                      <a:r>
                        <a:rPr sz="750" spc="-10" dirty="0">
                          <a:latin typeface="Calibri"/>
                          <a:cs typeface="Calibri"/>
                        </a:rPr>
                        <a:t>syndrome</a:t>
                      </a:r>
                      <a:endParaRPr sz="750">
                        <a:latin typeface="Calibri"/>
                        <a:cs typeface="Calibri"/>
                      </a:endParaRPr>
                    </a:p>
                  </a:txBody>
                  <a:tcPr marL="0" marR="0" marT="46355" marB="0">
                    <a:lnL w="6350">
                      <a:solidFill>
                        <a:srgbClr val="DEDFFD"/>
                      </a:solidFill>
                      <a:prstDash val="solid"/>
                    </a:lnL>
                    <a:lnR w="6350">
                      <a:solidFill>
                        <a:srgbClr val="DEDFFD"/>
                      </a:solidFill>
                      <a:prstDash val="solid"/>
                    </a:lnR>
                    <a:lnT w="6350">
                      <a:solidFill>
                        <a:srgbClr val="DEDFFD"/>
                      </a:solidFill>
                      <a:prstDash val="solid"/>
                    </a:lnT>
                    <a:lnB w="9525">
                      <a:solidFill>
                        <a:srgbClr val="DEDFFD"/>
                      </a:solidFill>
                      <a:prstDash val="solid"/>
                    </a:lnB>
                  </a:tcPr>
                </a:tc>
                <a:extLst>
                  <a:ext uri="{0D108BD9-81ED-4DB2-BD59-A6C34878D82A}">
                    <a16:rowId xmlns:a16="http://schemas.microsoft.com/office/drawing/2014/main" val="10001"/>
                  </a:ext>
                </a:extLst>
              </a:tr>
              <a:tr h="222885">
                <a:tc>
                  <a:txBody>
                    <a:bodyPr/>
                    <a:lstStyle/>
                    <a:p>
                      <a:pPr algn="ctr">
                        <a:lnSpc>
                          <a:spcPct val="100000"/>
                        </a:lnSpc>
                        <a:spcBef>
                          <a:spcPts val="385"/>
                        </a:spcBef>
                      </a:pPr>
                      <a:r>
                        <a:rPr sz="750" dirty="0">
                          <a:latin typeface="Calibri"/>
                          <a:cs typeface="Calibri"/>
                        </a:rPr>
                        <a:t>Prader-Willi</a:t>
                      </a:r>
                      <a:r>
                        <a:rPr sz="750" spc="350" dirty="0">
                          <a:latin typeface="Calibri"/>
                          <a:cs typeface="Calibri"/>
                        </a:rPr>
                        <a:t> </a:t>
                      </a:r>
                      <a:r>
                        <a:rPr sz="750" spc="-10" dirty="0">
                          <a:latin typeface="Calibri"/>
                          <a:cs typeface="Calibri"/>
                        </a:rPr>
                        <a:t>syndrome</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2"/>
                  </a:ext>
                </a:extLst>
              </a:tr>
              <a:tr h="222885">
                <a:tc>
                  <a:txBody>
                    <a:bodyPr/>
                    <a:lstStyle/>
                    <a:p>
                      <a:pPr algn="ctr">
                        <a:lnSpc>
                          <a:spcPct val="100000"/>
                        </a:lnSpc>
                        <a:spcBef>
                          <a:spcPts val="385"/>
                        </a:spcBef>
                      </a:pPr>
                      <a:r>
                        <a:rPr sz="750" spc="20" dirty="0">
                          <a:latin typeface="Calibri"/>
                          <a:cs typeface="Calibri"/>
                        </a:rPr>
                        <a:t>15q26</a:t>
                      </a:r>
                      <a:r>
                        <a:rPr sz="750" spc="85" dirty="0">
                          <a:latin typeface="Calibri"/>
                          <a:cs typeface="Calibri"/>
                        </a:rPr>
                        <a:t> </a:t>
                      </a:r>
                      <a:r>
                        <a:rPr sz="750" spc="20" dirty="0">
                          <a:latin typeface="Calibri"/>
                          <a:cs typeface="Calibri"/>
                        </a:rPr>
                        <a:t>duplication</a:t>
                      </a:r>
                      <a:r>
                        <a:rPr sz="750" spc="90" dirty="0">
                          <a:latin typeface="Calibri"/>
                          <a:cs typeface="Calibri"/>
                        </a:rPr>
                        <a:t> </a:t>
                      </a:r>
                      <a:r>
                        <a:rPr sz="750" spc="-10" dirty="0">
                          <a:latin typeface="Calibri"/>
                          <a:cs typeface="Calibri"/>
                        </a:rPr>
                        <a:t>syndrome</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3"/>
                  </a:ext>
                </a:extLst>
              </a:tr>
              <a:tr h="342900">
                <a:tc>
                  <a:txBody>
                    <a:bodyPr/>
                    <a:lstStyle/>
                    <a:p>
                      <a:pPr marL="524510" marR="105410" indent="-412115">
                        <a:lnSpc>
                          <a:spcPct val="105000"/>
                        </a:lnSpc>
                        <a:spcBef>
                          <a:spcPts val="340"/>
                        </a:spcBef>
                      </a:pPr>
                      <a:r>
                        <a:rPr sz="750" spc="10" dirty="0">
                          <a:latin typeface="Calibri"/>
                          <a:cs typeface="Calibri"/>
                        </a:rPr>
                        <a:t>16p11.2-p12.2</a:t>
                      </a:r>
                      <a:r>
                        <a:rPr sz="750" spc="325" dirty="0">
                          <a:latin typeface="Calibri"/>
                          <a:cs typeface="Calibri"/>
                        </a:rPr>
                        <a:t> </a:t>
                      </a:r>
                      <a:r>
                        <a:rPr sz="750" spc="-10" dirty="0">
                          <a:latin typeface="Calibri"/>
                          <a:cs typeface="Calibri"/>
                        </a:rPr>
                        <a:t>microdeletion</a:t>
                      </a:r>
                      <a:r>
                        <a:rPr sz="750" spc="500" dirty="0">
                          <a:latin typeface="Calibri"/>
                          <a:cs typeface="Calibri"/>
                        </a:rPr>
                        <a:t> </a:t>
                      </a:r>
                      <a:r>
                        <a:rPr sz="750" spc="-10" dirty="0">
                          <a:latin typeface="Calibri"/>
                          <a:cs typeface="Calibri"/>
                        </a:rPr>
                        <a:t>syndrome</a:t>
                      </a:r>
                      <a:endParaRPr sz="750">
                        <a:latin typeface="Calibri"/>
                        <a:cs typeface="Calibri"/>
                      </a:endParaRPr>
                    </a:p>
                  </a:txBody>
                  <a:tcPr marL="0" marR="0" marT="43180"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4"/>
                  </a:ext>
                </a:extLst>
              </a:tr>
              <a:tr h="340360">
                <a:tc>
                  <a:txBody>
                    <a:bodyPr/>
                    <a:lstStyle/>
                    <a:p>
                      <a:pPr marL="524510" marR="162560" indent="-354965">
                        <a:lnSpc>
                          <a:spcPct val="105000"/>
                        </a:lnSpc>
                        <a:spcBef>
                          <a:spcPts val="340"/>
                        </a:spcBef>
                      </a:pPr>
                      <a:r>
                        <a:rPr sz="750" spc="10" dirty="0">
                          <a:latin typeface="Calibri"/>
                          <a:cs typeface="Calibri"/>
                        </a:rPr>
                        <a:t>16p11.2-p12.2</a:t>
                      </a:r>
                      <a:r>
                        <a:rPr sz="750" spc="325" dirty="0">
                          <a:latin typeface="Calibri"/>
                          <a:cs typeface="Calibri"/>
                        </a:rPr>
                        <a:t> </a:t>
                      </a:r>
                      <a:r>
                        <a:rPr sz="750" spc="-10" dirty="0">
                          <a:latin typeface="Calibri"/>
                          <a:cs typeface="Calibri"/>
                        </a:rPr>
                        <a:t>duplication</a:t>
                      </a:r>
                      <a:r>
                        <a:rPr sz="750" spc="500" dirty="0">
                          <a:latin typeface="Calibri"/>
                          <a:cs typeface="Calibri"/>
                        </a:rPr>
                        <a:t> </a:t>
                      </a:r>
                      <a:r>
                        <a:rPr sz="750" spc="-10" dirty="0">
                          <a:latin typeface="Calibri"/>
                          <a:cs typeface="Calibri"/>
                        </a:rPr>
                        <a:t>syndrome</a:t>
                      </a:r>
                      <a:endParaRPr sz="750">
                        <a:latin typeface="Calibri"/>
                        <a:cs typeface="Calibri"/>
                      </a:endParaRPr>
                    </a:p>
                  </a:txBody>
                  <a:tcPr marL="0" marR="0" marT="43180" marB="0">
                    <a:lnL w="6350">
                      <a:solidFill>
                        <a:srgbClr val="DEDFFD"/>
                      </a:solidFill>
                      <a:prstDash val="solid"/>
                    </a:lnL>
                    <a:lnR w="6350">
                      <a:solidFill>
                        <a:srgbClr val="DEDFFD"/>
                      </a:solidFill>
                      <a:prstDash val="solid"/>
                    </a:lnR>
                    <a:lnT w="9525">
                      <a:solidFill>
                        <a:srgbClr val="DEDFFD"/>
                      </a:solidFill>
                      <a:prstDash val="solid"/>
                    </a:lnT>
                    <a:lnB w="6350">
                      <a:solidFill>
                        <a:srgbClr val="DEDFFD"/>
                      </a:solidFill>
                      <a:prstDash val="solid"/>
                    </a:lnB>
                  </a:tcPr>
                </a:tc>
                <a:extLst>
                  <a:ext uri="{0D108BD9-81ED-4DB2-BD59-A6C34878D82A}">
                    <a16:rowId xmlns:a16="http://schemas.microsoft.com/office/drawing/2014/main" val="10005"/>
                  </a:ext>
                </a:extLst>
              </a:tr>
            </a:tbl>
          </a:graphicData>
        </a:graphic>
      </p:graphicFrame>
      <p:graphicFrame>
        <p:nvGraphicFramePr>
          <p:cNvPr id="11" name="object 11">
            <a:extLst>
              <a:ext uri="{FF2B5EF4-FFF2-40B4-BE49-F238E27FC236}">
                <a16:creationId xmlns:a16="http://schemas.microsoft.com/office/drawing/2014/main" id="{8EEB2035-3694-4C06-06B0-372D067C0D0B}"/>
              </a:ext>
            </a:extLst>
          </p:cNvPr>
          <p:cNvGraphicFramePr>
            <a:graphicFrameLocks noGrp="1"/>
          </p:cNvGraphicFramePr>
          <p:nvPr/>
        </p:nvGraphicFramePr>
        <p:xfrm>
          <a:off x="5360333" y="6231655"/>
          <a:ext cx="1480820" cy="1246504"/>
        </p:xfrm>
        <a:graphic>
          <a:graphicData uri="http://schemas.openxmlformats.org/drawingml/2006/table">
            <a:tbl>
              <a:tblPr firstRow="1" bandRow="1">
                <a:tableStyleId>{2D5ABB26-0587-4C30-8999-92F81FD0307C}</a:tableStyleId>
              </a:tblPr>
              <a:tblGrid>
                <a:gridCol w="1480820">
                  <a:extLst>
                    <a:ext uri="{9D8B030D-6E8A-4147-A177-3AD203B41FA5}">
                      <a16:colId xmlns:a16="http://schemas.microsoft.com/office/drawing/2014/main" val="20000"/>
                    </a:ext>
                  </a:extLst>
                </a:gridCol>
              </a:tblGrid>
              <a:tr h="240029">
                <a:tc>
                  <a:txBody>
                    <a:bodyPr/>
                    <a:lstStyle/>
                    <a:p>
                      <a:pPr algn="ctr">
                        <a:lnSpc>
                          <a:spcPct val="100000"/>
                        </a:lnSpc>
                        <a:spcBef>
                          <a:spcPts val="330"/>
                        </a:spcBef>
                      </a:pPr>
                      <a:r>
                        <a:rPr sz="900" spc="-10" dirty="0">
                          <a:solidFill>
                            <a:srgbClr val="FFFFFF"/>
                          </a:solidFill>
                          <a:latin typeface="Calibri"/>
                          <a:cs typeface="Calibri"/>
                        </a:rPr>
                        <a:t>Conditions</a:t>
                      </a:r>
                      <a:endParaRPr sz="900">
                        <a:latin typeface="Calibri"/>
                        <a:cs typeface="Calibri"/>
                      </a:endParaRPr>
                    </a:p>
                  </a:txBody>
                  <a:tcPr marL="0" marR="0" marT="41910" marB="0">
                    <a:lnB w="6350">
                      <a:solidFill>
                        <a:srgbClr val="DEDFFD"/>
                      </a:solidFill>
                      <a:prstDash val="solid"/>
                    </a:lnB>
                    <a:solidFill>
                      <a:srgbClr val="999DC0"/>
                    </a:solidFill>
                  </a:tcPr>
                </a:tc>
                <a:extLst>
                  <a:ext uri="{0D108BD9-81ED-4DB2-BD59-A6C34878D82A}">
                    <a16:rowId xmlns:a16="http://schemas.microsoft.com/office/drawing/2014/main" val="10000"/>
                  </a:ext>
                </a:extLst>
              </a:tr>
              <a:tr h="340360">
                <a:tc>
                  <a:txBody>
                    <a:bodyPr/>
                    <a:lstStyle/>
                    <a:p>
                      <a:pPr marL="452120" marR="144780" indent="-300990">
                        <a:lnSpc>
                          <a:spcPct val="105000"/>
                        </a:lnSpc>
                        <a:spcBef>
                          <a:spcPts val="320"/>
                        </a:spcBef>
                      </a:pPr>
                      <a:r>
                        <a:rPr sz="750" spc="20" dirty="0">
                          <a:latin typeface="Calibri"/>
                          <a:cs typeface="Calibri"/>
                        </a:rPr>
                        <a:t>17p13.3</a:t>
                      </a:r>
                      <a:r>
                        <a:rPr sz="750" spc="70" dirty="0">
                          <a:latin typeface="Calibri"/>
                          <a:cs typeface="Calibri"/>
                        </a:rPr>
                        <a:t> </a:t>
                      </a:r>
                      <a:r>
                        <a:rPr sz="750" spc="20" dirty="0">
                          <a:latin typeface="Calibri"/>
                          <a:cs typeface="Calibri"/>
                        </a:rPr>
                        <a:t>deletion</a:t>
                      </a:r>
                      <a:r>
                        <a:rPr sz="750" spc="70" dirty="0">
                          <a:latin typeface="Calibri"/>
                          <a:cs typeface="Calibri"/>
                        </a:rPr>
                        <a:t> </a:t>
                      </a:r>
                      <a:r>
                        <a:rPr sz="750" spc="-10" dirty="0">
                          <a:latin typeface="Calibri"/>
                          <a:cs typeface="Calibri"/>
                        </a:rPr>
                        <a:t>syndrome</a:t>
                      </a:r>
                      <a:r>
                        <a:rPr sz="750" spc="500" dirty="0">
                          <a:latin typeface="Calibri"/>
                          <a:cs typeface="Calibri"/>
                        </a:rPr>
                        <a:t> </a:t>
                      </a:r>
                      <a:r>
                        <a:rPr sz="750" dirty="0">
                          <a:latin typeface="Calibri"/>
                          <a:cs typeface="Calibri"/>
                        </a:rPr>
                        <a:t>(Miller</a:t>
                      </a:r>
                      <a:r>
                        <a:rPr sz="750" spc="55" dirty="0">
                          <a:latin typeface="Calibri"/>
                          <a:cs typeface="Calibri"/>
                        </a:rPr>
                        <a:t> </a:t>
                      </a:r>
                      <a:r>
                        <a:rPr sz="750" spc="-10" dirty="0">
                          <a:latin typeface="Calibri"/>
                          <a:cs typeface="Calibri"/>
                        </a:rPr>
                        <a:t>Deker)</a:t>
                      </a:r>
                      <a:endParaRPr sz="750">
                        <a:latin typeface="Calibri"/>
                        <a:cs typeface="Calibri"/>
                      </a:endParaRPr>
                    </a:p>
                  </a:txBody>
                  <a:tcPr marL="0" marR="0" marT="40640" marB="0">
                    <a:lnL w="6350">
                      <a:solidFill>
                        <a:srgbClr val="DEDFFD"/>
                      </a:solidFill>
                      <a:prstDash val="solid"/>
                    </a:lnL>
                    <a:lnR w="6350">
                      <a:solidFill>
                        <a:srgbClr val="DEDFFD"/>
                      </a:solidFill>
                      <a:prstDash val="solid"/>
                    </a:lnR>
                    <a:lnT w="6350">
                      <a:solidFill>
                        <a:srgbClr val="DEDFFD"/>
                      </a:solidFill>
                      <a:prstDash val="solid"/>
                    </a:lnT>
                    <a:lnB w="9525">
                      <a:solidFill>
                        <a:srgbClr val="DEDFFD"/>
                      </a:solidFill>
                      <a:prstDash val="solid"/>
                    </a:lnB>
                  </a:tcPr>
                </a:tc>
                <a:extLst>
                  <a:ext uri="{0D108BD9-81ED-4DB2-BD59-A6C34878D82A}">
                    <a16:rowId xmlns:a16="http://schemas.microsoft.com/office/drawing/2014/main" val="10001"/>
                  </a:ext>
                </a:extLst>
              </a:tr>
              <a:tr h="222885">
                <a:tc>
                  <a:txBody>
                    <a:bodyPr/>
                    <a:lstStyle/>
                    <a:p>
                      <a:pPr algn="ctr">
                        <a:lnSpc>
                          <a:spcPct val="100000"/>
                        </a:lnSpc>
                        <a:spcBef>
                          <a:spcPts val="385"/>
                        </a:spcBef>
                      </a:pPr>
                      <a:r>
                        <a:rPr sz="750" spc="20" dirty="0">
                          <a:latin typeface="Calibri"/>
                          <a:cs typeface="Calibri"/>
                        </a:rPr>
                        <a:t>Smith-Magenis</a:t>
                      </a:r>
                      <a:r>
                        <a:rPr sz="750" spc="229" dirty="0">
                          <a:latin typeface="Calibri"/>
                          <a:cs typeface="Calibri"/>
                        </a:rPr>
                        <a:t> </a:t>
                      </a:r>
                      <a:r>
                        <a:rPr sz="750" spc="-10" dirty="0">
                          <a:latin typeface="Calibri"/>
                          <a:cs typeface="Calibri"/>
                        </a:rPr>
                        <a:t>syndrome</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2"/>
                  </a:ext>
                </a:extLst>
              </a:tr>
              <a:tr h="222885">
                <a:tc>
                  <a:txBody>
                    <a:bodyPr/>
                    <a:lstStyle/>
                    <a:p>
                      <a:pPr algn="ctr">
                        <a:lnSpc>
                          <a:spcPct val="100000"/>
                        </a:lnSpc>
                        <a:spcBef>
                          <a:spcPts val="385"/>
                        </a:spcBef>
                      </a:pPr>
                      <a:r>
                        <a:rPr sz="750" spc="20" dirty="0">
                          <a:latin typeface="Calibri"/>
                          <a:cs typeface="Calibri"/>
                        </a:rPr>
                        <a:t>Potocki-Lupski</a:t>
                      </a:r>
                      <a:r>
                        <a:rPr sz="750" spc="325" dirty="0">
                          <a:latin typeface="Calibri"/>
                          <a:cs typeface="Calibri"/>
                        </a:rPr>
                        <a:t> </a:t>
                      </a:r>
                      <a:r>
                        <a:rPr sz="750" spc="-10" dirty="0">
                          <a:latin typeface="Calibri"/>
                          <a:cs typeface="Calibri"/>
                        </a:rPr>
                        <a:t>syndrome</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9525">
                      <a:solidFill>
                        <a:srgbClr val="DEDFFD"/>
                      </a:solidFill>
                      <a:prstDash val="solid"/>
                    </a:lnB>
                  </a:tcPr>
                </a:tc>
                <a:extLst>
                  <a:ext uri="{0D108BD9-81ED-4DB2-BD59-A6C34878D82A}">
                    <a16:rowId xmlns:a16="http://schemas.microsoft.com/office/drawing/2014/main" val="10003"/>
                  </a:ext>
                </a:extLst>
              </a:tr>
              <a:tr h="220345">
                <a:tc>
                  <a:txBody>
                    <a:bodyPr/>
                    <a:lstStyle/>
                    <a:p>
                      <a:pPr algn="ctr">
                        <a:lnSpc>
                          <a:spcPct val="100000"/>
                        </a:lnSpc>
                        <a:spcBef>
                          <a:spcPts val="385"/>
                        </a:spcBef>
                      </a:pPr>
                      <a:r>
                        <a:rPr sz="750" spc="20" dirty="0">
                          <a:latin typeface="Calibri"/>
                          <a:cs typeface="Calibri"/>
                        </a:rPr>
                        <a:t>22q11.2</a:t>
                      </a:r>
                      <a:r>
                        <a:rPr sz="750" spc="70" dirty="0">
                          <a:latin typeface="Calibri"/>
                          <a:cs typeface="Calibri"/>
                        </a:rPr>
                        <a:t> </a:t>
                      </a:r>
                      <a:r>
                        <a:rPr sz="750" spc="20" dirty="0">
                          <a:latin typeface="Calibri"/>
                          <a:cs typeface="Calibri"/>
                        </a:rPr>
                        <a:t>deletion</a:t>
                      </a:r>
                      <a:r>
                        <a:rPr sz="750" spc="70" dirty="0">
                          <a:latin typeface="Calibri"/>
                          <a:cs typeface="Calibri"/>
                        </a:rPr>
                        <a:t> </a:t>
                      </a:r>
                      <a:r>
                        <a:rPr sz="750" spc="-10" dirty="0">
                          <a:latin typeface="Calibri"/>
                          <a:cs typeface="Calibri"/>
                        </a:rPr>
                        <a:t>syndrome</a:t>
                      </a:r>
                      <a:endParaRPr sz="750">
                        <a:latin typeface="Calibri"/>
                        <a:cs typeface="Calibri"/>
                      </a:endParaRPr>
                    </a:p>
                  </a:txBody>
                  <a:tcPr marL="0" marR="0" marT="48895" marB="0">
                    <a:lnL w="6350">
                      <a:solidFill>
                        <a:srgbClr val="DEDFFD"/>
                      </a:solidFill>
                      <a:prstDash val="solid"/>
                    </a:lnL>
                    <a:lnR w="6350">
                      <a:solidFill>
                        <a:srgbClr val="DEDFFD"/>
                      </a:solidFill>
                      <a:prstDash val="solid"/>
                    </a:lnR>
                    <a:lnT w="9525">
                      <a:solidFill>
                        <a:srgbClr val="DEDFFD"/>
                      </a:solidFill>
                      <a:prstDash val="solid"/>
                    </a:lnT>
                    <a:lnB w="6350">
                      <a:solidFill>
                        <a:srgbClr val="DEDFFD"/>
                      </a:solidFill>
                      <a:prstDash val="solid"/>
                    </a:lnB>
                  </a:tcPr>
                </a:tc>
                <a:extLst>
                  <a:ext uri="{0D108BD9-81ED-4DB2-BD59-A6C34878D82A}">
                    <a16:rowId xmlns:a16="http://schemas.microsoft.com/office/drawing/2014/main" val="10004"/>
                  </a:ext>
                </a:extLst>
              </a:tr>
            </a:tbl>
          </a:graphicData>
        </a:graphic>
      </p:graphicFrame>
      <p:grpSp>
        <p:nvGrpSpPr>
          <p:cNvPr id="12" name="object 12">
            <a:extLst>
              <a:ext uri="{FF2B5EF4-FFF2-40B4-BE49-F238E27FC236}">
                <a16:creationId xmlns:a16="http://schemas.microsoft.com/office/drawing/2014/main" id="{3BE22D62-CC36-78A1-21E1-2535043CE0A3}"/>
              </a:ext>
            </a:extLst>
          </p:cNvPr>
          <p:cNvGrpSpPr/>
          <p:nvPr/>
        </p:nvGrpSpPr>
        <p:grpSpPr>
          <a:xfrm>
            <a:off x="428625" y="540004"/>
            <a:ext cx="6703059" cy="9382125"/>
            <a:chOff x="428625" y="540004"/>
            <a:chExt cx="6703059" cy="9382125"/>
          </a:xfrm>
        </p:grpSpPr>
        <p:sp>
          <p:nvSpPr>
            <p:cNvPr id="13" name="object 13">
              <a:extLst>
                <a:ext uri="{FF2B5EF4-FFF2-40B4-BE49-F238E27FC236}">
                  <a16:creationId xmlns:a16="http://schemas.microsoft.com/office/drawing/2014/main" id="{8136F8D0-19B2-38B9-0119-514A5F5ABFAF}"/>
                </a:ext>
              </a:extLst>
            </p:cNvPr>
            <p:cNvSpPr/>
            <p:nvPr/>
          </p:nvSpPr>
          <p:spPr>
            <a:xfrm>
              <a:off x="473367" y="563816"/>
              <a:ext cx="6613525" cy="9334500"/>
            </a:xfrm>
            <a:custGeom>
              <a:avLst/>
              <a:gdLst/>
              <a:ahLst/>
              <a:cxnLst/>
              <a:rect l="l" t="t" r="r" b="b"/>
              <a:pathLst>
                <a:path w="6613525" h="9334500">
                  <a:moveTo>
                    <a:pt x="6613321" y="20916"/>
                  </a:moveTo>
                  <a:lnTo>
                    <a:pt x="6576747" y="1374"/>
                  </a:lnTo>
                  <a:lnTo>
                    <a:pt x="6562813" y="0"/>
                  </a:lnTo>
                  <a:lnTo>
                    <a:pt x="50507" y="0"/>
                  </a:lnTo>
                  <a:lnTo>
                    <a:pt x="10820" y="12042"/>
                  </a:lnTo>
                  <a:lnTo>
                    <a:pt x="5191" y="16215"/>
                  </a:lnTo>
                  <a:lnTo>
                    <a:pt x="0" y="20916"/>
                  </a:lnTo>
                </a:path>
                <a:path w="6613525" h="9334500">
                  <a:moveTo>
                    <a:pt x="0" y="9313570"/>
                  </a:moveTo>
                  <a:lnTo>
                    <a:pt x="36574" y="9333120"/>
                  </a:lnTo>
                  <a:lnTo>
                    <a:pt x="50507" y="9334500"/>
                  </a:lnTo>
                  <a:lnTo>
                    <a:pt x="6539001" y="9334500"/>
                  </a:lnTo>
                  <a:lnTo>
                    <a:pt x="6583178" y="9331419"/>
                  </a:lnTo>
                  <a:lnTo>
                    <a:pt x="6608130" y="9318279"/>
                  </a:lnTo>
                  <a:lnTo>
                    <a:pt x="6613321" y="9313570"/>
                  </a:lnTo>
                </a:path>
              </a:pathLst>
            </a:custGeom>
            <a:ln w="47625">
              <a:solidFill>
                <a:srgbClr val="999DC0"/>
              </a:solidFill>
            </a:ln>
          </p:spPr>
          <p:txBody>
            <a:bodyPr wrap="square" lIns="0" tIns="0" rIns="0" bIns="0" rtlCol="0"/>
            <a:lstStyle/>
            <a:p>
              <a:endParaRPr/>
            </a:p>
          </p:txBody>
        </p:sp>
        <p:sp>
          <p:nvSpPr>
            <p:cNvPr id="14" name="object 14">
              <a:extLst>
                <a:ext uri="{FF2B5EF4-FFF2-40B4-BE49-F238E27FC236}">
                  <a16:creationId xmlns:a16="http://schemas.microsoft.com/office/drawing/2014/main" id="{15E7AB8C-F3EA-2824-178D-82AFC0DC5579}"/>
                </a:ext>
              </a:extLst>
            </p:cNvPr>
            <p:cNvSpPr/>
            <p:nvPr/>
          </p:nvSpPr>
          <p:spPr>
            <a:xfrm>
              <a:off x="433387" y="571271"/>
              <a:ext cx="6693534" cy="9319895"/>
            </a:xfrm>
            <a:custGeom>
              <a:avLst/>
              <a:gdLst/>
              <a:ahLst/>
              <a:cxnLst/>
              <a:rect l="l" t="t" r="r" b="b"/>
              <a:pathLst>
                <a:path w="6693534" h="9319895">
                  <a:moveTo>
                    <a:pt x="26504" y="0"/>
                  </a:moveTo>
                  <a:lnTo>
                    <a:pt x="3895" y="37713"/>
                  </a:lnTo>
                  <a:lnTo>
                    <a:pt x="0" y="63982"/>
                  </a:lnTo>
                  <a:lnTo>
                    <a:pt x="0" y="9250845"/>
                  </a:lnTo>
                  <a:lnTo>
                    <a:pt x="6883" y="9290227"/>
                  </a:lnTo>
                  <a:lnTo>
                    <a:pt x="20540" y="9313005"/>
                  </a:lnTo>
                  <a:lnTo>
                    <a:pt x="26504" y="9319590"/>
                  </a:lnTo>
                </a:path>
                <a:path w="6693534" h="9319895">
                  <a:moveTo>
                    <a:pt x="6666776" y="9319590"/>
                  </a:moveTo>
                  <a:lnTo>
                    <a:pt x="6689385" y="9281869"/>
                  </a:lnTo>
                  <a:lnTo>
                    <a:pt x="6693281" y="9255607"/>
                  </a:lnTo>
                  <a:lnTo>
                    <a:pt x="6693281" y="68745"/>
                  </a:lnTo>
                  <a:lnTo>
                    <a:pt x="6686397" y="29349"/>
                  </a:lnTo>
                  <a:lnTo>
                    <a:pt x="6672740" y="6577"/>
                  </a:lnTo>
                  <a:lnTo>
                    <a:pt x="6666776" y="0"/>
                  </a:lnTo>
                </a:path>
              </a:pathLst>
            </a:custGeom>
            <a:ln w="9525">
              <a:solidFill>
                <a:srgbClr val="999DC0"/>
              </a:solidFill>
            </a:ln>
          </p:spPr>
          <p:txBody>
            <a:bodyPr wrap="square" lIns="0" tIns="0" rIns="0" bIns="0" rtlCol="0"/>
            <a:lstStyle/>
            <a:p>
              <a:endParaRPr/>
            </a:p>
          </p:txBody>
        </p:sp>
      </p:grpSp>
    </p:spTree>
    <p:extLst>
      <p:ext uri="{BB962C8B-B14F-4D97-AF65-F5344CB8AC3E}">
        <p14:creationId xmlns:p14="http://schemas.microsoft.com/office/powerpoint/2010/main" val="7001294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8">
          <a:extLst>
            <a:ext uri="{FF2B5EF4-FFF2-40B4-BE49-F238E27FC236}">
              <a16:creationId xmlns:a16="http://schemas.microsoft.com/office/drawing/2014/main" id="{AAD11C19-1CF7-FECF-7966-0EBE79E709B1}"/>
            </a:ext>
          </a:extLst>
        </p:cNvPr>
        <p:cNvGrpSpPr/>
        <p:nvPr/>
      </p:nvGrpSpPr>
      <p:grpSpPr>
        <a:xfrm>
          <a:off x="0" y="0"/>
          <a:ext cx="0" cy="0"/>
          <a:chOff x="0" y="0"/>
          <a:chExt cx="0" cy="0"/>
        </a:xfrm>
      </p:grpSpPr>
      <p:sp>
        <p:nvSpPr>
          <p:cNvPr id="140" name="Google Shape;140;p9">
            <a:extLst>
              <a:ext uri="{FF2B5EF4-FFF2-40B4-BE49-F238E27FC236}">
                <a16:creationId xmlns:a16="http://schemas.microsoft.com/office/drawing/2014/main" id="{6F0D1D67-8424-4A12-4E5E-5D23C70996AB}"/>
              </a:ext>
            </a:extLst>
          </p:cNvPr>
          <p:cNvSpPr txBox="1"/>
          <p:nvPr/>
        </p:nvSpPr>
        <p:spPr>
          <a:xfrm>
            <a:off x="525144" y="556501"/>
            <a:ext cx="6518909" cy="1410643"/>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000" b="1" dirty="0">
                <a:solidFill>
                  <a:srgbClr val="4B5285"/>
                </a:solidFill>
                <a:latin typeface="Noto Sans SC" panose="020B0200000000000000" pitchFamily="34" charset="-128"/>
                <a:ea typeface="Noto Sans SC" panose="020B0200000000000000" pitchFamily="34" charset="-128"/>
                <a:cs typeface="Microsoft YaHei"/>
                <a:sym typeface="Microsoft YaHei"/>
              </a:rPr>
              <a:t>Next Step</a:t>
            </a:r>
            <a:endParaRPr sz="1000" dirty="0">
              <a:latin typeface="Noto Sans SC" panose="020B0200000000000000" pitchFamily="34" charset="-128"/>
              <a:ea typeface="Noto Sans SC" panose="020B0200000000000000" pitchFamily="34" charset="-128"/>
              <a:cs typeface="Microsoft YaHei"/>
              <a:sym typeface="Microsoft YaHei"/>
            </a:endParaRPr>
          </a:p>
          <a:p>
            <a:pPr marL="0" lvl="0" indent="0" algn="l" rtl="0">
              <a:lnSpc>
                <a:spcPct val="100000"/>
              </a:lnSpc>
              <a:spcBef>
                <a:spcPts val="60"/>
              </a:spcBef>
              <a:spcAft>
                <a:spcPts val="0"/>
              </a:spcAft>
              <a:buNone/>
            </a:pPr>
            <a:endParaRPr sz="800" dirty="0">
              <a:latin typeface="Noto Sans SC" panose="020B0200000000000000" pitchFamily="34" charset="-128"/>
              <a:ea typeface="Noto Sans SC" panose="020B0200000000000000" pitchFamily="34" charset="-128"/>
              <a:cs typeface="Microsoft YaHei"/>
              <a:sym typeface="Microsoft YaHei"/>
            </a:endParaRPr>
          </a:p>
          <a:p>
            <a:pPr marL="12700" marR="508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A negative (no abnormality detected) result means that your fetus has a very low risk of chromosomal abnormalities, but it still cannot completely rule out the possibility of chromosomal abnormalities in the fetus. It is recommended to conduct a comprehensive evaluation with other examinations (such as high-level ultrasound).</a:t>
            </a:r>
          </a:p>
          <a:p>
            <a:pPr marL="12700" marR="508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During subsequent prenatal examinations, if abnormal fetal ultrasound is found, please follow the medical treatment recommended by the prenatal physician (such as invasive examination) to confirm whether the fetus is abnormal.</a:t>
            </a:r>
          </a:p>
          <a:p>
            <a:pPr marL="12700" marR="508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The results of this screening test should not be used alone as any diagnostic basis that affects the pregnancy process. It is only applicable to clinical reference. For clinical advice and related consultation, please consult a professional physician.</a:t>
            </a:r>
          </a:p>
          <a:p>
            <a:pPr marL="12700" marR="508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NIPT assesses the risk of specific diseases (see the results table), but it does not detect all possible genetic conditions or other congenital defects. Your attending physician may recommend other types of genetic testing during or after pregnancy.</a:t>
            </a:r>
            <a:endParaRPr sz="600" dirty="0">
              <a:latin typeface="Noto Sans SC" panose="020B0200000000000000" pitchFamily="34" charset="-128"/>
              <a:ea typeface="Noto Sans SC" panose="020B0200000000000000" pitchFamily="34" charset="-128"/>
              <a:cs typeface="Microsoft YaHei"/>
              <a:sym typeface="Microsoft YaHei"/>
            </a:endParaRPr>
          </a:p>
        </p:txBody>
      </p:sp>
      <p:sp>
        <p:nvSpPr>
          <p:cNvPr id="143" name="Google Shape;143;p9">
            <a:extLst>
              <a:ext uri="{FF2B5EF4-FFF2-40B4-BE49-F238E27FC236}">
                <a16:creationId xmlns:a16="http://schemas.microsoft.com/office/drawing/2014/main" id="{5C018E79-30FA-F26E-B910-78FAACDF8D56}"/>
              </a:ext>
            </a:extLst>
          </p:cNvPr>
          <p:cNvSpPr txBox="1"/>
          <p:nvPr/>
        </p:nvSpPr>
        <p:spPr>
          <a:xfrm>
            <a:off x="506116" y="2122429"/>
            <a:ext cx="6520180" cy="664284"/>
          </a:xfrm>
          <a:prstGeom prst="rect">
            <a:avLst/>
          </a:prstGeom>
          <a:noFill/>
          <a:ln>
            <a:noFill/>
          </a:ln>
        </p:spPr>
        <p:txBody>
          <a:bodyPr spcFirstLastPara="1" wrap="square" lIns="0" tIns="12700" rIns="0" bIns="0" anchor="t" anchorCtr="0">
            <a:spAutoFit/>
          </a:bodyPr>
          <a:lstStyle/>
          <a:p>
            <a:pPr marL="12700" lvl="0" indent="0" algn="l" rtl="0" fontAlgn="t" latinLnBrk="0" hangingPunct="0">
              <a:lnSpc>
                <a:spcPct val="100000"/>
              </a:lnSpc>
              <a:spcBef>
                <a:spcPts val="0"/>
              </a:spcBef>
              <a:spcAft>
                <a:spcPts val="0"/>
              </a:spcAft>
              <a:buNone/>
            </a:pP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Method</a:t>
            </a:r>
            <a:endParaRPr sz="1050" dirty="0">
              <a:latin typeface="Noto Sans SC" panose="020B0200000000000000" pitchFamily="34" charset="-128"/>
              <a:ea typeface="Noto Sans SC" panose="020B0200000000000000" pitchFamily="34" charset="-128"/>
              <a:cs typeface="Microsoft YaHei"/>
              <a:sym typeface="Microsoft YaHei"/>
            </a:endParaRPr>
          </a:p>
          <a:p>
            <a:pPr marL="0" lvl="0" indent="0" algn="l" rtl="0" fontAlgn="t" latinLnBrk="0" hangingPunct="0">
              <a:lnSpc>
                <a:spcPct val="100000"/>
              </a:lnSpc>
              <a:spcBef>
                <a:spcPts val="420"/>
              </a:spcBef>
              <a:spcAft>
                <a:spcPts val="0"/>
              </a:spcAft>
              <a:buNone/>
            </a:pPr>
            <a:endParaRPr sz="1050" dirty="0">
              <a:latin typeface="Noto Sans SC" panose="020B0200000000000000" pitchFamily="34" charset="-128"/>
              <a:ea typeface="Noto Sans SC" panose="020B0200000000000000" pitchFamily="34" charset="-128"/>
              <a:cs typeface="Microsoft YaHei"/>
              <a:sym typeface="Microsoft YaHei"/>
            </a:endParaRPr>
          </a:p>
          <a:p>
            <a:pPr marL="12700" lvl="0" fontAlgn="t" latinLnBrk="0" hangingPunct="0">
              <a:lnSpc>
                <a:spcPct val="1500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Peripheral blood is drawn from pregnant women, and free DNA from fetal cells in the plasma is extracted for large-scale parallel sequencing and analysis of the sequencing results to determine the fetal chromosomes.</a:t>
            </a:r>
            <a:endParaRPr sz="600" dirty="0">
              <a:latin typeface="Noto Sans SC" panose="020B0200000000000000" pitchFamily="34" charset="-128"/>
              <a:ea typeface="Noto Sans SC" panose="020B0200000000000000" pitchFamily="34" charset="-128"/>
              <a:cs typeface="Microsoft YaHei"/>
              <a:sym typeface="Microsoft YaHei"/>
            </a:endParaRPr>
          </a:p>
        </p:txBody>
      </p:sp>
      <p:sp>
        <p:nvSpPr>
          <p:cNvPr id="146" name="Google Shape;146;p9">
            <a:extLst>
              <a:ext uri="{FF2B5EF4-FFF2-40B4-BE49-F238E27FC236}">
                <a16:creationId xmlns:a16="http://schemas.microsoft.com/office/drawing/2014/main" id="{2C14E591-329C-D440-4489-F171B3780B24}"/>
              </a:ext>
            </a:extLst>
          </p:cNvPr>
          <p:cNvSpPr txBox="1"/>
          <p:nvPr/>
        </p:nvSpPr>
        <p:spPr>
          <a:xfrm>
            <a:off x="506116" y="3008531"/>
            <a:ext cx="6520180" cy="1513235"/>
          </a:xfrm>
          <a:prstGeom prst="rect">
            <a:avLst/>
          </a:prstGeom>
          <a:noFill/>
          <a:ln>
            <a:noFill/>
          </a:ln>
        </p:spPr>
        <p:txBody>
          <a:bodyPr spcFirstLastPara="1" wrap="square" lIns="0" tIns="12700" rIns="0" bIns="0" anchor="t" anchorCtr="0">
            <a:spAutoFit/>
          </a:bodyPr>
          <a:lstStyle/>
          <a:p>
            <a:pPr marL="12700" lvl="0" indent="0" algn="l" rtl="0" fontAlgn="t" latinLnBrk="0" hangingPunct="0">
              <a:lnSpc>
                <a:spcPct val="100000"/>
              </a:lnSpc>
              <a:spcBef>
                <a:spcPts val="0"/>
              </a:spcBef>
              <a:spcAft>
                <a:spcPts val="0"/>
              </a:spcAft>
              <a:buNone/>
            </a:pP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Limitations</a:t>
            </a: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lvl="0" algn="just" fontAlgn="t" latinLnBrk="0" hangingPunct="0">
              <a:lnSpc>
                <a:spcPct val="150000"/>
              </a:lnSpc>
              <a:spcBef>
                <a:spcPts val="1775"/>
              </a:spcBef>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Non-Invasive Maternal Blood Fetal Chromosome Testing &lt;NIPT Test&gt; This test mainly analyzes fetal chromosomal aneuploidy from cell-free DNA and is performed on singleton pregnancies with a gestational age of at least 10 weeks (estimated based on the last menstrual period). These results do not exclude the possibility that this pregnancy may have other chromosomal abnormalities, birth defects, or other diseases. This test cannot identify pregnancies at risk of open neural tube defects. A negative test result does not completely eliminate the possibility of chromosomal abnormalities. There is a small probability that the test results will not present the chromosome situation of the fetus, but may present chromosomal changes in the placenta (restricted placental mosaicism) or the mother (chromosomal mosaicism). Potential sources of inaccurate test results may include, but are not limited to: maternal, fetal or placental mosaicism, low fetal free DNA concentration, blood transfusion, transplant surgery, and stem cell therapy. In particular, situations such as embryonic atrophy and fetal death may lead to false negative or false positive results. If a clear diagnosis is required, chorionic villus sampling or amniocentesis should be performed according to the clinician's advice.</a:t>
            </a:r>
            <a:endParaRPr sz="600" dirty="0">
              <a:latin typeface="Noto Sans SC" panose="020B0200000000000000" pitchFamily="34" charset="-128"/>
              <a:ea typeface="Noto Sans SC" panose="020B0200000000000000" pitchFamily="34" charset="-128"/>
              <a:cs typeface="Microsoft YaHei"/>
              <a:sym typeface="Microsoft YaHei"/>
            </a:endParaRPr>
          </a:p>
        </p:txBody>
      </p:sp>
      <p:sp>
        <p:nvSpPr>
          <p:cNvPr id="149" name="Google Shape;149;p9">
            <a:extLst>
              <a:ext uri="{FF2B5EF4-FFF2-40B4-BE49-F238E27FC236}">
                <a16:creationId xmlns:a16="http://schemas.microsoft.com/office/drawing/2014/main" id="{34531925-D8C0-57BC-E83D-B8CD6EF6B1A4}"/>
              </a:ext>
            </a:extLst>
          </p:cNvPr>
          <p:cNvSpPr txBox="1"/>
          <p:nvPr/>
        </p:nvSpPr>
        <p:spPr>
          <a:xfrm>
            <a:off x="492465" y="4752307"/>
            <a:ext cx="6651943" cy="594393"/>
          </a:xfrm>
          <a:prstGeom prst="rect">
            <a:avLst/>
          </a:prstGeom>
          <a:noFill/>
          <a:ln>
            <a:noFill/>
          </a:ln>
        </p:spPr>
        <p:txBody>
          <a:bodyPr spcFirstLastPara="1" wrap="square" lIns="0" tIns="12700" rIns="0" bIns="0" anchor="t" anchorCtr="0">
            <a:spAutoFit/>
          </a:bodyPr>
          <a:lstStyle/>
          <a:p>
            <a:pPr marL="12700" lvl="0" indent="0" algn="just" rtl="0" fontAlgn="t" latinLnBrk="0">
              <a:lnSpc>
                <a:spcPct val="100000"/>
              </a:lnSpc>
              <a:spcBef>
                <a:spcPts val="0"/>
              </a:spcBef>
              <a:spcAft>
                <a:spcPts val="0"/>
              </a:spcAft>
              <a:buNone/>
            </a:pPr>
            <a:r>
              <a:rPr lang="en-US" sz="1050" b="1" dirty="0">
                <a:solidFill>
                  <a:srgbClr val="4B5285"/>
                </a:solidFill>
                <a:latin typeface="Noto Sans SC" panose="020B0200000000000000" pitchFamily="34" charset="-128"/>
                <a:ea typeface="Noto Sans SC" panose="020B0200000000000000" pitchFamily="34" charset="-128"/>
                <a:cs typeface="Microsoft YaHei"/>
                <a:sym typeface="Microsoft YaHei"/>
              </a:rPr>
              <a:t>Microdeletion</a:t>
            </a:r>
            <a:endParaRPr sz="1050" dirty="0">
              <a:latin typeface="Noto Sans SC" panose="020B0200000000000000" pitchFamily="34" charset="-128"/>
              <a:ea typeface="Noto Sans SC" panose="020B0200000000000000" pitchFamily="34" charset="-128"/>
              <a:cs typeface="Microsoft YaHei"/>
              <a:sym typeface="Microsoft YaHei"/>
            </a:endParaRPr>
          </a:p>
          <a:p>
            <a:pPr marL="0" lvl="0" indent="0" algn="l" rtl="0" fontAlgn="t" latinLnBrk="0">
              <a:lnSpc>
                <a:spcPct val="100000"/>
              </a:lnSpc>
              <a:spcBef>
                <a:spcPts val="60"/>
              </a:spcBef>
              <a:spcAft>
                <a:spcPts val="0"/>
              </a:spcAft>
              <a:buNone/>
            </a:pPr>
            <a:endParaRPr sz="1050" dirty="0">
              <a:latin typeface="Noto Sans SC" panose="020B0200000000000000" pitchFamily="34" charset="-128"/>
              <a:ea typeface="Noto Sans SC" panose="020B0200000000000000" pitchFamily="34" charset="-128"/>
              <a:cs typeface="Microsoft YaHei"/>
              <a:sym typeface="Microsoft YaHei"/>
            </a:endParaRPr>
          </a:p>
          <a:p>
            <a:pPr marL="12700" marR="5080" lvl="0" fontAlgn="t" latinLnBrk="0">
              <a:lnSpc>
                <a:spcPct val="133300"/>
              </a:lnSpc>
            </a:pPr>
            <a:r>
              <a:rPr lang="en-US" sz="600" dirty="0">
                <a:solidFill>
                  <a:srgbClr val="373739"/>
                </a:solidFill>
                <a:latin typeface="Noto Sans SC" panose="020B0200000000000000" pitchFamily="34" charset="-128"/>
                <a:ea typeface="Noto Sans SC" panose="020B0200000000000000" pitchFamily="34" charset="-128"/>
                <a:cs typeface="Microsoft YaHei"/>
                <a:sym typeface="Microsoft YaHei"/>
              </a:rPr>
              <a:t>This test detects small chromosomal deletions in the chromosomal regions - 1p36, 2q33.1, 4p16.3, 5p-, 7q11.23, 11q23, 15q11.2-913, 22q11.2 or other regions (see Test Report Items for details) and is suitable for singleton pregnancies of at least 10 weeks of gestational age, which is estimated based on the last menstrual period, hip length or other appropriate methods.</a:t>
            </a:r>
            <a:endParaRPr sz="600" dirty="0">
              <a:latin typeface="Noto Sans SC" panose="020B0200000000000000" pitchFamily="34" charset="-128"/>
              <a:ea typeface="Noto Sans SC" panose="020B0200000000000000" pitchFamily="34" charset="-128"/>
              <a:cs typeface="Microsoft YaHei"/>
              <a:sym typeface="Microsoft YaHei"/>
            </a:endParaRPr>
          </a:p>
        </p:txBody>
      </p:sp>
      <p:sp>
        <p:nvSpPr>
          <p:cNvPr id="152" name="Google Shape;152;p9">
            <a:extLst>
              <a:ext uri="{FF2B5EF4-FFF2-40B4-BE49-F238E27FC236}">
                <a16:creationId xmlns:a16="http://schemas.microsoft.com/office/drawing/2014/main" id="{5FA00B5C-CBB7-425E-E2BA-C79D671A96D5}"/>
              </a:ext>
            </a:extLst>
          </p:cNvPr>
          <p:cNvSpPr txBox="1"/>
          <p:nvPr/>
        </p:nvSpPr>
        <p:spPr>
          <a:xfrm>
            <a:off x="559933" y="8657628"/>
            <a:ext cx="6517005" cy="428322"/>
          </a:xfrm>
          <a:prstGeom prst="rect">
            <a:avLst/>
          </a:prstGeom>
          <a:noFill/>
          <a:ln>
            <a:noFill/>
          </a:ln>
        </p:spPr>
        <p:txBody>
          <a:bodyPr spcFirstLastPara="1" wrap="square" lIns="0" tIns="12700" rIns="0" bIns="0" anchor="t" anchorCtr="0">
            <a:spAutoFit/>
          </a:bodyPr>
          <a:lstStyle/>
          <a:p>
            <a:pPr>
              <a:lnSpc>
                <a:spcPct val="150000"/>
              </a:lnSpc>
            </a:pPr>
            <a:r>
              <a:rPr lang="en-US" sz="600" dirty="0">
                <a:solidFill>
                  <a:schemeClr val="tx1">
                    <a:lumMod val="75000"/>
                    <a:lumOff val="25000"/>
                  </a:schemeClr>
                </a:solidFill>
                <a:latin typeface="Noto Sans SC" panose="020B0200000000000000" pitchFamily="34" charset="-128"/>
                <a:ea typeface="Noto Sans SC" panose="020B0200000000000000" pitchFamily="34" charset="-128"/>
                <a:cs typeface="Calibri" panose="020F0502020204030204" pitchFamily="34" charset="0"/>
              </a:rPr>
              <a:t>The test was performed by Union Clinical Laboratory, with genetic sequencing conducted by the laboratory and bioinformatics analysis performed by </a:t>
            </a:r>
            <a:r>
              <a:rPr lang="en-US" sz="600" dirty="0" err="1">
                <a:solidFill>
                  <a:schemeClr val="tx1">
                    <a:lumMod val="75000"/>
                    <a:lumOff val="25000"/>
                  </a:schemeClr>
                </a:solidFill>
                <a:latin typeface="Noto Sans SC" panose="020B0200000000000000" pitchFamily="34" charset="-128"/>
                <a:ea typeface="Noto Sans SC" panose="020B0200000000000000" pitchFamily="34" charset="-128"/>
                <a:cs typeface="Calibri" panose="020F0502020204030204" pitchFamily="34" charset="0"/>
              </a:rPr>
              <a:t>Genolyx</a:t>
            </a:r>
            <a:r>
              <a:rPr lang="en-US" sz="600" dirty="0">
                <a:solidFill>
                  <a:schemeClr val="tx1">
                    <a:lumMod val="75000"/>
                    <a:lumOff val="25000"/>
                  </a:schemeClr>
                </a:solidFill>
                <a:latin typeface="Noto Sans SC" panose="020B0200000000000000" pitchFamily="34" charset="-128"/>
                <a:ea typeface="Noto Sans SC" panose="020B0200000000000000" pitchFamily="34" charset="-128"/>
                <a:cs typeface="Calibri" panose="020F0502020204030204" pitchFamily="34" charset="0"/>
              </a:rPr>
              <a:t> (USA). The</a:t>
            </a:r>
          </a:p>
          <a:p>
            <a:pPr>
              <a:lnSpc>
                <a:spcPct val="150000"/>
              </a:lnSpc>
            </a:pPr>
            <a:r>
              <a:rPr lang="en-US" sz="600" dirty="0">
                <a:solidFill>
                  <a:schemeClr val="tx1">
                    <a:lumMod val="75000"/>
                    <a:lumOff val="25000"/>
                  </a:schemeClr>
                </a:solidFill>
                <a:latin typeface="Noto Sans SC" panose="020B0200000000000000" pitchFamily="34" charset="-128"/>
                <a:ea typeface="Noto Sans SC" panose="020B0200000000000000" pitchFamily="34" charset="-128"/>
                <a:cs typeface="Calibri" panose="020F0502020204030204" pitchFamily="34" charset="0"/>
              </a:rPr>
              <a:t>report was reviewed and verified by genetic counseling consultant Professor Chien-Nan Lee. The laboratory is accredited by the College of American Pathologists (CAP), confirming</a:t>
            </a:r>
          </a:p>
          <a:p>
            <a:pPr>
              <a:lnSpc>
                <a:spcPct val="150000"/>
              </a:lnSpc>
            </a:pPr>
            <a:r>
              <a:rPr lang="en-US" sz="600" dirty="0">
                <a:solidFill>
                  <a:schemeClr val="tx1">
                    <a:lumMod val="75000"/>
                    <a:lumOff val="25000"/>
                  </a:schemeClr>
                </a:solidFill>
                <a:latin typeface="Noto Sans SC" panose="020B0200000000000000" pitchFamily="34" charset="-128"/>
                <a:ea typeface="Noto Sans SC" panose="020B0200000000000000" pitchFamily="34" charset="-128"/>
                <a:cs typeface="Calibri" panose="020F0502020204030204" pitchFamily="34" charset="0"/>
              </a:rPr>
              <a:t>the accuracy and quality of the reported results.</a:t>
            </a:r>
          </a:p>
        </p:txBody>
      </p:sp>
      <p:grpSp>
        <p:nvGrpSpPr>
          <p:cNvPr id="153" name="Google Shape;153;p9">
            <a:extLst>
              <a:ext uri="{FF2B5EF4-FFF2-40B4-BE49-F238E27FC236}">
                <a16:creationId xmlns:a16="http://schemas.microsoft.com/office/drawing/2014/main" id="{DB7DD5EB-D810-F885-537C-CA39710183E3}"/>
              </a:ext>
            </a:extLst>
          </p:cNvPr>
          <p:cNvGrpSpPr/>
          <p:nvPr/>
        </p:nvGrpSpPr>
        <p:grpSpPr>
          <a:xfrm>
            <a:off x="385762" y="261937"/>
            <a:ext cx="6788784" cy="9667875"/>
            <a:chOff x="385762" y="261937"/>
            <a:chExt cx="6788784" cy="9667875"/>
          </a:xfrm>
        </p:grpSpPr>
        <p:sp>
          <p:nvSpPr>
            <p:cNvPr id="154" name="Google Shape;154;p9">
              <a:extLst>
                <a:ext uri="{FF2B5EF4-FFF2-40B4-BE49-F238E27FC236}">
                  <a16:creationId xmlns:a16="http://schemas.microsoft.com/office/drawing/2014/main" id="{8E45CDD7-613C-D54D-8CF2-A5AD07AD4A89}"/>
                </a:ext>
              </a:extLst>
            </p:cNvPr>
            <p:cNvSpPr/>
            <p:nvPr/>
          </p:nvSpPr>
          <p:spPr>
            <a:xfrm>
              <a:off x="425742" y="261937"/>
              <a:ext cx="6708775" cy="9667875"/>
            </a:xfrm>
            <a:custGeom>
              <a:avLst/>
              <a:gdLst/>
              <a:ahLst/>
              <a:cxnLst/>
              <a:rect l="l" t="t" r="r" b="b"/>
              <a:pathLst>
                <a:path w="6708775" h="9667875" extrusionOk="0">
                  <a:moveTo>
                    <a:pt x="6708571" y="20929"/>
                  </a:moveTo>
                  <a:lnTo>
                    <a:pt x="6671997" y="1374"/>
                  </a:lnTo>
                  <a:lnTo>
                    <a:pt x="6658063" y="0"/>
                  </a:lnTo>
                  <a:lnTo>
                    <a:pt x="50507" y="0"/>
                  </a:lnTo>
                  <a:lnTo>
                    <a:pt x="10820" y="12044"/>
                  </a:lnTo>
                  <a:lnTo>
                    <a:pt x="5191" y="16220"/>
                  </a:lnTo>
                  <a:lnTo>
                    <a:pt x="0" y="20929"/>
                  </a:lnTo>
                </a:path>
                <a:path w="6708775" h="9667875" extrusionOk="0">
                  <a:moveTo>
                    <a:pt x="0" y="9646945"/>
                  </a:moveTo>
                  <a:lnTo>
                    <a:pt x="36574" y="9666500"/>
                  </a:lnTo>
                  <a:lnTo>
                    <a:pt x="50507" y="9667875"/>
                  </a:lnTo>
                  <a:lnTo>
                    <a:pt x="6634251" y="9667875"/>
                  </a:lnTo>
                  <a:lnTo>
                    <a:pt x="6678428" y="9664799"/>
                  </a:lnTo>
                  <a:lnTo>
                    <a:pt x="6703380" y="9651654"/>
                  </a:lnTo>
                  <a:lnTo>
                    <a:pt x="6708571" y="9646945"/>
                  </a:lnTo>
                </a:path>
              </a:pathLst>
            </a:custGeom>
            <a:noFill/>
            <a:ln w="476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sp>
          <p:nvSpPr>
            <p:cNvPr id="155" name="Google Shape;155;p9">
              <a:extLst>
                <a:ext uri="{FF2B5EF4-FFF2-40B4-BE49-F238E27FC236}">
                  <a16:creationId xmlns:a16="http://schemas.microsoft.com/office/drawing/2014/main" id="{09E79C01-475F-0986-D3A3-77EF2CE14613}"/>
                </a:ext>
              </a:extLst>
            </p:cNvPr>
            <p:cNvSpPr/>
            <p:nvPr/>
          </p:nvSpPr>
          <p:spPr>
            <a:xfrm>
              <a:off x="385762" y="269392"/>
              <a:ext cx="6788784" cy="9653270"/>
            </a:xfrm>
            <a:custGeom>
              <a:avLst/>
              <a:gdLst/>
              <a:ahLst/>
              <a:cxnLst/>
              <a:rect l="l" t="t" r="r" b="b"/>
              <a:pathLst>
                <a:path w="6788784" h="9653270" extrusionOk="0">
                  <a:moveTo>
                    <a:pt x="26504" y="0"/>
                  </a:moveTo>
                  <a:lnTo>
                    <a:pt x="3895" y="37713"/>
                  </a:lnTo>
                  <a:lnTo>
                    <a:pt x="0" y="63982"/>
                  </a:lnTo>
                  <a:lnTo>
                    <a:pt x="0" y="9584220"/>
                  </a:lnTo>
                  <a:lnTo>
                    <a:pt x="6883" y="9623615"/>
                  </a:lnTo>
                  <a:lnTo>
                    <a:pt x="20540" y="9646386"/>
                  </a:lnTo>
                  <a:lnTo>
                    <a:pt x="26504" y="9652965"/>
                  </a:lnTo>
                </a:path>
                <a:path w="6788784" h="9653270" extrusionOk="0">
                  <a:moveTo>
                    <a:pt x="6762026" y="9652965"/>
                  </a:moveTo>
                  <a:lnTo>
                    <a:pt x="6784635" y="9615251"/>
                  </a:lnTo>
                  <a:lnTo>
                    <a:pt x="6788531" y="9588982"/>
                  </a:lnTo>
                  <a:lnTo>
                    <a:pt x="6788531" y="68745"/>
                  </a:lnTo>
                  <a:lnTo>
                    <a:pt x="6781647" y="29349"/>
                  </a:lnTo>
                  <a:lnTo>
                    <a:pt x="6767990" y="6578"/>
                  </a:lnTo>
                  <a:lnTo>
                    <a:pt x="6762026" y="0"/>
                  </a:lnTo>
                </a:path>
              </a:pathLst>
            </a:custGeom>
            <a:noFill/>
            <a:ln w="9525" cap="flat" cmpd="sng">
              <a:solidFill>
                <a:srgbClr val="999D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a:latin typeface="Noto Sans SC" panose="020B0200000000000000" pitchFamily="34" charset="-128"/>
                <a:ea typeface="Noto Sans SC" panose="020B0200000000000000" pitchFamily="34" charset="-128"/>
              </a:endParaRPr>
            </a:p>
          </p:txBody>
        </p:sp>
      </p:grpSp>
      <p:graphicFrame>
        <p:nvGraphicFramePr>
          <p:cNvPr id="2" name="Google Shape;109;p15">
            <a:extLst>
              <a:ext uri="{FF2B5EF4-FFF2-40B4-BE49-F238E27FC236}">
                <a16:creationId xmlns:a16="http://schemas.microsoft.com/office/drawing/2014/main" id="{1C1BE86C-5428-538A-8217-177E898675D2}"/>
              </a:ext>
            </a:extLst>
          </p:cNvPr>
          <p:cNvGraphicFramePr/>
          <p:nvPr/>
        </p:nvGraphicFramePr>
        <p:xfrm>
          <a:off x="506116" y="5972994"/>
          <a:ext cx="6624642" cy="2409616"/>
        </p:xfrm>
        <a:graphic>
          <a:graphicData uri="http://schemas.openxmlformats.org/drawingml/2006/table">
            <a:tbl>
              <a:tblPr firstRow="1" bandRow="1">
                <a:noFill/>
              </a:tblPr>
              <a:tblGrid>
                <a:gridCol w="1918403">
                  <a:extLst>
                    <a:ext uri="{9D8B030D-6E8A-4147-A177-3AD203B41FA5}">
                      <a16:colId xmlns:a16="http://schemas.microsoft.com/office/drawing/2014/main" val="20000"/>
                    </a:ext>
                  </a:extLst>
                </a:gridCol>
                <a:gridCol w="1535484">
                  <a:extLst>
                    <a:ext uri="{9D8B030D-6E8A-4147-A177-3AD203B41FA5}">
                      <a16:colId xmlns:a16="http://schemas.microsoft.com/office/drawing/2014/main" val="20001"/>
                    </a:ext>
                  </a:extLst>
                </a:gridCol>
                <a:gridCol w="1591614">
                  <a:extLst>
                    <a:ext uri="{9D8B030D-6E8A-4147-A177-3AD203B41FA5}">
                      <a16:colId xmlns:a16="http://schemas.microsoft.com/office/drawing/2014/main" val="20002"/>
                    </a:ext>
                  </a:extLst>
                </a:gridCol>
                <a:gridCol w="1579141">
                  <a:extLst>
                    <a:ext uri="{9D8B030D-6E8A-4147-A177-3AD203B41FA5}">
                      <a16:colId xmlns:a16="http://schemas.microsoft.com/office/drawing/2014/main" val="20003"/>
                    </a:ext>
                  </a:extLst>
                </a:gridCol>
              </a:tblGrid>
              <a:tr h="219056">
                <a:tc>
                  <a:txBody>
                    <a:bodyPr/>
                    <a:lstStyle/>
                    <a:p>
                      <a:pPr marL="0" marR="45085" lvl="0" indent="0" algn="ctr" rtl="0">
                        <a:lnSpc>
                          <a:spcPct val="100000"/>
                        </a:lnSpc>
                        <a:spcBef>
                          <a:spcPts val="0"/>
                        </a:spcBef>
                        <a:spcAft>
                          <a:spcPts val="0"/>
                        </a:spcAft>
                        <a:buNone/>
                      </a:pPr>
                      <a:r>
                        <a:rPr lang="en" sz="800" dirty="0">
                          <a:solidFill>
                            <a:schemeClr val="tx1"/>
                          </a:solidFill>
                          <a:latin typeface="Calibri" panose="020F0502020204030204" pitchFamily="34" charset="0"/>
                          <a:ea typeface="Arial"/>
                          <a:cs typeface="Calibri" panose="020F0502020204030204" pitchFamily="34" charset="0"/>
                          <a:sym typeface="Arial"/>
                        </a:rPr>
                        <a:t>Condition</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None/>
                      </a:pPr>
                      <a:r>
                        <a:rPr lang="en" sz="800" dirty="0">
                          <a:solidFill>
                            <a:schemeClr val="tx1"/>
                          </a:solidFill>
                          <a:latin typeface="Calibri" panose="020F0502020204030204" pitchFamily="34" charset="0"/>
                          <a:ea typeface="Arial"/>
                          <a:cs typeface="Calibri" panose="020F0502020204030204" pitchFamily="34" charset="0"/>
                          <a:sym typeface="Arial"/>
                        </a:rPr>
                        <a:t>Sensitivity</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None/>
                      </a:pPr>
                      <a:r>
                        <a:rPr lang="en" sz="800">
                          <a:solidFill>
                            <a:schemeClr val="tx1"/>
                          </a:solidFill>
                          <a:latin typeface="Calibri" panose="020F0502020204030204" pitchFamily="34" charset="0"/>
                          <a:ea typeface="Arial"/>
                          <a:cs typeface="Calibri" panose="020F0502020204030204" pitchFamily="34" charset="0"/>
                          <a:sym typeface="Arial"/>
                        </a:rPr>
                        <a:t>Specificity</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None/>
                      </a:pPr>
                      <a:r>
                        <a:rPr lang="en" sz="800">
                          <a:solidFill>
                            <a:schemeClr val="tx1"/>
                          </a:solidFill>
                          <a:latin typeface="Calibri" panose="020F0502020204030204" pitchFamily="34" charset="0"/>
                          <a:ea typeface="Arial"/>
                          <a:cs typeface="Calibri" panose="020F0502020204030204" pitchFamily="34" charset="0"/>
                          <a:sym typeface="Arial"/>
                        </a:rPr>
                        <a:t>PPV</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0"/>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Trisomy</a:t>
                      </a:r>
                      <a:r>
                        <a:rPr lang="en" sz="800" u="none" strike="noStrike" cap="none" dirty="0">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21</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99.72%</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98.72%</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1"/>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Trisomy</a:t>
                      </a:r>
                      <a:r>
                        <a:rPr lang="en" sz="800" u="none" strike="noStrike" cap="none" dirty="0">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18</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99.04%</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96.49%</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2"/>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Trisomy</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13</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98.84%</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85.71%</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3"/>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Monosomy</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X</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76%</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4"/>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XXX</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5"/>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XXY</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6"/>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XYY</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7"/>
                  </a:ext>
                </a:extLst>
              </a:tr>
              <a:tr h="219056">
                <a:tc>
                  <a:txBody>
                    <a:bodyPr/>
                    <a:lstStyle/>
                    <a:p>
                      <a:pPr marL="0" marR="4508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T9,T16,</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T22</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50-99%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8"/>
                  </a:ext>
                </a:extLst>
              </a:tr>
              <a:tr h="219056">
                <a:tc>
                  <a:txBody>
                    <a:bodyPr/>
                    <a:lstStyle/>
                    <a:p>
                      <a:pPr marL="566420" marR="0" lvl="0" indent="0" algn="l"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All</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Other</a:t>
                      </a:r>
                      <a:r>
                        <a:rPr lang="en" sz="800" u="none" strike="noStrike" cap="none">
                          <a:solidFill>
                            <a:schemeClr val="tx1"/>
                          </a:solidFill>
                          <a:latin typeface="Calibri" panose="020F0502020204030204" pitchFamily="34" charset="0"/>
                          <a:ea typeface="Times New Roman"/>
                          <a:cs typeface="Calibri" panose="020F0502020204030204" pitchFamily="34" charset="0"/>
                          <a:sym typeface="Times New Roman"/>
                        </a:rPr>
                        <a:t> </a:t>
                      </a:r>
                      <a:r>
                        <a:rPr lang="en" sz="800" u="none" strike="noStrike" cap="none">
                          <a:solidFill>
                            <a:schemeClr val="tx1"/>
                          </a:solidFill>
                          <a:latin typeface="Calibri" panose="020F0502020204030204" pitchFamily="34" charset="0"/>
                          <a:ea typeface="Arial"/>
                          <a:cs typeface="Calibri" panose="020F0502020204030204" pitchFamily="34" charset="0"/>
                          <a:sym typeface="Arial"/>
                        </a:rPr>
                        <a:t>Trisomy</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NA</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9"/>
                  </a:ext>
                </a:extLst>
              </a:tr>
              <a:tr h="219056">
                <a:tc>
                  <a:txBody>
                    <a:bodyPr/>
                    <a:lstStyle/>
                    <a:p>
                      <a:pPr marL="452118" marR="0" lvl="0" indent="0" algn="l"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Microdeletions/duplications</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46355" lvl="0" indent="0" algn="ctr" rtl="0">
                        <a:lnSpc>
                          <a:spcPct val="100000"/>
                        </a:lnSpc>
                        <a:spcBef>
                          <a:spcPts val="0"/>
                        </a:spcBef>
                        <a:spcAft>
                          <a:spcPts val="0"/>
                        </a:spcAft>
                        <a:buClr>
                          <a:srgbClr val="000000"/>
                        </a:buClr>
                        <a:buSzPts val="750"/>
                        <a:buFont typeface="Arial"/>
                        <a:buNone/>
                      </a:pPr>
                      <a:r>
                        <a:rPr lang="en" sz="800" u="none" strike="noStrike" cap="none">
                          <a:solidFill>
                            <a:schemeClr val="tx1"/>
                          </a:solidFill>
                          <a:latin typeface="Calibri" panose="020F0502020204030204" pitchFamily="34" charset="0"/>
                          <a:ea typeface="Arial"/>
                          <a:cs typeface="Calibri" panose="020F0502020204030204" pitchFamily="34" charset="0"/>
                          <a:sym typeface="Arial"/>
                        </a:rPr>
                        <a:t>20-99%</a:t>
                      </a:r>
                      <a:endParaRPr sz="800" u="none" strike="noStrike" cap="none">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635"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&gt;99%</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lnSpc>
                          <a:spcPct val="100000"/>
                        </a:lnSpc>
                        <a:spcBef>
                          <a:spcPts val="0"/>
                        </a:spcBef>
                        <a:spcAft>
                          <a:spcPts val="0"/>
                        </a:spcAft>
                        <a:buClr>
                          <a:srgbClr val="000000"/>
                        </a:buClr>
                        <a:buSzPts val="750"/>
                        <a:buFont typeface="Arial"/>
                        <a:buNone/>
                      </a:pPr>
                      <a:r>
                        <a:rPr lang="en" sz="800" u="none" strike="noStrike" cap="none" dirty="0">
                          <a:solidFill>
                            <a:schemeClr val="tx1"/>
                          </a:solidFill>
                          <a:latin typeface="Calibri" panose="020F0502020204030204" pitchFamily="34" charset="0"/>
                          <a:ea typeface="Arial"/>
                          <a:cs typeface="Calibri" panose="020F0502020204030204" pitchFamily="34" charset="0"/>
                          <a:sym typeface="Arial"/>
                        </a:rPr>
                        <a:t>NA</a:t>
                      </a:r>
                      <a:endParaRPr sz="800" u="none" strike="noStrike" cap="none" dirty="0">
                        <a:solidFill>
                          <a:schemeClr val="tx1"/>
                        </a:solidFill>
                        <a:latin typeface="Calibri" panose="020F0502020204030204" pitchFamily="34" charset="0"/>
                        <a:ea typeface="Arial"/>
                        <a:cs typeface="Calibri" panose="020F0502020204030204" pitchFamily="34" charset="0"/>
                        <a:sym typeface="Arial"/>
                      </a:endParaRPr>
                    </a:p>
                  </a:txBody>
                  <a:tcPr marL="0" marR="0" marT="56525" marB="0">
                    <a:lnL w="9525" cap="flat" cmpd="sng">
                      <a:noFill/>
                      <a:prstDash val="solid"/>
                      <a:round/>
                      <a:headEnd type="none" w="sm" len="sm"/>
                      <a:tailEnd type="none" w="sm" len="sm"/>
                    </a:lnL>
                    <a:lnR w="9525" cap="flat" cmpd="sng">
                      <a:noFill/>
                      <a:prstDash val="solid"/>
                      <a:round/>
                      <a:headEnd type="none" w="sm" len="sm"/>
                      <a:tailEnd type="none" w="sm" len="sm"/>
                    </a:lnR>
                    <a:lnT w="6350" cap="flat" cmpd="sng" algn="ctr">
                      <a:solidFill>
                        <a:schemeClr val="bg1">
                          <a:lumMod val="85000"/>
                        </a:schemeClr>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2381640256"/>
      </p:ext>
    </p:extLst>
  </p:cSld>
  <p:clrMapOvr>
    <a:masterClrMapping/>
  </p:clrMapOvr>
</p:sld>
</file>

<file path=ppt/theme/theme1.xml><?xml version="1.0" encoding="utf-8"?>
<a:theme xmlns:a="http://schemas.openxmlformats.org/drawingml/2006/main" name="1_디자인 사용자 지정">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DGC_ppt_발표용(표지추가)" id="{863D8175-FC01-5648-A781-40526178A9BA}" vid="{97985840-4EF0-A04E-8A23-5891941578C5}"/>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EDGC</Template>
  <TotalTime>317</TotalTime>
  <Words>1249</Words>
  <Application>Microsoft Macintosh PowerPoint</Application>
  <PresentationFormat>Custom</PresentationFormat>
  <Paragraphs>235</Paragraphs>
  <Slides>3</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Microsoft YaHei</vt:lpstr>
      <vt:lpstr>Noto Sans SC</vt:lpstr>
      <vt:lpstr>Arial</vt:lpstr>
      <vt:lpstr>Calibri</vt:lpstr>
      <vt:lpstr>1_디자인 사용자 지정</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sam martin</cp:lastModifiedBy>
  <cp:revision>64</cp:revision>
  <dcterms:modified xsi:type="dcterms:W3CDTF">2025-10-28T14:21:40Z</dcterms:modified>
</cp:coreProperties>
</file>