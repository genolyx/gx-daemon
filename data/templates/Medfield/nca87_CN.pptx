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5"/>
  </p:notesMasterIdLst>
  <p:sldIdLst>
    <p:sldId id="256" r:id="rId2"/>
    <p:sldId id="257" r:id="rId3"/>
    <p:sldId id="258" r:id="rId4"/>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37"/>
  </p:normalViewPr>
  <p:slideViewPr>
    <p:cSldViewPr snapToGrid="0">
      <p:cViewPr varScale="1">
        <p:scale>
          <a:sx n="102" d="100"/>
          <a:sy n="102" d="100"/>
        </p:scale>
        <p:origin x="4432" y="1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5" name="Google Shape;125;p2: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096010" cy="137197"/>
          </a:xfrm>
          <a:prstGeom prst="rect">
            <a:avLst/>
          </a:prstGeom>
          <a:noFill/>
          <a:ln>
            <a:noFill/>
          </a:ln>
        </p:spPr>
        <p:txBody>
          <a:bodyPr spcFirstLastPara="1" wrap="square" lIns="0" tIns="13950" rIns="0" bIns="0" anchor="t" anchorCtr="0">
            <a:spAutoFit/>
          </a:bodyPr>
          <a:lstStyle/>
          <a:p>
            <a:r>
              <a:rPr lang="en-US" sz="800" dirty="0">
                <a:latin typeface="Noto Sans SC" panose="020B0200000000000000" pitchFamily="34" charset="-128"/>
                <a:ea typeface="Noto Sans SC" panose="020B0200000000000000" pitchFamily="34" charset="-128"/>
              </a:rPr>
              <a:t>Version_2_20251026</a:t>
            </a: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1333037400"/>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4" y="3831426"/>
            <a:ext cx="454052"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唐⽒症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愛德華⽒症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巴陶⽒症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1" name="Google Shape;61;p7"/>
          <p:cNvSpPr txBox="1"/>
          <p:nvPr/>
        </p:nvSpPr>
        <p:spPr>
          <a:xfrm>
            <a:off x="669848" y="5258511"/>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9號染⾊體三倍體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2" name="Google Shape;62;p7"/>
          <p:cNvSpPr/>
          <p:nvPr/>
        </p:nvSpPr>
        <p:spPr>
          <a:xfrm>
            <a:off x="580072" y="518322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4" name="Google Shape;64;p7"/>
          <p:cNvSpPr txBox="1"/>
          <p:nvPr/>
        </p:nvSpPr>
        <p:spPr>
          <a:xfrm>
            <a:off x="669848" y="5618416"/>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16號染⾊體三倍體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5" name="Google Shape;65;p7"/>
          <p:cNvSpPr/>
          <p:nvPr/>
        </p:nvSpPr>
        <p:spPr>
          <a:xfrm>
            <a:off x="580072" y="5543131"/>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7" name="Google Shape;67;p7"/>
          <p:cNvSpPr txBox="1"/>
          <p:nvPr/>
        </p:nvSpPr>
        <p:spPr>
          <a:xfrm>
            <a:off x="669848" y="5978321"/>
            <a:ext cx="145138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22號染⾊體三倍體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8" name="Google Shape;68;p7"/>
          <p:cNvSpPr/>
          <p:nvPr/>
        </p:nvSpPr>
        <p:spPr>
          <a:xfrm>
            <a:off x="580072" y="5903023"/>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0" name="Google Shape;70;p7"/>
          <p:cNvSpPr txBox="1"/>
          <p:nvPr/>
        </p:nvSpPr>
        <p:spPr>
          <a:xfrm>
            <a:off x="669848" y="6338227"/>
            <a:ext cx="154343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性染色體XO</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透納氏症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1" name="Google Shape;71;p7"/>
          <p:cNvSpPr/>
          <p:nvPr/>
        </p:nvSpPr>
        <p:spPr>
          <a:xfrm>
            <a:off x="580072" y="6262928"/>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3" name="Google Shape;73;p7"/>
          <p:cNvSpPr txBox="1"/>
          <p:nvPr/>
        </p:nvSpPr>
        <p:spPr>
          <a:xfrm>
            <a:off x="669848" y="6698132"/>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性染色體XXX</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三體X症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4" name="Google Shape;74;p7"/>
          <p:cNvSpPr/>
          <p:nvPr/>
        </p:nvSpPr>
        <p:spPr>
          <a:xfrm>
            <a:off x="580072" y="662283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6" name="Google Shape;76;p7"/>
          <p:cNvSpPr txBox="1"/>
          <p:nvPr/>
        </p:nvSpPr>
        <p:spPr>
          <a:xfrm>
            <a:off x="669848" y="7058025"/>
            <a:ext cx="169646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性染色體XXY</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柯林菲特氏症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7" name="Google Shape;77;p7"/>
          <p:cNvSpPr/>
          <p:nvPr/>
        </p:nvSpPr>
        <p:spPr>
          <a:xfrm>
            <a:off x="580072" y="6982739"/>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9" name="Google Shape;79;p7"/>
          <p:cNvSpPr txBox="1"/>
          <p:nvPr/>
        </p:nvSpPr>
        <p:spPr>
          <a:xfrm>
            <a:off x="669848" y="7417930"/>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性染色體XYY</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XYY綜合症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0" name="Google Shape;80;p7"/>
          <p:cNvSpPr/>
          <p:nvPr/>
        </p:nvSpPr>
        <p:spPr>
          <a:xfrm>
            <a:off x="580072" y="734264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2" name="Google Shape;82;p7"/>
          <p:cNvSpPr txBox="1"/>
          <p:nvPr/>
        </p:nvSpPr>
        <p:spPr>
          <a:xfrm>
            <a:off x="669848" y="7777835"/>
            <a:ext cx="1087200"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其他體染⾊體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3" name="Google Shape;83;p7"/>
          <p:cNvSpPr/>
          <p:nvPr/>
        </p:nvSpPr>
        <p:spPr>
          <a:xfrm>
            <a:off x="580072" y="7702537"/>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6" name="Google Shape;86;p7"/>
          <p:cNvSpPr txBox="1"/>
          <p:nvPr/>
        </p:nvSpPr>
        <p:spPr>
          <a:xfrm>
            <a:off x="3956875" y="3831425"/>
            <a:ext cx="897758"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8" name="Google Shape;88;p7"/>
          <p:cNvSpPr txBox="1"/>
          <p:nvPr/>
        </p:nvSpPr>
        <p:spPr>
          <a:xfrm>
            <a:off x="4059350" y="4178808"/>
            <a:ext cx="1379703"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1p36</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缺失症候群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9" name="Google Shape;89;p7"/>
          <p:cNvSpPr/>
          <p:nvPr/>
        </p:nvSpPr>
        <p:spPr>
          <a:xfrm>
            <a:off x="3969575" y="4103522"/>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1" name="Google Shape;91;p7"/>
          <p:cNvSpPr txBox="1"/>
          <p:nvPr/>
        </p:nvSpPr>
        <p:spPr>
          <a:xfrm>
            <a:off x="4059351" y="4538713"/>
            <a:ext cx="137970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2q33.1缺失症候群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2" name="Google Shape;92;p7"/>
          <p:cNvSpPr/>
          <p:nvPr/>
        </p:nvSpPr>
        <p:spPr>
          <a:xfrm>
            <a:off x="3969575" y="446341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4" name="Google Shape;94;p7"/>
          <p:cNvSpPr txBox="1"/>
          <p:nvPr/>
        </p:nvSpPr>
        <p:spPr>
          <a:xfrm>
            <a:off x="4059351" y="4898618"/>
            <a:ext cx="150656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沃夫.賀許宏⽒症候群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5" name="Google Shape;95;p7"/>
          <p:cNvSpPr/>
          <p:nvPr/>
        </p:nvSpPr>
        <p:spPr>
          <a:xfrm>
            <a:off x="3969575" y="4823320"/>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7" name="Google Shape;97;p7"/>
          <p:cNvSpPr txBox="1"/>
          <p:nvPr/>
        </p:nvSpPr>
        <p:spPr>
          <a:xfrm>
            <a:off x="4059351" y="5258511"/>
            <a:ext cx="104867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猫哭症候群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8" name="Google Shape;98;p7"/>
          <p:cNvSpPr/>
          <p:nvPr/>
        </p:nvSpPr>
        <p:spPr>
          <a:xfrm>
            <a:off x="3969575" y="518322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0" name="Google Shape;100;p7"/>
          <p:cNvSpPr txBox="1"/>
          <p:nvPr/>
        </p:nvSpPr>
        <p:spPr>
          <a:xfrm>
            <a:off x="4059350" y="5618416"/>
            <a:ext cx="115588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威廉⽒症候群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01" name="Google Shape;101;p7"/>
          <p:cNvSpPr/>
          <p:nvPr/>
        </p:nvSpPr>
        <p:spPr>
          <a:xfrm>
            <a:off x="3969575" y="5543131"/>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3" name="Google Shape;103;p7"/>
          <p:cNvSpPr txBox="1"/>
          <p:nvPr/>
        </p:nvSpPr>
        <p:spPr>
          <a:xfrm>
            <a:off x="4059351" y="5978321"/>
            <a:ext cx="120633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雅各森症候群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04" name="Google Shape;104;p7"/>
          <p:cNvSpPr/>
          <p:nvPr/>
        </p:nvSpPr>
        <p:spPr>
          <a:xfrm>
            <a:off x="3969575" y="5903023"/>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6" name="Google Shape;106;p7"/>
          <p:cNvSpPr txBox="1"/>
          <p:nvPr/>
        </p:nvSpPr>
        <p:spPr>
          <a:xfrm>
            <a:off x="4059350" y="6338227"/>
            <a:ext cx="189750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胖威⼒症候群</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天使</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07" name="Google Shape;107;p7"/>
          <p:cNvSpPr/>
          <p:nvPr/>
        </p:nvSpPr>
        <p:spPr>
          <a:xfrm>
            <a:off x="3969575" y="6262928"/>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9" name="Google Shape;109;p7"/>
          <p:cNvSpPr txBox="1"/>
          <p:nvPr/>
        </p:nvSpPr>
        <p:spPr>
          <a:xfrm>
            <a:off x="4059351" y="6698132"/>
            <a:ext cx="1155880"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迪喬治症候群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0" name="Google Shape;110;p7"/>
          <p:cNvSpPr/>
          <p:nvPr/>
        </p:nvSpPr>
        <p:spPr>
          <a:xfrm>
            <a:off x="3969575" y="6622834"/>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2" name="Google Shape;112;p7"/>
          <p:cNvSpPr txBox="1"/>
          <p:nvPr/>
        </p:nvSpPr>
        <p:spPr>
          <a:xfrm>
            <a:off x="4059350" y="7058025"/>
            <a:ext cx="198854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其他79項微片段缺失/</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重複疾病</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3" name="Google Shape;113;p7"/>
          <p:cNvSpPr/>
          <p:nvPr/>
        </p:nvSpPr>
        <p:spPr>
          <a:xfrm>
            <a:off x="3969575" y="6982739"/>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1" name="Google Shape;121;p7"/>
          <p:cNvSpPr/>
          <p:nvPr/>
        </p:nvSpPr>
        <p:spPr>
          <a:xfrm>
            <a:off x="385762" y="3399332"/>
            <a:ext cx="6788784"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2" name="Google Shape;122;p7"/>
          <p:cNvSpPr txBox="1"/>
          <p:nvPr/>
        </p:nvSpPr>
        <p:spPr>
          <a:xfrm>
            <a:off x="520700" y="3503225"/>
            <a:ext cx="1860900" cy="51422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a:p>
            <a:pPr marL="59055" lvl="0" indent="0" algn="l" rtl="0">
              <a:lnSpc>
                <a:spcPct val="100000"/>
              </a:lnSpc>
              <a:spcBef>
                <a:spcPts val="1195"/>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2" name="Google Shape;51;p7">
            <a:extLst>
              <a:ext uri="{FF2B5EF4-FFF2-40B4-BE49-F238E27FC236}">
                <a16:creationId xmlns:a16="http://schemas.microsoft.com/office/drawing/2014/main" id="{D541E7FC-9FA5-2A20-D65C-FB95B5C847F7}"/>
              </a:ext>
            </a:extLst>
          </p:cNvPr>
          <p:cNvSpPr txBox="1"/>
          <p:nvPr/>
        </p:nvSpPr>
        <p:spPr>
          <a:xfrm>
            <a:off x="6098667" y="3832399"/>
            <a:ext cx="454052" cy="18876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3" name="Google Shape;54;p7">
            <a:extLst>
              <a:ext uri="{FF2B5EF4-FFF2-40B4-BE49-F238E27FC236}">
                <a16:creationId xmlns:a16="http://schemas.microsoft.com/office/drawing/2014/main" id="{E401834C-0E72-2690-34B7-E3D46604B37A}"/>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4" name="Google Shape;57;p7">
            <a:extLst>
              <a:ext uri="{FF2B5EF4-FFF2-40B4-BE49-F238E27FC236}">
                <a16:creationId xmlns:a16="http://schemas.microsoft.com/office/drawing/2014/main" id="{6ECD43CE-361A-20F5-BE19-D2A5C39CB88E}"/>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 name="Google Shape;60;p7">
            <a:extLst>
              <a:ext uri="{FF2B5EF4-FFF2-40B4-BE49-F238E27FC236}">
                <a16:creationId xmlns:a16="http://schemas.microsoft.com/office/drawing/2014/main" id="{A25AFF80-7A8D-9F62-64B4-A4931F9A2BEC}"/>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 name="Google Shape;63;p7">
            <a:extLst>
              <a:ext uri="{FF2B5EF4-FFF2-40B4-BE49-F238E27FC236}">
                <a16:creationId xmlns:a16="http://schemas.microsoft.com/office/drawing/2014/main" id="{7C61B3A1-78AF-1EDD-DF45-5313B87AE04E}"/>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&lt;&lt;T9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 name="Google Shape;66;p7">
            <a:extLst>
              <a:ext uri="{FF2B5EF4-FFF2-40B4-BE49-F238E27FC236}">
                <a16:creationId xmlns:a16="http://schemas.microsoft.com/office/drawing/2014/main" id="{8FBC1754-AAB2-18C8-BAD6-2782E77379F3}"/>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&lt;&lt;T16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 name="Google Shape;69;p7">
            <a:extLst>
              <a:ext uri="{FF2B5EF4-FFF2-40B4-BE49-F238E27FC236}">
                <a16:creationId xmlns:a16="http://schemas.microsoft.com/office/drawing/2014/main" id="{DDCC91C0-FB26-5E8F-7B1C-0C548BAB4DC3}"/>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&lt;&lt;T22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 name="Google Shape;72;p7">
            <a:extLst>
              <a:ext uri="{FF2B5EF4-FFF2-40B4-BE49-F238E27FC236}">
                <a16:creationId xmlns:a16="http://schemas.microsoft.com/office/drawing/2014/main" id="{47D3DE2D-0428-6981-1B56-94BE596F5BB1}"/>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&lt;&lt;XO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 name="Google Shape;75;p7">
            <a:extLst>
              <a:ext uri="{FF2B5EF4-FFF2-40B4-BE49-F238E27FC236}">
                <a16:creationId xmlns:a16="http://schemas.microsoft.com/office/drawing/2014/main" id="{69D2CEF9-A33C-4294-5458-991510AA3300}"/>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&lt;&lt;XXX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1" name="Google Shape;78;p7">
            <a:extLst>
              <a:ext uri="{FF2B5EF4-FFF2-40B4-BE49-F238E27FC236}">
                <a16:creationId xmlns:a16="http://schemas.microsoft.com/office/drawing/2014/main" id="{DE8760CE-7E98-43ED-C8D0-3FA9738B4B97}"/>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2" name="Google Shape;81;p7">
            <a:extLst>
              <a:ext uri="{FF2B5EF4-FFF2-40B4-BE49-F238E27FC236}">
                <a16:creationId xmlns:a16="http://schemas.microsoft.com/office/drawing/2014/main" id="{6C7663F8-651A-5009-33C0-C20D4AA2FD1B}"/>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&lt;&lt;XYY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3" name="Google Shape;84;p7">
            <a:extLst>
              <a:ext uri="{FF2B5EF4-FFF2-40B4-BE49-F238E27FC236}">
                <a16:creationId xmlns:a16="http://schemas.microsoft.com/office/drawing/2014/main" id="{6C2BCEA9-55F8-1F50-41FA-82EC8A9DEA1D}"/>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&lt;&lt;Other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4" name="Google Shape;90;p7">
            <a:extLst>
              <a:ext uri="{FF2B5EF4-FFF2-40B4-BE49-F238E27FC236}">
                <a16:creationId xmlns:a16="http://schemas.microsoft.com/office/drawing/2014/main" id="{326F3FEC-EC81-8EBB-2D15-68084C0CFFB1}"/>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&lt;&lt;MD1&gt;&gt;</a:t>
            </a:r>
          </a:p>
        </p:txBody>
      </p:sp>
      <p:sp>
        <p:nvSpPr>
          <p:cNvPr id="15" name="Google Shape;93;p7">
            <a:extLst>
              <a:ext uri="{FF2B5EF4-FFF2-40B4-BE49-F238E27FC236}">
                <a16:creationId xmlns:a16="http://schemas.microsoft.com/office/drawing/2014/main" id="{FEC9D713-50D5-30F5-80DF-B7AD2BA27510}"/>
              </a:ext>
            </a:extLst>
          </p:cNvPr>
          <p:cNvSpPr txBox="1"/>
          <p:nvPr/>
        </p:nvSpPr>
        <p:spPr>
          <a:xfrm>
            <a:off x="6187248" y="451433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&lt;&lt;MD2&gt;&gt;</a:t>
            </a:r>
          </a:p>
        </p:txBody>
      </p:sp>
      <p:sp>
        <p:nvSpPr>
          <p:cNvPr id="16" name="Google Shape;96;p7">
            <a:extLst>
              <a:ext uri="{FF2B5EF4-FFF2-40B4-BE49-F238E27FC236}">
                <a16:creationId xmlns:a16="http://schemas.microsoft.com/office/drawing/2014/main" id="{2FCF21AE-6DBD-3113-A800-E2F62AFC9AEC}"/>
              </a:ext>
            </a:extLst>
          </p:cNvPr>
          <p:cNvSpPr txBox="1"/>
          <p:nvPr/>
        </p:nvSpPr>
        <p:spPr>
          <a:xfrm>
            <a:off x="6187248" y="487423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&lt;&lt;MD3&gt;&gt;</a:t>
            </a:r>
          </a:p>
        </p:txBody>
      </p:sp>
      <p:sp>
        <p:nvSpPr>
          <p:cNvPr id="17" name="Google Shape;99;p7">
            <a:extLst>
              <a:ext uri="{FF2B5EF4-FFF2-40B4-BE49-F238E27FC236}">
                <a16:creationId xmlns:a16="http://schemas.microsoft.com/office/drawing/2014/main" id="{440AB721-8754-BCAA-EC3D-89D5DCBB31D9}"/>
              </a:ext>
            </a:extLst>
          </p:cNvPr>
          <p:cNvSpPr txBox="1"/>
          <p:nvPr/>
        </p:nvSpPr>
        <p:spPr>
          <a:xfrm>
            <a:off x="6187248" y="52341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kern="1200" dirty="0">
                <a:solidFill>
                  <a:prstClr val="black"/>
                </a:solidFill>
                <a:latin typeface="Noto Sans SC" panose="020B0200000000000000" pitchFamily="34" charset="-128"/>
                <a:ea typeface="Noto Sans SC" panose="020B0200000000000000" pitchFamily="34" charset="-128"/>
                <a:cs typeface="Calibri" panose="020F0502020204030204" pitchFamily="34" charset="0"/>
              </a:rPr>
              <a:t>&lt;&lt;MD4&gt;&gt;</a:t>
            </a:r>
          </a:p>
        </p:txBody>
      </p:sp>
      <p:sp>
        <p:nvSpPr>
          <p:cNvPr id="18" name="Google Shape;102;p7">
            <a:extLst>
              <a:ext uri="{FF2B5EF4-FFF2-40B4-BE49-F238E27FC236}">
                <a16:creationId xmlns:a16="http://schemas.microsoft.com/office/drawing/2014/main" id="{06C9A9BB-C50D-F042-EE0E-130C89FCD34E}"/>
              </a:ext>
            </a:extLst>
          </p:cNvPr>
          <p:cNvSpPr txBox="1"/>
          <p:nvPr/>
        </p:nvSpPr>
        <p:spPr>
          <a:xfrm>
            <a:off x="6187248" y="55940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&lt;&lt;MD5&gt;&gt;</a:t>
            </a:r>
          </a:p>
        </p:txBody>
      </p:sp>
      <p:sp>
        <p:nvSpPr>
          <p:cNvPr id="19" name="Google Shape;105;p7">
            <a:extLst>
              <a:ext uri="{FF2B5EF4-FFF2-40B4-BE49-F238E27FC236}">
                <a16:creationId xmlns:a16="http://schemas.microsoft.com/office/drawing/2014/main" id="{A2A0144D-D95A-1050-2C33-F85EA256D956}"/>
              </a:ext>
            </a:extLst>
          </p:cNvPr>
          <p:cNvSpPr txBox="1"/>
          <p:nvPr/>
        </p:nvSpPr>
        <p:spPr>
          <a:xfrm>
            <a:off x="6187248" y="59539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&lt;&lt;MD6&gt;&gt;</a:t>
            </a:r>
          </a:p>
        </p:txBody>
      </p:sp>
      <p:sp>
        <p:nvSpPr>
          <p:cNvPr id="20" name="Google Shape;108;p7">
            <a:extLst>
              <a:ext uri="{FF2B5EF4-FFF2-40B4-BE49-F238E27FC236}">
                <a16:creationId xmlns:a16="http://schemas.microsoft.com/office/drawing/2014/main" id="{CE9C044F-6E45-3F60-C022-7EED6E3AC6FC}"/>
              </a:ext>
            </a:extLst>
          </p:cNvPr>
          <p:cNvSpPr txBox="1"/>
          <p:nvPr/>
        </p:nvSpPr>
        <p:spPr>
          <a:xfrm>
            <a:off x="6187248" y="63138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&lt;&lt;MD7&gt;&gt;</a:t>
            </a:r>
          </a:p>
        </p:txBody>
      </p:sp>
      <p:sp>
        <p:nvSpPr>
          <p:cNvPr id="21" name="Google Shape;111;p7">
            <a:extLst>
              <a:ext uri="{FF2B5EF4-FFF2-40B4-BE49-F238E27FC236}">
                <a16:creationId xmlns:a16="http://schemas.microsoft.com/office/drawing/2014/main" id="{89C3E6D0-BC7B-02B1-35E3-0F876329590F}"/>
              </a:ext>
            </a:extLst>
          </p:cNvPr>
          <p:cNvSpPr txBox="1"/>
          <p:nvPr/>
        </p:nvSpPr>
        <p:spPr>
          <a:xfrm>
            <a:off x="6187248" y="667375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&lt;&lt;MD8&gt;&gt;</a:t>
            </a:r>
          </a:p>
        </p:txBody>
      </p:sp>
      <p:sp>
        <p:nvSpPr>
          <p:cNvPr id="22" name="Google Shape;114;p7">
            <a:extLst>
              <a:ext uri="{FF2B5EF4-FFF2-40B4-BE49-F238E27FC236}">
                <a16:creationId xmlns:a16="http://schemas.microsoft.com/office/drawing/2014/main" id="{60ED7EDD-C215-A579-BDBB-97E286819750}"/>
              </a:ext>
            </a:extLst>
          </p:cNvPr>
          <p:cNvSpPr txBox="1"/>
          <p:nvPr/>
        </p:nvSpPr>
        <p:spPr>
          <a:xfrm>
            <a:off x="6187248" y="7033664"/>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&lt;&lt;Other MD&gt;&gt;</a:t>
            </a:r>
          </a:p>
        </p:txBody>
      </p:sp>
      <p:graphicFrame>
        <p:nvGraphicFramePr>
          <p:cNvPr id="24" name="Table 23">
            <a:extLst>
              <a:ext uri="{FF2B5EF4-FFF2-40B4-BE49-F238E27FC236}">
                <a16:creationId xmlns:a16="http://schemas.microsoft.com/office/drawing/2014/main" id="{0CF4290E-21C0-8BC5-1C59-13B29103F9FE}"/>
              </a:ext>
            </a:extLst>
          </p:cNvPr>
          <p:cNvGraphicFramePr>
            <a:graphicFrameLocks noGrp="1"/>
          </p:cNvGraphicFramePr>
          <p:nvPr/>
        </p:nvGraphicFramePr>
        <p:xfrm>
          <a:off x="1259416" y="3667478"/>
          <a:ext cx="5037666" cy="741680"/>
        </p:xfrm>
        <a:graphic>
          <a:graphicData uri="http://schemas.openxmlformats.org/drawingml/2006/table">
            <a:tbl>
              <a:tblPr firstRow="1" bandRow="1">
                <a:tableStyleId>{F28EBD1E-F79C-4DFF-868A-0A9D0052B014}</a:tableStyleId>
              </a:tblPr>
              <a:tblGrid>
                <a:gridCol w="1679222">
                  <a:extLst>
                    <a:ext uri="{9D8B030D-6E8A-4147-A177-3AD203B41FA5}">
                      <a16:colId xmlns:a16="http://schemas.microsoft.com/office/drawing/2014/main" val="2618836452"/>
                    </a:ext>
                  </a:extLst>
                </a:gridCol>
                <a:gridCol w="1679222">
                  <a:extLst>
                    <a:ext uri="{9D8B030D-6E8A-4147-A177-3AD203B41FA5}">
                      <a16:colId xmlns:a16="http://schemas.microsoft.com/office/drawing/2014/main" val="539386838"/>
                    </a:ext>
                  </a:extLst>
                </a:gridCol>
                <a:gridCol w="1679222">
                  <a:extLst>
                    <a:ext uri="{9D8B030D-6E8A-4147-A177-3AD203B41FA5}">
                      <a16:colId xmlns:a16="http://schemas.microsoft.com/office/drawing/2014/main" val="1029280419"/>
                    </a:ext>
                  </a:extLst>
                </a:gridCol>
              </a:tblGrid>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51226546"/>
                  </a:ext>
                </a:extLst>
              </a:tr>
              <a:tr h="37084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346345849"/>
                  </a:ext>
                </a:extLst>
              </a:tr>
            </a:tbl>
          </a:graphicData>
        </a:graphic>
      </p:graphicFrame>
      <p:graphicFrame>
        <p:nvGraphicFramePr>
          <p:cNvPr id="23" name="Table 22">
            <a:extLst>
              <a:ext uri="{FF2B5EF4-FFF2-40B4-BE49-F238E27FC236}">
                <a16:creationId xmlns:a16="http://schemas.microsoft.com/office/drawing/2014/main" id="{052352FC-3F94-CBD7-750C-867780041A0A}"/>
              </a:ext>
            </a:extLst>
          </p:cNvPr>
          <p:cNvGraphicFramePr>
            <a:graphicFrameLocks noGrp="1"/>
          </p:cNvGraphicFramePr>
          <p:nvPr>
            <p:extLst>
              <p:ext uri="{D42A27DB-BD31-4B8C-83A1-F6EECF244321}">
                <p14:modId xmlns:p14="http://schemas.microsoft.com/office/powerpoint/2010/main" val="1590323643"/>
              </p:ext>
            </p:extLst>
          </p:nvPr>
        </p:nvGraphicFramePr>
        <p:xfrm>
          <a:off x="2719043" y="8849321"/>
          <a:ext cx="4280764" cy="963818"/>
        </p:xfrm>
        <a:graphic>
          <a:graphicData uri="http://schemas.openxmlformats.org/drawingml/2006/table">
            <a:tbl>
              <a:tblPr firstRow="1" bandRow="1">
                <a:tableStyleId>{F28EBD1E-F79C-4DFF-868A-0A9D0052B014}</a:tableStyleId>
              </a:tblPr>
              <a:tblGrid>
                <a:gridCol w="1415766">
                  <a:extLst>
                    <a:ext uri="{9D8B030D-6E8A-4147-A177-3AD203B41FA5}">
                      <a16:colId xmlns:a16="http://schemas.microsoft.com/office/drawing/2014/main" val="1871604453"/>
                    </a:ext>
                  </a:extLst>
                </a:gridCol>
                <a:gridCol w="1477320">
                  <a:extLst>
                    <a:ext uri="{9D8B030D-6E8A-4147-A177-3AD203B41FA5}">
                      <a16:colId xmlns:a16="http://schemas.microsoft.com/office/drawing/2014/main" val="723796402"/>
                    </a:ext>
                  </a:extLst>
                </a:gridCol>
                <a:gridCol w="1387678">
                  <a:extLst>
                    <a:ext uri="{9D8B030D-6E8A-4147-A177-3AD203B41FA5}">
                      <a16:colId xmlns:a16="http://schemas.microsoft.com/office/drawing/2014/main" val="2275438044"/>
                    </a:ext>
                  </a:extLst>
                </a:gridCol>
              </a:tblGrid>
              <a:tr h="3594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遺傳諮詢專家</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實驗室主管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醫療機構簽署醫師</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8316787"/>
                  </a:ext>
                </a:extLst>
              </a:tr>
              <a:tr h="604358">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999870"/>
                  </a:ext>
                </a:extLst>
              </a:tr>
            </a:tbl>
          </a:graphicData>
        </a:graphic>
      </p:graphicFrame>
      <p:pic>
        <p:nvPicPr>
          <p:cNvPr id="25" name="圖片 1">
            <a:extLst>
              <a:ext uri="{FF2B5EF4-FFF2-40B4-BE49-F238E27FC236}">
                <a16:creationId xmlns:a16="http://schemas.microsoft.com/office/drawing/2014/main" id="{2F1C029C-823B-4E26-57A2-56A518C51A8C}"/>
              </a:ext>
            </a:extLst>
          </p:cNvPr>
          <p:cNvPicPr>
            <a:picLocks noChangeAspect="1"/>
          </p:cNvPicPr>
          <p:nvPr/>
        </p:nvPicPr>
        <p:blipFill rotWithShape="1">
          <a:blip r:embed="rId4">
            <a:clrChange>
              <a:clrFrom>
                <a:srgbClr val="F3EBDC"/>
              </a:clrFrom>
              <a:clrTo>
                <a:srgbClr val="F3EBDC">
                  <a:alpha val="0"/>
                </a:srgbClr>
              </a:clrTo>
            </a:clrChange>
            <a:extLst>
              <a:ext uri="{BEBA8EAE-BF5A-486C-A8C5-ECC9F3942E4B}">
                <a14:imgProps xmlns:a14="http://schemas.microsoft.com/office/drawing/2010/main">
                  <a14:imgLayer r:embed="rId5">
                    <a14:imgEffect>
                      <a14:brightnessContrast bright="20000" contrast="-20000"/>
                    </a14:imgEffect>
                  </a14:imgLayer>
                </a14:imgProps>
              </a:ext>
            </a:extLst>
          </a:blip>
          <a:srcRect l="9488" t="20608" r="9713" b="26228"/>
          <a:stretch>
            <a:fillRect/>
          </a:stretch>
        </p:blipFill>
        <p:spPr bwMode="auto">
          <a:xfrm>
            <a:off x="3031469" y="9258373"/>
            <a:ext cx="770122" cy="506725"/>
          </a:xfrm>
          <a:prstGeom prst="rect">
            <a:avLst/>
          </a:prstGeom>
          <a:ln>
            <a:noFill/>
          </a:ln>
          <a:extLst>
            <a:ext uri="{53640926-AAD7-44D8-BBD7-CCE9431645EC}">
              <a14:shadowObscured xmlns:a14="http://schemas.microsoft.com/office/drawing/2010/main"/>
            </a:ext>
          </a:extLst>
        </p:spPr>
      </p:pic>
      <p:pic>
        <p:nvPicPr>
          <p:cNvPr id="26" name="Picture 25" descr="A black and white logo&#10;&#10;AI-generated content may be incorrect.">
            <a:extLst>
              <a:ext uri="{FF2B5EF4-FFF2-40B4-BE49-F238E27FC236}">
                <a16:creationId xmlns:a16="http://schemas.microsoft.com/office/drawing/2014/main" id="{C52675F2-73BA-474C-8D24-42F0C2F3AB49}"/>
              </a:ext>
            </a:extLst>
          </p:cNvPr>
          <p:cNvPicPr>
            <a:picLocks noChangeAspect="1"/>
          </p:cNvPicPr>
          <p:nvPr/>
        </p:nvPicPr>
        <p:blipFill>
          <a:blip r:embed="rId6"/>
          <a:stretch>
            <a:fillRect/>
          </a:stretch>
        </p:blipFill>
        <p:spPr>
          <a:xfrm>
            <a:off x="4206930" y="9258372"/>
            <a:ext cx="1304990" cy="506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26"/>
        <p:cNvGrpSpPr/>
        <p:nvPr/>
      </p:nvGrpSpPr>
      <p:grpSpPr>
        <a:xfrm>
          <a:off x="0" y="0"/>
          <a:ext cx="0" cy="0"/>
          <a:chOff x="0" y="0"/>
          <a:chExt cx="0" cy="0"/>
        </a:xfrm>
      </p:grpSpPr>
      <p:graphicFrame>
        <p:nvGraphicFramePr>
          <p:cNvPr id="3" name="object 3">
            <a:extLst>
              <a:ext uri="{FF2B5EF4-FFF2-40B4-BE49-F238E27FC236}">
                <a16:creationId xmlns:a16="http://schemas.microsoft.com/office/drawing/2014/main" id="{41624A33-EEA0-F019-C481-088CA97E1EAE}"/>
              </a:ext>
            </a:extLst>
          </p:cNvPr>
          <p:cNvGraphicFramePr>
            <a:graphicFrameLocks noGrp="1"/>
          </p:cNvGraphicFramePr>
          <p:nvPr>
            <p:extLst>
              <p:ext uri="{D42A27DB-BD31-4B8C-83A1-F6EECF244321}">
                <p14:modId xmlns:p14="http://schemas.microsoft.com/office/powerpoint/2010/main" val="911278526"/>
              </p:ext>
            </p:extLst>
          </p:nvPr>
        </p:nvGraphicFramePr>
        <p:xfrm>
          <a:off x="581031" y="1503724"/>
          <a:ext cx="1480820" cy="402018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1p</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10" dirty="0">
                          <a:latin typeface="Calibri"/>
                          <a:cs typeface="Calibri"/>
                        </a:rPr>
                        <a:t>Monosomy</a:t>
                      </a:r>
                      <a:r>
                        <a:rPr sz="900" spc="285" dirty="0">
                          <a:latin typeface="Calibri"/>
                          <a:cs typeface="Calibri"/>
                        </a:rPr>
                        <a:t> </a:t>
                      </a:r>
                      <a:r>
                        <a:rPr sz="900" spc="10" dirty="0">
                          <a:latin typeface="Calibri"/>
                          <a:cs typeface="Calibri"/>
                        </a:rPr>
                        <a:t>1q21-</a:t>
                      </a:r>
                      <a:r>
                        <a:rPr sz="900" spc="-25" dirty="0">
                          <a:latin typeface="Calibri"/>
                          <a:cs typeface="Calibri"/>
                        </a:rPr>
                        <a:t>q32</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900" spc="10" dirty="0">
                          <a:latin typeface="Calibri"/>
                          <a:cs typeface="Calibri"/>
                        </a:rPr>
                        <a:t>Monosomy</a:t>
                      </a:r>
                      <a:r>
                        <a:rPr sz="900" spc="250" dirty="0">
                          <a:latin typeface="Calibri"/>
                          <a:cs typeface="Calibri"/>
                        </a:rPr>
                        <a:t> </a:t>
                      </a:r>
                      <a:r>
                        <a:rPr sz="900" spc="10" dirty="0">
                          <a:latin typeface="Calibri"/>
                          <a:cs typeface="Calibri"/>
                        </a:rPr>
                        <a:t>1q42-</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900" spc="10" dirty="0">
                          <a:latin typeface="Calibri"/>
                          <a:cs typeface="Calibri"/>
                        </a:rPr>
                        <a:t>Trisomy</a:t>
                      </a:r>
                      <a:r>
                        <a:rPr sz="900" spc="229" dirty="0">
                          <a:latin typeface="Calibri"/>
                          <a:cs typeface="Calibri"/>
                        </a:rPr>
                        <a:t> </a:t>
                      </a:r>
                      <a:r>
                        <a:rPr sz="900" spc="10" dirty="0">
                          <a:latin typeface="Calibri"/>
                          <a:cs typeface="Calibri"/>
                        </a:rPr>
                        <a:t>1q23-</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2p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2p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2q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2q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900" spc="10" dirty="0">
                          <a:latin typeface="Calibri"/>
                          <a:cs typeface="Calibri"/>
                        </a:rPr>
                        <a:t>Monosomy</a:t>
                      </a:r>
                      <a:r>
                        <a:rPr sz="900" spc="285" dirty="0">
                          <a:latin typeface="Calibri"/>
                          <a:cs typeface="Calibri"/>
                        </a:rPr>
                        <a:t> </a:t>
                      </a:r>
                      <a:r>
                        <a:rPr sz="900" spc="10" dirty="0">
                          <a:latin typeface="Calibri"/>
                          <a:cs typeface="Calibri"/>
                        </a:rPr>
                        <a:t>3p11-</a:t>
                      </a:r>
                      <a:r>
                        <a:rPr sz="900" spc="-25" dirty="0">
                          <a:latin typeface="Calibri"/>
                          <a:cs typeface="Calibri"/>
                        </a:rPr>
                        <a:t>p21</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900" spc="10" dirty="0">
                          <a:latin typeface="Calibri"/>
                          <a:cs typeface="Calibri"/>
                        </a:rPr>
                        <a:t>Monosomy</a:t>
                      </a:r>
                      <a:r>
                        <a:rPr sz="900" spc="250" dirty="0">
                          <a:latin typeface="Calibri"/>
                          <a:cs typeface="Calibri"/>
                        </a:rPr>
                        <a:t> </a:t>
                      </a:r>
                      <a:r>
                        <a:rPr sz="900" spc="10" dirty="0">
                          <a:latin typeface="Calibri"/>
                          <a:cs typeface="Calibri"/>
                        </a:rPr>
                        <a:t>3p25-</a:t>
                      </a:r>
                      <a:r>
                        <a:rPr sz="900" spc="-20" dirty="0">
                          <a:latin typeface="Calibri"/>
                          <a:cs typeface="Calibri"/>
                        </a:rPr>
                        <a:t>pter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3p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3q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3q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3p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2885">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4p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5"/>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4p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6"/>
                  </a:ext>
                </a:extLst>
              </a:tr>
              <a:tr h="220345">
                <a:tc>
                  <a:txBody>
                    <a:bodyPr/>
                    <a:lstStyle/>
                    <a:p>
                      <a:pPr algn="ctr">
                        <a:lnSpc>
                          <a:spcPct val="100000"/>
                        </a:lnSpc>
                        <a:spcBef>
                          <a:spcPts val="385"/>
                        </a:spcBef>
                      </a:pPr>
                      <a:r>
                        <a:rPr sz="900" spc="10" dirty="0">
                          <a:latin typeface="Calibri"/>
                          <a:cs typeface="Calibri"/>
                        </a:rPr>
                        <a:t>Monosomy</a:t>
                      </a:r>
                      <a:r>
                        <a:rPr sz="900" spc="285" dirty="0">
                          <a:latin typeface="Calibri"/>
                          <a:cs typeface="Calibri"/>
                        </a:rPr>
                        <a:t> </a:t>
                      </a:r>
                      <a:r>
                        <a:rPr sz="900" spc="10" dirty="0">
                          <a:latin typeface="Calibri"/>
                          <a:cs typeface="Calibri"/>
                        </a:rPr>
                        <a:t>4q21-</a:t>
                      </a:r>
                      <a:r>
                        <a:rPr sz="900" spc="-25" dirty="0">
                          <a:latin typeface="Calibri"/>
                          <a:cs typeface="Calibri"/>
                        </a:rPr>
                        <a:t>q31</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7"/>
                  </a:ext>
                </a:extLst>
              </a:tr>
            </a:tbl>
          </a:graphicData>
        </a:graphic>
      </p:graphicFrame>
      <p:graphicFrame>
        <p:nvGraphicFramePr>
          <p:cNvPr id="4" name="object 4">
            <a:extLst>
              <a:ext uri="{FF2B5EF4-FFF2-40B4-BE49-F238E27FC236}">
                <a16:creationId xmlns:a16="http://schemas.microsoft.com/office/drawing/2014/main" id="{72C4C05D-0D91-F65E-2140-9C85C10C35AE}"/>
              </a:ext>
            </a:extLst>
          </p:cNvPr>
          <p:cNvGraphicFramePr>
            <a:graphicFrameLocks noGrp="1"/>
          </p:cNvGraphicFramePr>
          <p:nvPr>
            <p:extLst>
              <p:ext uri="{D42A27DB-BD31-4B8C-83A1-F6EECF244321}">
                <p14:modId xmlns:p14="http://schemas.microsoft.com/office/powerpoint/2010/main" val="52729266"/>
              </p:ext>
            </p:extLst>
          </p:nvPr>
        </p:nvGraphicFramePr>
        <p:xfrm>
          <a:off x="2174132" y="1503724"/>
          <a:ext cx="1481455" cy="402018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10" dirty="0">
                          <a:latin typeface="Calibri"/>
                          <a:cs typeface="Calibri"/>
                        </a:rPr>
                        <a:t>Monosomy</a:t>
                      </a:r>
                      <a:r>
                        <a:rPr sz="900" spc="250" dirty="0">
                          <a:latin typeface="Calibri"/>
                          <a:cs typeface="Calibri"/>
                        </a:rPr>
                        <a:t> </a:t>
                      </a:r>
                      <a:r>
                        <a:rPr sz="900" spc="10" dirty="0">
                          <a:latin typeface="Calibri"/>
                          <a:cs typeface="Calibri"/>
                        </a:rPr>
                        <a:t>4q31-</a:t>
                      </a:r>
                      <a:r>
                        <a:rPr sz="900" spc="-20" dirty="0">
                          <a:latin typeface="Calibri"/>
                          <a:cs typeface="Calibri"/>
                        </a:rPr>
                        <a:t>qter</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4q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4p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5p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5q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5q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6p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6q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6q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7p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7p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900" spc="30" dirty="0">
                          <a:latin typeface="Calibri"/>
                          <a:cs typeface="Calibri"/>
                        </a:rPr>
                        <a:t>monosomy</a:t>
                      </a:r>
                      <a:r>
                        <a:rPr sz="900" spc="90" dirty="0">
                          <a:latin typeface="Calibri"/>
                          <a:cs typeface="Calibri"/>
                        </a:rPr>
                        <a:t> </a:t>
                      </a:r>
                      <a:r>
                        <a:rPr sz="900" spc="30" dirty="0">
                          <a:latin typeface="Calibri"/>
                          <a:cs typeface="Calibri"/>
                        </a:rPr>
                        <a:t>7q32-</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900" spc="10" dirty="0">
                          <a:latin typeface="Calibri"/>
                          <a:cs typeface="Calibri"/>
                        </a:rPr>
                        <a:t>Trisomy</a:t>
                      </a:r>
                      <a:r>
                        <a:rPr sz="900" spc="265" dirty="0">
                          <a:latin typeface="Calibri"/>
                          <a:cs typeface="Calibri"/>
                        </a:rPr>
                        <a:t> </a:t>
                      </a:r>
                      <a:r>
                        <a:rPr sz="900" spc="10" dirty="0">
                          <a:latin typeface="Calibri"/>
                          <a:cs typeface="Calibri"/>
                        </a:rPr>
                        <a:t>7q21-</a:t>
                      </a:r>
                      <a:r>
                        <a:rPr sz="900" spc="-25" dirty="0">
                          <a:latin typeface="Calibri"/>
                          <a:cs typeface="Calibri"/>
                        </a:rPr>
                        <a:t>q31</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900" spc="10" dirty="0">
                          <a:latin typeface="Calibri"/>
                          <a:cs typeface="Calibri"/>
                        </a:rPr>
                        <a:t>Trisomy</a:t>
                      </a:r>
                      <a:r>
                        <a:rPr sz="900" spc="229" dirty="0">
                          <a:latin typeface="Calibri"/>
                          <a:cs typeface="Calibri"/>
                        </a:rPr>
                        <a:t> </a:t>
                      </a:r>
                      <a:r>
                        <a:rPr sz="900" spc="10" dirty="0">
                          <a:latin typeface="Calibri"/>
                          <a:cs typeface="Calibri"/>
                        </a:rPr>
                        <a:t>7q32-</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8q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5"/>
                  </a:ext>
                </a:extLst>
              </a:tr>
              <a:tr h="222885">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9p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6"/>
                  </a:ext>
                </a:extLst>
              </a:tr>
              <a:tr h="22034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9p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7"/>
                  </a:ext>
                </a:extLst>
              </a:tr>
            </a:tbl>
          </a:graphicData>
        </a:graphic>
      </p:graphicFrame>
      <p:graphicFrame>
        <p:nvGraphicFramePr>
          <p:cNvPr id="5" name="object 5">
            <a:extLst>
              <a:ext uri="{FF2B5EF4-FFF2-40B4-BE49-F238E27FC236}">
                <a16:creationId xmlns:a16="http://schemas.microsoft.com/office/drawing/2014/main" id="{09DC60A8-CF53-62F7-435C-89679AB18C04}"/>
              </a:ext>
            </a:extLst>
          </p:cNvPr>
          <p:cNvGraphicFramePr>
            <a:graphicFrameLocks noGrp="1"/>
          </p:cNvGraphicFramePr>
          <p:nvPr>
            <p:extLst>
              <p:ext uri="{D42A27DB-BD31-4B8C-83A1-F6EECF244321}">
                <p14:modId xmlns:p14="http://schemas.microsoft.com/office/powerpoint/2010/main" val="312691145"/>
              </p:ext>
            </p:extLst>
          </p:nvPr>
        </p:nvGraphicFramePr>
        <p:xfrm>
          <a:off x="3767232" y="1503724"/>
          <a:ext cx="1481455" cy="402018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9q</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9q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10p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10p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10q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10q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11p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11q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11q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12p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12p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12q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900" spc="10" dirty="0">
                          <a:latin typeface="Calibri"/>
                          <a:cs typeface="Calibri"/>
                        </a:rPr>
                        <a:t>Monosomy</a:t>
                      </a:r>
                      <a:r>
                        <a:rPr sz="900" spc="150" dirty="0">
                          <a:latin typeface="Calibri"/>
                          <a:cs typeface="Calibri"/>
                        </a:rPr>
                        <a:t> </a:t>
                      </a:r>
                      <a:r>
                        <a:rPr sz="900" spc="-10" dirty="0">
                          <a:latin typeface="Calibri"/>
                          <a:cs typeface="Calibri"/>
                        </a:rPr>
                        <a:t>13q14</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900" spc="10" dirty="0">
                          <a:latin typeface="Calibri"/>
                          <a:cs typeface="Calibri"/>
                        </a:rPr>
                        <a:t>Monosomy</a:t>
                      </a:r>
                      <a:r>
                        <a:rPr sz="900" spc="270" dirty="0">
                          <a:latin typeface="Calibri"/>
                          <a:cs typeface="Calibri"/>
                        </a:rPr>
                        <a:t> </a:t>
                      </a:r>
                      <a:r>
                        <a:rPr sz="900" spc="10" dirty="0">
                          <a:latin typeface="Calibri"/>
                          <a:cs typeface="Calibri"/>
                        </a:rPr>
                        <a:t>13q21-</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2885">
                <a:tc>
                  <a:txBody>
                    <a:bodyPr/>
                    <a:lstStyle/>
                    <a:p>
                      <a:pPr algn="ctr">
                        <a:lnSpc>
                          <a:spcPct val="100000"/>
                        </a:lnSpc>
                        <a:spcBef>
                          <a:spcPts val="385"/>
                        </a:spcBef>
                      </a:pPr>
                      <a:r>
                        <a:rPr sz="900" spc="10" dirty="0">
                          <a:latin typeface="Calibri"/>
                          <a:cs typeface="Calibri"/>
                        </a:rPr>
                        <a:t>Trisomy</a:t>
                      </a:r>
                      <a:r>
                        <a:rPr sz="900" spc="310" dirty="0">
                          <a:latin typeface="Calibri"/>
                          <a:cs typeface="Calibri"/>
                        </a:rPr>
                        <a:t> </a:t>
                      </a:r>
                      <a:r>
                        <a:rPr sz="900" spc="10" dirty="0">
                          <a:latin typeface="Calibri"/>
                          <a:cs typeface="Calibri"/>
                        </a:rPr>
                        <a:t>13cen-</a:t>
                      </a:r>
                      <a:r>
                        <a:rPr sz="900" spc="-25" dirty="0">
                          <a:latin typeface="Calibri"/>
                          <a:cs typeface="Calibri"/>
                        </a:rPr>
                        <a:t>q14</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5"/>
                  </a:ext>
                </a:extLst>
              </a:tr>
              <a:tr h="222885">
                <a:tc>
                  <a:txBody>
                    <a:bodyPr/>
                    <a:lstStyle/>
                    <a:p>
                      <a:pPr algn="ctr">
                        <a:lnSpc>
                          <a:spcPct val="100000"/>
                        </a:lnSpc>
                        <a:spcBef>
                          <a:spcPts val="385"/>
                        </a:spcBef>
                      </a:pPr>
                      <a:r>
                        <a:rPr sz="900" spc="10" dirty="0">
                          <a:latin typeface="Calibri"/>
                          <a:cs typeface="Calibri"/>
                        </a:rPr>
                        <a:t>Trisomy</a:t>
                      </a:r>
                      <a:r>
                        <a:rPr sz="900" spc="245" dirty="0">
                          <a:latin typeface="Calibri"/>
                          <a:cs typeface="Calibri"/>
                        </a:rPr>
                        <a:t> </a:t>
                      </a:r>
                      <a:r>
                        <a:rPr sz="900" spc="10" dirty="0">
                          <a:latin typeface="Calibri"/>
                          <a:cs typeface="Calibri"/>
                        </a:rPr>
                        <a:t>13q21-</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6"/>
                  </a:ext>
                </a:extLst>
              </a:tr>
              <a:tr h="22034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14</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7"/>
                  </a:ext>
                </a:extLst>
              </a:tr>
            </a:tbl>
          </a:graphicData>
        </a:graphic>
      </p:graphicFrame>
      <p:graphicFrame>
        <p:nvGraphicFramePr>
          <p:cNvPr id="6" name="object 6">
            <a:extLst>
              <a:ext uri="{FF2B5EF4-FFF2-40B4-BE49-F238E27FC236}">
                <a16:creationId xmlns:a16="http://schemas.microsoft.com/office/drawing/2014/main" id="{77C8103D-68BA-9948-8759-2B7D01AEC687}"/>
              </a:ext>
            </a:extLst>
          </p:cNvPr>
          <p:cNvGraphicFramePr>
            <a:graphicFrameLocks noGrp="1"/>
          </p:cNvGraphicFramePr>
          <p:nvPr>
            <p:extLst>
              <p:ext uri="{D42A27DB-BD31-4B8C-83A1-F6EECF244321}">
                <p14:modId xmlns:p14="http://schemas.microsoft.com/office/powerpoint/2010/main" val="3857954626"/>
              </p:ext>
            </p:extLst>
          </p:nvPr>
        </p:nvGraphicFramePr>
        <p:xfrm>
          <a:off x="5360333" y="1503724"/>
          <a:ext cx="1480820" cy="357441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10" dirty="0">
                          <a:latin typeface="Calibri"/>
                          <a:cs typeface="Calibri"/>
                        </a:rPr>
                        <a:t>Trisomy</a:t>
                      </a:r>
                      <a:r>
                        <a:rPr sz="900" spc="245" dirty="0">
                          <a:latin typeface="Calibri"/>
                          <a:cs typeface="Calibri"/>
                        </a:rPr>
                        <a:t> </a:t>
                      </a:r>
                      <a:r>
                        <a:rPr sz="900" spc="10" dirty="0">
                          <a:latin typeface="Calibri"/>
                          <a:cs typeface="Calibri"/>
                        </a:rPr>
                        <a:t>14q24-</a:t>
                      </a:r>
                      <a:r>
                        <a:rPr sz="900" spc="-20" dirty="0">
                          <a:latin typeface="Calibri"/>
                          <a:cs typeface="Calibri"/>
                        </a:rPr>
                        <a:t>qter</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20" dirty="0">
                          <a:latin typeface="Calibri"/>
                          <a:cs typeface="Calibri"/>
                        </a:rPr>
                        <a:t>Supernumerary</a:t>
                      </a:r>
                      <a:r>
                        <a:rPr sz="900" spc="60" dirty="0">
                          <a:latin typeface="Calibri"/>
                          <a:cs typeface="Calibri"/>
                        </a:rPr>
                        <a:t> </a:t>
                      </a:r>
                      <a:r>
                        <a:rPr sz="900" spc="20" dirty="0">
                          <a:latin typeface="Calibri"/>
                          <a:cs typeface="Calibri"/>
                        </a:rPr>
                        <a:t>inv</a:t>
                      </a:r>
                      <a:r>
                        <a:rPr sz="900" spc="60" dirty="0">
                          <a:latin typeface="Calibri"/>
                          <a:cs typeface="Calibri"/>
                        </a:rPr>
                        <a:t> </a:t>
                      </a:r>
                      <a:r>
                        <a:rPr sz="900" spc="20" dirty="0">
                          <a:latin typeface="Calibri"/>
                          <a:cs typeface="Calibri"/>
                        </a:rPr>
                        <a:t>dup</a:t>
                      </a:r>
                      <a:r>
                        <a:rPr sz="900" spc="60" dirty="0">
                          <a:latin typeface="Calibri"/>
                          <a:cs typeface="Calibri"/>
                        </a:rPr>
                        <a:t> </a:t>
                      </a:r>
                      <a:r>
                        <a:rPr sz="900" spc="-20" dirty="0">
                          <a:latin typeface="Calibri"/>
                          <a:cs typeface="Calibri"/>
                        </a:rPr>
                        <a:t>(15)</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900" spc="10" dirty="0">
                          <a:latin typeface="Calibri"/>
                          <a:cs typeface="Calibri"/>
                        </a:rPr>
                        <a:t>Trisomy</a:t>
                      </a:r>
                      <a:r>
                        <a:rPr sz="900" spc="245" dirty="0">
                          <a:latin typeface="Calibri"/>
                          <a:cs typeface="Calibri"/>
                        </a:rPr>
                        <a:t> </a:t>
                      </a:r>
                      <a:r>
                        <a:rPr sz="900" spc="10" dirty="0">
                          <a:latin typeface="Calibri"/>
                          <a:cs typeface="Calibri"/>
                        </a:rPr>
                        <a:t>15q22-</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16p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16q</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900" spc="10" dirty="0">
                          <a:latin typeface="Calibri"/>
                          <a:cs typeface="Calibri"/>
                        </a:rPr>
                        <a:t>Partial</a:t>
                      </a:r>
                      <a:r>
                        <a:rPr sz="900" spc="110" dirty="0">
                          <a:latin typeface="Calibri"/>
                          <a:cs typeface="Calibri"/>
                        </a:rPr>
                        <a:t> </a:t>
                      </a:r>
                      <a:r>
                        <a:rPr sz="900" spc="10" dirty="0">
                          <a:latin typeface="Calibri"/>
                          <a:cs typeface="Calibri"/>
                        </a:rPr>
                        <a:t>trisomy</a:t>
                      </a:r>
                      <a:r>
                        <a:rPr sz="900" spc="114" dirty="0">
                          <a:latin typeface="Calibri"/>
                          <a:cs typeface="Calibri"/>
                        </a:rPr>
                        <a:t> </a:t>
                      </a:r>
                      <a:r>
                        <a:rPr sz="900" spc="-25" dirty="0">
                          <a:latin typeface="Calibri"/>
                          <a:cs typeface="Calibri"/>
                        </a:rPr>
                        <a:t>16q</a:t>
                      </a:r>
                      <a:endParaRPr sz="90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900" spc="10" dirty="0">
                          <a:latin typeface="Calibri"/>
                          <a:cs typeface="Calibri"/>
                        </a:rPr>
                        <a:t>Trisomy</a:t>
                      </a:r>
                      <a:r>
                        <a:rPr sz="900" spc="250" dirty="0">
                          <a:latin typeface="Calibri"/>
                          <a:cs typeface="Calibri"/>
                        </a:rPr>
                        <a:t> </a:t>
                      </a:r>
                      <a:r>
                        <a:rPr sz="900" spc="10" dirty="0">
                          <a:latin typeface="Calibri"/>
                          <a:cs typeface="Calibri"/>
                        </a:rPr>
                        <a:t>17pter-</a:t>
                      </a:r>
                      <a:r>
                        <a:rPr sz="900" spc="-25" dirty="0">
                          <a:latin typeface="Calibri"/>
                          <a:cs typeface="Calibri"/>
                        </a:rPr>
                        <a:t>q21</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18p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900" spc="20" dirty="0">
                          <a:latin typeface="Calibri"/>
                          <a:cs typeface="Calibri"/>
                        </a:rPr>
                        <a:t>Partial</a:t>
                      </a:r>
                      <a:r>
                        <a:rPr sz="900" spc="55" dirty="0">
                          <a:latin typeface="Calibri"/>
                          <a:cs typeface="Calibri"/>
                        </a:rPr>
                        <a:t> </a:t>
                      </a:r>
                      <a:r>
                        <a:rPr sz="900" spc="20" dirty="0">
                          <a:latin typeface="Calibri"/>
                          <a:cs typeface="Calibri"/>
                        </a:rPr>
                        <a:t>tetrasomy</a:t>
                      </a:r>
                      <a:r>
                        <a:rPr sz="900" spc="60" dirty="0">
                          <a:latin typeface="Calibri"/>
                          <a:cs typeface="Calibri"/>
                        </a:rPr>
                        <a:t> </a:t>
                      </a:r>
                      <a:r>
                        <a:rPr sz="900" spc="-25" dirty="0">
                          <a:latin typeface="Calibri"/>
                          <a:cs typeface="Calibri"/>
                        </a:rPr>
                        <a:t>18p</a:t>
                      </a:r>
                      <a:endParaRPr sz="90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900" spc="10" dirty="0">
                          <a:latin typeface="Calibri"/>
                          <a:cs typeface="Calibri"/>
                        </a:rPr>
                        <a:t>Trisomy</a:t>
                      </a:r>
                      <a:r>
                        <a:rPr sz="900" spc="250" dirty="0">
                          <a:latin typeface="Calibri"/>
                          <a:cs typeface="Calibri"/>
                        </a:rPr>
                        <a:t> </a:t>
                      </a:r>
                      <a:r>
                        <a:rPr sz="900" spc="10" dirty="0">
                          <a:latin typeface="Calibri"/>
                          <a:cs typeface="Calibri"/>
                        </a:rPr>
                        <a:t>18pter-</a:t>
                      </a:r>
                      <a:r>
                        <a:rPr sz="900" spc="-25" dirty="0">
                          <a:latin typeface="Calibri"/>
                          <a:cs typeface="Calibri"/>
                        </a:rPr>
                        <a:t>q12</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900" spc="10" dirty="0">
                          <a:latin typeface="Calibri"/>
                          <a:cs typeface="Calibri"/>
                        </a:rPr>
                        <a:t>Monosomy</a:t>
                      </a:r>
                      <a:r>
                        <a:rPr sz="900" spc="270" dirty="0">
                          <a:latin typeface="Calibri"/>
                          <a:cs typeface="Calibri"/>
                        </a:rPr>
                        <a:t> </a:t>
                      </a:r>
                      <a:r>
                        <a:rPr sz="900" spc="10" dirty="0">
                          <a:latin typeface="Calibri"/>
                          <a:cs typeface="Calibri"/>
                        </a:rPr>
                        <a:t>18q21-</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900" spc="10" dirty="0">
                          <a:latin typeface="Calibri"/>
                          <a:cs typeface="Calibri"/>
                        </a:rPr>
                        <a:t>Trisomy</a:t>
                      </a:r>
                      <a:r>
                        <a:rPr sz="900" spc="245" dirty="0">
                          <a:latin typeface="Calibri"/>
                          <a:cs typeface="Calibri"/>
                        </a:rPr>
                        <a:t> </a:t>
                      </a:r>
                      <a:r>
                        <a:rPr sz="900" spc="10" dirty="0">
                          <a:latin typeface="Calibri"/>
                          <a:cs typeface="Calibri"/>
                        </a:rPr>
                        <a:t>18q12-</a:t>
                      </a:r>
                      <a:r>
                        <a:rPr sz="900" spc="-20" dirty="0">
                          <a:latin typeface="Calibri"/>
                          <a:cs typeface="Calibri"/>
                        </a:rPr>
                        <a:t>qter</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20p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900" spc="10" dirty="0">
                          <a:latin typeface="Calibri"/>
                          <a:cs typeface="Calibri"/>
                        </a:rPr>
                        <a:t>Trisomy</a:t>
                      </a:r>
                      <a:r>
                        <a:rPr sz="900" spc="130" dirty="0">
                          <a:latin typeface="Calibri"/>
                          <a:cs typeface="Calibri"/>
                        </a:rPr>
                        <a:t> </a:t>
                      </a:r>
                      <a:r>
                        <a:rPr sz="900" spc="-25" dirty="0">
                          <a:latin typeface="Calibri"/>
                          <a:cs typeface="Calibri"/>
                        </a:rPr>
                        <a:t>20p</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0345">
                <a:tc>
                  <a:txBody>
                    <a:bodyPr/>
                    <a:lstStyle/>
                    <a:p>
                      <a:pPr algn="ctr">
                        <a:lnSpc>
                          <a:spcPct val="100000"/>
                        </a:lnSpc>
                        <a:spcBef>
                          <a:spcPts val="385"/>
                        </a:spcBef>
                      </a:pPr>
                      <a:r>
                        <a:rPr sz="900" spc="30" dirty="0">
                          <a:latin typeface="Calibri"/>
                          <a:cs typeface="Calibri"/>
                        </a:rPr>
                        <a:t>Partial</a:t>
                      </a:r>
                      <a:r>
                        <a:rPr sz="900" spc="25" dirty="0">
                          <a:latin typeface="Calibri"/>
                          <a:cs typeface="Calibri"/>
                        </a:rPr>
                        <a:t> </a:t>
                      </a:r>
                      <a:r>
                        <a:rPr sz="900" spc="30" dirty="0">
                          <a:latin typeface="Calibri"/>
                          <a:cs typeface="Calibri"/>
                        </a:rPr>
                        <a:t>monosomy </a:t>
                      </a:r>
                      <a:r>
                        <a:rPr sz="900" spc="-25" dirty="0">
                          <a:latin typeface="Calibri"/>
                          <a:cs typeface="Calibri"/>
                        </a:rPr>
                        <a:t>21</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5"/>
                  </a:ext>
                </a:extLst>
              </a:tr>
            </a:tbl>
          </a:graphicData>
        </a:graphic>
      </p:graphicFrame>
      <p:graphicFrame>
        <p:nvGraphicFramePr>
          <p:cNvPr id="8" name="object 8">
            <a:extLst>
              <a:ext uri="{FF2B5EF4-FFF2-40B4-BE49-F238E27FC236}">
                <a16:creationId xmlns:a16="http://schemas.microsoft.com/office/drawing/2014/main" id="{859F27F7-74A4-E3A9-227B-6EFA51328F30}"/>
              </a:ext>
            </a:extLst>
          </p:cNvPr>
          <p:cNvGraphicFramePr>
            <a:graphicFrameLocks noGrp="1"/>
          </p:cNvGraphicFramePr>
          <p:nvPr>
            <p:extLst>
              <p:ext uri="{D42A27DB-BD31-4B8C-83A1-F6EECF244321}">
                <p14:modId xmlns:p14="http://schemas.microsoft.com/office/powerpoint/2010/main" val="3863126855"/>
              </p:ext>
            </p:extLst>
          </p:nvPr>
        </p:nvGraphicFramePr>
        <p:xfrm>
          <a:off x="581031" y="6231655"/>
          <a:ext cx="1480820" cy="167195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10" dirty="0">
                          <a:latin typeface="Calibri"/>
                          <a:cs typeface="Calibri"/>
                        </a:rPr>
                        <a:t>1p36</a:t>
                      </a:r>
                      <a:r>
                        <a:rPr sz="900" spc="100" dirty="0">
                          <a:latin typeface="Calibri"/>
                          <a:cs typeface="Calibri"/>
                        </a:rPr>
                        <a:t> </a:t>
                      </a:r>
                      <a:r>
                        <a:rPr sz="900" spc="10" dirty="0">
                          <a:latin typeface="Calibri"/>
                          <a:cs typeface="Calibri"/>
                        </a:rPr>
                        <a:t>deletion</a:t>
                      </a:r>
                      <a:r>
                        <a:rPr sz="900" spc="105" dirty="0">
                          <a:latin typeface="Calibri"/>
                          <a:cs typeface="Calibri"/>
                        </a:rPr>
                        <a:t> </a:t>
                      </a:r>
                      <a:r>
                        <a:rPr sz="900" spc="-10" dirty="0">
                          <a:latin typeface="Calibri"/>
                          <a:cs typeface="Calibri"/>
                        </a:rPr>
                        <a:t>syndrome</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10" dirty="0">
                          <a:latin typeface="Calibri"/>
                          <a:cs typeface="Calibri"/>
                        </a:rPr>
                        <a:t>2p16.1-p15</a:t>
                      </a:r>
                      <a:r>
                        <a:rPr sz="900" spc="180" dirty="0">
                          <a:latin typeface="Calibri"/>
                          <a:cs typeface="Calibri"/>
                        </a:rPr>
                        <a:t> </a:t>
                      </a:r>
                      <a:r>
                        <a:rPr sz="900" spc="10" dirty="0">
                          <a:latin typeface="Calibri"/>
                          <a:cs typeface="Calibri"/>
                        </a:rPr>
                        <a:t>deletion</a:t>
                      </a:r>
                      <a:r>
                        <a:rPr sz="900" spc="185"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900" spc="10" dirty="0">
                          <a:latin typeface="Calibri"/>
                          <a:cs typeface="Calibri"/>
                        </a:rPr>
                        <a:t>2q33.1</a:t>
                      </a:r>
                      <a:r>
                        <a:rPr sz="900" spc="130" dirty="0">
                          <a:latin typeface="Calibri"/>
                          <a:cs typeface="Calibri"/>
                        </a:rPr>
                        <a:t> </a:t>
                      </a:r>
                      <a:r>
                        <a:rPr sz="900" spc="10" dirty="0">
                          <a:latin typeface="Calibri"/>
                          <a:cs typeface="Calibri"/>
                        </a:rPr>
                        <a:t>deletion</a:t>
                      </a:r>
                      <a:r>
                        <a:rPr sz="900" spc="13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900" spc="10" dirty="0">
                          <a:latin typeface="Calibri"/>
                          <a:cs typeface="Calibri"/>
                        </a:rPr>
                        <a:t>2q37</a:t>
                      </a:r>
                      <a:r>
                        <a:rPr sz="900" spc="100" dirty="0">
                          <a:latin typeface="Calibri"/>
                          <a:cs typeface="Calibri"/>
                        </a:rPr>
                        <a:t> </a:t>
                      </a:r>
                      <a:r>
                        <a:rPr sz="900" spc="10" dirty="0">
                          <a:latin typeface="Calibri"/>
                          <a:cs typeface="Calibri"/>
                        </a:rPr>
                        <a:t>deletion</a:t>
                      </a:r>
                      <a:r>
                        <a:rPr sz="900" spc="105"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900" spc="10" dirty="0">
                          <a:latin typeface="Calibri"/>
                          <a:cs typeface="Calibri"/>
                        </a:rPr>
                        <a:t>3p</a:t>
                      </a:r>
                      <a:r>
                        <a:rPr sz="900" spc="75" dirty="0">
                          <a:latin typeface="Calibri"/>
                          <a:cs typeface="Calibri"/>
                        </a:rPr>
                        <a:t> </a:t>
                      </a:r>
                      <a:r>
                        <a:rPr sz="900" spc="10" dirty="0">
                          <a:latin typeface="Calibri"/>
                          <a:cs typeface="Calibri"/>
                        </a:rPr>
                        <a:t>deletion</a:t>
                      </a:r>
                      <a:r>
                        <a:rPr sz="900" spc="8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0345">
                <a:tc>
                  <a:txBody>
                    <a:bodyPr/>
                    <a:lstStyle/>
                    <a:p>
                      <a:pPr algn="ctr">
                        <a:lnSpc>
                          <a:spcPct val="100000"/>
                        </a:lnSpc>
                        <a:spcBef>
                          <a:spcPts val="385"/>
                        </a:spcBef>
                      </a:pPr>
                      <a:r>
                        <a:rPr sz="900" spc="20" dirty="0">
                          <a:latin typeface="Calibri"/>
                          <a:cs typeface="Calibri"/>
                        </a:rPr>
                        <a:t>4p16.31</a:t>
                      </a:r>
                      <a:r>
                        <a:rPr sz="900" spc="70" dirty="0">
                          <a:latin typeface="Calibri"/>
                          <a:cs typeface="Calibri"/>
                        </a:rPr>
                        <a:t> </a:t>
                      </a:r>
                      <a:r>
                        <a:rPr sz="900" spc="20" dirty="0">
                          <a:latin typeface="Calibri"/>
                          <a:cs typeface="Calibri"/>
                        </a:rPr>
                        <a:t>deletion</a:t>
                      </a:r>
                      <a:r>
                        <a:rPr sz="900" spc="7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6"/>
                  </a:ext>
                </a:extLst>
              </a:tr>
            </a:tbl>
          </a:graphicData>
        </a:graphic>
      </p:graphicFrame>
      <p:graphicFrame>
        <p:nvGraphicFramePr>
          <p:cNvPr id="9" name="object 9">
            <a:extLst>
              <a:ext uri="{FF2B5EF4-FFF2-40B4-BE49-F238E27FC236}">
                <a16:creationId xmlns:a16="http://schemas.microsoft.com/office/drawing/2014/main" id="{BA107DA5-537A-AF35-C61B-04901AAB5F4A}"/>
              </a:ext>
            </a:extLst>
          </p:cNvPr>
          <p:cNvGraphicFramePr>
            <a:graphicFrameLocks noGrp="1"/>
          </p:cNvGraphicFramePr>
          <p:nvPr>
            <p:extLst>
              <p:ext uri="{D42A27DB-BD31-4B8C-83A1-F6EECF244321}">
                <p14:modId xmlns:p14="http://schemas.microsoft.com/office/powerpoint/2010/main" val="1729770154"/>
              </p:ext>
            </p:extLst>
          </p:nvPr>
        </p:nvGraphicFramePr>
        <p:xfrm>
          <a:off x="2127750" y="6231655"/>
          <a:ext cx="1481455" cy="167449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10" dirty="0">
                          <a:latin typeface="Calibri"/>
                          <a:cs typeface="Calibri"/>
                        </a:rPr>
                        <a:t>Cri-du-chat</a:t>
                      </a:r>
                      <a:r>
                        <a:rPr sz="900" spc="340" dirty="0">
                          <a:latin typeface="Calibri"/>
                          <a:cs typeface="Calibri"/>
                        </a:rPr>
                        <a:t> </a:t>
                      </a:r>
                      <a:r>
                        <a:rPr sz="900" spc="-10" dirty="0">
                          <a:latin typeface="Calibri"/>
                          <a:cs typeface="Calibri"/>
                        </a:rPr>
                        <a:t>syndrome</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10" dirty="0">
                          <a:latin typeface="Calibri"/>
                          <a:cs typeface="Calibri"/>
                        </a:rPr>
                        <a:t>7q11.2</a:t>
                      </a:r>
                      <a:r>
                        <a:rPr sz="900" spc="130" dirty="0">
                          <a:latin typeface="Calibri"/>
                          <a:cs typeface="Calibri"/>
                        </a:rPr>
                        <a:t> </a:t>
                      </a:r>
                      <a:r>
                        <a:rPr sz="900" spc="10" dirty="0">
                          <a:latin typeface="Calibri"/>
                          <a:cs typeface="Calibri"/>
                        </a:rPr>
                        <a:t>deletion</a:t>
                      </a:r>
                      <a:r>
                        <a:rPr sz="900" spc="13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900" spc="10" dirty="0">
                          <a:latin typeface="Calibri"/>
                          <a:cs typeface="Calibri"/>
                        </a:rPr>
                        <a:t>Langer-Giedion</a:t>
                      </a:r>
                      <a:r>
                        <a:rPr sz="900" spc="30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900" spc="10" dirty="0">
                          <a:latin typeface="Calibri"/>
                          <a:cs typeface="Calibri"/>
                        </a:rPr>
                        <a:t>8p23.1</a:t>
                      </a:r>
                      <a:r>
                        <a:rPr sz="900" spc="130" dirty="0">
                          <a:latin typeface="Calibri"/>
                          <a:cs typeface="Calibri"/>
                        </a:rPr>
                        <a:t> </a:t>
                      </a:r>
                      <a:r>
                        <a:rPr sz="900" spc="10" dirty="0">
                          <a:latin typeface="Calibri"/>
                          <a:cs typeface="Calibri"/>
                        </a:rPr>
                        <a:t>deletion</a:t>
                      </a:r>
                      <a:r>
                        <a:rPr sz="900" spc="13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900" spc="20" dirty="0">
                          <a:latin typeface="Calibri"/>
                          <a:cs typeface="Calibri"/>
                        </a:rPr>
                        <a:t>8p23.1</a:t>
                      </a:r>
                      <a:r>
                        <a:rPr sz="900" spc="95" dirty="0">
                          <a:latin typeface="Calibri"/>
                          <a:cs typeface="Calibri"/>
                        </a:rPr>
                        <a:t> </a:t>
                      </a:r>
                      <a:r>
                        <a:rPr sz="900" spc="20" dirty="0">
                          <a:latin typeface="Calibri"/>
                          <a:cs typeface="Calibri"/>
                        </a:rPr>
                        <a:t>duplication</a:t>
                      </a:r>
                      <a:r>
                        <a:rPr sz="900" spc="10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0345">
                <a:tc>
                  <a:txBody>
                    <a:bodyPr/>
                    <a:lstStyle/>
                    <a:p>
                      <a:pPr algn="ctr">
                        <a:lnSpc>
                          <a:spcPct val="100000"/>
                        </a:lnSpc>
                        <a:spcBef>
                          <a:spcPts val="385"/>
                        </a:spcBef>
                      </a:pPr>
                      <a:r>
                        <a:rPr sz="900" spc="10" dirty="0">
                          <a:latin typeface="Calibri"/>
                          <a:cs typeface="Calibri"/>
                        </a:rPr>
                        <a:t>11q23.3-q25</a:t>
                      </a:r>
                      <a:r>
                        <a:rPr sz="900" spc="185" dirty="0">
                          <a:latin typeface="Calibri"/>
                          <a:cs typeface="Calibri"/>
                        </a:rPr>
                        <a:t> </a:t>
                      </a:r>
                      <a:r>
                        <a:rPr sz="900" spc="10" dirty="0">
                          <a:latin typeface="Calibri"/>
                          <a:cs typeface="Calibri"/>
                        </a:rPr>
                        <a:t>deletion</a:t>
                      </a:r>
                      <a:r>
                        <a:rPr sz="900" spc="20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6"/>
                  </a:ext>
                </a:extLst>
              </a:tr>
            </a:tbl>
          </a:graphicData>
        </a:graphic>
      </p:graphicFrame>
      <p:graphicFrame>
        <p:nvGraphicFramePr>
          <p:cNvPr id="10" name="object 10">
            <a:extLst>
              <a:ext uri="{FF2B5EF4-FFF2-40B4-BE49-F238E27FC236}">
                <a16:creationId xmlns:a16="http://schemas.microsoft.com/office/drawing/2014/main" id="{710BBD62-ED43-5807-5B0E-58DF060DC865}"/>
              </a:ext>
            </a:extLst>
          </p:cNvPr>
          <p:cNvGraphicFramePr>
            <a:graphicFrameLocks noGrp="1"/>
          </p:cNvGraphicFramePr>
          <p:nvPr>
            <p:extLst>
              <p:ext uri="{D42A27DB-BD31-4B8C-83A1-F6EECF244321}">
                <p14:modId xmlns:p14="http://schemas.microsoft.com/office/powerpoint/2010/main" val="889867768"/>
              </p:ext>
            </p:extLst>
          </p:nvPr>
        </p:nvGraphicFramePr>
        <p:xfrm>
          <a:off x="3681094" y="6231655"/>
          <a:ext cx="1652462" cy="1589404"/>
        </p:xfrm>
        <a:graphic>
          <a:graphicData uri="http://schemas.openxmlformats.org/drawingml/2006/table">
            <a:tbl>
              <a:tblPr firstRow="1" bandRow="1">
                <a:tableStyleId>{2D5ABB26-0587-4C30-8999-92F81FD0307C}</a:tableStyleId>
              </a:tblPr>
              <a:tblGrid>
                <a:gridCol w="1652462">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900" spc="20" dirty="0">
                          <a:latin typeface="Calibri"/>
                          <a:cs typeface="Calibri"/>
                        </a:rPr>
                        <a:t>Angelman</a:t>
                      </a:r>
                      <a:r>
                        <a:rPr sz="900" spc="105" dirty="0">
                          <a:latin typeface="Calibri"/>
                          <a:cs typeface="Calibri"/>
                        </a:rPr>
                        <a:t> </a:t>
                      </a:r>
                      <a:r>
                        <a:rPr sz="900" spc="-10" dirty="0">
                          <a:latin typeface="Calibri"/>
                          <a:cs typeface="Calibri"/>
                        </a:rPr>
                        <a:t>syndrome</a:t>
                      </a:r>
                      <a:endParaRPr sz="900" dirty="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dirty="0">
                          <a:latin typeface="Calibri"/>
                          <a:cs typeface="Calibri"/>
                        </a:rPr>
                        <a:t>Prader-Willi</a:t>
                      </a:r>
                      <a:r>
                        <a:rPr sz="900" spc="35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900" spc="20" dirty="0">
                          <a:latin typeface="Calibri"/>
                          <a:cs typeface="Calibri"/>
                        </a:rPr>
                        <a:t>15q26</a:t>
                      </a:r>
                      <a:r>
                        <a:rPr sz="900" spc="85" dirty="0">
                          <a:latin typeface="Calibri"/>
                          <a:cs typeface="Calibri"/>
                        </a:rPr>
                        <a:t> </a:t>
                      </a:r>
                      <a:r>
                        <a:rPr sz="900" spc="20" dirty="0">
                          <a:latin typeface="Calibri"/>
                          <a:cs typeface="Calibri"/>
                        </a:rPr>
                        <a:t>duplication</a:t>
                      </a:r>
                      <a:r>
                        <a:rPr sz="900" spc="9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342900">
                <a:tc>
                  <a:txBody>
                    <a:bodyPr/>
                    <a:lstStyle/>
                    <a:p>
                      <a:pPr marL="524510" marR="105410" indent="-412115">
                        <a:lnSpc>
                          <a:spcPct val="105000"/>
                        </a:lnSpc>
                        <a:spcBef>
                          <a:spcPts val="340"/>
                        </a:spcBef>
                      </a:pPr>
                      <a:r>
                        <a:rPr sz="900" spc="10" dirty="0">
                          <a:latin typeface="Calibri"/>
                          <a:cs typeface="Calibri"/>
                        </a:rPr>
                        <a:t>16p11.2-p12.2</a:t>
                      </a:r>
                      <a:r>
                        <a:rPr lang="en-US" sz="900" spc="10" dirty="0">
                          <a:latin typeface="Calibri"/>
                          <a:cs typeface="Calibri"/>
                        </a:rPr>
                        <a:t> </a:t>
                      </a:r>
                      <a:r>
                        <a:rPr sz="900" spc="-10" dirty="0">
                          <a:latin typeface="Calibri"/>
                          <a:cs typeface="Calibri"/>
                        </a:rPr>
                        <a:t>microdeletion</a:t>
                      </a:r>
                      <a:r>
                        <a:rPr sz="900" spc="500" dirty="0">
                          <a:latin typeface="Calibri"/>
                          <a:cs typeface="Calibri"/>
                        </a:rPr>
                        <a:t> </a:t>
                      </a:r>
                      <a:r>
                        <a:rPr sz="900" spc="-10" dirty="0">
                          <a:latin typeface="Calibri"/>
                          <a:cs typeface="Calibri"/>
                        </a:rPr>
                        <a:t>syndrome</a:t>
                      </a:r>
                      <a:endParaRPr sz="900" dirty="0">
                        <a:latin typeface="Calibri"/>
                        <a:cs typeface="Calibri"/>
                      </a:endParaRPr>
                    </a:p>
                  </a:txBody>
                  <a:tcPr marL="0" marR="0" marT="43180"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340360">
                <a:tc>
                  <a:txBody>
                    <a:bodyPr/>
                    <a:lstStyle/>
                    <a:p>
                      <a:pPr marL="524510" marR="162560" indent="-354965">
                        <a:lnSpc>
                          <a:spcPct val="105000"/>
                        </a:lnSpc>
                        <a:spcBef>
                          <a:spcPts val="340"/>
                        </a:spcBef>
                      </a:pPr>
                      <a:r>
                        <a:rPr sz="900" spc="10" dirty="0">
                          <a:latin typeface="Calibri"/>
                          <a:cs typeface="Calibri"/>
                        </a:rPr>
                        <a:t>16p11.2-p12.2</a:t>
                      </a:r>
                      <a:r>
                        <a:rPr lang="en-US" sz="900" spc="325" dirty="0">
                          <a:latin typeface="Calibri"/>
                          <a:cs typeface="Calibri"/>
                        </a:rPr>
                        <a:t> </a:t>
                      </a:r>
                      <a:r>
                        <a:rPr sz="900" spc="-10" dirty="0">
                          <a:latin typeface="Calibri"/>
                          <a:cs typeface="Calibri"/>
                        </a:rPr>
                        <a:t>duplication</a:t>
                      </a:r>
                      <a:r>
                        <a:rPr sz="900" spc="500" dirty="0">
                          <a:latin typeface="Calibri"/>
                          <a:cs typeface="Calibri"/>
                        </a:rPr>
                        <a:t> </a:t>
                      </a:r>
                      <a:r>
                        <a:rPr sz="900" spc="-10" dirty="0">
                          <a:latin typeface="Calibri"/>
                          <a:cs typeface="Calibri"/>
                        </a:rPr>
                        <a:t>syndrome</a:t>
                      </a:r>
                      <a:endParaRPr sz="900" dirty="0">
                        <a:latin typeface="Calibri"/>
                        <a:cs typeface="Calibri"/>
                      </a:endParaRPr>
                    </a:p>
                  </a:txBody>
                  <a:tcPr marL="0" marR="0" marT="43180"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5"/>
                  </a:ext>
                </a:extLst>
              </a:tr>
            </a:tbl>
          </a:graphicData>
        </a:graphic>
      </p:graphicFrame>
      <p:graphicFrame>
        <p:nvGraphicFramePr>
          <p:cNvPr id="11" name="object 11">
            <a:extLst>
              <a:ext uri="{FF2B5EF4-FFF2-40B4-BE49-F238E27FC236}">
                <a16:creationId xmlns:a16="http://schemas.microsoft.com/office/drawing/2014/main" id="{2572C48B-60E3-AF76-DC7E-ED41C9AF2A17}"/>
              </a:ext>
            </a:extLst>
          </p:cNvPr>
          <p:cNvGraphicFramePr>
            <a:graphicFrameLocks noGrp="1"/>
          </p:cNvGraphicFramePr>
          <p:nvPr>
            <p:extLst>
              <p:ext uri="{D42A27DB-BD31-4B8C-83A1-F6EECF244321}">
                <p14:modId xmlns:p14="http://schemas.microsoft.com/office/powerpoint/2010/main" val="3795123644"/>
              </p:ext>
            </p:extLst>
          </p:nvPr>
        </p:nvGraphicFramePr>
        <p:xfrm>
          <a:off x="5386836" y="6231655"/>
          <a:ext cx="1623411" cy="1246504"/>
        </p:xfrm>
        <a:graphic>
          <a:graphicData uri="http://schemas.openxmlformats.org/drawingml/2006/table">
            <a:tbl>
              <a:tblPr firstRow="1" bandRow="1">
                <a:tableStyleId>{2D5ABB26-0587-4C30-8999-92F81FD0307C}</a:tableStyleId>
              </a:tblPr>
              <a:tblGrid>
                <a:gridCol w="1623411">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spc="-10" dirty="0">
                          <a:solidFill>
                            <a:srgbClr val="FFFFFF"/>
                          </a:solidFill>
                          <a:latin typeface="Calibri"/>
                          <a:cs typeface="Calibri"/>
                        </a:rPr>
                        <a:t>Conditions</a:t>
                      </a:r>
                      <a:endParaRPr sz="900" dirty="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340360">
                <a:tc>
                  <a:txBody>
                    <a:bodyPr/>
                    <a:lstStyle/>
                    <a:p>
                      <a:pPr marL="452120" marR="144780" indent="-300990">
                        <a:lnSpc>
                          <a:spcPct val="105000"/>
                        </a:lnSpc>
                        <a:spcBef>
                          <a:spcPts val="320"/>
                        </a:spcBef>
                      </a:pPr>
                      <a:r>
                        <a:rPr sz="900" spc="20" dirty="0">
                          <a:latin typeface="Calibri"/>
                          <a:cs typeface="Calibri"/>
                        </a:rPr>
                        <a:t>17p13.3</a:t>
                      </a:r>
                      <a:r>
                        <a:rPr sz="900" spc="70" dirty="0">
                          <a:latin typeface="Calibri"/>
                          <a:cs typeface="Calibri"/>
                        </a:rPr>
                        <a:t> </a:t>
                      </a:r>
                      <a:r>
                        <a:rPr sz="900" spc="20" dirty="0">
                          <a:latin typeface="Calibri"/>
                          <a:cs typeface="Calibri"/>
                        </a:rPr>
                        <a:t>deletion</a:t>
                      </a:r>
                      <a:r>
                        <a:rPr sz="900" spc="70" dirty="0">
                          <a:latin typeface="Calibri"/>
                          <a:cs typeface="Calibri"/>
                        </a:rPr>
                        <a:t> </a:t>
                      </a:r>
                      <a:r>
                        <a:rPr sz="900" spc="-10" dirty="0">
                          <a:latin typeface="Calibri"/>
                          <a:cs typeface="Calibri"/>
                        </a:rPr>
                        <a:t>syndrome</a:t>
                      </a:r>
                      <a:r>
                        <a:rPr sz="900" spc="500" dirty="0">
                          <a:latin typeface="Calibri"/>
                          <a:cs typeface="Calibri"/>
                        </a:rPr>
                        <a:t> </a:t>
                      </a:r>
                      <a:r>
                        <a:rPr sz="900" dirty="0">
                          <a:latin typeface="Calibri"/>
                          <a:cs typeface="Calibri"/>
                        </a:rPr>
                        <a:t>(Miller</a:t>
                      </a:r>
                      <a:r>
                        <a:rPr sz="900" spc="55" dirty="0">
                          <a:latin typeface="Calibri"/>
                          <a:cs typeface="Calibri"/>
                        </a:rPr>
                        <a:t> </a:t>
                      </a:r>
                      <a:r>
                        <a:rPr sz="900" spc="-10" dirty="0">
                          <a:latin typeface="Calibri"/>
                          <a:cs typeface="Calibri"/>
                        </a:rPr>
                        <a:t>Deker)</a:t>
                      </a:r>
                      <a:endParaRPr sz="900" dirty="0">
                        <a:latin typeface="Calibri"/>
                        <a:cs typeface="Calibri"/>
                      </a:endParaRPr>
                    </a:p>
                  </a:txBody>
                  <a:tcPr marL="0" marR="0" marT="40640"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900" spc="20" dirty="0">
                          <a:latin typeface="Calibri"/>
                          <a:cs typeface="Calibri"/>
                        </a:rPr>
                        <a:t>Smith-Magenis</a:t>
                      </a:r>
                      <a:r>
                        <a:rPr sz="900" spc="229"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900" spc="20" dirty="0">
                          <a:latin typeface="Calibri"/>
                          <a:cs typeface="Calibri"/>
                        </a:rPr>
                        <a:t>Potocki-Lupski</a:t>
                      </a:r>
                      <a:r>
                        <a:rPr sz="900" spc="325"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0345">
                <a:tc>
                  <a:txBody>
                    <a:bodyPr/>
                    <a:lstStyle/>
                    <a:p>
                      <a:pPr algn="ctr">
                        <a:lnSpc>
                          <a:spcPct val="100000"/>
                        </a:lnSpc>
                        <a:spcBef>
                          <a:spcPts val="385"/>
                        </a:spcBef>
                      </a:pPr>
                      <a:r>
                        <a:rPr sz="900" spc="20" dirty="0">
                          <a:latin typeface="Calibri"/>
                          <a:cs typeface="Calibri"/>
                        </a:rPr>
                        <a:t>22q11.2</a:t>
                      </a:r>
                      <a:r>
                        <a:rPr sz="900" spc="70" dirty="0">
                          <a:latin typeface="Calibri"/>
                          <a:cs typeface="Calibri"/>
                        </a:rPr>
                        <a:t> </a:t>
                      </a:r>
                      <a:r>
                        <a:rPr sz="900" spc="20" dirty="0">
                          <a:latin typeface="Calibri"/>
                          <a:cs typeface="Calibri"/>
                        </a:rPr>
                        <a:t>deletion</a:t>
                      </a:r>
                      <a:r>
                        <a:rPr sz="900" spc="70" dirty="0">
                          <a:latin typeface="Calibri"/>
                          <a:cs typeface="Calibri"/>
                        </a:rPr>
                        <a:t> </a:t>
                      </a:r>
                      <a:r>
                        <a:rPr sz="900" spc="-10" dirty="0">
                          <a:latin typeface="Calibri"/>
                          <a:cs typeface="Calibri"/>
                        </a:rPr>
                        <a:t>syndrome</a:t>
                      </a:r>
                      <a:endParaRPr sz="90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4"/>
                  </a:ext>
                </a:extLst>
              </a:tr>
            </a:tbl>
          </a:graphicData>
        </a:graphic>
      </p:graphicFrame>
      <p:grpSp>
        <p:nvGrpSpPr>
          <p:cNvPr id="12" name="object 12">
            <a:extLst>
              <a:ext uri="{FF2B5EF4-FFF2-40B4-BE49-F238E27FC236}">
                <a16:creationId xmlns:a16="http://schemas.microsoft.com/office/drawing/2014/main" id="{036C27FC-69CA-828C-02B8-DDC9A62BE010}"/>
              </a:ext>
            </a:extLst>
          </p:cNvPr>
          <p:cNvGrpSpPr/>
          <p:nvPr/>
        </p:nvGrpSpPr>
        <p:grpSpPr>
          <a:xfrm>
            <a:off x="428625" y="540004"/>
            <a:ext cx="6703059" cy="9382125"/>
            <a:chOff x="428625" y="540004"/>
            <a:chExt cx="6703059" cy="9382125"/>
          </a:xfrm>
        </p:grpSpPr>
        <p:sp>
          <p:nvSpPr>
            <p:cNvPr id="13" name="object 13">
              <a:extLst>
                <a:ext uri="{FF2B5EF4-FFF2-40B4-BE49-F238E27FC236}">
                  <a16:creationId xmlns:a16="http://schemas.microsoft.com/office/drawing/2014/main" id="{2CE3DB1F-040E-D56D-B4FE-13DC988B0782}"/>
                </a:ext>
              </a:extLst>
            </p:cNvPr>
            <p:cNvSpPr/>
            <p:nvPr/>
          </p:nvSpPr>
          <p:spPr>
            <a:xfrm>
              <a:off x="473367" y="563816"/>
              <a:ext cx="6613525" cy="9334500"/>
            </a:xfrm>
            <a:custGeom>
              <a:avLst/>
              <a:gdLst/>
              <a:ahLst/>
              <a:cxnLst/>
              <a:rect l="l" t="t" r="r" b="b"/>
              <a:pathLst>
                <a:path w="6613525" h="9334500">
                  <a:moveTo>
                    <a:pt x="6613321" y="20916"/>
                  </a:moveTo>
                  <a:lnTo>
                    <a:pt x="6576747" y="1374"/>
                  </a:lnTo>
                  <a:lnTo>
                    <a:pt x="6562813" y="0"/>
                  </a:lnTo>
                  <a:lnTo>
                    <a:pt x="50507" y="0"/>
                  </a:lnTo>
                  <a:lnTo>
                    <a:pt x="10820" y="12042"/>
                  </a:lnTo>
                  <a:lnTo>
                    <a:pt x="5191" y="16215"/>
                  </a:lnTo>
                  <a:lnTo>
                    <a:pt x="0" y="20916"/>
                  </a:lnTo>
                </a:path>
                <a:path w="6613525" h="9334500">
                  <a:moveTo>
                    <a:pt x="0" y="9313570"/>
                  </a:moveTo>
                  <a:lnTo>
                    <a:pt x="36574" y="9333120"/>
                  </a:lnTo>
                  <a:lnTo>
                    <a:pt x="50507" y="9334500"/>
                  </a:lnTo>
                  <a:lnTo>
                    <a:pt x="6539001" y="9334500"/>
                  </a:lnTo>
                  <a:lnTo>
                    <a:pt x="6583178" y="9331419"/>
                  </a:lnTo>
                  <a:lnTo>
                    <a:pt x="6608130" y="9318279"/>
                  </a:lnTo>
                  <a:lnTo>
                    <a:pt x="6613321" y="9313570"/>
                  </a:lnTo>
                </a:path>
              </a:pathLst>
            </a:custGeom>
            <a:ln w="47625">
              <a:solidFill>
                <a:srgbClr val="999DC0"/>
              </a:solidFill>
            </a:ln>
          </p:spPr>
          <p:txBody>
            <a:bodyPr wrap="square" lIns="0" tIns="0" rIns="0" bIns="0" rtlCol="0"/>
            <a:lstStyle/>
            <a:p>
              <a:endParaRPr>
                <a:latin typeface="Noto Sans SC" panose="020B0200000000000000" pitchFamily="34" charset="-128"/>
                <a:ea typeface="Noto Sans SC" panose="020B0200000000000000" pitchFamily="34" charset="-128"/>
              </a:endParaRPr>
            </a:p>
          </p:txBody>
        </p:sp>
        <p:sp>
          <p:nvSpPr>
            <p:cNvPr id="14" name="object 14">
              <a:extLst>
                <a:ext uri="{FF2B5EF4-FFF2-40B4-BE49-F238E27FC236}">
                  <a16:creationId xmlns:a16="http://schemas.microsoft.com/office/drawing/2014/main" id="{CA230A39-1309-923F-D4D0-7AF3FC939C4B}"/>
                </a:ext>
              </a:extLst>
            </p:cNvPr>
            <p:cNvSpPr/>
            <p:nvPr/>
          </p:nvSpPr>
          <p:spPr>
            <a:xfrm>
              <a:off x="433387" y="571271"/>
              <a:ext cx="6693534" cy="9319895"/>
            </a:xfrm>
            <a:custGeom>
              <a:avLst/>
              <a:gdLst/>
              <a:ahLst/>
              <a:cxnLst/>
              <a:rect l="l" t="t" r="r" b="b"/>
              <a:pathLst>
                <a:path w="6693534" h="9319895">
                  <a:moveTo>
                    <a:pt x="26504" y="0"/>
                  </a:moveTo>
                  <a:lnTo>
                    <a:pt x="3895" y="37713"/>
                  </a:lnTo>
                  <a:lnTo>
                    <a:pt x="0" y="63982"/>
                  </a:lnTo>
                  <a:lnTo>
                    <a:pt x="0" y="9250845"/>
                  </a:lnTo>
                  <a:lnTo>
                    <a:pt x="6883" y="9290227"/>
                  </a:lnTo>
                  <a:lnTo>
                    <a:pt x="20540" y="9313005"/>
                  </a:lnTo>
                  <a:lnTo>
                    <a:pt x="26504" y="9319590"/>
                  </a:lnTo>
                </a:path>
                <a:path w="6693534" h="9319895">
                  <a:moveTo>
                    <a:pt x="6666776" y="9319590"/>
                  </a:moveTo>
                  <a:lnTo>
                    <a:pt x="6689385" y="9281869"/>
                  </a:lnTo>
                  <a:lnTo>
                    <a:pt x="6693281" y="9255607"/>
                  </a:lnTo>
                  <a:lnTo>
                    <a:pt x="6693281" y="68745"/>
                  </a:lnTo>
                  <a:lnTo>
                    <a:pt x="6686397" y="29349"/>
                  </a:lnTo>
                  <a:lnTo>
                    <a:pt x="6672740" y="6577"/>
                  </a:lnTo>
                  <a:lnTo>
                    <a:pt x="6666776" y="0"/>
                  </a:lnTo>
                </a:path>
              </a:pathLst>
            </a:custGeom>
            <a:ln w="9525">
              <a:solidFill>
                <a:srgbClr val="999DC0"/>
              </a:solidFill>
            </a:ln>
          </p:spPr>
          <p:txBody>
            <a:bodyPr wrap="square" lIns="0" tIns="0" rIns="0" bIns="0" rtlCol="0"/>
            <a:lstStyle/>
            <a:p>
              <a:endParaRPr>
                <a:latin typeface="Noto Sans SC" panose="020B0200000000000000" pitchFamily="34" charset="-128"/>
                <a:ea typeface="Noto Sans SC" panose="020B0200000000000000" pitchFamily="34" charset="-128"/>
              </a:endParaRPr>
            </a:p>
          </p:txBody>
        </p:sp>
      </p:grpSp>
      <p:sp>
        <p:nvSpPr>
          <p:cNvPr id="2" name="TextBox 1">
            <a:extLst>
              <a:ext uri="{FF2B5EF4-FFF2-40B4-BE49-F238E27FC236}">
                <a16:creationId xmlns:a16="http://schemas.microsoft.com/office/drawing/2014/main" id="{8269969D-CD92-410D-C8E0-F0183BA464BB}"/>
              </a:ext>
            </a:extLst>
          </p:cNvPr>
          <p:cNvSpPr txBox="1"/>
          <p:nvPr/>
        </p:nvSpPr>
        <p:spPr>
          <a:xfrm>
            <a:off x="581031" y="857533"/>
            <a:ext cx="4447021" cy="276999"/>
          </a:xfrm>
          <a:prstGeom prst="rect">
            <a:avLst/>
          </a:prstGeom>
          <a:noFill/>
        </p:spPr>
        <p:txBody>
          <a:bodyPr wrap="square" rtlCol="0">
            <a:spAutoFit/>
          </a:bodyPr>
          <a:lstStyle/>
          <a:p>
            <a:r>
              <a:rPr lang="ja-JP" altLang="en-US" sz="1200">
                <a:latin typeface="Noto Sans SC" panose="020B0200000000000000" pitchFamily="34" charset="-128"/>
                <a:ea typeface="Noto Sans SC" panose="020B0200000000000000" pitchFamily="34" charset="-128"/>
                <a:cs typeface="Microsoft YaHei"/>
              </a:rPr>
              <a:t>總共</a:t>
            </a:r>
            <a:r>
              <a:rPr lang="en-US" altLang="ja-JP" sz="1200" dirty="0">
                <a:latin typeface="Noto Sans SC" panose="020B0200000000000000" pitchFamily="34" charset="-128"/>
                <a:ea typeface="Noto Sans SC" panose="020B0200000000000000" pitchFamily="34" charset="-128"/>
                <a:cs typeface="Microsoft YaHei"/>
              </a:rPr>
              <a:t>87</a:t>
            </a:r>
            <a:r>
              <a:rPr lang="ja-JP" altLang="en-US" sz="1200" spc="-5">
                <a:latin typeface="Noto Sans SC" panose="020B0200000000000000" pitchFamily="34" charset="-128"/>
                <a:ea typeface="Noto Sans SC" panose="020B0200000000000000" pitchFamily="34" charset="-128"/>
                <a:cs typeface="Microsoft YaHei"/>
              </a:rPr>
              <a:t>項微片段缺失</a:t>
            </a:r>
            <a:r>
              <a:rPr lang="en-US" altLang="ja-JP" sz="1200" spc="-5" dirty="0">
                <a:latin typeface="Noto Sans SC" panose="020B0200000000000000" pitchFamily="34" charset="-128"/>
                <a:ea typeface="Noto Sans SC" panose="020B0200000000000000" pitchFamily="34" charset="-128"/>
                <a:cs typeface="Microsoft YaHei"/>
              </a:rPr>
              <a:t>/</a:t>
            </a:r>
            <a:r>
              <a:rPr lang="ja-JP" altLang="en-US" sz="1200" spc="-5">
                <a:latin typeface="Noto Sans SC" panose="020B0200000000000000" pitchFamily="34" charset="-128"/>
                <a:ea typeface="Noto Sans SC" panose="020B0200000000000000" pitchFamily="34" charset="-128"/>
                <a:cs typeface="Microsoft YaHei"/>
              </a:rPr>
              <a:t>重複症候群</a:t>
            </a:r>
            <a:r>
              <a:rPr lang="en-US" altLang="ja-JP" sz="1200" spc="-5" dirty="0">
                <a:latin typeface="Noto Sans SC" panose="020B0200000000000000" pitchFamily="34" charset="-128"/>
                <a:ea typeface="Noto Sans SC" panose="020B0200000000000000" pitchFamily="34" charset="-128"/>
                <a:cs typeface="Microsoft YaHei"/>
              </a:rPr>
              <a:t>-</a:t>
            </a:r>
            <a:r>
              <a:rPr lang="ja-JP" altLang="en-US" sz="1200" spc="-5">
                <a:latin typeface="Noto Sans SC" panose="020B0200000000000000" pitchFamily="34" charset="-128"/>
                <a:ea typeface="Noto Sans SC" panose="020B0200000000000000" pitchFamily="34" charset="-128"/>
                <a:cs typeface="Microsoft YaHei"/>
              </a:rPr>
              <a:t>列表</a:t>
            </a:r>
            <a:endParaRPr lang="ja-JP" altLang="en-US" sz="1200">
              <a:latin typeface="Noto Sans SC" panose="020B0200000000000000" pitchFamily="34" charset="-128"/>
              <a:ea typeface="Noto Sans SC" panose="020B0200000000000000" pitchFamily="34" charset="-128"/>
              <a:cs typeface="Microsoft YaHei"/>
            </a:endParaRPr>
          </a:p>
        </p:txBody>
      </p:sp>
      <p:sp>
        <p:nvSpPr>
          <p:cNvPr id="7" name="TextBox 6">
            <a:extLst>
              <a:ext uri="{FF2B5EF4-FFF2-40B4-BE49-F238E27FC236}">
                <a16:creationId xmlns:a16="http://schemas.microsoft.com/office/drawing/2014/main" id="{1D708FDD-DBFF-C4B9-4ABA-5D100D2FEAA6}"/>
              </a:ext>
            </a:extLst>
          </p:cNvPr>
          <p:cNvSpPr txBox="1"/>
          <p:nvPr/>
        </p:nvSpPr>
        <p:spPr>
          <a:xfrm>
            <a:off x="581031" y="5978284"/>
            <a:ext cx="3820438" cy="246221"/>
          </a:xfrm>
          <a:prstGeom prst="rect">
            <a:avLst/>
          </a:prstGeom>
          <a:noFill/>
        </p:spPr>
        <p:txBody>
          <a:bodyPr wrap="square" rtlCol="0">
            <a:spAutoFit/>
          </a:bodyPr>
          <a:lstStyle/>
          <a:p>
            <a:r>
              <a:rPr lang="ja-JP" altLang="en-US" sz="1000">
                <a:latin typeface="Noto Sans SC" panose="020B0200000000000000" pitchFamily="34" charset="-128"/>
                <a:ea typeface="Noto Sans SC" panose="020B0200000000000000" pitchFamily="34" charset="-128"/>
                <a:cs typeface="Microsoft YaHei"/>
              </a:rPr>
              <a:t>總共</a:t>
            </a:r>
            <a:r>
              <a:rPr lang="en-US" altLang="ja-JP" sz="1000" dirty="0">
                <a:latin typeface="Noto Sans SC" panose="020B0200000000000000" pitchFamily="34" charset="-128"/>
                <a:ea typeface="Noto Sans SC" panose="020B0200000000000000" pitchFamily="34" charset="-128"/>
                <a:cs typeface="Microsoft YaHei"/>
              </a:rPr>
              <a:t>21</a:t>
            </a:r>
            <a:r>
              <a:rPr lang="ja-JP" altLang="en-US" sz="1000" spc="-5">
                <a:latin typeface="Noto Sans SC" panose="020B0200000000000000" pitchFamily="34" charset="-128"/>
                <a:ea typeface="Noto Sans SC" panose="020B0200000000000000" pitchFamily="34" charset="-128"/>
                <a:cs typeface="Microsoft YaHei"/>
              </a:rPr>
              <a:t>項微片段缺失</a:t>
            </a:r>
            <a:r>
              <a:rPr lang="en-US" altLang="ja-JP" sz="1000" spc="-5" dirty="0">
                <a:latin typeface="Noto Sans SC" panose="020B0200000000000000" pitchFamily="34" charset="-128"/>
                <a:ea typeface="Noto Sans SC" panose="020B0200000000000000" pitchFamily="34" charset="-128"/>
                <a:cs typeface="Microsoft YaHei"/>
              </a:rPr>
              <a:t>/</a:t>
            </a:r>
            <a:r>
              <a:rPr lang="ja-JP" altLang="en-US" sz="1000" spc="-5">
                <a:latin typeface="Noto Sans SC" panose="020B0200000000000000" pitchFamily="34" charset="-128"/>
                <a:ea typeface="Noto Sans SC" panose="020B0200000000000000" pitchFamily="34" charset="-128"/>
                <a:cs typeface="Microsoft YaHei"/>
              </a:rPr>
              <a:t>重複症候群</a:t>
            </a:r>
            <a:r>
              <a:rPr lang="en-US" altLang="ja-JP" sz="1000" spc="-5" dirty="0">
                <a:latin typeface="Noto Sans SC" panose="020B0200000000000000" pitchFamily="34" charset="-128"/>
                <a:ea typeface="Noto Sans SC" panose="020B0200000000000000" pitchFamily="34" charset="-128"/>
                <a:cs typeface="Microsoft YaHei"/>
              </a:rPr>
              <a:t>-</a:t>
            </a:r>
            <a:r>
              <a:rPr lang="ja-JP" altLang="en-US" sz="1000" spc="-5">
                <a:latin typeface="Noto Sans SC" panose="020B0200000000000000" pitchFamily="34" charset="-128"/>
                <a:ea typeface="Noto Sans SC" panose="020B0200000000000000" pitchFamily="34" charset="-128"/>
                <a:cs typeface="Microsoft YaHei"/>
              </a:rPr>
              <a:t>列表</a:t>
            </a:r>
            <a:endParaRPr lang="ja-JP" altLang="en-US" sz="1000">
              <a:latin typeface="Noto Sans SC" panose="020B0200000000000000" pitchFamily="34" charset="-128"/>
              <a:ea typeface="Noto Sans SC" panose="020B0200000000000000" pitchFamily="34" charset="-128"/>
              <a:cs typeface="Microsoft YaHei"/>
            </a:endParaRPr>
          </a:p>
        </p:txBody>
      </p:sp>
      <p:sp>
        <p:nvSpPr>
          <p:cNvPr id="15" name="TextBox 14">
            <a:extLst>
              <a:ext uri="{FF2B5EF4-FFF2-40B4-BE49-F238E27FC236}">
                <a16:creationId xmlns:a16="http://schemas.microsoft.com/office/drawing/2014/main" id="{41B261A8-3ECC-D56E-86E8-6C622E718203}"/>
              </a:ext>
            </a:extLst>
          </p:cNvPr>
          <p:cNvSpPr txBox="1"/>
          <p:nvPr/>
        </p:nvSpPr>
        <p:spPr>
          <a:xfrm>
            <a:off x="581031" y="1253775"/>
            <a:ext cx="4216437" cy="246221"/>
          </a:xfrm>
          <a:prstGeom prst="rect">
            <a:avLst/>
          </a:prstGeom>
          <a:noFill/>
        </p:spPr>
        <p:txBody>
          <a:bodyPr wrap="square" rtlCol="0">
            <a:spAutoFit/>
          </a:bodyPr>
          <a:lstStyle/>
          <a:p>
            <a:pPr marL="12700">
              <a:spcBef>
                <a:spcPts val="1775"/>
              </a:spcBef>
            </a:pPr>
            <a:r>
              <a:rPr lang="ja-JP" altLang="en-US" sz="1000">
                <a:latin typeface="Noto Sans SC" panose="020B0200000000000000" pitchFamily="34" charset="-128"/>
                <a:ea typeface="Noto Sans SC" panose="020B0200000000000000" pitchFamily="34" charset="-128"/>
                <a:cs typeface="Microsoft YaHei"/>
              </a:rPr>
              <a:t>總共</a:t>
            </a:r>
            <a:r>
              <a:rPr lang="en-US" altLang="ja-JP" sz="1000" dirty="0">
                <a:latin typeface="Noto Sans SC" panose="020B0200000000000000" pitchFamily="34" charset="-128"/>
                <a:ea typeface="Noto Sans SC" panose="020B0200000000000000" pitchFamily="34" charset="-128"/>
                <a:cs typeface="Microsoft YaHei"/>
              </a:rPr>
              <a:t>66</a:t>
            </a:r>
            <a:r>
              <a:rPr lang="ja-JP" altLang="en-US" sz="1000" spc="-5">
                <a:latin typeface="Noto Sans SC" panose="020B0200000000000000" pitchFamily="34" charset="-128"/>
                <a:ea typeface="Noto Sans SC" panose="020B0200000000000000" pitchFamily="34" charset="-128"/>
                <a:cs typeface="Microsoft YaHei"/>
              </a:rPr>
              <a:t>項微片段缺失</a:t>
            </a:r>
            <a:r>
              <a:rPr lang="en-US" altLang="ja-JP" sz="1000" spc="-5" dirty="0">
                <a:latin typeface="Noto Sans SC" panose="020B0200000000000000" pitchFamily="34" charset="-128"/>
                <a:ea typeface="Noto Sans SC" panose="020B0200000000000000" pitchFamily="34" charset="-128"/>
                <a:cs typeface="Microsoft YaHei"/>
              </a:rPr>
              <a:t>/</a:t>
            </a:r>
            <a:r>
              <a:rPr lang="ja-JP" altLang="en-US" sz="1000" spc="-5">
                <a:latin typeface="Noto Sans SC" panose="020B0200000000000000" pitchFamily="34" charset="-128"/>
                <a:ea typeface="Noto Sans SC" panose="020B0200000000000000" pitchFamily="34" charset="-128"/>
                <a:cs typeface="Microsoft YaHei"/>
              </a:rPr>
              <a:t>重複症候群</a:t>
            </a:r>
            <a:r>
              <a:rPr lang="en-US" altLang="ja-JP" sz="1000" spc="-5" dirty="0">
                <a:latin typeface="Noto Sans SC" panose="020B0200000000000000" pitchFamily="34" charset="-128"/>
                <a:ea typeface="Noto Sans SC" panose="020B0200000000000000" pitchFamily="34" charset="-128"/>
                <a:cs typeface="Microsoft YaHei"/>
              </a:rPr>
              <a:t>-</a:t>
            </a:r>
            <a:r>
              <a:rPr lang="ja-JP" altLang="en-US" sz="1000" spc="-5">
                <a:latin typeface="Noto Sans SC" panose="020B0200000000000000" pitchFamily="34" charset="-128"/>
                <a:ea typeface="Noto Sans SC" panose="020B0200000000000000" pitchFamily="34" charset="-128"/>
                <a:cs typeface="Microsoft YaHei"/>
              </a:rPr>
              <a:t>列表</a:t>
            </a:r>
            <a:endParaRPr lang="ja-JP" altLang="en-US" sz="1000" dirty="0">
              <a:latin typeface="Noto Sans SC" panose="020B0200000000000000" pitchFamily="34" charset="-128"/>
              <a:ea typeface="Noto Sans SC" panose="020B0200000000000000" pitchFamily="34" charset="-128"/>
              <a:cs typeface="Microsoft YaHe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進行大規模平行測序和測序結果進行分析以確定</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&lt;</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8652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a:lnSpc>
                <a:spcPct val="183300"/>
              </a:lnSpc>
              <a:spcBef>
                <a:spcPts val="1595"/>
              </a:spcBef>
            </a:pP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該檢測由大安聯合醫事檢驗所進行基因定序，由美國</a:t>
            </a:r>
            <a:r>
              <a:rPr lang="en-US" altLang="zh-TW"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en-US" sz="900" dirty="0" err="1">
                <a:solidFill>
                  <a:schemeClr val="tx1">
                    <a:lumMod val="85000"/>
                    <a:lumOff val="15000"/>
                  </a:schemeClr>
                </a:solidFill>
                <a:latin typeface="Noto Sans SC" panose="020B0200000000000000" pitchFamily="34" charset="-128"/>
                <a:ea typeface="Noto Sans SC" panose="020B0200000000000000" pitchFamily="34" charset="-128"/>
              </a:rPr>
              <a:t>Genolyx</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進行生資分析，並由遺傳諮詢顧問李建南教授報告覆核，通過美國病理學會（</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CAP</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）認證，確認其報告的品質無誤。</a:t>
            </a:r>
            <a:endParaRPr lang="en-US" sz="900" dirty="0">
              <a:solidFill>
                <a:schemeClr val="tx1">
                  <a:lumMod val="85000"/>
                  <a:lumOff val="15000"/>
                </a:schemeClr>
              </a:solidFill>
              <a:latin typeface="Noto Sans SC" panose="020B0200000000000000" pitchFamily="34" charset="-128"/>
              <a:ea typeface="Noto Sans SC" panose="020B0200000000000000" pitchFamily="34" charset="-128"/>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Google Shape;147;p9">
            <a:extLst>
              <a:ext uri="{FF2B5EF4-FFF2-40B4-BE49-F238E27FC236}">
                <a16:creationId xmlns:a16="http://schemas.microsoft.com/office/drawing/2014/main" id="{0F6C9B36-8104-23DF-4631-A85A28ED2E83}"/>
              </a:ext>
            </a:extLst>
          </p:cNvPr>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266</TotalTime>
  <Words>797</Words>
  <Application>Microsoft Macintosh PowerPoint</Application>
  <PresentationFormat>Custom</PresentationFormat>
  <Paragraphs>192</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Microsoft YaHei</vt:lpstr>
      <vt:lpstr>Noto Sans SC</vt:lpstr>
      <vt:lpstr>Arial</vt:lpstr>
      <vt:lpstr>Calibri</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70</cp:revision>
  <dcterms:modified xsi:type="dcterms:W3CDTF">2025-10-29T13:44:23Z</dcterms:modified>
</cp:coreProperties>
</file>