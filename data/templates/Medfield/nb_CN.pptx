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778"/>
  </p:normalViewPr>
  <p:slideViewPr>
    <p:cSldViewPr snapToGrid="0">
      <p:cViewPr varScale="1">
        <p:scale>
          <a:sx n="169" d="100"/>
          <a:sy n="169" d="100"/>
        </p:scale>
        <p:origin x="5192" y="22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126654" cy="152586"/>
          </a:xfrm>
          <a:prstGeom prst="rect">
            <a:avLst/>
          </a:prstGeom>
          <a:noFill/>
          <a:ln>
            <a:noFill/>
          </a:ln>
        </p:spPr>
        <p:txBody>
          <a:bodyPr spcFirstLastPara="1" wrap="square" lIns="0" tIns="13950" rIns="0" bIns="0" anchor="t" anchorCtr="0">
            <a:spAutoFit/>
          </a:bodyPr>
          <a:lstStyle/>
          <a:p>
            <a:r>
              <a:rPr lang="en-US" sz="900" dirty="0">
                <a:latin typeface="Noto Sans SC" panose="020B0200000000000000" pitchFamily="34" charset="-128"/>
                <a:ea typeface="Noto Sans SC" panose="020B0200000000000000" pitchFamily="34" charset="-128"/>
              </a:rPr>
              <a:t>Version_2_20251026</a:t>
            </a: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2131005086"/>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4" y="3831425"/>
            <a:ext cx="496346"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1" name="Google Shape;61;p7"/>
          <p:cNvSpPr txBox="1"/>
          <p:nvPr/>
        </p:nvSpPr>
        <p:spPr>
          <a:xfrm>
            <a:off x="669848" y="5258511"/>
            <a:ext cx="1581468"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XO(</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透納氏症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4" name="Google Shape;64;p7"/>
          <p:cNvSpPr txBox="1"/>
          <p:nvPr/>
        </p:nvSpPr>
        <p:spPr>
          <a:xfrm>
            <a:off x="669848" y="5618416"/>
            <a:ext cx="171175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XXX(</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三體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7" name="Google Shape;67;p7"/>
          <p:cNvSpPr txBox="1"/>
          <p:nvPr/>
        </p:nvSpPr>
        <p:spPr>
          <a:xfrm>
            <a:off x="669848" y="5978322"/>
            <a:ext cx="2049196"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XXY(</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柯林菲特氏症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0" name="Google Shape;70;p7"/>
          <p:cNvSpPr txBox="1"/>
          <p:nvPr/>
        </p:nvSpPr>
        <p:spPr>
          <a:xfrm>
            <a:off x="669848" y="6338227"/>
            <a:ext cx="196012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XYY(XYY</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綜合症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2" name="Google Shape;122;p7"/>
          <p:cNvSpPr txBox="1"/>
          <p:nvPr/>
        </p:nvSpPr>
        <p:spPr>
          <a:xfrm>
            <a:off x="520700" y="3503225"/>
            <a:ext cx="1860900"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p:txBody>
      </p:sp>
      <p:sp>
        <p:nvSpPr>
          <p:cNvPr id="2" name="TextBox 1">
            <a:extLst>
              <a:ext uri="{FF2B5EF4-FFF2-40B4-BE49-F238E27FC236}">
                <a16:creationId xmlns:a16="http://schemas.microsoft.com/office/drawing/2014/main" id="{8ACBAFCB-8014-59C5-5A64-8CF6D08098AE}"/>
              </a:ext>
            </a:extLst>
          </p:cNvPr>
          <p:cNvSpPr txBox="1"/>
          <p:nvPr/>
        </p:nvSpPr>
        <p:spPr>
          <a:xfrm>
            <a:off x="533401" y="3785532"/>
            <a:ext cx="811344" cy="261610"/>
          </a:xfrm>
          <a:prstGeom prst="rect">
            <a:avLst/>
          </a:prstGeom>
          <a:noFill/>
        </p:spPr>
        <p:txBody>
          <a:bodyPr wrap="square" rtlCol="0">
            <a:spAutoFit/>
          </a:bodyPr>
          <a:lstStyle/>
          <a:p>
            <a:r>
              <a:rPr lang="ja-JP" altLang="en-US" sz="110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p>
        </p:txBody>
      </p:sp>
      <p:sp>
        <p:nvSpPr>
          <p:cNvPr id="3" name="Google Shape;54;p7">
            <a:extLst>
              <a:ext uri="{FF2B5EF4-FFF2-40B4-BE49-F238E27FC236}">
                <a16:creationId xmlns:a16="http://schemas.microsoft.com/office/drawing/2014/main" id="{B64AAC3A-02BC-9689-C584-CDC490277E7C}"/>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 name="Google Shape;57;p7">
            <a:extLst>
              <a:ext uri="{FF2B5EF4-FFF2-40B4-BE49-F238E27FC236}">
                <a16:creationId xmlns:a16="http://schemas.microsoft.com/office/drawing/2014/main" id="{77FBB4E2-4B90-777F-A2D0-99EC83BAD309}"/>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 name="Google Shape;60;p7">
            <a:extLst>
              <a:ext uri="{FF2B5EF4-FFF2-40B4-BE49-F238E27FC236}">
                <a16:creationId xmlns:a16="http://schemas.microsoft.com/office/drawing/2014/main" id="{6B8FB73A-6491-27AB-0A75-2D674F9DD09E}"/>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 name="Google Shape;72;p7">
            <a:extLst>
              <a:ext uri="{FF2B5EF4-FFF2-40B4-BE49-F238E27FC236}">
                <a16:creationId xmlns:a16="http://schemas.microsoft.com/office/drawing/2014/main" id="{2086E449-73FC-C195-218D-149CC927B633}"/>
              </a:ext>
            </a:extLst>
          </p:cNvPr>
          <p:cNvSpPr txBox="1"/>
          <p:nvPr/>
        </p:nvSpPr>
        <p:spPr>
          <a:xfrm>
            <a:off x="2797745" y="525570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 name="Google Shape;75;p7">
            <a:extLst>
              <a:ext uri="{FF2B5EF4-FFF2-40B4-BE49-F238E27FC236}">
                <a16:creationId xmlns:a16="http://schemas.microsoft.com/office/drawing/2014/main" id="{A05FC7D4-4B50-5EA5-5BAE-E230EDAB5F47}"/>
              </a:ext>
            </a:extLst>
          </p:cNvPr>
          <p:cNvSpPr txBox="1"/>
          <p:nvPr/>
        </p:nvSpPr>
        <p:spPr>
          <a:xfrm>
            <a:off x="2797745" y="561561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 name="Google Shape;78;p7">
            <a:extLst>
              <a:ext uri="{FF2B5EF4-FFF2-40B4-BE49-F238E27FC236}">
                <a16:creationId xmlns:a16="http://schemas.microsoft.com/office/drawing/2014/main" id="{18AD79B9-8FE8-1529-D631-016657E7AECE}"/>
              </a:ext>
            </a:extLst>
          </p:cNvPr>
          <p:cNvSpPr txBox="1"/>
          <p:nvPr/>
        </p:nvSpPr>
        <p:spPr>
          <a:xfrm>
            <a:off x="2797745" y="597551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 name="Google Shape;81;p7">
            <a:extLst>
              <a:ext uri="{FF2B5EF4-FFF2-40B4-BE49-F238E27FC236}">
                <a16:creationId xmlns:a16="http://schemas.microsoft.com/office/drawing/2014/main" id="{AE5FD855-BF55-431A-3C6B-214654FE5F9B}"/>
              </a:ext>
            </a:extLst>
          </p:cNvPr>
          <p:cNvSpPr txBox="1"/>
          <p:nvPr/>
        </p:nvSpPr>
        <p:spPr>
          <a:xfrm>
            <a:off x="2797745" y="633542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graphicFrame>
        <p:nvGraphicFramePr>
          <p:cNvPr id="10" name="Table 9">
            <a:extLst>
              <a:ext uri="{FF2B5EF4-FFF2-40B4-BE49-F238E27FC236}">
                <a16:creationId xmlns:a16="http://schemas.microsoft.com/office/drawing/2014/main" id="{D03E4348-1A27-7642-D589-A98CCEF0A06B}"/>
              </a:ext>
            </a:extLst>
          </p:cNvPr>
          <p:cNvGraphicFramePr>
            <a:graphicFrameLocks noGrp="1"/>
          </p:cNvGraphicFramePr>
          <p:nvPr>
            <p:extLst>
              <p:ext uri="{D42A27DB-BD31-4B8C-83A1-F6EECF244321}">
                <p14:modId xmlns:p14="http://schemas.microsoft.com/office/powerpoint/2010/main" val="1590323643"/>
              </p:ext>
            </p:extLst>
          </p:nvPr>
        </p:nvGraphicFramePr>
        <p:xfrm>
          <a:off x="2719043" y="8849321"/>
          <a:ext cx="4280764" cy="963818"/>
        </p:xfrm>
        <a:graphic>
          <a:graphicData uri="http://schemas.openxmlformats.org/drawingml/2006/table">
            <a:tbl>
              <a:tblPr firstRow="1" bandRow="1">
                <a:tableStyleId>{F28EBD1E-F79C-4DFF-868A-0A9D0052B014}</a:tableStyleId>
              </a:tblPr>
              <a:tblGrid>
                <a:gridCol w="1415766">
                  <a:extLst>
                    <a:ext uri="{9D8B030D-6E8A-4147-A177-3AD203B41FA5}">
                      <a16:colId xmlns:a16="http://schemas.microsoft.com/office/drawing/2014/main" val="1871604453"/>
                    </a:ext>
                  </a:extLst>
                </a:gridCol>
                <a:gridCol w="1477320">
                  <a:extLst>
                    <a:ext uri="{9D8B030D-6E8A-4147-A177-3AD203B41FA5}">
                      <a16:colId xmlns:a16="http://schemas.microsoft.com/office/drawing/2014/main" val="723796402"/>
                    </a:ext>
                  </a:extLst>
                </a:gridCol>
                <a:gridCol w="1387678">
                  <a:extLst>
                    <a:ext uri="{9D8B030D-6E8A-4147-A177-3AD203B41FA5}">
                      <a16:colId xmlns:a16="http://schemas.microsoft.com/office/drawing/2014/main" val="2275438044"/>
                    </a:ext>
                  </a:extLst>
                </a:gridCol>
              </a:tblGrid>
              <a:tr h="3594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遺傳諮詢專家</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實驗室主管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醫療機構簽署醫師</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316787"/>
                  </a:ext>
                </a:extLst>
              </a:tr>
              <a:tr h="604358">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999870"/>
                  </a:ext>
                </a:extLst>
              </a:tr>
            </a:tbl>
          </a:graphicData>
        </a:graphic>
      </p:graphicFrame>
      <p:pic>
        <p:nvPicPr>
          <p:cNvPr id="11" name="圖片 1">
            <a:extLst>
              <a:ext uri="{FF2B5EF4-FFF2-40B4-BE49-F238E27FC236}">
                <a16:creationId xmlns:a16="http://schemas.microsoft.com/office/drawing/2014/main" id="{F2EE52B9-B3B9-9499-E82D-490630C5119F}"/>
              </a:ext>
            </a:extLst>
          </p:cNvPr>
          <p:cNvPicPr>
            <a:picLocks noChangeAspect="1"/>
          </p:cNvPicPr>
          <p:nvPr/>
        </p:nvPicPr>
        <p:blipFill rotWithShape="1">
          <a:blip r:embed="rId4">
            <a:clrChange>
              <a:clrFrom>
                <a:srgbClr val="F3EBDC"/>
              </a:clrFrom>
              <a:clrTo>
                <a:srgbClr val="F3EBDC">
                  <a:alpha val="0"/>
                </a:srgbClr>
              </a:clrTo>
            </a:clrChange>
            <a:extLst>
              <a:ext uri="{BEBA8EAE-BF5A-486C-A8C5-ECC9F3942E4B}">
                <a14:imgProps xmlns:a14="http://schemas.microsoft.com/office/drawing/2010/main">
                  <a14:imgLayer r:embed="rId5">
                    <a14:imgEffect>
                      <a14:brightnessContrast bright="20000" contrast="-20000"/>
                    </a14:imgEffect>
                  </a14:imgLayer>
                </a14:imgProps>
              </a:ext>
            </a:extLst>
          </a:blip>
          <a:srcRect l="9488" t="20608" r="9713" b="26228"/>
          <a:stretch>
            <a:fillRect/>
          </a:stretch>
        </p:blipFill>
        <p:spPr bwMode="auto">
          <a:xfrm>
            <a:off x="3031469" y="9258373"/>
            <a:ext cx="770122" cy="506725"/>
          </a:xfrm>
          <a:prstGeom prst="rect">
            <a:avLst/>
          </a:prstGeom>
          <a:ln>
            <a:noFill/>
          </a:ln>
          <a:extLst>
            <a:ext uri="{53640926-AAD7-44D8-BBD7-CCE9431645EC}">
              <a14:shadowObscured xmlns:a14="http://schemas.microsoft.com/office/drawing/2010/main"/>
            </a:ext>
          </a:extLst>
        </p:spPr>
      </p:pic>
      <p:pic>
        <p:nvPicPr>
          <p:cNvPr id="12" name="Picture 11" descr="A black and white logo&#10;&#10;AI-generated content may be incorrect.">
            <a:extLst>
              <a:ext uri="{FF2B5EF4-FFF2-40B4-BE49-F238E27FC236}">
                <a16:creationId xmlns:a16="http://schemas.microsoft.com/office/drawing/2014/main" id="{3B2EA52A-12BE-49EB-AFA6-7A8F5B2117F5}"/>
              </a:ext>
            </a:extLst>
          </p:cNvPr>
          <p:cNvPicPr>
            <a:picLocks noChangeAspect="1"/>
          </p:cNvPicPr>
          <p:nvPr/>
        </p:nvPicPr>
        <p:blipFill>
          <a:blip r:embed="rId6"/>
          <a:stretch>
            <a:fillRect/>
          </a:stretch>
        </p:blipFill>
        <p:spPr>
          <a:xfrm>
            <a:off x="4206930" y="9258372"/>
            <a:ext cx="1304990" cy="506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微小片段缺失疾病&lt;</a:t>
            </a:r>
            <a:r>
              <a:rPr lang="en-US" sz="105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a:lnSpc>
                <a:spcPct val="183300"/>
              </a:lnSpc>
              <a:spcBef>
                <a:spcPts val="1595"/>
              </a:spcBef>
            </a:pP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該檢測由大安聯合醫事檢驗所進行基因定序，由美國</a:t>
            </a:r>
            <a:r>
              <a:rPr lang="en-US" altLang="zh-TW"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en-US" sz="900" dirty="0" err="1">
                <a:solidFill>
                  <a:schemeClr val="tx1">
                    <a:lumMod val="85000"/>
                    <a:lumOff val="15000"/>
                  </a:schemeClr>
                </a:solidFill>
                <a:latin typeface="Noto Sans SC" panose="020B0200000000000000" pitchFamily="34" charset="-128"/>
                <a:ea typeface="Noto Sans SC" panose="020B0200000000000000" pitchFamily="34" charset="-128"/>
              </a:rPr>
              <a:t>Genolyx</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進行生資分析，並由遺傳諮詢顧問李建南教授報告覆核，通過美國病理學會（</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CAP</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）認證，確認其報告的品質無誤。</a:t>
            </a:r>
            <a:endParaRPr lang="en-US" sz="900" dirty="0">
              <a:solidFill>
                <a:schemeClr val="tx1">
                  <a:lumMod val="85000"/>
                  <a:lumOff val="15000"/>
                </a:schemeClr>
              </a:solidFill>
              <a:latin typeface="Noto Sans SC" panose="020B0200000000000000" pitchFamily="34" charset="-128"/>
              <a:ea typeface="Noto Sans SC" panose="020B0200000000000000" pitchFamily="34" charset="-128"/>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Google Shape;147;p9">
            <a:extLst>
              <a:ext uri="{FF2B5EF4-FFF2-40B4-BE49-F238E27FC236}">
                <a16:creationId xmlns:a16="http://schemas.microsoft.com/office/drawing/2014/main" id="{85B83D05-6C3E-3CBD-6E9E-D0F479D4D020}"/>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TotalTime>
  <Words>431</Words>
  <Application>Microsoft Macintosh PowerPoint</Application>
  <PresentationFormat>Custom</PresentationFormat>
  <Paragraphs>66</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70</cp:revision>
  <dcterms:modified xsi:type="dcterms:W3CDTF">2025-10-29T13:44:02Z</dcterms:modified>
</cp:coreProperties>
</file>