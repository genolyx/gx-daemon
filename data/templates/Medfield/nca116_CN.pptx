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5"/>
  </p:notesMasterIdLst>
  <p:sldIdLst>
    <p:sldId id="256" r:id="rId2"/>
    <p:sldId id="257" r:id="rId3"/>
    <p:sldId id="258" r:id="rId4"/>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9"/>
  </p:normalViewPr>
  <p:slideViewPr>
    <p:cSldViewPr snapToGrid="0">
      <p:cViewPr varScale="1">
        <p:scale>
          <a:sx n="200" d="100"/>
          <a:sy n="200" d="100"/>
        </p:scale>
        <p:origin x="4528" y="16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2: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78408"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Calibri" panose="020F050202020403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416458989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45405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唐⽒症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愛德華⽒症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巴陶⽒症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三體X症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其他體染⾊體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86" name="Google Shape;86;p7"/>
          <p:cNvSpPr txBox="1"/>
          <p:nvPr/>
        </p:nvSpPr>
        <p:spPr>
          <a:xfrm>
            <a:off x="3956874" y="3831425"/>
            <a:ext cx="588483"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7" name="Google Shape;87;p7"/>
          <p:cNvSpPr txBox="1"/>
          <p:nvPr/>
        </p:nvSpPr>
        <p:spPr>
          <a:xfrm>
            <a:off x="5337375" y="3550325"/>
            <a:ext cx="2129174"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8" name="Google Shape;88;p7"/>
          <p:cNvSpPr txBox="1"/>
          <p:nvPr/>
        </p:nvSpPr>
        <p:spPr>
          <a:xfrm>
            <a:off x="4059351" y="4178808"/>
            <a:ext cx="115588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1p36</a:t>
            </a:r>
            <a:r>
              <a:rPr lang="en-US" sz="900" dirty="0">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缺失症候群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1" name="Google Shape;91;p7"/>
          <p:cNvSpPr txBox="1"/>
          <p:nvPr/>
        </p:nvSpPr>
        <p:spPr>
          <a:xfrm>
            <a:off x="4059351" y="4538713"/>
            <a:ext cx="1278024"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4" name="Google Shape;94;p7"/>
          <p:cNvSpPr txBox="1"/>
          <p:nvPr/>
        </p:nvSpPr>
        <p:spPr>
          <a:xfrm>
            <a:off x="4059350" y="4898618"/>
            <a:ext cx="162633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猫哭症候群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威廉⽒症候群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6" name="Google Shape;106;p7"/>
          <p:cNvSpPr txBox="1"/>
          <p:nvPr/>
        </p:nvSpPr>
        <p:spPr>
          <a:xfrm>
            <a:off x="4059351" y="6338227"/>
            <a:ext cx="197596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天使</a:t>
            </a:r>
            <a:r>
              <a:rPr lang="en-US" sz="900" dirty="0">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12" name="Google Shape;112;p7"/>
          <p:cNvSpPr txBox="1"/>
          <p:nvPr/>
        </p:nvSpPr>
        <p:spPr>
          <a:xfrm>
            <a:off x="4059351" y="7058025"/>
            <a:ext cx="2039316"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其他108項微片段缺失/</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重複疾病</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3" name="Google Shape;113;p7"/>
          <p:cNvSpPr/>
          <p:nvPr/>
        </p:nvSpPr>
        <p:spPr>
          <a:xfrm>
            <a:off x="3969575" y="6982739"/>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Calibri" panose="020F050202020403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Calibri" panose="020F050202020403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6" y="3832399"/>
            <a:ext cx="518033"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3" name="Google Shape;54;p7">
            <a:extLst>
              <a:ext uri="{FF2B5EF4-FFF2-40B4-BE49-F238E27FC236}">
                <a16:creationId xmlns:a16="http://schemas.microsoft.com/office/drawing/2014/main" id="{41A7D4C7-0BE4-9D1C-0C1E-23EB48F9DEBC}"/>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3E06273A-164B-CED0-3954-F75DB2A1B5D4}"/>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845FB12F-1004-79AB-D13B-152BFA38B235}"/>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63;p7">
            <a:extLst>
              <a:ext uri="{FF2B5EF4-FFF2-40B4-BE49-F238E27FC236}">
                <a16:creationId xmlns:a16="http://schemas.microsoft.com/office/drawing/2014/main" id="{ABBAA6EE-4C5B-5E6D-C711-B706E1275F3E}"/>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66;p7">
            <a:extLst>
              <a:ext uri="{FF2B5EF4-FFF2-40B4-BE49-F238E27FC236}">
                <a16:creationId xmlns:a16="http://schemas.microsoft.com/office/drawing/2014/main" id="{C9402157-1816-F452-2B1D-8F044DB021B2}"/>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69;p7">
            <a:extLst>
              <a:ext uri="{FF2B5EF4-FFF2-40B4-BE49-F238E27FC236}">
                <a16:creationId xmlns:a16="http://schemas.microsoft.com/office/drawing/2014/main" id="{44A231D0-8221-E273-8F02-437D1D348E89}"/>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72;p7">
            <a:extLst>
              <a:ext uri="{FF2B5EF4-FFF2-40B4-BE49-F238E27FC236}">
                <a16:creationId xmlns:a16="http://schemas.microsoft.com/office/drawing/2014/main" id="{ADBD1974-AEC9-4B3E-022F-4A2D768C0006}"/>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75;p7">
            <a:extLst>
              <a:ext uri="{FF2B5EF4-FFF2-40B4-BE49-F238E27FC236}">
                <a16:creationId xmlns:a16="http://schemas.microsoft.com/office/drawing/2014/main" id="{7FF250D9-3EBB-76FE-E7F5-F3A8543827F2}"/>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78;p7">
            <a:extLst>
              <a:ext uri="{FF2B5EF4-FFF2-40B4-BE49-F238E27FC236}">
                <a16:creationId xmlns:a16="http://schemas.microsoft.com/office/drawing/2014/main" id="{BD4C1299-B427-BB72-BEE2-A2AB302DA2FB}"/>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81;p7">
            <a:extLst>
              <a:ext uri="{FF2B5EF4-FFF2-40B4-BE49-F238E27FC236}">
                <a16:creationId xmlns:a16="http://schemas.microsoft.com/office/drawing/2014/main" id="{19363449-8644-D531-9B4D-98F05EAFFE08}"/>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84;p7">
            <a:extLst>
              <a:ext uri="{FF2B5EF4-FFF2-40B4-BE49-F238E27FC236}">
                <a16:creationId xmlns:a16="http://schemas.microsoft.com/office/drawing/2014/main" id="{D6F039AF-D4F3-7698-9557-85E94956512C}"/>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90;p7">
            <a:extLst>
              <a:ext uri="{FF2B5EF4-FFF2-40B4-BE49-F238E27FC236}">
                <a16:creationId xmlns:a16="http://schemas.microsoft.com/office/drawing/2014/main" id="{4FFA3AC6-9951-C3DC-96D5-A05A4383804A}"/>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5" name="Google Shape;93;p7">
            <a:extLst>
              <a:ext uri="{FF2B5EF4-FFF2-40B4-BE49-F238E27FC236}">
                <a16:creationId xmlns:a16="http://schemas.microsoft.com/office/drawing/2014/main" id="{0C1F8DFF-9B6E-33AF-F6B8-0FE89F4EAE3F}"/>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6" name="Google Shape;96;p7">
            <a:extLst>
              <a:ext uri="{FF2B5EF4-FFF2-40B4-BE49-F238E27FC236}">
                <a16:creationId xmlns:a16="http://schemas.microsoft.com/office/drawing/2014/main" id="{EBCFE2A9-9BDC-17BD-62D0-DD9FC85027D9}"/>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7" name="Google Shape;99;p7">
            <a:extLst>
              <a:ext uri="{FF2B5EF4-FFF2-40B4-BE49-F238E27FC236}">
                <a16:creationId xmlns:a16="http://schemas.microsoft.com/office/drawing/2014/main" id="{501D3EB1-FF0D-DCFD-85FB-88318285803D}"/>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8" name="Google Shape;102;p7">
            <a:extLst>
              <a:ext uri="{FF2B5EF4-FFF2-40B4-BE49-F238E27FC236}">
                <a16:creationId xmlns:a16="http://schemas.microsoft.com/office/drawing/2014/main" id="{75D45D41-9AAF-1215-56EA-E2C1AF2440B0}"/>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9" name="Google Shape;105;p7">
            <a:extLst>
              <a:ext uri="{FF2B5EF4-FFF2-40B4-BE49-F238E27FC236}">
                <a16:creationId xmlns:a16="http://schemas.microsoft.com/office/drawing/2014/main" id="{932C154F-D6D7-37BC-0EC4-5FC02D6D259F}"/>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20" name="Google Shape;108;p7">
            <a:extLst>
              <a:ext uri="{FF2B5EF4-FFF2-40B4-BE49-F238E27FC236}">
                <a16:creationId xmlns:a16="http://schemas.microsoft.com/office/drawing/2014/main" id="{12F099B6-3AD7-48A5-B4A7-4D8F25E3F073}"/>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21" name="Google Shape;111;p7">
            <a:extLst>
              <a:ext uri="{FF2B5EF4-FFF2-40B4-BE49-F238E27FC236}">
                <a16:creationId xmlns:a16="http://schemas.microsoft.com/office/drawing/2014/main" id="{9FD15C91-69DF-4A5B-D8F9-EEB3EBECEACA}"/>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sp>
        <p:nvSpPr>
          <p:cNvPr id="22" name="Google Shape;114;p7">
            <a:extLst>
              <a:ext uri="{FF2B5EF4-FFF2-40B4-BE49-F238E27FC236}">
                <a16:creationId xmlns:a16="http://schemas.microsoft.com/office/drawing/2014/main" id="{0A8551EC-F6C0-0496-7E9F-B248D8A5BFB9}"/>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&lt;&lt;Other MD&gt;&gt;</a:t>
            </a:r>
          </a:p>
        </p:txBody>
      </p:sp>
      <p:graphicFrame>
        <p:nvGraphicFramePr>
          <p:cNvPr id="23" name="Table 22">
            <a:extLst>
              <a:ext uri="{FF2B5EF4-FFF2-40B4-BE49-F238E27FC236}">
                <a16:creationId xmlns:a16="http://schemas.microsoft.com/office/drawing/2014/main" id="{386D3569-0A17-CAE6-1B0D-D5A5A2477265}"/>
              </a:ext>
            </a:extLst>
          </p:cNvPr>
          <p:cNvGraphicFramePr>
            <a:graphicFrameLocks noGrp="1"/>
          </p:cNvGraphicFramePr>
          <p:nvPr>
            <p:extLst>
              <p:ext uri="{D42A27DB-BD31-4B8C-83A1-F6EECF244321}">
                <p14:modId xmlns:p14="http://schemas.microsoft.com/office/powerpoint/2010/main" val="1830355225"/>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24" name="圖片 1">
            <a:extLst>
              <a:ext uri="{FF2B5EF4-FFF2-40B4-BE49-F238E27FC236}">
                <a16:creationId xmlns:a16="http://schemas.microsoft.com/office/drawing/2014/main" id="{1ECF4A69-3D93-05BB-68EE-53348DC1F65F}"/>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25" name="Picture 24" descr="A black and white logo&#10;&#10;AI-generated content may be incorrect.">
            <a:extLst>
              <a:ext uri="{FF2B5EF4-FFF2-40B4-BE49-F238E27FC236}">
                <a16:creationId xmlns:a16="http://schemas.microsoft.com/office/drawing/2014/main" id="{E606FC45-1B87-6B29-3689-AD4D10A42A04}"/>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8"/>
          <p:cNvSpPr txBox="1"/>
          <p:nvPr/>
        </p:nvSpPr>
        <p:spPr>
          <a:xfrm>
            <a:off x="520700" y="765264"/>
            <a:ext cx="3540497" cy="1974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200" dirty="0">
                <a:latin typeface="Noto Sans SC" panose="020B0200000000000000" pitchFamily="34" charset="-128"/>
                <a:ea typeface="Noto Sans SC" panose="020B0200000000000000" pitchFamily="34" charset="-128"/>
                <a:cs typeface="Calibri" panose="020F0502020204030204" pitchFamily="34" charset="0"/>
                <a:sym typeface="Microsoft YaHei"/>
              </a:rPr>
              <a:t>其他108項微片段缺失/</a:t>
            </a:r>
            <a:r>
              <a:rPr lang="en-US" sz="1200" dirty="0" err="1">
                <a:latin typeface="Noto Sans SC" panose="020B0200000000000000" pitchFamily="34" charset="-128"/>
                <a:ea typeface="Noto Sans SC" panose="020B0200000000000000" pitchFamily="34" charset="-128"/>
                <a:cs typeface="Calibri" panose="020F0502020204030204" pitchFamily="34" charset="0"/>
                <a:sym typeface="Microsoft YaHei"/>
              </a:rPr>
              <a:t>重複症候群-列表</a:t>
            </a:r>
            <a:endParaRPr sz="12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aphicFrame>
        <p:nvGraphicFramePr>
          <p:cNvPr id="128" name="Google Shape;128;p8"/>
          <p:cNvGraphicFramePr/>
          <p:nvPr/>
        </p:nvGraphicFramePr>
        <p:xfrm>
          <a:off x="533406" y="1120210"/>
          <a:ext cx="1480825" cy="842315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dirty="0">
                          <a:solidFill>
                            <a:srgbClr val="FFFFFF"/>
                          </a:solidFill>
                          <a:latin typeface="Calibri"/>
                          <a:ea typeface="Calibri"/>
                          <a:cs typeface="Calibri"/>
                          <a:sym typeface="Calibri"/>
                        </a:rPr>
                        <a:t>Conditions</a:t>
                      </a:r>
                      <a:endParaRPr sz="900" u="none" strike="noStrike" cap="none" dirty="0">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1p32-p31deletion syndrome</a:t>
                      </a:r>
                      <a:endParaRPr sz="750" u="none" strike="noStrike" cap="none" dirty="0">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1q41-q42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1q43-q44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2p12-p11.2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2p15-p16.1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2q35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3p25.3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3pter-p25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3q13.31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Dandy-Walker syndrome (DWS)</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3q26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3q29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4q21deletion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342900">
                <a:tc>
                  <a:txBody>
                    <a:bodyPr/>
                    <a:lstStyle/>
                    <a:p>
                      <a:pPr marL="554355" marR="62864" lvl="0" indent="-484505" algn="l" rtl="0">
                        <a:lnSpc>
                          <a:spcPct val="105000"/>
                        </a:lnSpc>
                        <a:spcBef>
                          <a:spcPts val="0"/>
                        </a:spcBef>
                        <a:spcAft>
                          <a:spcPts val="0"/>
                        </a:spcAft>
                        <a:buNone/>
                      </a:pPr>
                      <a:r>
                        <a:rPr lang="en-US" sz="750" u="none" strike="noStrike" cap="none">
                          <a:latin typeface="Calibri"/>
                          <a:ea typeface="Calibri"/>
                          <a:cs typeface="Calibri"/>
                          <a:sym typeface="Calibri"/>
                        </a:rPr>
                        <a:t>Axenfeld-Rieger syndrome type 1 (RIEGl)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68275" lvl="0" indent="-348615" algn="l" rtl="0">
                        <a:lnSpc>
                          <a:spcPct val="105000"/>
                        </a:lnSpc>
                        <a:spcBef>
                          <a:spcPts val="0"/>
                        </a:spcBef>
                        <a:spcAft>
                          <a:spcPts val="0"/>
                        </a:spcAft>
                        <a:buNone/>
                      </a:pPr>
                      <a:r>
                        <a:rPr lang="en-US" sz="750" u="none" strike="noStrike" cap="none">
                          <a:latin typeface="Calibri"/>
                          <a:ea typeface="Calibri"/>
                          <a:cs typeface="Calibri"/>
                          <a:sym typeface="Calibri"/>
                        </a:rPr>
                        <a:t>5q14.3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Sotos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6p22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6q11-q14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6q24-q25deletion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Coffin-Siris syndrome 1 (CSSl)</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Chordoma</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342900">
                <a:tc>
                  <a:txBody>
                    <a:bodyPr/>
                    <a:lstStyle/>
                    <a:p>
                      <a:pPr marL="357505" marR="101600" lvl="0" indent="-248919" algn="l" rtl="0">
                        <a:lnSpc>
                          <a:spcPct val="105000"/>
                        </a:lnSpc>
                        <a:spcBef>
                          <a:spcPts val="0"/>
                        </a:spcBef>
                        <a:spcAft>
                          <a:spcPts val="0"/>
                        </a:spcAft>
                        <a:buNone/>
                      </a:pPr>
                      <a:r>
                        <a:rPr lang="en-US" sz="750" u="none" strike="noStrike" cap="none">
                          <a:latin typeface="Calibri"/>
                          <a:ea typeface="Calibri"/>
                          <a:cs typeface="Calibri"/>
                          <a:sym typeface="Calibri"/>
                        </a:rPr>
                        <a:t>Greig cephalopoly syndactyly syndrome (GCPS)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2900">
                <a:tc>
                  <a:txBody>
                    <a:bodyPr/>
                    <a:lstStyle/>
                    <a:p>
                      <a:pPr marL="524510" marR="203834" lvl="0" indent="-314325" algn="l" rtl="0">
                        <a:lnSpc>
                          <a:spcPct val="105000"/>
                        </a:lnSpc>
                        <a:spcBef>
                          <a:spcPts val="0"/>
                        </a:spcBef>
                        <a:spcAft>
                          <a:spcPts val="0"/>
                        </a:spcAft>
                        <a:buNone/>
                      </a:pPr>
                      <a:r>
                        <a:rPr lang="en-US" sz="750" u="none" strike="noStrike" cap="none">
                          <a:latin typeface="Calibri"/>
                          <a:ea typeface="Calibri"/>
                          <a:cs typeface="Calibri"/>
                          <a:sym typeface="Calibri"/>
                        </a:rPr>
                        <a:t>7p22.1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r h="342900">
                <a:tc>
                  <a:txBody>
                    <a:bodyPr/>
                    <a:lstStyle/>
                    <a:p>
                      <a:pPr marL="524510" marR="210184" lvl="0" indent="-306705" algn="l" rtl="0">
                        <a:lnSpc>
                          <a:spcPct val="105000"/>
                        </a:lnSpc>
                        <a:spcBef>
                          <a:spcPts val="0"/>
                        </a:spcBef>
                        <a:spcAft>
                          <a:spcPts val="0"/>
                        </a:spcAft>
                        <a:buNone/>
                      </a:pPr>
                      <a:r>
                        <a:rPr lang="en-US" sz="750" u="none" strike="noStrike" cap="none">
                          <a:latin typeface="Calibri"/>
                          <a:ea typeface="Calibri"/>
                          <a:cs typeface="Calibri"/>
                          <a:sym typeface="Calibri"/>
                        </a:rPr>
                        <a:t>7q11.23 deletion (distal)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0"/>
                  </a:ext>
                </a:extLst>
              </a:tr>
              <a:tr h="342900">
                <a:tc>
                  <a:txBody>
                    <a:bodyPr/>
                    <a:lstStyle/>
                    <a:p>
                      <a:pPr marL="607695" marR="146685" lvl="0" indent="-454025" algn="l" rtl="0">
                        <a:lnSpc>
                          <a:spcPct val="105000"/>
                        </a:lnSpc>
                        <a:spcBef>
                          <a:spcPts val="0"/>
                        </a:spcBef>
                        <a:spcAft>
                          <a:spcPts val="0"/>
                        </a:spcAft>
                        <a:buNone/>
                      </a:pPr>
                      <a:r>
                        <a:rPr lang="en-US" sz="750" u="none" strike="noStrike" cap="none">
                          <a:latin typeface="Calibri"/>
                          <a:ea typeface="Calibri"/>
                          <a:cs typeface="Calibri"/>
                          <a:sym typeface="Calibri"/>
                        </a:rPr>
                        <a:t>Williams-Beuren syndrome (WBS)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Currarino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2"/>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7q36.3 duplication syndrome</a:t>
                      </a:r>
                      <a:endParaRPr sz="750" u="none" strike="noStrike" cap="none" dirty="0">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29" name="Google Shape;129;p8"/>
          <p:cNvGraphicFramePr/>
          <p:nvPr/>
        </p:nvGraphicFramePr>
        <p:xfrm>
          <a:off x="2150217" y="1120210"/>
          <a:ext cx="1480825" cy="849430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8p11.2 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8p23.1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8q12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330835" marR="227329" lvl="0" indent="-95884" algn="l" rtl="0">
                        <a:lnSpc>
                          <a:spcPct val="105000"/>
                        </a:lnSpc>
                        <a:spcBef>
                          <a:spcPts val="0"/>
                        </a:spcBef>
                        <a:spcAft>
                          <a:spcPts val="0"/>
                        </a:spcAft>
                        <a:buNone/>
                      </a:pPr>
                      <a:r>
                        <a:rPr lang="en-US" sz="750" u="none" strike="noStrike" cap="none">
                          <a:latin typeface="Calibri"/>
                          <a:ea typeface="Calibri"/>
                          <a:cs typeface="Calibri"/>
                          <a:sym typeface="Calibri"/>
                        </a:rPr>
                        <a:t>Nablus mask-like facial syndrome (NMLFS)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206375" marR="198755" lvl="0" indent="48259" algn="l" rtl="0">
                        <a:lnSpc>
                          <a:spcPct val="105000"/>
                        </a:lnSpc>
                        <a:spcBef>
                          <a:spcPts val="0"/>
                        </a:spcBef>
                        <a:spcAft>
                          <a:spcPts val="0"/>
                        </a:spcAft>
                        <a:buNone/>
                      </a:pPr>
                      <a:r>
                        <a:rPr lang="en-US" sz="750" u="none" strike="noStrike" cap="none">
                          <a:latin typeface="Calibri"/>
                          <a:ea typeface="Calibri"/>
                          <a:cs typeface="Calibri"/>
                          <a:sym typeface="Calibri"/>
                        </a:rPr>
                        <a:t>Trichorhinophalangeal syndrome type 2 (TRPS2)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9p24.3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22554" lvl="0" indent="-394969" algn="l" rtl="0">
                        <a:lnSpc>
                          <a:spcPct val="105000"/>
                        </a:lnSpc>
                        <a:spcBef>
                          <a:spcPts val="0"/>
                        </a:spcBef>
                        <a:spcAft>
                          <a:spcPts val="0"/>
                        </a:spcAft>
                        <a:buNone/>
                      </a:pPr>
                      <a:r>
                        <a:rPr lang="en-US" sz="750" u="none" strike="noStrike" cap="none">
                          <a:latin typeface="Calibri"/>
                          <a:ea typeface="Calibri"/>
                          <a:cs typeface="Calibri"/>
                          <a:sym typeface="Calibri"/>
                        </a:rPr>
                        <a:t>9q33.3q34.11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190500" marR="182880" lvl="0" indent="57784" algn="l" rtl="0">
                        <a:lnSpc>
                          <a:spcPct val="105000"/>
                        </a:lnSpc>
                        <a:spcBef>
                          <a:spcPts val="0"/>
                        </a:spcBef>
                        <a:spcAft>
                          <a:spcPts val="0"/>
                        </a:spcAft>
                        <a:buNone/>
                      </a:pPr>
                      <a:r>
                        <a:rPr lang="en-US" sz="750" u="none" strike="noStrike" cap="none">
                          <a:latin typeface="Calibri"/>
                          <a:ea typeface="Calibri"/>
                          <a:cs typeface="Calibri"/>
                          <a:sym typeface="Calibri"/>
                        </a:rPr>
                        <a:t>Early infantile epileptic encephalopathy 4 (EIEE4)</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Kleefstra syndrome 1 (KLEFS1)</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10p11.21-p12.31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462275">
                <a:tc>
                  <a:txBody>
                    <a:bodyPr/>
                    <a:lstStyle/>
                    <a:p>
                      <a:pPr marL="168275" marR="160655" lvl="0" indent="0" algn="ctr" rtl="0">
                        <a:lnSpc>
                          <a:spcPct val="105000"/>
                        </a:lnSpc>
                        <a:spcBef>
                          <a:spcPts val="0"/>
                        </a:spcBef>
                        <a:spcAft>
                          <a:spcPts val="0"/>
                        </a:spcAft>
                        <a:buNone/>
                      </a:pPr>
                      <a:r>
                        <a:rPr lang="en-US" sz="750" u="none" strike="noStrike" cap="none">
                          <a:latin typeface="Calibri"/>
                          <a:ea typeface="Calibri"/>
                          <a:cs typeface="Calibri"/>
                          <a:sym typeface="Calibri"/>
                        </a:rPr>
                        <a:t>DiGeorge syndrome/ velocardiofacial syndrome complex 2 (DSG2)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10q22.3-q23.2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54990" marR="64769" lvl="0" indent="-483234" algn="l" rtl="0">
                        <a:lnSpc>
                          <a:spcPct val="105000"/>
                        </a:lnSpc>
                        <a:spcBef>
                          <a:spcPts val="0"/>
                        </a:spcBef>
                        <a:spcAft>
                          <a:spcPts val="0"/>
                        </a:spcAft>
                        <a:buNone/>
                      </a:pPr>
                      <a:r>
                        <a:rPr lang="en-US" sz="750" u="none" strike="noStrike" cap="none">
                          <a:latin typeface="Calibri"/>
                          <a:ea typeface="Calibri"/>
                          <a:cs typeface="Calibri"/>
                          <a:sym typeface="Calibri"/>
                        </a:rPr>
                        <a:t>Split-hand/foot malformation 3 (SHFM3)</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10q26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Potocki-Shaffer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11q13.2-q13.4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11q22.2-q22.3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11q23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342900">
                <a:tc>
                  <a:txBody>
                    <a:bodyPr/>
                    <a:lstStyle/>
                    <a:p>
                      <a:pPr marL="524510" marR="245109" lvl="0" indent="-272415" algn="l" rtl="0">
                        <a:lnSpc>
                          <a:spcPct val="105000"/>
                        </a:lnSpc>
                        <a:spcBef>
                          <a:spcPts val="0"/>
                        </a:spcBef>
                        <a:spcAft>
                          <a:spcPts val="0"/>
                        </a:spcAft>
                        <a:buNone/>
                      </a:pPr>
                      <a:r>
                        <a:rPr lang="en-US" sz="750" u="none" strike="noStrike" cap="none">
                          <a:latin typeface="Calibri"/>
                          <a:ea typeface="Calibri"/>
                          <a:cs typeface="Calibri"/>
                          <a:sym typeface="Calibri"/>
                        </a:rPr>
                        <a:t>12p12.1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12ql4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342900">
                <a:tc>
                  <a:txBody>
                    <a:bodyPr/>
                    <a:lstStyle/>
                    <a:p>
                      <a:pPr marL="524510" marR="161925" lvl="0" indent="-355600" algn="l" rtl="0">
                        <a:lnSpc>
                          <a:spcPct val="105000"/>
                        </a:lnSpc>
                        <a:spcBef>
                          <a:spcPts val="0"/>
                        </a:spcBef>
                        <a:spcAft>
                          <a:spcPts val="0"/>
                        </a:spcAft>
                        <a:buNone/>
                      </a:pPr>
                      <a:r>
                        <a:rPr lang="en-US" sz="750" u="none" strike="noStrike" cap="none">
                          <a:latin typeface="Calibri"/>
                          <a:ea typeface="Calibri"/>
                          <a:cs typeface="Calibri"/>
                          <a:sym typeface="Calibri"/>
                        </a:rPr>
                        <a:t>12q1Sq21.1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13q14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14q11-q22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Frias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035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14q24.1-q24.3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bl>
          </a:graphicData>
        </a:graphic>
      </p:graphicFrame>
      <p:graphicFrame>
        <p:nvGraphicFramePr>
          <p:cNvPr id="130" name="Google Shape;130;p8"/>
          <p:cNvGraphicFramePr/>
          <p:nvPr/>
        </p:nvGraphicFramePr>
        <p:xfrm>
          <a:off x="3767042" y="1120210"/>
          <a:ext cx="1481450" cy="8270775"/>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(loss)</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(gain)</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524510" marR="140335" lvl="0" indent="-377190" algn="l" rtl="0">
                        <a:lnSpc>
                          <a:spcPct val="105000"/>
                        </a:lnSpc>
                        <a:spcBef>
                          <a:spcPts val="0"/>
                        </a:spcBef>
                        <a:spcAft>
                          <a:spcPts val="0"/>
                        </a:spcAft>
                        <a:buNone/>
                      </a:pPr>
                      <a:r>
                        <a:rPr lang="en-US" sz="750" u="none" strike="noStrike" cap="none">
                          <a:latin typeface="Calibri"/>
                          <a:ea typeface="Calibri"/>
                          <a:cs typeface="Calibri"/>
                          <a:sym typeface="Calibri"/>
                        </a:rPr>
                        <a:t>15q2S.2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15q26-qter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16p11.2-p12.2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microduplication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524510" marR="141605" lvl="0" indent="-375919" algn="l" rtl="0">
                        <a:lnSpc>
                          <a:spcPct val="105000"/>
                        </a:lnSpc>
                        <a:spcBef>
                          <a:spcPts val="0"/>
                        </a:spcBef>
                        <a:spcAft>
                          <a:spcPts val="0"/>
                        </a:spcAft>
                        <a:buNone/>
                      </a:pPr>
                      <a:r>
                        <a:rPr lang="en-US" sz="750" u="none" strike="noStrike" cap="none">
                          <a:latin typeface="Calibri"/>
                          <a:ea typeface="Calibri"/>
                          <a:cs typeface="Calibri"/>
                          <a:sym typeface="Calibri"/>
                        </a:rPr>
                        <a:t>16p12.2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462275">
                <a:tc>
                  <a:txBody>
                    <a:bodyPr/>
                    <a:lstStyle/>
                    <a:p>
                      <a:pPr marL="90170" marR="81915" lvl="0" indent="-634" algn="ctr" rtl="0">
                        <a:lnSpc>
                          <a:spcPct val="105000"/>
                        </a:lnSpc>
                        <a:spcBef>
                          <a:spcPts val="0"/>
                        </a:spcBef>
                        <a:spcAft>
                          <a:spcPts val="0"/>
                        </a:spcAft>
                        <a:buNone/>
                      </a:pPr>
                      <a:r>
                        <a:rPr lang="en-US" sz="750" u="none" strike="noStrike" cap="none">
                          <a:latin typeface="Calibri"/>
                          <a:ea typeface="Calibri"/>
                          <a:cs typeface="Calibri"/>
                          <a:sym typeface="Calibri"/>
                        </a:rPr>
                        <a:t>Polycystic kidney disease, infantile severe, with tuberous sclerosis (PKDTS)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Rubinstein-Taybi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582925">
                <a:tc>
                  <a:txBody>
                    <a:bodyPr/>
                    <a:lstStyle/>
                    <a:p>
                      <a:pPr marL="71755" marR="64135" lvl="0" indent="0" algn="ctr" rtl="0">
                        <a:lnSpc>
                          <a:spcPct val="105000"/>
                        </a:lnSpc>
                        <a:spcBef>
                          <a:spcPts val="0"/>
                        </a:spcBef>
                        <a:spcAft>
                          <a:spcPts val="0"/>
                        </a:spcAft>
                        <a:buNone/>
                      </a:pPr>
                      <a:r>
                        <a:rPr lang="en-US" sz="750" u="none" strike="noStrike" cap="none">
                          <a:latin typeface="Calibri"/>
                          <a:ea typeface="Calibri"/>
                          <a:cs typeface="Calibri"/>
                          <a:sym typeface="Calibri"/>
                        </a:rPr>
                        <a:t>Alpha-thalassemia/intellectual disability syndrome, chromosome 16-related</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(ATR-16)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Smith-Magenis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60070" marR="103504" lvl="0" indent="-448944" algn="l" rtl="0">
                        <a:lnSpc>
                          <a:spcPct val="105000"/>
                        </a:lnSpc>
                        <a:spcBef>
                          <a:spcPts val="0"/>
                        </a:spcBef>
                        <a:spcAft>
                          <a:spcPts val="0"/>
                        </a:spcAft>
                        <a:buNone/>
                      </a:pPr>
                      <a:r>
                        <a:rPr lang="en-US" sz="750" u="none" strike="noStrike" cap="none">
                          <a:latin typeface="Calibri"/>
                          <a:ea typeface="Calibri"/>
                          <a:cs typeface="Calibri"/>
                          <a:sym typeface="Calibri"/>
                        </a:rPr>
                        <a:t>Yuan-Harel-Lupski syndrome (YUHAL)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17p13.l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342900">
                <a:tc>
                  <a:txBody>
                    <a:bodyPr/>
                    <a:lstStyle/>
                    <a:p>
                      <a:pPr marL="229234" marR="147955" lvl="0" indent="-74929"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(loss)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227965" marR="147955" lvl="0" indent="-73660"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(gain)</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275">
                <a:tc>
                  <a:txBody>
                    <a:bodyPr/>
                    <a:lstStyle/>
                    <a:p>
                      <a:pPr marL="524510" marR="84455" lvl="0" indent="-433069" algn="l" rtl="0">
                        <a:lnSpc>
                          <a:spcPct val="105000"/>
                        </a:lnSpc>
                        <a:spcBef>
                          <a:spcPts val="0"/>
                        </a:spcBef>
                        <a:spcAft>
                          <a:spcPts val="0"/>
                        </a:spcAft>
                        <a:buNone/>
                      </a:pPr>
                      <a:r>
                        <a:rPr lang="en-US" sz="750" u="none" strike="noStrike" cap="none">
                          <a:latin typeface="Calibri"/>
                          <a:ea typeface="Calibri"/>
                          <a:cs typeface="Calibri"/>
                          <a:sym typeface="Calibri"/>
                        </a:rPr>
                        <a:t>17p13.3 telomeric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17q21.31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17q23.1-q23.2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Tetrasomy 18p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18q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19p13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bl>
          </a:graphicData>
        </a:graphic>
      </p:graphicFrame>
      <p:graphicFrame>
        <p:nvGraphicFramePr>
          <p:cNvPr id="131" name="Google Shape;131;p8"/>
          <p:cNvGraphicFramePr/>
          <p:nvPr/>
        </p:nvGraphicFramePr>
        <p:xfrm>
          <a:off x="5383866" y="1120210"/>
          <a:ext cx="1481450" cy="5683850"/>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524510" marR="218440" lvl="0" indent="-299085" algn="l" rtl="0">
                        <a:lnSpc>
                          <a:spcPct val="105000"/>
                        </a:lnSpc>
                        <a:spcBef>
                          <a:spcPts val="0"/>
                        </a:spcBef>
                        <a:spcAft>
                          <a:spcPts val="0"/>
                        </a:spcAft>
                        <a:buNone/>
                      </a:pPr>
                      <a:r>
                        <a:rPr lang="en-US" sz="750" u="none" strike="noStrike" cap="none">
                          <a:latin typeface="Calibri"/>
                          <a:ea typeface="Calibri"/>
                          <a:cs typeface="Calibri"/>
                          <a:sym typeface="Calibri"/>
                        </a:rPr>
                        <a:t>19q13.11 microdeletion syndrome</a:t>
                      </a:r>
                      <a:endParaRPr sz="750" u="none" strike="noStrike" cap="none">
                        <a:latin typeface="Calibri"/>
                        <a:ea typeface="Calibri"/>
                        <a:cs typeface="Calibri"/>
                        <a:sym typeface="Calibri"/>
                      </a:endParaRPr>
                    </a:p>
                  </a:txBody>
                  <a:tcPr marL="0" marR="0" marT="406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20p13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21q22.11-q22.12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46292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(distal,</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D-E/F)</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46227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(LCR22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B/C-D)</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Xp11.22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35890" lvl="0" indent="-382905" algn="l" rtl="0">
                        <a:lnSpc>
                          <a:spcPct val="105000"/>
                        </a:lnSpc>
                        <a:spcBef>
                          <a:spcPts val="0"/>
                        </a:spcBef>
                        <a:spcAft>
                          <a:spcPts val="0"/>
                        </a:spcAft>
                        <a:buNone/>
                      </a:pPr>
                      <a:r>
                        <a:rPr lang="en-US" sz="750" u="none" strike="noStrike" cap="none">
                          <a:latin typeface="Calibri"/>
                          <a:ea typeface="Calibri"/>
                          <a:cs typeface="Calibri"/>
                          <a:sym typeface="Calibri"/>
                        </a:rPr>
                        <a:t>Xp11.22-p11.23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Xp11.23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342900">
                <a:tc>
                  <a:txBody>
                    <a:bodyPr/>
                    <a:lstStyle/>
                    <a:p>
                      <a:pPr marL="524510" marR="202565" lvl="0" indent="-314960" algn="l" rtl="0">
                        <a:lnSpc>
                          <a:spcPct val="105000"/>
                        </a:lnSpc>
                        <a:spcBef>
                          <a:spcPts val="0"/>
                        </a:spcBef>
                        <a:spcAft>
                          <a:spcPts val="0"/>
                        </a:spcAft>
                        <a:buNone/>
                      </a:pPr>
                      <a:r>
                        <a:rPr lang="en-US" sz="750" u="none" strike="noStrike" cap="none">
                          <a:latin typeface="Calibri"/>
                          <a:ea typeface="Calibri"/>
                          <a:cs typeface="Calibri"/>
                          <a:sym typeface="Calibri"/>
                        </a:rPr>
                        <a:t>Xp21.2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Xp22.31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342900">
                <a:tc>
                  <a:txBody>
                    <a:bodyPr/>
                    <a:lstStyle/>
                    <a:p>
                      <a:pPr marL="524510" marR="178435" lvl="0" indent="-339090" algn="l" rtl="0">
                        <a:lnSpc>
                          <a:spcPct val="105000"/>
                        </a:lnSpc>
                        <a:spcBef>
                          <a:spcPts val="0"/>
                        </a:spcBef>
                        <a:spcAft>
                          <a:spcPts val="0"/>
                        </a:spcAft>
                        <a:buNone/>
                      </a:pPr>
                      <a:r>
                        <a:rPr lang="en-US" sz="750" u="none" strike="noStrike" cap="none">
                          <a:latin typeface="Calibri"/>
                          <a:ea typeface="Calibri"/>
                          <a:cs typeface="Calibri"/>
                          <a:sym typeface="Calibri"/>
                        </a:rPr>
                        <a:t>Xq22.3 telomeric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342900">
                <a:tc>
                  <a:txBody>
                    <a:bodyPr/>
                    <a:lstStyle/>
                    <a:p>
                      <a:pPr marL="524510" marR="229234" lvl="0" indent="-288290" algn="l" rtl="0">
                        <a:lnSpc>
                          <a:spcPct val="105000"/>
                        </a:lnSpc>
                        <a:spcBef>
                          <a:spcPts val="0"/>
                        </a:spcBef>
                        <a:spcAft>
                          <a:spcPts val="0"/>
                        </a:spcAft>
                        <a:buNone/>
                      </a:pPr>
                      <a:r>
                        <a:rPr lang="en-US" sz="750" u="none" strike="noStrike" cap="none">
                          <a:latin typeface="Calibri"/>
                          <a:ea typeface="Calibri"/>
                          <a:cs typeface="Calibri"/>
                          <a:sym typeface="Calibri"/>
                        </a:rPr>
                        <a:t>Xq27.3-q28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Xq28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bl>
          </a:graphicData>
        </a:graphic>
      </p:graphicFrame>
      <p:grpSp>
        <p:nvGrpSpPr>
          <p:cNvPr id="132" name="Google Shape;132;p8"/>
          <p:cNvGrpSpPr/>
          <p:nvPr/>
        </p:nvGrpSpPr>
        <p:grpSpPr>
          <a:xfrm>
            <a:off x="385762" y="357187"/>
            <a:ext cx="6788784" cy="9477375"/>
            <a:chOff x="385762" y="357187"/>
            <a:chExt cx="6788784" cy="9477375"/>
          </a:xfrm>
        </p:grpSpPr>
        <p:sp>
          <p:nvSpPr>
            <p:cNvPr id="133" name="Google Shape;133;p8"/>
            <p:cNvSpPr/>
            <p:nvPr/>
          </p:nvSpPr>
          <p:spPr>
            <a:xfrm>
              <a:off x="425742" y="357187"/>
              <a:ext cx="6708775" cy="9477375"/>
            </a:xfrm>
            <a:custGeom>
              <a:avLst/>
              <a:gdLst/>
              <a:ahLst/>
              <a:cxnLst/>
              <a:rect l="l" t="t" r="r" b="b"/>
              <a:pathLst>
                <a:path w="6708775" h="9477375" extrusionOk="0">
                  <a:moveTo>
                    <a:pt x="6708571" y="20929"/>
                  </a:moveTo>
                  <a:lnTo>
                    <a:pt x="6671997" y="1374"/>
                  </a:lnTo>
                  <a:lnTo>
                    <a:pt x="6658063" y="0"/>
                  </a:lnTo>
                  <a:lnTo>
                    <a:pt x="50507" y="0"/>
                  </a:lnTo>
                  <a:lnTo>
                    <a:pt x="10820" y="12044"/>
                  </a:lnTo>
                  <a:lnTo>
                    <a:pt x="5191" y="16220"/>
                  </a:lnTo>
                  <a:lnTo>
                    <a:pt x="0" y="20929"/>
                  </a:lnTo>
                </a:path>
                <a:path w="6708775" h="9477375" extrusionOk="0">
                  <a:moveTo>
                    <a:pt x="0" y="9456445"/>
                  </a:moveTo>
                  <a:lnTo>
                    <a:pt x="36574" y="9476000"/>
                  </a:lnTo>
                  <a:lnTo>
                    <a:pt x="50507" y="9477375"/>
                  </a:lnTo>
                  <a:lnTo>
                    <a:pt x="6634251" y="9477375"/>
                  </a:lnTo>
                  <a:lnTo>
                    <a:pt x="6678428" y="9474299"/>
                  </a:lnTo>
                  <a:lnTo>
                    <a:pt x="6703380" y="9461154"/>
                  </a:lnTo>
                  <a:lnTo>
                    <a:pt x="6708571" y="94564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34" name="Google Shape;134;p8"/>
            <p:cNvSpPr/>
            <p:nvPr/>
          </p:nvSpPr>
          <p:spPr>
            <a:xfrm>
              <a:off x="385762" y="364642"/>
              <a:ext cx="6788784" cy="9462770"/>
            </a:xfrm>
            <a:custGeom>
              <a:avLst/>
              <a:gdLst/>
              <a:ahLst/>
              <a:cxnLst/>
              <a:rect l="l" t="t" r="r" b="b"/>
              <a:pathLst>
                <a:path w="6788784" h="9462770" extrusionOk="0">
                  <a:moveTo>
                    <a:pt x="26504" y="0"/>
                  </a:moveTo>
                  <a:lnTo>
                    <a:pt x="3895" y="37713"/>
                  </a:lnTo>
                  <a:lnTo>
                    <a:pt x="0" y="63982"/>
                  </a:lnTo>
                  <a:lnTo>
                    <a:pt x="0" y="9393720"/>
                  </a:lnTo>
                  <a:lnTo>
                    <a:pt x="6883" y="9433115"/>
                  </a:lnTo>
                  <a:lnTo>
                    <a:pt x="20540" y="9455886"/>
                  </a:lnTo>
                  <a:lnTo>
                    <a:pt x="26504" y="9462465"/>
                  </a:lnTo>
                </a:path>
                <a:path w="6788784" h="9462770" extrusionOk="0">
                  <a:moveTo>
                    <a:pt x="6762026" y="9462465"/>
                  </a:moveTo>
                  <a:lnTo>
                    <a:pt x="6784635" y="9424751"/>
                  </a:lnTo>
                  <a:lnTo>
                    <a:pt x="6788531" y="93984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下一步驟</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方法</a:t>
            </a:r>
            <a:endParaRPr sz="10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胎兒染色體。</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侷限性</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微小片段缺失疾病</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披露</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grpSp>
      <p:sp>
        <p:nvSpPr>
          <p:cNvPr id="2" name="Google Shape;147;p9">
            <a:extLst>
              <a:ext uri="{FF2B5EF4-FFF2-40B4-BE49-F238E27FC236}">
                <a16:creationId xmlns:a16="http://schemas.microsoft.com/office/drawing/2014/main" id="{781B944C-8C71-6364-FA83-D3437E7C546A}"/>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939</Words>
  <Application>Microsoft Macintosh PowerPoint</Application>
  <PresentationFormat>Custom</PresentationFormat>
  <Paragraphs>213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Microsoft YaHei</vt:lpstr>
      <vt:lpstr>Noto Sans SC</vt: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62</cp:revision>
  <dcterms:modified xsi:type="dcterms:W3CDTF">2025-10-31T13:22:45Z</dcterms:modified>
</cp:coreProperties>
</file>