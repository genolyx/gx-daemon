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7" r:id="rId2"/>
    <p:sldId id="258" r:id="rId3"/>
  </p:sldIdLst>
  <p:sldSz cx="7553325" cy="106886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747775"/>
          </p15:clr>
        </p15:guide>
        <p15:guide id="2" pos="237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BC56"/>
    <a:srgbClr val="18CECF"/>
    <a:srgbClr val="46A5D1"/>
    <a:srgbClr val="65C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454651-7FEB-4C55-83AA-BDDA99F43B4F}">
  <a:tblStyle styleId="{EB454651-7FEB-4C55-83AA-BDDA99F43B4F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23217D6-B8C9-4485-8C75-82DFF05F406A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31"/>
  </p:normalViewPr>
  <p:slideViewPr>
    <p:cSldViewPr snapToGrid="0">
      <p:cViewPr varScale="1">
        <p:scale>
          <a:sx n="169" d="100"/>
          <a:sy n="169" d="100"/>
        </p:scale>
        <p:origin x="5088" y="192"/>
      </p:cViewPr>
      <p:guideLst>
        <p:guide orient="horz" pos="3367"/>
        <p:guide pos="23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877" y="685800"/>
            <a:ext cx="24228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64f091e4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564f091e4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64f091e4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64f091e4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471" y="1547391"/>
            <a:ext cx="7038000" cy="42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464" y="5889935"/>
            <a:ext cx="7038000" cy="16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464" y="4469940"/>
            <a:ext cx="7038000" cy="17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70380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33039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1566" y="2395097"/>
            <a:ext cx="33039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464" y="1154659"/>
            <a:ext cx="2319300" cy="15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464" y="2887895"/>
            <a:ext cx="2319300" cy="66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4947" y="935511"/>
            <a:ext cx="5259900" cy="85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76475" y="-260"/>
            <a:ext cx="3776400" cy="106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303" y="2562809"/>
            <a:ext cx="3341400" cy="30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303" y="5825407"/>
            <a:ext cx="3341400" cy="25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0030" y="1504787"/>
            <a:ext cx="3169500" cy="76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464" y="8792066"/>
            <a:ext cx="4955100" cy="12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464" y="2298771"/>
            <a:ext cx="7038000" cy="40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464" y="6551017"/>
            <a:ext cx="7038000" cy="27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7038000" cy="7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460050" y="816817"/>
            <a:ext cx="3422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Non-Invasive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Prenatal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Screening</a:t>
            </a:r>
            <a:endParaRPr sz="13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460050" y="1147075"/>
            <a:ext cx="2865000" cy="9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Patient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Name: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&lt;&lt;Patient Name&gt;&gt;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Date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of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Birth: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&lt;&lt;DOB&gt;&gt;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Gestational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Age: &lt;&lt;W&gt;&gt;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Weeks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Days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Pregnancy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Type: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&lt;&lt;Pregnancy Type&gt;&gt;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Medical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Record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Number: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&lt;&lt;MRN&gt;&gt;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Indication: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&lt;&lt;Indication&gt;&gt;</a:t>
            </a:r>
            <a:endParaRPr sz="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336357" y="11010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ln w="9525">
            <a:solidFill>
              <a:schemeClr val="bg2">
                <a:lumMod val="40000"/>
                <a:lumOff val="6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ln>
                <a:solidFill>
                  <a:sysClr val="windowText" lastClr="000000"/>
                </a:solidFill>
              </a:ln>
              <a:solidFill>
                <a:srgbClr val="9B9B9B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Union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Labs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No.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33,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Lane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151,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2,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S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Rd.,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Da'an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City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106,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CAP#: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endParaRPr sz="70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Lab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Lai,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PhD</a:t>
            </a:r>
            <a:endParaRPr sz="7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664550" y="8405848"/>
            <a:ext cx="11694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" sz="1350" dirty="0"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Interpretation </a:t>
            </a:r>
            <a:endParaRPr sz="135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Arial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664562" y="2650186"/>
            <a:ext cx="6223800" cy="804900"/>
          </a:xfrm>
          <a:prstGeom prst="roundRect">
            <a:avLst>
              <a:gd name="adj" fmla="val 7917"/>
            </a:avLst>
          </a:prstGeom>
          <a:noFill/>
          <a:ln w="9525" cap="flat" cmpd="sng">
            <a:solidFill>
              <a:srgbClr val="D9BC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664550" y="8669550"/>
            <a:ext cx="622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&lt;&lt;Interpretation_MDI&gt;&gt;</a:t>
            </a:r>
            <a:endParaRPr sz="1000" dirty="0">
              <a:solidFill>
                <a:schemeClr val="dk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664550" y="2631061"/>
            <a:ext cx="6223800" cy="2853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D9BC56"/>
          </a:solidFill>
          <a:ln w="9525" cap="flat" cmpd="sng">
            <a:solidFill>
              <a:srgbClr val="D9BC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2279754" y="2581261"/>
            <a:ext cx="2993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Test Summary</a:t>
            </a:r>
            <a:endParaRPr sz="1300">
              <a:solidFill>
                <a:schemeClr val="lt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cxnSp>
        <p:nvCxnSpPr>
          <p:cNvPr id="92" name="Google Shape;92;p14"/>
          <p:cNvCxnSpPr/>
          <p:nvPr/>
        </p:nvCxnSpPr>
        <p:spPr>
          <a:xfrm>
            <a:off x="3894763" y="1122438"/>
            <a:ext cx="10800" cy="101940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14"/>
          <p:cNvSpPr/>
          <p:nvPr/>
        </p:nvSpPr>
        <p:spPr>
          <a:xfrm>
            <a:off x="338157" y="2163199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9B9B9B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184425" y="1147338"/>
            <a:ext cx="286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Sample Number: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&lt;&lt;Sample Number&gt;&gt;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Physician: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&lt;&lt;Doctor&gt;&gt;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Hospital/Clinic: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&lt;&lt;Hospital&gt;&gt;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Collection Date: &lt;&lt;Collection Date&gt;&gt;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Report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Date: &lt;&lt;Report Date&gt;&gt;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Order ID: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&lt;&lt;Order ID&gt;&gt;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9F37B0-F931-EB47-AFA4-F3C0723FBB5D}"/>
              </a:ext>
            </a:extLst>
          </p:cNvPr>
          <p:cNvSpPr txBox="1"/>
          <p:nvPr/>
        </p:nvSpPr>
        <p:spPr>
          <a:xfrm>
            <a:off x="941151" y="3047943"/>
            <a:ext cx="212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Result: &lt;&lt;Result_MDResult&gt;&gt;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1DEB3-38CC-FA1E-DF3B-23E0873EB146}"/>
              </a:ext>
            </a:extLst>
          </p:cNvPr>
          <p:cNvSpPr txBox="1"/>
          <p:nvPr/>
        </p:nvSpPr>
        <p:spPr>
          <a:xfrm>
            <a:off x="3155999" y="3056383"/>
            <a:ext cx="1705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Gender: &lt;&lt;Gender&gt;&gt;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6D2007-C21F-BEAD-850B-24878B21597B}"/>
              </a:ext>
            </a:extLst>
          </p:cNvPr>
          <p:cNvSpPr txBox="1"/>
          <p:nvPr/>
        </p:nvSpPr>
        <p:spPr>
          <a:xfrm>
            <a:off x="5053994" y="3047944"/>
            <a:ext cx="18582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Fetal Fraction: &lt;&lt;FF_YFF&gt;&gt;</a:t>
            </a:r>
          </a:p>
        </p:txBody>
      </p:sp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C1F2AD5D-6819-559B-06E0-B85E8EB97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48" y="276191"/>
            <a:ext cx="2554737" cy="532085"/>
          </a:xfrm>
          <a:prstGeom prst="rect">
            <a:avLst/>
          </a:prstGeom>
        </p:spPr>
      </p:pic>
      <p:graphicFrame>
        <p:nvGraphicFramePr>
          <p:cNvPr id="3" name="Google Shape;81;p14">
            <a:extLst>
              <a:ext uri="{FF2B5EF4-FFF2-40B4-BE49-F238E27FC236}">
                <a16:creationId xmlns:a16="http://schemas.microsoft.com/office/drawing/2014/main" id="{F9E41131-4DD5-F155-56EB-9CB93D23D8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4469045"/>
              </p:ext>
            </p:extLst>
          </p:nvPr>
        </p:nvGraphicFramePr>
        <p:xfrm>
          <a:off x="338144" y="3883168"/>
          <a:ext cx="3438518" cy="2898725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2051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Conditions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Result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21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&lt;&lt;T21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18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&lt;&lt;T18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13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&lt;&lt;T13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XO (Turner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&lt;&lt;XO Result&gt;&gt;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XXX (Trisomy X)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&lt;&lt;XXX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XXY (Klinefelter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&lt;&lt;XXY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XYY (Jacob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&lt;&lt;XYY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460050" y="816817"/>
            <a:ext cx="3422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Non-Invasive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</a:t>
            </a:r>
            <a:endParaRPr sz="13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336357" y="11010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Union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No.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33,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Lane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151,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Rd.,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Da'an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City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106,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CAP#: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endParaRPr sz="700" b="0" i="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Lai,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PhD</a:t>
            </a:r>
            <a:endParaRPr sz="7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106" name="Google Shape;106;p15"/>
          <p:cNvCxnSpPr/>
          <p:nvPr/>
        </p:nvCxnSpPr>
        <p:spPr>
          <a:xfrm>
            <a:off x="3894763" y="1122438"/>
            <a:ext cx="10800" cy="101940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5"/>
          <p:cNvSpPr/>
          <p:nvPr/>
        </p:nvSpPr>
        <p:spPr>
          <a:xfrm>
            <a:off x="338157" y="2163199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109" name="Google Shape;109;p15"/>
          <p:cNvGraphicFramePr/>
          <p:nvPr>
            <p:extLst>
              <p:ext uri="{D42A27DB-BD31-4B8C-83A1-F6EECF244321}">
                <p14:modId xmlns:p14="http://schemas.microsoft.com/office/powerpoint/2010/main" val="201025445"/>
              </p:ext>
            </p:extLst>
          </p:nvPr>
        </p:nvGraphicFramePr>
        <p:xfrm>
          <a:off x="403981" y="2763354"/>
          <a:ext cx="6744975" cy="2430725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195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Condition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Sensitivity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Specificity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PPV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21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99.72%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98.72%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18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99.04%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96.49%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13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98.84%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85.71%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Monosomy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76%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XXX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XXY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XYY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T9,T16,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T22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50-99%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5664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All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Other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NA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45211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Microdeletions/duplications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20-99%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NA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0" name="Google Shape;110;p15"/>
          <p:cNvSpPr txBox="1"/>
          <p:nvPr/>
        </p:nvSpPr>
        <p:spPr>
          <a:xfrm>
            <a:off x="368300" y="5901106"/>
            <a:ext cx="6675000" cy="181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1593" marR="0" lvl="0" indent="-488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PPV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performance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was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calculated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amniocentesis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QF-PCR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1593" marR="0" lvl="0" indent="-4889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Due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insufficient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number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amniocentesis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samples,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Sensitivity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was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calculated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estimating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positive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PPV.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1593" marR="0" lvl="0" indent="-4889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sensitivity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fraction.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Minimum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0.5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MB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4%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5080" lvl="0" indent="0" algn="just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Limitations: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designed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singleton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least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weeks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gestation,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menstrual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period.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However,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important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rule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out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possibility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subchromosomal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birth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defects,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conditions.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Additionally,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intended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identify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risk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open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neural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tube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defects.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negative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mean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present.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small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chance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reflect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fetus,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but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instead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reflect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changes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placenta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mother.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7620" lvl="0" indent="0" algn="just" rtl="0">
              <a:lnSpc>
                <a:spcPct val="112500"/>
              </a:lnSpc>
              <a:spcBef>
                <a:spcPts val="87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Methods: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UCL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laboratory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preformed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low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pass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whole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genome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from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extracted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cfDNA.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data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was </a:t>
            </a:r>
            <a:r>
              <a:rPr lang="en" sz="65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validated inhouse at UCL laboratory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References: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4140" marR="10795" lvl="0" indent="-9144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Anthony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2016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update: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position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statement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American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College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Medical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Genetics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Genomics.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2016;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13:1056-65.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2235" marR="0" lvl="0" indent="-89535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Bianchi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OW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DNA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versus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standard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Engl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J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2014;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370:799-808.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2235" marR="0" lvl="0" indent="-89535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YM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Dennis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RWK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Chiu,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maternal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plasma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nucleic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acid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analysis;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chemistry,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2008.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8585" marR="8255" lvl="0" indent="-95885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Chen,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Validation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DNA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application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detection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multiple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Diagnosis,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2019.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39(13):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1273-1282.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" name="Google Shape;77;p14">
            <a:extLst>
              <a:ext uri="{FF2B5EF4-FFF2-40B4-BE49-F238E27FC236}">
                <a16:creationId xmlns:a16="http://schemas.microsoft.com/office/drawing/2014/main" id="{E4EA20DE-1805-0D79-B35F-CEDDB7C7925E}"/>
              </a:ext>
            </a:extLst>
          </p:cNvPr>
          <p:cNvSpPr txBox="1"/>
          <p:nvPr/>
        </p:nvSpPr>
        <p:spPr>
          <a:xfrm>
            <a:off x="460050" y="1147075"/>
            <a:ext cx="2865000" cy="9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Patient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Name: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&lt;&lt;Patient Name&gt;&gt;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Date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of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Birth: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&lt;&lt;DOB&gt;&gt;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Gestational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Age: &lt;&lt;W&gt;&gt;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Weeks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Days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Pregnancy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Type: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&lt;&lt;Pregnancy Type&gt;&gt;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Medical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Record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Number: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&lt;&lt;MRN&gt;&gt;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Indication: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&lt;&lt;Indication&gt;&gt;</a:t>
            </a:r>
            <a:endParaRPr sz="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Google Shape;94;p14">
            <a:extLst>
              <a:ext uri="{FF2B5EF4-FFF2-40B4-BE49-F238E27FC236}">
                <a16:creationId xmlns:a16="http://schemas.microsoft.com/office/drawing/2014/main" id="{D7D0C454-F102-4B4A-B27D-CD1E4EC34612}"/>
              </a:ext>
            </a:extLst>
          </p:cNvPr>
          <p:cNvSpPr txBox="1"/>
          <p:nvPr/>
        </p:nvSpPr>
        <p:spPr>
          <a:xfrm>
            <a:off x="4184425" y="1147338"/>
            <a:ext cx="286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Sample Number: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&lt;&lt;Sample Number&gt;&gt;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Physician: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&lt;&lt;Doctor&gt;&gt;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Hospital/Clinic: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&lt;&lt;Hospital&gt;&gt;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Collection Date: &lt;&lt;Collection Date&gt;&gt;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Report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Date: &lt;&lt;Report Date&gt;&gt;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Order ID: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&lt;&lt;Order ID&gt;&gt;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</p:txBody>
      </p:sp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AD5AD870-DD03-5C9D-F5D7-8D043D3CD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48" y="276191"/>
            <a:ext cx="2554737" cy="5320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770</Words>
  <Application>Microsoft Macintosh PowerPoint</Application>
  <PresentationFormat>Custom</PresentationFormat>
  <Paragraphs>108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 martin</cp:lastModifiedBy>
  <cp:revision>44</cp:revision>
  <dcterms:modified xsi:type="dcterms:W3CDTF">2025-08-11T11:37:44Z</dcterms:modified>
</cp:coreProperties>
</file>