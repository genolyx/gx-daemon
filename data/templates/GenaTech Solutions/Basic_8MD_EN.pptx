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"/>
  </p:notesMasterIdLst>
  <p:sldIdLst>
    <p:sldId id="257" r:id="rId2"/>
    <p:sldId id="258" r:id="rId3"/>
  </p:sldIdLst>
  <p:sldSz cx="7553325" cy="10688638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367">
          <p15:clr>
            <a:srgbClr val="747775"/>
          </p15:clr>
        </p15:guide>
        <p15:guide id="2" pos="2379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BC56"/>
    <a:srgbClr val="18CECF"/>
    <a:srgbClr val="46A5D1"/>
    <a:srgbClr val="65C3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B454651-7FEB-4C55-83AA-BDDA99F43B4F}">
  <a:tblStyle styleId="{EB454651-7FEB-4C55-83AA-BDDA99F43B4F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23217D6-B8C9-4485-8C75-82DFF05F406A}" styleName="Table_1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/>
    <p:restoredTop sz="94636"/>
  </p:normalViewPr>
  <p:slideViewPr>
    <p:cSldViewPr snapToGrid="0">
      <p:cViewPr varScale="1">
        <p:scale>
          <a:sx n="164" d="100"/>
          <a:sy n="164" d="100"/>
        </p:scale>
        <p:origin x="5408" y="200"/>
      </p:cViewPr>
      <p:guideLst>
        <p:guide orient="horz" pos="3367"/>
        <p:guide pos="237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217877" y="685800"/>
            <a:ext cx="24228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564f091e4a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7738" y="685800"/>
            <a:ext cx="24225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564f091e4a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564f091e4a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7738" y="685800"/>
            <a:ext cx="24225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564f091e4a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257471" y="1547391"/>
            <a:ext cx="7038000" cy="42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257464" y="5889935"/>
            <a:ext cx="7038000" cy="164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257464" y="4469940"/>
            <a:ext cx="7038000" cy="174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257464" y="924860"/>
            <a:ext cx="7038000" cy="119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257464" y="2395097"/>
            <a:ext cx="7038000" cy="710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257464" y="924860"/>
            <a:ext cx="7038000" cy="119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257464" y="2395097"/>
            <a:ext cx="3303900" cy="710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3991566" y="2395097"/>
            <a:ext cx="3303900" cy="710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257464" y="924860"/>
            <a:ext cx="7038000" cy="119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257464" y="1154659"/>
            <a:ext cx="2319300" cy="157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257464" y="2887895"/>
            <a:ext cx="2319300" cy="660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04947" y="935511"/>
            <a:ext cx="5259900" cy="850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3776475" y="-260"/>
            <a:ext cx="3776400" cy="10689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19303" y="2562809"/>
            <a:ext cx="3341400" cy="308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19303" y="5825407"/>
            <a:ext cx="3341400" cy="25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080030" y="1504787"/>
            <a:ext cx="3169500" cy="767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257464" y="8792066"/>
            <a:ext cx="4955100" cy="12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257464" y="2298771"/>
            <a:ext cx="7038000" cy="408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257464" y="6551017"/>
            <a:ext cx="7038000" cy="270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57464" y="924860"/>
            <a:ext cx="7038000" cy="11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57464" y="2395097"/>
            <a:ext cx="7038000" cy="71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/>
        </p:nvSpPr>
        <p:spPr>
          <a:xfrm>
            <a:off x="460050" y="816817"/>
            <a:ext cx="3422100" cy="2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lang="en" sz="130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Non-Invasive</a:t>
            </a:r>
            <a:r>
              <a:rPr lang="en" sz="130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130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Prenatal</a:t>
            </a:r>
            <a:r>
              <a:rPr lang="en" sz="130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130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Screening</a:t>
            </a:r>
            <a:endParaRPr sz="130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Arial"/>
            </a:endParaRPr>
          </a:p>
        </p:txBody>
      </p:sp>
      <p:sp>
        <p:nvSpPr>
          <p:cNvPr id="77" name="Google Shape;77;p14"/>
          <p:cNvSpPr txBox="1"/>
          <p:nvPr/>
        </p:nvSpPr>
        <p:spPr>
          <a:xfrm>
            <a:off x="460050" y="1147075"/>
            <a:ext cx="2865000" cy="962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75" rIns="0" bIns="0" anchor="t" anchorCtr="0">
            <a:spAutoFit/>
          </a:bodyPr>
          <a:lstStyle/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Patient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Name: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&lt;&lt;Patient Name&gt;&gt;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endParaRPr sz="9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Times New Roman"/>
            </a:endParaRPr>
          </a:p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Date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of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Birth: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&lt;&lt;DOB&gt;&gt;</a:t>
            </a:r>
            <a:endParaRPr sz="9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Arial"/>
            </a:endParaRPr>
          </a:p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Gestational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Age: &lt;&lt;W&gt;&gt;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Weeks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&lt;&lt;D&gt;&gt;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Days</a:t>
            </a:r>
            <a:endParaRPr sz="9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Times New Roman"/>
            </a:endParaRPr>
          </a:p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Pregnancy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Type: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&lt;&lt;Pregnancy Type&gt;&gt;</a:t>
            </a:r>
            <a:endParaRPr sz="9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Times New Roman"/>
            </a:endParaRPr>
          </a:p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Medical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Record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Number: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&lt;&lt;MRN&gt;&gt;</a:t>
            </a:r>
            <a:endParaRPr sz="9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Arial"/>
            </a:endParaRPr>
          </a:p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Indication: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&lt;&lt;Indication&gt;&gt;</a:t>
            </a:r>
            <a:endParaRPr sz="8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Arial"/>
            </a:endParaRPr>
          </a:p>
        </p:txBody>
      </p:sp>
      <p:sp>
        <p:nvSpPr>
          <p:cNvPr id="78" name="Google Shape;78;p14"/>
          <p:cNvSpPr/>
          <p:nvPr/>
        </p:nvSpPr>
        <p:spPr>
          <a:xfrm>
            <a:off x="336357" y="1101036"/>
            <a:ext cx="6880225" cy="0"/>
          </a:xfrm>
          <a:custGeom>
            <a:avLst/>
            <a:gdLst/>
            <a:ahLst/>
            <a:cxnLst/>
            <a:rect l="l" t="t" r="r" b="b"/>
            <a:pathLst>
              <a:path w="6880225" h="120000" extrusionOk="0">
                <a:moveTo>
                  <a:pt x="0" y="0"/>
                </a:moveTo>
                <a:lnTo>
                  <a:pt x="6879640" y="0"/>
                </a:lnTo>
              </a:path>
            </a:pathLst>
          </a:custGeom>
          <a:ln w="9525">
            <a:solidFill>
              <a:schemeClr val="bg2">
                <a:lumMod val="40000"/>
                <a:lumOff val="6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u="none" strike="noStrike" cap="none">
              <a:ln>
                <a:solidFill>
                  <a:sysClr val="windowText" lastClr="000000"/>
                </a:solidFill>
              </a:ln>
              <a:solidFill>
                <a:srgbClr val="9B9B9B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Arial"/>
            </a:endParaRPr>
          </a:p>
        </p:txBody>
      </p:sp>
      <p:sp>
        <p:nvSpPr>
          <p:cNvPr id="80" name="Google Shape;80;p14"/>
          <p:cNvSpPr txBox="1"/>
          <p:nvPr/>
        </p:nvSpPr>
        <p:spPr>
          <a:xfrm>
            <a:off x="338150" y="10253102"/>
            <a:ext cx="54579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12700" marR="5080" lvl="0" indent="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Union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Clinical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Labs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,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No.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33,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Lane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151,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Section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2,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 err="1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Fuxing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S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Rd.,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 err="1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Da'an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District.,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Taipei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City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106,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Taiwan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(R.O.C)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CAP#: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6979606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endParaRPr sz="700" u="none" strike="noStrike" cap="none" dirty="0">
              <a:solidFill>
                <a:srgbClr val="414141"/>
              </a:solidFill>
              <a:latin typeface="Calibri" panose="020F0502020204030204" pitchFamily="34" charset="0"/>
              <a:ea typeface="Noto Sans KR" panose="020B0500000000000000" pitchFamily="34" charset="-128"/>
              <a:cs typeface="Calibri" panose="020F0502020204030204" pitchFamily="34" charset="0"/>
              <a:sym typeface="Times New Roman"/>
            </a:endParaRPr>
          </a:p>
          <a:p>
            <a:pPr marL="12700" marR="5080" lvl="0" indent="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Lab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Director: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Min-Long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Lai,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PhD</a:t>
            </a:r>
            <a:endParaRPr sz="70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Noto Sans KR" panose="020B0500000000000000" pitchFamily="34" charset="-128"/>
              <a:cs typeface="Calibri" panose="020F0502020204030204" pitchFamily="34" charset="0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endParaRPr sz="75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1" name="Google Shape;81;p14"/>
          <p:cNvGraphicFramePr/>
          <p:nvPr>
            <p:extLst>
              <p:ext uri="{D42A27DB-BD31-4B8C-83A1-F6EECF244321}">
                <p14:modId xmlns:p14="http://schemas.microsoft.com/office/powerpoint/2010/main" val="3183581449"/>
              </p:ext>
            </p:extLst>
          </p:nvPr>
        </p:nvGraphicFramePr>
        <p:xfrm>
          <a:off x="338144" y="3883168"/>
          <a:ext cx="3438518" cy="2898725"/>
        </p:xfrm>
        <a:graphic>
          <a:graphicData uri="http://schemas.openxmlformats.org/drawingml/2006/table">
            <a:tbl>
              <a:tblPr firstRow="1" bandRow="1">
                <a:noFill/>
                <a:tableStyleId>{EB454651-7FEB-4C55-83AA-BDDA99F43B4F}</a:tableStyleId>
              </a:tblPr>
              <a:tblGrid>
                <a:gridCol w="20515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70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3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Conditions</a:t>
                      </a:r>
                      <a:endParaRPr sz="11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10540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Result</a:t>
                      </a:r>
                      <a:endParaRPr sz="11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10540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Trisomy</a:t>
                      </a: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21</a:t>
                      </a:r>
                      <a:endParaRPr sz="10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lvl="0" algn="ctr">
                        <a:lnSpc>
                          <a:spcPct val="150000"/>
                        </a:lnSpc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&lt;&lt;T21 Result&gt;&gt;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Trisomy</a:t>
                      </a: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18</a:t>
                      </a:r>
                      <a:endParaRPr sz="10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lvl="0" algn="ctr">
                        <a:lnSpc>
                          <a:spcPct val="150000"/>
                        </a:lnSpc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&lt;&lt;T18 Result&gt;&gt;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Trisomy</a:t>
                      </a: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13</a:t>
                      </a:r>
                      <a:endParaRPr sz="10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lvl="0" algn="ctr">
                        <a:lnSpc>
                          <a:spcPct val="150000"/>
                        </a:lnSpc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&lt;&lt;T13 Result&gt;&gt;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XO (Turner Syndrome)</a:t>
                      </a:r>
                      <a:endParaRPr sz="10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9FA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lvl="0" algn="ctr">
                        <a:lnSpc>
                          <a:spcPct val="150000"/>
                        </a:lnSpc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&lt;&lt;XO Result&gt;&gt;</a:t>
                      </a:r>
                    </a:p>
                  </a:txBody>
                  <a:tcPr marL="0" marR="0" marT="57150" marB="0">
                    <a:lnL w="9525" cap="flat" cmpd="sng" algn="ctr">
                      <a:solidFill>
                        <a:srgbClr val="F9FA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2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XXX (Trisomy X)</a:t>
                      </a:r>
                      <a:endParaRPr sz="10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9FA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lvl="0" algn="ctr">
                        <a:lnSpc>
                          <a:spcPct val="150000"/>
                        </a:lnSpc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&lt;&lt;XXX Result&gt;&gt;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rgbClr val="F9FA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XXY (Klinefelter Syndrome)</a:t>
                      </a:r>
                      <a:endParaRPr sz="10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9FA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lvl="0" algn="ctr">
                        <a:lnSpc>
                          <a:spcPct val="150000"/>
                        </a:lnSpc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&lt;&lt;XXY Result&gt;&gt;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rgbClr val="F9FA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1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XYY (Jacob Syndrome)</a:t>
                      </a:r>
                      <a:endParaRPr sz="10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9FA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lvl="0" algn="ctr">
                        <a:lnSpc>
                          <a:spcPct val="150000"/>
                        </a:lnSpc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&lt;&lt;XYY Result&gt;&gt;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rgbClr val="F9FA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82" name="Google Shape;82;p14"/>
          <p:cNvGraphicFramePr/>
          <p:nvPr>
            <p:extLst>
              <p:ext uri="{D42A27DB-BD31-4B8C-83A1-F6EECF244321}">
                <p14:modId xmlns:p14="http://schemas.microsoft.com/office/powerpoint/2010/main" val="2538779929"/>
              </p:ext>
            </p:extLst>
          </p:nvPr>
        </p:nvGraphicFramePr>
        <p:xfrm>
          <a:off x="4181231" y="3878157"/>
          <a:ext cx="3033950" cy="3432090"/>
        </p:xfrm>
        <a:graphic>
          <a:graphicData uri="http://schemas.openxmlformats.org/drawingml/2006/table">
            <a:tbl>
              <a:tblPr firstRow="1" bandRow="1">
                <a:noFill/>
                <a:tableStyleId>{EB454651-7FEB-4C55-83AA-BDDA99F43B4F}</a:tableStyleId>
              </a:tblPr>
              <a:tblGrid>
                <a:gridCol w="1810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3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1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11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Conditions</a:t>
                      </a:r>
                      <a:endParaRPr sz="11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10540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11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Result</a:t>
                      </a:r>
                      <a:endParaRPr sz="11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10540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2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1p36 deletion syndrome</a:t>
                      </a:r>
                    </a:p>
                  </a:txBody>
                  <a:tcPr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&lt;&lt;MD1&gt;&gt;</a:t>
                      </a:r>
                    </a:p>
                  </a:txBody>
                  <a:tcPr marL="0" marR="0" marT="57150" marB="0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0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2q33.1 deletion syndrome</a:t>
                      </a:r>
                    </a:p>
                  </a:txBody>
                  <a:tcPr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&lt;&lt;MD2&gt;&gt;</a:t>
                      </a:r>
                    </a:p>
                  </a:txBody>
                  <a:tcPr marL="0" marR="0" marT="57150" marB="0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0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Wolf-Hirschhorn syndrome 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(4p16.3)</a:t>
                      </a:r>
                    </a:p>
                  </a:txBody>
                  <a:tcPr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&lt;&lt;MD3&gt;&gt;</a:t>
                      </a:r>
                    </a:p>
                  </a:txBody>
                  <a:tcPr marL="0" marR="0" marT="57150" marB="0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9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Cri Du Chat syndrome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(5p-)</a:t>
                      </a:r>
                    </a:p>
                  </a:txBody>
                  <a:tcPr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&lt;&lt;MD4&gt;&gt;</a:t>
                      </a:r>
                    </a:p>
                  </a:txBody>
                  <a:tcPr marL="0" marR="0" marT="57150" marB="0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0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Williams-Beuren syndrome (7q11.23 deletion)</a:t>
                      </a:r>
                    </a:p>
                  </a:txBody>
                  <a:tcPr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&lt;&lt;MD5&gt;&gt;</a:t>
                      </a:r>
                    </a:p>
                  </a:txBody>
                  <a:tcPr marL="0" marR="0" marT="57150" marB="0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5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Jacobsen syndrome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(11q23.3-q25)</a:t>
                      </a:r>
                    </a:p>
                  </a:txBody>
                  <a:tcPr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&lt;&lt;MD6&gt;&gt;</a:t>
                      </a:r>
                    </a:p>
                  </a:txBody>
                  <a:tcPr marL="0" marR="0" marT="57150" marB="0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53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Prader-</a:t>
                      </a:r>
                      <a:r>
                        <a:rPr lang="en-US" sz="1000" b="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willi</a:t>
                      </a:r>
                      <a:r>
                        <a:rPr lang="en-US" sz="10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/Angelman syndrome (15q11.2-q13)</a:t>
                      </a:r>
                    </a:p>
                  </a:txBody>
                  <a:tcPr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&lt;&lt;MD7&gt;&gt;</a:t>
                      </a:r>
                    </a:p>
                  </a:txBody>
                  <a:tcPr marL="0" marR="0" marT="57150" marB="0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2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DiGeorge syndrome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(22q11.2)</a:t>
                      </a:r>
                    </a:p>
                  </a:txBody>
                  <a:tcPr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&lt;&lt;MD8&gt;&gt;</a:t>
                      </a:r>
                    </a:p>
                  </a:txBody>
                  <a:tcPr marL="0" marR="0" marT="57150" marB="0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3" name="Google Shape;83;p14"/>
          <p:cNvSpPr txBox="1"/>
          <p:nvPr/>
        </p:nvSpPr>
        <p:spPr>
          <a:xfrm>
            <a:off x="664550" y="8405848"/>
            <a:ext cx="1169400" cy="2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" sz="1350" dirty="0"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</a:rPr>
              <a:t>Interpretation </a:t>
            </a:r>
            <a:endParaRPr sz="135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Noto Sans KR" panose="020B0500000000000000" pitchFamily="34" charset="-128"/>
              <a:cs typeface="Calibri" panose="020F0502020204030204" pitchFamily="34" charset="0"/>
              <a:sym typeface="Arial"/>
            </a:endParaRPr>
          </a:p>
        </p:txBody>
      </p:sp>
      <p:sp>
        <p:nvSpPr>
          <p:cNvPr id="84" name="Google Shape;84;p14"/>
          <p:cNvSpPr/>
          <p:nvPr/>
        </p:nvSpPr>
        <p:spPr>
          <a:xfrm>
            <a:off x="338144" y="10161611"/>
            <a:ext cx="6880225" cy="0"/>
          </a:xfrm>
          <a:custGeom>
            <a:avLst/>
            <a:gdLst/>
            <a:ahLst/>
            <a:cxnLst/>
            <a:rect l="l" t="t" r="r" b="b"/>
            <a:pathLst>
              <a:path w="6880225" h="120000" extrusionOk="0">
                <a:moveTo>
                  <a:pt x="0" y="0"/>
                </a:moveTo>
                <a:lnTo>
                  <a:pt x="6879640" y="0"/>
                </a:lnTo>
              </a:path>
            </a:pathLst>
          </a:custGeom>
          <a:noFill/>
          <a:ln w="9525" cap="flat" cmpd="sng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9B9B9B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86" name="Google Shape;86;p14"/>
          <p:cNvSpPr/>
          <p:nvPr/>
        </p:nvSpPr>
        <p:spPr>
          <a:xfrm>
            <a:off x="664562" y="2650186"/>
            <a:ext cx="6223800" cy="804900"/>
          </a:xfrm>
          <a:prstGeom prst="roundRect">
            <a:avLst>
              <a:gd name="adj" fmla="val 7917"/>
            </a:avLst>
          </a:prstGeom>
          <a:noFill/>
          <a:ln w="9525" cap="flat" cmpd="sng">
            <a:solidFill>
              <a:srgbClr val="D9BC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 panose="020F0502020204030204" pitchFamily="34" charset="0"/>
              <a:ea typeface="Noto Sans KR" panose="020B0500000000000000" pitchFamily="34" charset="-128"/>
              <a:cs typeface="Calibri" panose="020F0502020204030204" pitchFamily="34" charset="0"/>
            </a:endParaRPr>
          </a:p>
        </p:txBody>
      </p:sp>
      <p:sp>
        <p:nvSpPr>
          <p:cNvPr id="89" name="Google Shape;89;p14"/>
          <p:cNvSpPr txBox="1"/>
          <p:nvPr/>
        </p:nvSpPr>
        <p:spPr>
          <a:xfrm>
            <a:off x="664550" y="8669550"/>
            <a:ext cx="6223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dk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</a:rPr>
              <a:t>&lt;&lt;Interpretation_MDI&gt;&gt;</a:t>
            </a:r>
            <a:endParaRPr sz="1000" dirty="0">
              <a:solidFill>
                <a:schemeClr val="dk1"/>
              </a:solidFill>
              <a:latin typeface="Calibri" panose="020F0502020204030204" pitchFamily="34" charset="0"/>
              <a:ea typeface="Noto Sans KR" panose="020B0500000000000000" pitchFamily="34" charset="-128"/>
              <a:cs typeface="Calibri" panose="020F0502020204030204" pitchFamily="34" charset="0"/>
            </a:endParaRPr>
          </a:p>
        </p:txBody>
      </p:sp>
      <p:sp>
        <p:nvSpPr>
          <p:cNvPr id="90" name="Google Shape;90;p14"/>
          <p:cNvSpPr/>
          <p:nvPr/>
        </p:nvSpPr>
        <p:spPr>
          <a:xfrm>
            <a:off x="664550" y="2631061"/>
            <a:ext cx="6223800" cy="285300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D9BC56"/>
          </a:solidFill>
          <a:ln w="9525" cap="flat" cmpd="sng">
            <a:solidFill>
              <a:srgbClr val="D9BC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alibri" panose="020F0502020204030204" pitchFamily="34" charset="0"/>
              <a:ea typeface="Noto Sans KR" panose="020B0500000000000000" pitchFamily="34" charset="-128"/>
              <a:cs typeface="Calibri" panose="020F0502020204030204" pitchFamily="34" charset="0"/>
            </a:endParaRPr>
          </a:p>
        </p:txBody>
      </p:sp>
      <p:sp>
        <p:nvSpPr>
          <p:cNvPr id="91" name="Google Shape;91;p14"/>
          <p:cNvSpPr txBox="1"/>
          <p:nvPr/>
        </p:nvSpPr>
        <p:spPr>
          <a:xfrm>
            <a:off x="2279754" y="2581261"/>
            <a:ext cx="29934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</a:rPr>
              <a:t>Test Summary</a:t>
            </a:r>
            <a:endParaRPr sz="1300">
              <a:solidFill>
                <a:schemeClr val="lt1"/>
              </a:solidFill>
              <a:latin typeface="Calibri" panose="020F0502020204030204" pitchFamily="34" charset="0"/>
              <a:ea typeface="Noto Sans KR" panose="020B0500000000000000" pitchFamily="34" charset="-128"/>
              <a:cs typeface="Calibri" panose="020F0502020204030204" pitchFamily="34" charset="0"/>
            </a:endParaRPr>
          </a:p>
        </p:txBody>
      </p:sp>
      <p:cxnSp>
        <p:nvCxnSpPr>
          <p:cNvPr id="92" name="Google Shape;92;p14"/>
          <p:cNvCxnSpPr/>
          <p:nvPr/>
        </p:nvCxnSpPr>
        <p:spPr>
          <a:xfrm>
            <a:off x="3894763" y="1122438"/>
            <a:ext cx="10800" cy="1019400"/>
          </a:xfrm>
          <a:prstGeom prst="straightConnector1">
            <a:avLst/>
          </a:prstGeom>
          <a:noFill/>
          <a:ln w="9525" cap="flat" cmpd="sng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3" name="Google Shape;93;p14"/>
          <p:cNvSpPr/>
          <p:nvPr/>
        </p:nvSpPr>
        <p:spPr>
          <a:xfrm>
            <a:off x="338157" y="2163199"/>
            <a:ext cx="6880225" cy="0"/>
          </a:xfrm>
          <a:custGeom>
            <a:avLst/>
            <a:gdLst/>
            <a:ahLst/>
            <a:cxnLst/>
            <a:rect l="l" t="t" r="r" b="b"/>
            <a:pathLst>
              <a:path w="6880225" h="120000" extrusionOk="0">
                <a:moveTo>
                  <a:pt x="0" y="0"/>
                </a:moveTo>
                <a:lnTo>
                  <a:pt x="6879640" y="0"/>
                </a:lnTo>
              </a:path>
            </a:pathLst>
          </a:custGeom>
          <a:noFill/>
          <a:ln w="9525" cap="flat" cmpd="sng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u="none" strike="noStrike" cap="none">
              <a:solidFill>
                <a:srgbClr val="9B9B9B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Arial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4184425" y="1147338"/>
            <a:ext cx="28650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75" rIns="0" bIns="0" anchor="t" anchorCtr="0">
            <a:spAutoFit/>
          </a:bodyPr>
          <a:lstStyle/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Sample Number: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&lt;&lt;Sample Number&gt;&gt;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55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Physician: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&lt;&lt;Doctor&gt;&gt;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Hospital/Clinic: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&lt;&lt;Hospital&gt;&gt;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Collection Date: &lt;&lt;Collection Date&gt;&gt;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Times New Roman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Report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Date: &lt;&lt;Report Date&gt;&gt;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Order ID: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&lt;&lt;Order ID&gt;&gt;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9F37B0-F931-EB47-AFA4-F3C0723FBB5D}"/>
              </a:ext>
            </a:extLst>
          </p:cNvPr>
          <p:cNvSpPr txBox="1"/>
          <p:nvPr/>
        </p:nvSpPr>
        <p:spPr>
          <a:xfrm>
            <a:off x="941151" y="3047943"/>
            <a:ext cx="212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Result: &lt;&lt;Result_MDResult&gt;&gt;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11DEB3-38CC-FA1E-DF3B-23E0873EB146}"/>
              </a:ext>
            </a:extLst>
          </p:cNvPr>
          <p:cNvSpPr txBox="1"/>
          <p:nvPr/>
        </p:nvSpPr>
        <p:spPr>
          <a:xfrm>
            <a:off x="3155999" y="3056383"/>
            <a:ext cx="1705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Gender: &lt;&lt;Gender&gt;&gt;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6D2007-C21F-BEAD-850B-24878B21597B}"/>
              </a:ext>
            </a:extLst>
          </p:cNvPr>
          <p:cNvSpPr txBox="1"/>
          <p:nvPr/>
        </p:nvSpPr>
        <p:spPr>
          <a:xfrm>
            <a:off x="5053994" y="3047944"/>
            <a:ext cx="18582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Fetal Fraction: &lt;&lt;FF_YFF&gt;&gt;</a:t>
            </a:r>
          </a:p>
        </p:txBody>
      </p:sp>
      <p:pic>
        <p:nvPicPr>
          <p:cNvPr id="6" name="Picture 5" descr="A close up of a logo&#10;&#10;AI-generated content may be incorrect.">
            <a:extLst>
              <a:ext uri="{FF2B5EF4-FFF2-40B4-BE49-F238E27FC236}">
                <a16:creationId xmlns:a16="http://schemas.microsoft.com/office/drawing/2014/main" id="{C1F2AD5D-6819-559B-06E0-B85E8EB977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848" y="276191"/>
            <a:ext cx="2554737" cy="5320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/>
        </p:nvSpPr>
        <p:spPr>
          <a:xfrm>
            <a:off x="460050" y="816817"/>
            <a:ext cx="3422100" cy="2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lang="en" sz="13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Non-Invasive</a:t>
            </a:r>
            <a:r>
              <a:rPr lang="en" sz="13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13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Prenatal</a:t>
            </a:r>
            <a:r>
              <a:rPr lang="en" sz="13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13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Screening</a:t>
            </a:r>
            <a:endParaRPr sz="13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101" name="Google Shape;101;p15"/>
          <p:cNvSpPr/>
          <p:nvPr/>
        </p:nvSpPr>
        <p:spPr>
          <a:xfrm>
            <a:off x="336357" y="1101036"/>
            <a:ext cx="6880225" cy="0"/>
          </a:xfrm>
          <a:custGeom>
            <a:avLst/>
            <a:gdLst/>
            <a:ahLst/>
            <a:cxnLst/>
            <a:rect l="l" t="t" r="r" b="b"/>
            <a:pathLst>
              <a:path w="6880225" h="120000" extrusionOk="0">
                <a:moveTo>
                  <a:pt x="0" y="0"/>
                </a:moveTo>
                <a:lnTo>
                  <a:pt x="6879640" y="0"/>
                </a:lnTo>
              </a:path>
            </a:pathLst>
          </a:custGeom>
          <a:noFill/>
          <a:ln w="9525" cap="flat" cmpd="sng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9B9B9B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102" name="Google Shape;102;p15"/>
          <p:cNvSpPr txBox="1"/>
          <p:nvPr/>
        </p:nvSpPr>
        <p:spPr>
          <a:xfrm>
            <a:off x="338150" y="10253102"/>
            <a:ext cx="54579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12700" marR="5080" lvl="0" indent="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Union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Clinical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Labs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No.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33,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Lane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151,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Section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2,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 err="1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Fuxing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Rd.,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 err="1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Da'an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District.,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Taipei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City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106,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Taiwan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(R.O.C)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CAP#: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6979606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endParaRPr sz="700" b="0" i="0" u="none" strike="noStrike" cap="none" dirty="0">
              <a:solidFill>
                <a:srgbClr val="414141"/>
              </a:solidFill>
              <a:latin typeface="Calibri" panose="020F0502020204030204" pitchFamily="34" charset="0"/>
              <a:ea typeface="Times New Roman"/>
              <a:cs typeface="Calibri" panose="020F0502020204030204" pitchFamily="34" charset="0"/>
              <a:sym typeface="Times New Roman"/>
            </a:endParaRPr>
          </a:p>
          <a:p>
            <a:pPr marL="12700" marR="5080" lvl="0" indent="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Lab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Director: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Min-Long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Lai,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PhD</a:t>
            </a:r>
            <a:endParaRPr sz="7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endParaRPr sz="75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5"/>
          <p:cNvSpPr/>
          <p:nvPr/>
        </p:nvSpPr>
        <p:spPr>
          <a:xfrm>
            <a:off x="338144" y="10161611"/>
            <a:ext cx="6880225" cy="0"/>
          </a:xfrm>
          <a:custGeom>
            <a:avLst/>
            <a:gdLst/>
            <a:ahLst/>
            <a:cxnLst/>
            <a:rect l="l" t="t" r="r" b="b"/>
            <a:pathLst>
              <a:path w="6880225" h="120000" extrusionOk="0">
                <a:moveTo>
                  <a:pt x="0" y="0"/>
                </a:moveTo>
                <a:lnTo>
                  <a:pt x="6879640" y="0"/>
                </a:lnTo>
              </a:path>
            </a:pathLst>
          </a:custGeom>
          <a:noFill/>
          <a:ln w="9525" cap="flat" cmpd="sng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9B9B9B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cxnSp>
        <p:nvCxnSpPr>
          <p:cNvPr id="106" name="Google Shape;106;p15"/>
          <p:cNvCxnSpPr/>
          <p:nvPr/>
        </p:nvCxnSpPr>
        <p:spPr>
          <a:xfrm>
            <a:off x="3894763" y="1122438"/>
            <a:ext cx="10800" cy="1019400"/>
          </a:xfrm>
          <a:prstGeom prst="straightConnector1">
            <a:avLst/>
          </a:prstGeom>
          <a:noFill/>
          <a:ln w="9525" cap="flat" cmpd="sng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7" name="Google Shape;107;p15"/>
          <p:cNvSpPr/>
          <p:nvPr/>
        </p:nvSpPr>
        <p:spPr>
          <a:xfrm>
            <a:off x="338157" y="2163199"/>
            <a:ext cx="6880225" cy="0"/>
          </a:xfrm>
          <a:custGeom>
            <a:avLst/>
            <a:gdLst/>
            <a:ahLst/>
            <a:cxnLst/>
            <a:rect l="l" t="t" r="r" b="b"/>
            <a:pathLst>
              <a:path w="6880225" h="120000" extrusionOk="0">
                <a:moveTo>
                  <a:pt x="0" y="0"/>
                </a:moveTo>
                <a:lnTo>
                  <a:pt x="6879640" y="0"/>
                </a:lnTo>
              </a:path>
            </a:pathLst>
          </a:custGeom>
          <a:noFill/>
          <a:ln w="9525" cap="flat" cmpd="sng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9B9B9B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graphicFrame>
        <p:nvGraphicFramePr>
          <p:cNvPr id="109" name="Google Shape;109;p15"/>
          <p:cNvGraphicFramePr/>
          <p:nvPr>
            <p:extLst>
              <p:ext uri="{D42A27DB-BD31-4B8C-83A1-F6EECF244321}">
                <p14:modId xmlns:p14="http://schemas.microsoft.com/office/powerpoint/2010/main" val="201025445"/>
              </p:ext>
            </p:extLst>
          </p:nvPr>
        </p:nvGraphicFramePr>
        <p:xfrm>
          <a:off x="403981" y="2763354"/>
          <a:ext cx="6744975" cy="2430725"/>
        </p:xfrm>
        <a:graphic>
          <a:graphicData uri="http://schemas.openxmlformats.org/drawingml/2006/table">
            <a:tbl>
              <a:tblPr firstRow="1" bandRow="1">
                <a:noFill/>
                <a:tableStyleId>{EB454651-7FEB-4C55-83AA-BDDA99F43B4F}</a:tableStyleId>
              </a:tblPr>
              <a:tblGrid>
                <a:gridCol w="195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3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0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7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0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Condition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Sensitivity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Specificity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PPV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Trisomy</a:t>
                      </a: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21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99.72%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98.72%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Trisomy</a:t>
                      </a: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18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99.04%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96.49%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Trisomy</a:t>
                      </a: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13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98.84%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85.71%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Monosomy</a:t>
                      </a: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X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76%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XXX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XXY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XYY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T9,T16,</a:t>
                      </a: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T22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50-99%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56642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All</a:t>
                      </a: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Other</a:t>
                      </a: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Trisomy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NA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452118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Microdeletions/duplications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20-99%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NA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10" name="Google Shape;110;p15"/>
          <p:cNvSpPr txBox="1"/>
          <p:nvPr/>
        </p:nvSpPr>
        <p:spPr>
          <a:xfrm>
            <a:off x="368300" y="5901106"/>
            <a:ext cx="6675000" cy="1810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61593" marR="0" lvl="0" indent="-488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550"/>
              <a:buFont typeface="Arial"/>
              <a:buChar char="*"/>
            </a:pP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PPV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performance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was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calculated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based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on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amniocentesis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and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QF-PCR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results.</a:t>
            </a:r>
            <a:endParaRPr sz="5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61593" marR="0" lvl="0" indent="-48894" algn="l" rtl="0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9E9E9E"/>
              </a:buClr>
              <a:buSzPts val="550"/>
              <a:buFont typeface="Arial"/>
              <a:buChar char="*"/>
            </a:pP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Due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to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insufficient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number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amniocentesis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samples,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Sensitivity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was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calculated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by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estimating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true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positive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based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on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PPV.</a:t>
            </a:r>
            <a:endParaRPr sz="5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61593" marR="0" lvl="0" indent="-48894" algn="l" rtl="0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9E9E9E"/>
              </a:buClr>
              <a:buSzPts val="550"/>
              <a:buFont typeface="Arial"/>
              <a:buChar char="*"/>
            </a:pP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Microdeletion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sensitivity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is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based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on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size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and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fetal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fraction.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Minimum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size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for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microdeletion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is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0.5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MB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at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4%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fetal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fraction.</a:t>
            </a:r>
            <a:endParaRPr sz="5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000000"/>
              </a:buClr>
              <a:buSzPts val="550"/>
              <a:buFont typeface="Arial"/>
              <a:buNone/>
            </a:pPr>
            <a:endParaRPr sz="5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2700" marR="5080" lvl="0" indent="0" algn="just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Limitations: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This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test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designed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to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screen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for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fetal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chromosome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abnormalities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singleton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pregnancies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that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are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least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10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weeks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gestation,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estimated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last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menstrual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period.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However,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important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to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note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that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this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test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does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rule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out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possibility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other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chromosomal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or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subchromosomal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abnormalities,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birth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defects,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or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other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conditions.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Additionally,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this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test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intended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to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identify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pregnancies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risk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for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open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neural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tube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defects.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negative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test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result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does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mean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that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there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are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chromosomal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abnormalities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present.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There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small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chance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that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test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results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may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reflect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chromosomes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fetus,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but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may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instead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reflect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chromosomal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changes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placenta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or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mother.</a:t>
            </a:r>
            <a:endParaRPr sz="6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2700" marR="7620" lvl="0" indent="0" algn="just" rtl="0">
              <a:lnSpc>
                <a:spcPct val="112500"/>
              </a:lnSpc>
              <a:spcBef>
                <a:spcPts val="875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Methods: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UCL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laboratory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preformed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low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pass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whole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genome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sequencing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from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extracted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cfDNA.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sequencing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data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was </a:t>
            </a:r>
            <a:r>
              <a:rPr lang="en" sz="650" dirty="0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validated inhouse at UCL laboratory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.</a:t>
            </a:r>
            <a:endParaRPr sz="6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endParaRPr sz="6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References:</a:t>
            </a:r>
            <a:endParaRPr sz="6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04140" marR="10795" lvl="0" indent="-9144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AutoNum type="arabicPeriod"/>
            </a:pP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Anthony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al.,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Noninvasive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prenatal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screening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for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fetal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aneuploidy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2016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update: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position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statement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American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College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Medical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Genetics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Genomics.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Genet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Med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2016;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13:1056-65.</a:t>
            </a:r>
            <a:endParaRPr sz="6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02235" marR="0" lvl="0" indent="-89535" algn="l" rtl="0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AutoNum type="arabicPeriod"/>
            </a:pP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Bianchi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OW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al.,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DNA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sequencing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versus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standard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prenatal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aneuploidy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screening.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Engl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J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Med.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2014;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370:799-808.</a:t>
            </a:r>
            <a:endParaRPr sz="6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02235" marR="0" lvl="0" indent="-89535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AutoNum type="arabicPeriod"/>
            </a:pP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YM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Dennis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Lo,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RWK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Chiu,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Noninvasive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prenatal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diagnosis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fetal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chromosomal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aneuploidies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maternal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plasma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nucleic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acid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analysis;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Clinical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chemistry,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2008.</a:t>
            </a:r>
            <a:endParaRPr sz="6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08585" marR="8255" lvl="0" indent="-95885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AutoNum type="arabicPeriod"/>
            </a:pP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Chen,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M.,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al.,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Validation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fetal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DNA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fraction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estimation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its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application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noninvasive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prenatal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testing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for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aneuploidy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detection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multiple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pregnancies.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Prenatal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Diagnosis,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2019.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39(13):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1273-1282.</a:t>
            </a:r>
            <a:endParaRPr sz="6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3" name="Google Shape;77;p14">
            <a:extLst>
              <a:ext uri="{FF2B5EF4-FFF2-40B4-BE49-F238E27FC236}">
                <a16:creationId xmlns:a16="http://schemas.microsoft.com/office/drawing/2014/main" id="{E4EA20DE-1805-0D79-B35F-CEDDB7C7925E}"/>
              </a:ext>
            </a:extLst>
          </p:cNvPr>
          <p:cNvSpPr txBox="1"/>
          <p:nvPr/>
        </p:nvSpPr>
        <p:spPr>
          <a:xfrm>
            <a:off x="460050" y="1147075"/>
            <a:ext cx="2865000" cy="962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75" rIns="0" bIns="0" anchor="t" anchorCtr="0">
            <a:spAutoFit/>
          </a:bodyPr>
          <a:lstStyle/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Patient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Name: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&lt;&lt;Patient Name&gt;&gt;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endParaRPr sz="9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Times New Roman"/>
            </a:endParaRPr>
          </a:p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Date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of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Birth: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&lt;&lt;DOB&gt;&gt;</a:t>
            </a:r>
            <a:endParaRPr sz="9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Arial"/>
            </a:endParaRPr>
          </a:p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Gestational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Age: &lt;&lt;W&gt;&gt;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Weeks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&lt;&lt;D&gt;&gt;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Days</a:t>
            </a:r>
            <a:endParaRPr sz="9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Times New Roman"/>
            </a:endParaRPr>
          </a:p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Pregnancy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Type: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&lt;&lt;Pregnancy Type&gt;&gt;</a:t>
            </a:r>
            <a:endParaRPr sz="9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Times New Roman"/>
            </a:endParaRPr>
          </a:p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Medical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Record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Number: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&lt;&lt;MRN&gt;&gt;</a:t>
            </a:r>
            <a:endParaRPr sz="9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Arial"/>
            </a:endParaRPr>
          </a:p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Indication: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&lt;&lt;Indication&gt;&gt;</a:t>
            </a:r>
            <a:endParaRPr sz="8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Arial"/>
            </a:endParaRPr>
          </a:p>
        </p:txBody>
      </p:sp>
      <p:sp>
        <p:nvSpPr>
          <p:cNvPr id="2" name="Google Shape;94;p14">
            <a:extLst>
              <a:ext uri="{FF2B5EF4-FFF2-40B4-BE49-F238E27FC236}">
                <a16:creationId xmlns:a16="http://schemas.microsoft.com/office/drawing/2014/main" id="{D7D0C454-F102-4B4A-B27D-CD1E4EC34612}"/>
              </a:ext>
            </a:extLst>
          </p:cNvPr>
          <p:cNvSpPr txBox="1"/>
          <p:nvPr/>
        </p:nvSpPr>
        <p:spPr>
          <a:xfrm>
            <a:off x="4184425" y="1147338"/>
            <a:ext cx="28650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75" rIns="0" bIns="0" anchor="t" anchorCtr="0">
            <a:spAutoFit/>
          </a:bodyPr>
          <a:lstStyle/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Sample Number: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&lt;&lt;Sample Number&gt;&gt;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55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Physician: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&lt;&lt;Doctor&gt;&gt;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Hospital/Clinic: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&lt;&lt;Hospital&gt;&gt;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Collection Date: &lt;&lt;Collection Date&gt;&gt;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Times New Roman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Report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Date: &lt;&lt;Report Date&gt;&gt;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Order ID: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&lt;&lt;Order ID&gt;&gt;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</a:endParaRPr>
          </a:p>
        </p:txBody>
      </p:sp>
      <p:pic>
        <p:nvPicPr>
          <p:cNvPr id="4" name="Picture 3" descr="A close up of a logo&#10;&#10;AI-generated content may be incorrect.">
            <a:extLst>
              <a:ext uri="{FF2B5EF4-FFF2-40B4-BE49-F238E27FC236}">
                <a16:creationId xmlns:a16="http://schemas.microsoft.com/office/drawing/2014/main" id="{AD5AD870-DD03-5C9D-F5D7-8D043D3CD9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848" y="276191"/>
            <a:ext cx="2554737" cy="5320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837</Words>
  <Application>Microsoft Macintosh PowerPoint</Application>
  <PresentationFormat>Custom</PresentationFormat>
  <Paragraphs>130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Calibri</vt:lpstr>
      <vt:lpstr>Arial</vt:lpstr>
      <vt:lpstr>Simple Light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sam martin</cp:lastModifiedBy>
  <cp:revision>44</cp:revision>
  <dcterms:modified xsi:type="dcterms:W3CDTF">2025-08-11T11:36:57Z</dcterms:modified>
</cp:coreProperties>
</file>