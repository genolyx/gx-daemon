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5"/>
  </p:notesMasterIdLst>
  <p:sldIdLst>
    <p:sldId id="291" r:id="rId2"/>
    <p:sldId id="292" r:id="rId3"/>
    <p:sldId id="342" r:id="rId4"/>
  </p:sldIdLst>
  <p:sldSz cx="6858000" cy="9906000" type="A4"/>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Philippine" id="{E9ACCF87-03BC-4AB8-AB7F-163DDA8A2C49}">
          <p14:sldIdLst/>
        </p14:section>
        <p14:section name="Philippine version" id="{1BC3D3C4-929D-40D4-A52A-066B8F9AF03F}">
          <p14:sldIdLst>
            <p14:sldId id="291"/>
            <p14:sldId id="292"/>
            <p14:sldId id="342"/>
          </p14:sldIdLst>
        </p14:section>
      </p14:sectionLst>
    </p:ext>
    <p:ext uri="{EFAFB233-063F-42B5-8137-9DF3F51BA10A}">
      <p15:sld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C3F37261-C495-8902-B2E6-D7FCA57F3785}" name="Meri Virtin" initials="MV" userId="05a2d77c8c74f754" providerId="Windows Live"/>
  <p188:author id="{4A23E062-0C49-A1F7-BE07-CACFFB8CC98F}" name="Dwi Astuti Handayani" initials="DAH" userId="Dwi Astuti Handayani" providerId="None"/>
  <p188:author id="{F97F367D-8195-4952-2436-DB42D502EDB7}" name="Dwi" initials="D" userId="S::dwi.astuti@cordlife.com::7129da7c-f5bb-45a1-9e5d-0cc5ac43401b" providerId="AD"/>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E5F6F9"/>
    <a:srgbClr val="0F9ED5"/>
    <a:srgbClr val="00A6C8"/>
    <a:srgbClr val="099049"/>
    <a:srgbClr val="009A43"/>
    <a:srgbClr val="1975C0"/>
    <a:srgbClr val="5E2E8C"/>
    <a:srgbClr val="632C8F"/>
    <a:srgbClr val="1973BA"/>
    <a:srgbClr val="2AA9D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C4B1156A-380E-4F78-BDF5-A606A8083BF9}" styleName="Medium Style 4 - Acc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EB9631B5-78F2-41C9-869B-9F39066F8104}" styleName="Medium Style 3 - Accent 4">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4"/>
          </a:solidFill>
        </a:fill>
      </a:tcStyle>
    </a:lastCol>
    <a:firstCol>
      <a:tcTxStyle b="on">
        <a:fontRef idx="minor">
          <a:scrgbClr r="0" g="0" b="0"/>
        </a:fontRef>
        <a:schemeClr val="lt1"/>
      </a:tcTxStyle>
      <a:tcStyle>
        <a:tcBdr/>
        <a:fill>
          <a:solidFill>
            <a:schemeClr val="accent4"/>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4"/>
          </a:solidFill>
        </a:fill>
      </a:tcStyle>
    </a:firstRow>
  </a:tblStyle>
  <a:tblStyle styleId="{ED083AE6-46FA-4A59-8FB0-9F97EB10719F}" styleName="Light Style 3 - Acc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5266" autoAdjust="0"/>
    <p:restoredTop sz="90812" autoAdjust="0"/>
  </p:normalViewPr>
  <p:slideViewPr>
    <p:cSldViewPr snapToGrid="0">
      <p:cViewPr varScale="1">
        <p:scale>
          <a:sx n="136" d="100"/>
          <a:sy n="136" d="100"/>
        </p:scale>
        <p:origin x="5640" y="22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viewProps" Target="view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presProps" Target="presProps.xml"/><Relationship Id="rId5" Type="http://schemas.openxmlformats.org/officeDocument/2006/relationships/notesMaster" Target="notesMasters/notesMaster1.xml"/><Relationship Id="rId10" Type="http://schemas.microsoft.com/office/2018/10/relationships/authors" Target="authors.xml"/><Relationship Id="rId4" Type="http://schemas.openxmlformats.org/officeDocument/2006/relationships/slide" Target="slides/slide3.xml"/><Relationship Id="rId9"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ABE09E9B-57B9-4CBC-9B6F-C0875E2CCF71}" type="datetimeFigureOut">
              <a:rPr lang="en-US" smtClean="0"/>
              <a:t>1/4/26</a:t>
            </a:fld>
            <a:endParaRPr lang="en-US"/>
          </a:p>
        </p:txBody>
      </p:sp>
      <p:sp>
        <p:nvSpPr>
          <p:cNvPr id="4" name="Slide Image Placeholder 3"/>
          <p:cNvSpPr>
            <a:spLocks noGrp="1" noRot="1" noChangeAspect="1"/>
          </p:cNvSpPr>
          <p:nvPr>
            <p:ph type="sldImg" idx="2"/>
          </p:nvPr>
        </p:nvSpPr>
        <p:spPr>
          <a:xfrm>
            <a:off x="2360613" y="1143000"/>
            <a:ext cx="2136775"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A20B0AA-EC77-4154-9376-38D730BDF5EA}" type="slidenum">
              <a:rPr lang="en-US" smtClean="0"/>
              <a:t>‹#›</a:t>
            </a:fld>
            <a:endParaRPr lang="en-US"/>
          </a:p>
        </p:txBody>
      </p:sp>
    </p:spTree>
    <p:extLst>
      <p:ext uri="{BB962C8B-B14F-4D97-AF65-F5344CB8AC3E}">
        <p14:creationId xmlns:p14="http://schemas.microsoft.com/office/powerpoint/2010/main" val="34267197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1</a:t>
            </a:fld>
            <a:endParaRPr lang="en-US"/>
          </a:p>
        </p:txBody>
      </p:sp>
    </p:spTree>
    <p:extLst>
      <p:ext uri="{BB962C8B-B14F-4D97-AF65-F5344CB8AC3E}">
        <p14:creationId xmlns:p14="http://schemas.microsoft.com/office/powerpoint/2010/main" val="69831742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2</a:t>
            </a:fld>
            <a:endParaRPr lang="en-US"/>
          </a:p>
        </p:txBody>
      </p:sp>
    </p:spTree>
    <p:extLst>
      <p:ext uri="{BB962C8B-B14F-4D97-AF65-F5344CB8AC3E}">
        <p14:creationId xmlns:p14="http://schemas.microsoft.com/office/powerpoint/2010/main" val="356065063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A20B0AA-EC77-4154-9376-38D730BDF5EA}" type="slidenum">
              <a:rPr lang="en-US" smtClean="0"/>
              <a:t>3</a:t>
            </a:fld>
            <a:endParaRPr lang="en-US"/>
          </a:p>
        </p:txBody>
      </p:sp>
    </p:spTree>
    <p:extLst>
      <p:ext uri="{BB962C8B-B14F-4D97-AF65-F5344CB8AC3E}">
        <p14:creationId xmlns:p14="http://schemas.microsoft.com/office/powerpoint/2010/main" val="7681231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514350" y="1621191"/>
            <a:ext cx="5829300" cy="3448756"/>
          </a:xfrm>
        </p:spPr>
        <p:txBody>
          <a:bodyPr anchor="b"/>
          <a:lstStyle>
            <a:lvl1pPr algn="ctr">
              <a:defRPr sz="4500"/>
            </a:lvl1pPr>
          </a:lstStyle>
          <a:p>
            <a:r>
              <a:rPr lang="en-US"/>
              <a:t>Click to edit Master title style</a:t>
            </a:r>
            <a:endParaRPr lang="en-US" dirty="0"/>
          </a:p>
        </p:txBody>
      </p:sp>
      <p:sp>
        <p:nvSpPr>
          <p:cNvPr id="3" name="Subtitle 2"/>
          <p:cNvSpPr>
            <a:spLocks noGrp="1"/>
          </p:cNvSpPr>
          <p:nvPr>
            <p:ph type="subTitle" idx="1"/>
          </p:nvPr>
        </p:nvSpPr>
        <p:spPr>
          <a:xfrm>
            <a:off x="857250" y="5202944"/>
            <a:ext cx="5143500" cy="2391656"/>
          </a:xfrm>
        </p:spPr>
        <p:txBody>
          <a:bodyPr/>
          <a:lstStyle>
            <a:lvl1pPr marL="0" indent="0" algn="ctr">
              <a:buNone/>
              <a:defRPr sz="1800"/>
            </a:lvl1pPr>
            <a:lvl2pPr marL="342900" indent="0" algn="ctr">
              <a:buNone/>
              <a:defRPr sz="1500"/>
            </a:lvl2pPr>
            <a:lvl3pPr marL="685800" indent="0" algn="ctr">
              <a:buNone/>
              <a:defRPr sz="1350"/>
            </a:lvl3pPr>
            <a:lvl4pPr marL="1028700" indent="0" algn="ctr">
              <a:buNone/>
              <a:defRPr sz="1200"/>
            </a:lvl4pPr>
            <a:lvl5pPr marL="1371600" indent="0" algn="ctr">
              <a:buNone/>
              <a:defRPr sz="1200"/>
            </a:lvl5pPr>
            <a:lvl6pPr marL="1714500" indent="0" algn="ctr">
              <a:buNone/>
              <a:defRPr sz="1200"/>
            </a:lvl6pPr>
            <a:lvl7pPr marL="2057400" indent="0" algn="ctr">
              <a:buNone/>
              <a:defRPr sz="1200"/>
            </a:lvl7pPr>
            <a:lvl8pPr marL="2400300" indent="0" algn="ctr">
              <a:buNone/>
              <a:defRPr sz="1200"/>
            </a:lvl8pPr>
            <a:lvl9pPr marL="2743200" indent="0" algn="ctr">
              <a:buNone/>
              <a:defRPr sz="12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7531903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9338626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467916" y="2469624"/>
            <a:ext cx="5915025" cy="4120620"/>
          </a:xfrm>
        </p:spPr>
        <p:txBody>
          <a:bodyPr anchor="b"/>
          <a:lstStyle>
            <a:lvl1pPr>
              <a:defRPr sz="4500"/>
            </a:lvl1pPr>
          </a:lstStyle>
          <a:p>
            <a:r>
              <a:rPr lang="en-US"/>
              <a:t>Click to edit Master title style</a:t>
            </a:r>
            <a:endParaRPr lang="en-US" dirty="0"/>
          </a:p>
        </p:txBody>
      </p:sp>
      <p:sp>
        <p:nvSpPr>
          <p:cNvPr id="3" name="Text Placeholder 2"/>
          <p:cNvSpPr>
            <a:spLocks noGrp="1"/>
          </p:cNvSpPr>
          <p:nvPr>
            <p:ph type="body" idx="1"/>
          </p:nvPr>
        </p:nvSpPr>
        <p:spPr>
          <a:xfrm>
            <a:off x="467916" y="6629226"/>
            <a:ext cx="5915025" cy="2166937"/>
          </a:xfrm>
        </p:spPr>
        <p:txBody>
          <a:bodyPr/>
          <a:lstStyle>
            <a:lvl1pPr marL="0" indent="0">
              <a:buNone/>
              <a:defRPr sz="1800">
                <a:solidFill>
                  <a:schemeClr val="tx1">
                    <a:tint val="82000"/>
                  </a:schemeClr>
                </a:solidFill>
              </a:defRPr>
            </a:lvl1pPr>
            <a:lvl2pPr marL="342900" indent="0">
              <a:buNone/>
              <a:defRPr sz="1500">
                <a:solidFill>
                  <a:schemeClr val="tx1">
                    <a:tint val="82000"/>
                  </a:schemeClr>
                </a:solidFill>
              </a:defRPr>
            </a:lvl2pPr>
            <a:lvl3pPr marL="685800" indent="0">
              <a:buNone/>
              <a:defRPr sz="1350">
                <a:solidFill>
                  <a:schemeClr val="tx1">
                    <a:tint val="82000"/>
                  </a:schemeClr>
                </a:solidFill>
              </a:defRPr>
            </a:lvl3pPr>
            <a:lvl4pPr marL="1028700" indent="0">
              <a:buNone/>
              <a:defRPr sz="1200">
                <a:solidFill>
                  <a:schemeClr val="tx1">
                    <a:tint val="82000"/>
                  </a:schemeClr>
                </a:solidFill>
              </a:defRPr>
            </a:lvl4pPr>
            <a:lvl5pPr marL="1371600" indent="0">
              <a:buNone/>
              <a:defRPr sz="1200">
                <a:solidFill>
                  <a:schemeClr val="tx1">
                    <a:tint val="82000"/>
                  </a:schemeClr>
                </a:solidFill>
              </a:defRPr>
            </a:lvl5pPr>
            <a:lvl6pPr marL="1714500" indent="0">
              <a:buNone/>
              <a:defRPr sz="1200">
                <a:solidFill>
                  <a:schemeClr val="tx1">
                    <a:tint val="82000"/>
                  </a:schemeClr>
                </a:solidFill>
              </a:defRPr>
            </a:lvl6pPr>
            <a:lvl7pPr marL="2057400" indent="0">
              <a:buNone/>
              <a:defRPr sz="1200">
                <a:solidFill>
                  <a:schemeClr val="tx1">
                    <a:tint val="82000"/>
                  </a:schemeClr>
                </a:solidFill>
              </a:defRPr>
            </a:lvl7pPr>
            <a:lvl8pPr marL="2400300" indent="0">
              <a:buNone/>
              <a:defRPr sz="1200">
                <a:solidFill>
                  <a:schemeClr val="tx1">
                    <a:tint val="82000"/>
                  </a:schemeClr>
                </a:solidFill>
              </a:defRPr>
            </a:lvl8pPr>
            <a:lvl9pPr marL="2743200" indent="0">
              <a:buNone/>
              <a:defRPr sz="12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52773891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471488"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3471863" y="2637014"/>
            <a:ext cx="2914650" cy="6285266"/>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6211090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72381" y="527405"/>
            <a:ext cx="5915025" cy="1914702"/>
          </a:xfrm>
        </p:spPr>
        <p:txBody>
          <a:bodyPr/>
          <a:lstStyle/>
          <a:p>
            <a:r>
              <a:rPr lang="en-US"/>
              <a:t>Click to edit Master title style</a:t>
            </a:r>
            <a:endParaRPr lang="en-US" dirty="0"/>
          </a:p>
        </p:txBody>
      </p:sp>
      <p:sp>
        <p:nvSpPr>
          <p:cNvPr id="3" name="Text Placeholder 2"/>
          <p:cNvSpPr>
            <a:spLocks noGrp="1"/>
          </p:cNvSpPr>
          <p:nvPr>
            <p:ph type="body" idx="1"/>
          </p:nvPr>
        </p:nvSpPr>
        <p:spPr>
          <a:xfrm>
            <a:off x="472381" y="2428347"/>
            <a:ext cx="2901255"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4" name="Content Placeholder 3"/>
          <p:cNvSpPr>
            <a:spLocks noGrp="1"/>
          </p:cNvSpPr>
          <p:nvPr>
            <p:ph sz="half" idx="2"/>
          </p:nvPr>
        </p:nvSpPr>
        <p:spPr>
          <a:xfrm>
            <a:off x="472381" y="3618442"/>
            <a:ext cx="2901255"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3471863" y="2428347"/>
            <a:ext cx="2915543" cy="1190095"/>
          </a:xfrm>
        </p:spPr>
        <p:txBody>
          <a:bodyPr anchor="b"/>
          <a:lstStyle>
            <a:lvl1pPr marL="0" indent="0">
              <a:buNone/>
              <a:defRPr sz="1800" b="1"/>
            </a:lvl1pPr>
            <a:lvl2pPr marL="342900" indent="0">
              <a:buNone/>
              <a:defRPr sz="1500" b="1"/>
            </a:lvl2pPr>
            <a:lvl3pPr marL="685800" indent="0">
              <a:buNone/>
              <a:defRPr sz="1350" b="1"/>
            </a:lvl3pPr>
            <a:lvl4pPr marL="1028700" indent="0">
              <a:buNone/>
              <a:defRPr sz="1200" b="1"/>
            </a:lvl4pPr>
            <a:lvl5pPr marL="1371600" indent="0">
              <a:buNone/>
              <a:defRPr sz="1200" b="1"/>
            </a:lvl5pPr>
            <a:lvl6pPr marL="1714500" indent="0">
              <a:buNone/>
              <a:defRPr sz="1200" b="1"/>
            </a:lvl6pPr>
            <a:lvl7pPr marL="2057400" indent="0">
              <a:buNone/>
              <a:defRPr sz="1200" b="1"/>
            </a:lvl7pPr>
            <a:lvl8pPr marL="2400300" indent="0">
              <a:buNone/>
              <a:defRPr sz="1200" b="1"/>
            </a:lvl8pPr>
            <a:lvl9pPr marL="2743200" indent="0">
              <a:buNone/>
              <a:defRPr sz="1200" b="1"/>
            </a:lvl9pPr>
          </a:lstStyle>
          <a:p>
            <a:pPr lvl="0"/>
            <a:r>
              <a:rPr lang="en-US"/>
              <a:t>Click to edit Master text styles</a:t>
            </a:r>
          </a:p>
        </p:txBody>
      </p:sp>
      <p:sp>
        <p:nvSpPr>
          <p:cNvPr id="6" name="Content Placeholder 5"/>
          <p:cNvSpPr>
            <a:spLocks noGrp="1"/>
          </p:cNvSpPr>
          <p:nvPr>
            <p:ph sz="quarter" idx="4"/>
          </p:nvPr>
        </p:nvSpPr>
        <p:spPr>
          <a:xfrm>
            <a:off x="3471863" y="3618442"/>
            <a:ext cx="2915543" cy="5322183"/>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B6AF875B-3630-45B7-8F1C-7ABA6E502FCC}" type="datetimeFigureOut">
              <a:rPr lang="en-US" smtClean="0"/>
              <a:t>1/4/26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95142252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6AF875B-3630-45B7-8F1C-7ABA6E502FCC}" type="datetimeFigureOut">
              <a:rPr lang="en-US" smtClean="0"/>
              <a:t>1/4/26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330119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AF875B-3630-45B7-8F1C-7ABA6E502FCC}" type="datetimeFigureOut">
              <a:rPr lang="en-US" smtClean="0"/>
              <a:t>1/4/26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40C759-50FA-4561-BC40-732FB404009C}" type="slidenum">
              <a:rPr lang="en-US" smtClean="0"/>
              <a:t>‹#›</a:t>
            </a:fld>
            <a:endParaRPr lang="en-US" dirty="0"/>
          </a:p>
        </p:txBody>
      </p:sp>
    </p:spTree>
    <p:extLst>
      <p:ext uri="{BB962C8B-B14F-4D97-AF65-F5344CB8AC3E}">
        <p14:creationId xmlns:p14="http://schemas.microsoft.com/office/powerpoint/2010/main" val="36883317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Content Placeholder 2"/>
          <p:cNvSpPr>
            <a:spLocks noGrp="1"/>
          </p:cNvSpPr>
          <p:nvPr>
            <p:ph idx="1"/>
          </p:nvPr>
        </p:nvSpPr>
        <p:spPr>
          <a:xfrm>
            <a:off x="2915543" y="1426283"/>
            <a:ext cx="3471863" cy="7039681"/>
          </a:xfrm>
        </p:spPr>
        <p:txBody>
          <a:bodyPr/>
          <a:lstStyle>
            <a:lvl1pPr>
              <a:defRPr sz="2400"/>
            </a:lvl1pPr>
            <a:lvl2pPr>
              <a:defRPr sz="2100"/>
            </a:lvl2pPr>
            <a:lvl3pPr>
              <a:defRPr sz="1800"/>
            </a:lvl3pPr>
            <a:lvl4pPr>
              <a:defRPr sz="1500"/>
            </a:lvl4pPr>
            <a:lvl5pPr>
              <a:defRPr sz="1500"/>
            </a:lvl5pPr>
            <a:lvl6pPr>
              <a:defRPr sz="1500"/>
            </a:lvl6pPr>
            <a:lvl7pPr>
              <a:defRPr sz="1500"/>
            </a:lvl7pPr>
            <a:lvl8pPr>
              <a:defRPr sz="1500"/>
            </a:lvl8pPr>
            <a:lvl9pPr>
              <a:defRPr sz="15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2279373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72381" y="660400"/>
            <a:ext cx="2211884" cy="2311400"/>
          </a:xfrm>
        </p:spPr>
        <p:txBody>
          <a:bodyPr anchor="b"/>
          <a:lstStyle>
            <a:lvl1pPr>
              <a:defRPr sz="2400"/>
            </a:lvl1pPr>
          </a:lstStyle>
          <a:p>
            <a:r>
              <a:rPr lang="en-US"/>
              <a:t>Click to edit Master title style</a:t>
            </a:r>
            <a:endParaRPr lang="en-US" dirty="0"/>
          </a:p>
        </p:txBody>
      </p:sp>
      <p:sp>
        <p:nvSpPr>
          <p:cNvPr id="3" name="Picture Placeholder 2"/>
          <p:cNvSpPr>
            <a:spLocks noGrp="1" noChangeAspect="1"/>
          </p:cNvSpPr>
          <p:nvPr>
            <p:ph type="pic" idx="1"/>
          </p:nvPr>
        </p:nvSpPr>
        <p:spPr>
          <a:xfrm>
            <a:off x="2915543" y="1426283"/>
            <a:ext cx="3471863" cy="7039681"/>
          </a:xfrm>
        </p:spPr>
        <p:txBody>
          <a:bodyPr anchor="t"/>
          <a:lstStyle>
            <a:lvl1pPr marL="0" indent="0">
              <a:buNone/>
              <a:defRPr sz="2400"/>
            </a:lvl1pPr>
            <a:lvl2pPr marL="342900" indent="0">
              <a:buNone/>
              <a:defRPr sz="2100"/>
            </a:lvl2pPr>
            <a:lvl3pPr marL="685800" indent="0">
              <a:buNone/>
              <a:defRPr sz="1800"/>
            </a:lvl3pPr>
            <a:lvl4pPr marL="1028700" indent="0">
              <a:buNone/>
              <a:defRPr sz="1500"/>
            </a:lvl4pPr>
            <a:lvl5pPr marL="1371600" indent="0">
              <a:buNone/>
              <a:defRPr sz="1500"/>
            </a:lvl5pPr>
            <a:lvl6pPr marL="1714500" indent="0">
              <a:buNone/>
              <a:defRPr sz="1500"/>
            </a:lvl6pPr>
            <a:lvl7pPr marL="2057400" indent="0">
              <a:buNone/>
              <a:defRPr sz="1500"/>
            </a:lvl7pPr>
            <a:lvl8pPr marL="2400300" indent="0">
              <a:buNone/>
              <a:defRPr sz="1500"/>
            </a:lvl8pPr>
            <a:lvl9pPr marL="2743200" indent="0">
              <a:buNone/>
              <a:defRPr sz="1500"/>
            </a:lvl9pPr>
          </a:lstStyle>
          <a:p>
            <a:r>
              <a:rPr lang="en-US"/>
              <a:t>Click icon to add picture</a:t>
            </a:r>
            <a:endParaRPr lang="en-US" dirty="0"/>
          </a:p>
        </p:txBody>
      </p:sp>
      <p:sp>
        <p:nvSpPr>
          <p:cNvPr id="4" name="Text Placeholder 3"/>
          <p:cNvSpPr>
            <a:spLocks noGrp="1"/>
          </p:cNvSpPr>
          <p:nvPr>
            <p:ph type="body" sz="half" idx="2"/>
          </p:nvPr>
        </p:nvSpPr>
        <p:spPr>
          <a:xfrm>
            <a:off x="472381" y="2971800"/>
            <a:ext cx="2211884" cy="5505627"/>
          </a:xfrm>
        </p:spPr>
        <p:txBody>
          <a:bodyPr/>
          <a:lstStyle>
            <a:lvl1pPr marL="0" indent="0">
              <a:buNone/>
              <a:defRPr sz="1200"/>
            </a:lvl1pPr>
            <a:lvl2pPr marL="342900" indent="0">
              <a:buNone/>
              <a:defRPr sz="1050"/>
            </a:lvl2pPr>
            <a:lvl3pPr marL="685800" indent="0">
              <a:buNone/>
              <a:defRPr sz="900"/>
            </a:lvl3pPr>
            <a:lvl4pPr marL="1028700" indent="0">
              <a:buNone/>
              <a:defRPr sz="750"/>
            </a:lvl4pPr>
            <a:lvl5pPr marL="1371600" indent="0">
              <a:buNone/>
              <a:defRPr sz="750"/>
            </a:lvl5pPr>
            <a:lvl6pPr marL="1714500" indent="0">
              <a:buNone/>
              <a:defRPr sz="750"/>
            </a:lvl6pPr>
            <a:lvl7pPr marL="2057400" indent="0">
              <a:buNone/>
              <a:defRPr sz="750"/>
            </a:lvl7pPr>
            <a:lvl8pPr marL="2400300" indent="0">
              <a:buNone/>
              <a:defRPr sz="750"/>
            </a:lvl8pPr>
            <a:lvl9pPr marL="2743200" indent="0">
              <a:buNone/>
              <a:defRPr sz="750"/>
            </a:lvl9pPr>
          </a:lstStyle>
          <a:p>
            <a:pPr lvl="0"/>
            <a:r>
              <a:rPr lang="en-US"/>
              <a:t>Click to edit Master text styles</a:t>
            </a:r>
          </a:p>
        </p:txBody>
      </p:sp>
      <p:sp>
        <p:nvSpPr>
          <p:cNvPr id="5" name="Date Placeholder 4"/>
          <p:cNvSpPr>
            <a:spLocks noGrp="1"/>
          </p:cNvSpPr>
          <p:nvPr>
            <p:ph type="dt" sz="half" idx="10"/>
          </p:nvPr>
        </p:nvSpPr>
        <p:spPr/>
        <p:txBody>
          <a:bodyPr/>
          <a:lstStyle/>
          <a:p>
            <a:fld id="{B6AF875B-3630-45B7-8F1C-7ABA6E502FCC}" type="datetimeFigureOut">
              <a:rPr lang="en-US" smtClean="0"/>
              <a:t>1/4/26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12468494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20508664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4907757" y="527403"/>
            <a:ext cx="1478756" cy="8394877"/>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471488" y="527403"/>
            <a:ext cx="4350544" cy="8394877"/>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B6AF875B-3630-45B7-8F1C-7ABA6E502FCC}" type="datetimeFigureOut">
              <a:rPr lang="en-US" smtClean="0"/>
              <a:t>1/4/26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40C759-50FA-4561-BC40-732FB404009C}" type="slidenum">
              <a:rPr lang="en-US" smtClean="0"/>
              <a:t>‹#›</a:t>
            </a:fld>
            <a:endParaRPr lang="en-US"/>
          </a:p>
        </p:txBody>
      </p:sp>
    </p:spTree>
    <p:extLst>
      <p:ext uri="{BB962C8B-B14F-4D97-AF65-F5344CB8AC3E}">
        <p14:creationId xmlns:p14="http://schemas.microsoft.com/office/powerpoint/2010/main" val="344164817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71488" y="527405"/>
            <a:ext cx="5915025" cy="1914702"/>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471488" y="2637014"/>
            <a:ext cx="5915025" cy="628526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471488" y="9181397"/>
            <a:ext cx="1543050" cy="527403"/>
          </a:xfrm>
          <a:prstGeom prst="rect">
            <a:avLst/>
          </a:prstGeom>
        </p:spPr>
        <p:txBody>
          <a:bodyPr vert="horz" lIns="91440" tIns="45720" rIns="91440" bIns="45720" rtlCol="0" anchor="ctr"/>
          <a:lstStyle>
            <a:lvl1pPr algn="l">
              <a:defRPr sz="900">
                <a:solidFill>
                  <a:schemeClr val="tx1">
                    <a:tint val="82000"/>
                  </a:schemeClr>
                </a:solidFill>
              </a:defRPr>
            </a:lvl1pPr>
          </a:lstStyle>
          <a:p>
            <a:fld id="{B6AF875B-3630-45B7-8F1C-7ABA6E502FCC}" type="datetimeFigureOut">
              <a:rPr lang="en-US" smtClean="0"/>
              <a:t>1/4/26</a:t>
            </a:fld>
            <a:endParaRPr lang="en-US"/>
          </a:p>
        </p:txBody>
      </p:sp>
      <p:sp>
        <p:nvSpPr>
          <p:cNvPr id="5" name="Footer Placeholder 4"/>
          <p:cNvSpPr>
            <a:spLocks noGrp="1"/>
          </p:cNvSpPr>
          <p:nvPr>
            <p:ph type="ftr" sz="quarter" idx="3"/>
          </p:nvPr>
        </p:nvSpPr>
        <p:spPr>
          <a:xfrm>
            <a:off x="2271713" y="9181397"/>
            <a:ext cx="2314575" cy="527403"/>
          </a:xfrm>
          <a:prstGeom prst="rect">
            <a:avLst/>
          </a:prstGeom>
        </p:spPr>
        <p:txBody>
          <a:bodyPr vert="horz" lIns="91440" tIns="45720" rIns="91440" bIns="45720" rtlCol="0" anchor="ctr"/>
          <a:lstStyle>
            <a:lvl1pPr algn="ctr">
              <a:defRPr sz="9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4843463" y="9181397"/>
            <a:ext cx="1543050" cy="527403"/>
          </a:xfrm>
          <a:prstGeom prst="rect">
            <a:avLst/>
          </a:prstGeom>
        </p:spPr>
        <p:txBody>
          <a:bodyPr vert="horz" lIns="91440" tIns="45720" rIns="91440" bIns="45720" rtlCol="0" anchor="ctr"/>
          <a:lstStyle>
            <a:lvl1pPr algn="r">
              <a:defRPr sz="900">
                <a:solidFill>
                  <a:schemeClr val="tx1">
                    <a:tint val="82000"/>
                  </a:schemeClr>
                </a:solidFill>
              </a:defRPr>
            </a:lvl1pPr>
          </a:lstStyle>
          <a:p>
            <a:fld id="{D540C759-50FA-4561-BC40-732FB404009C}" type="slidenum">
              <a:rPr lang="en-US" smtClean="0"/>
              <a:t>‹#›</a:t>
            </a:fld>
            <a:endParaRPr lang="en-US"/>
          </a:p>
        </p:txBody>
      </p:sp>
    </p:spTree>
    <p:extLst>
      <p:ext uri="{BB962C8B-B14F-4D97-AF65-F5344CB8AC3E}">
        <p14:creationId xmlns:p14="http://schemas.microsoft.com/office/powerpoint/2010/main" val="208541612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685800" rtl="0" eaLnBrk="1" latinLnBrk="0" hangingPunct="1">
        <a:lnSpc>
          <a:spcPct val="90000"/>
        </a:lnSpc>
        <a:spcBef>
          <a:spcPct val="0"/>
        </a:spcBef>
        <a:buNone/>
        <a:defRPr sz="3300" kern="1200">
          <a:solidFill>
            <a:schemeClr val="tx1"/>
          </a:solidFill>
          <a:latin typeface="+mj-lt"/>
          <a:ea typeface="+mj-ea"/>
          <a:cs typeface="+mj-cs"/>
        </a:defRPr>
      </a:lvl1pPr>
    </p:titleStyle>
    <p:bodyStyle>
      <a:lvl1pPr marL="171450" indent="-171450" algn="l" defTabSz="685800" rtl="0" eaLnBrk="1" latinLnBrk="0" hangingPunct="1">
        <a:lnSpc>
          <a:spcPct val="90000"/>
        </a:lnSpc>
        <a:spcBef>
          <a:spcPts val="750"/>
        </a:spcBef>
        <a:buFont typeface="Arial" panose="020B0604020202020204" pitchFamily="34" charset="0"/>
        <a:buChar char="•"/>
        <a:defRPr sz="2100" kern="1200">
          <a:solidFill>
            <a:schemeClr val="tx1"/>
          </a:solidFill>
          <a:latin typeface="+mn-lt"/>
          <a:ea typeface="+mn-ea"/>
          <a:cs typeface="+mn-cs"/>
        </a:defRPr>
      </a:lvl1pPr>
      <a:lvl2pPr marL="514350" indent="-171450" algn="l" defTabSz="685800" rtl="0" eaLnBrk="1" latinLnBrk="0" hangingPunct="1">
        <a:lnSpc>
          <a:spcPct val="90000"/>
        </a:lnSpc>
        <a:spcBef>
          <a:spcPts val="375"/>
        </a:spcBef>
        <a:buFont typeface="Arial" panose="020B0604020202020204" pitchFamily="34" charset="0"/>
        <a:buChar char="•"/>
        <a:defRPr sz="1800" kern="1200">
          <a:solidFill>
            <a:schemeClr val="tx1"/>
          </a:solidFill>
          <a:latin typeface="+mn-lt"/>
          <a:ea typeface="+mn-ea"/>
          <a:cs typeface="+mn-cs"/>
        </a:defRPr>
      </a:lvl2pPr>
      <a:lvl3pPr marL="857250" indent="-171450" algn="l" defTabSz="685800" rtl="0" eaLnBrk="1" latinLnBrk="0" hangingPunct="1">
        <a:lnSpc>
          <a:spcPct val="90000"/>
        </a:lnSpc>
        <a:spcBef>
          <a:spcPts val="375"/>
        </a:spcBef>
        <a:buFont typeface="Arial" panose="020B0604020202020204" pitchFamily="34" charset="0"/>
        <a:buChar char="•"/>
        <a:defRPr sz="1500" kern="1200">
          <a:solidFill>
            <a:schemeClr val="tx1"/>
          </a:solidFill>
          <a:latin typeface="+mn-lt"/>
          <a:ea typeface="+mn-ea"/>
          <a:cs typeface="+mn-cs"/>
        </a:defRPr>
      </a:lvl3pPr>
      <a:lvl4pPr marL="12001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4pPr>
      <a:lvl5pPr marL="15430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7.xml"/><Relationship Id="rId4" Type="http://schemas.openxmlformats.org/officeDocument/2006/relationships/hyperlink" Target="https://ppv.geneticsupportfoundation.org/" TargetMode="Externa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7" name="TextBox 16">
            <a:extLst>
              <a:ext uri="{FF2B5EF4-FFF2-40B4-BE49-F238E27FC236}">
                <a16:creationId xmlns:a16="http://schemas.microsoft.com/office/drawing/2014/main" id="{26264A46-8BCE-0626-AF69-52E456E30DDC}"/>
              </a:ext>
            </a:extLst>
          </p:cNvPr>
          <p:cNvSpPr txBox="1"/>
          <p:nvPr/>
        </p:nvSpPr>
        <p:spPr>
          <a:xfrm>
            <a:off x="4441862" y="1975938"/>
            <a:ext cx="1969793" cy="1092607"/>
          </a:xfrm>
          <a:prstGeom prst="rect">
            <a:avLst/>
          </a:prstGeom>
          <a:noFill/>
        </p:spPr>
        <p:txBody>
          <a:bodyPr wrap="square" rtlCol="0">
            <a:spAutoFit/>
          </a:bodyPr>
          <a:lstStyle/>
          <a:p>
            <a:r>
              <a:rPr lang="en-US" sz="1100" b="1" dirty="0">
                <a:solidFill>
                  <a:srgbClr val="256D9D"/>
                </a:solidFill>
                <a:latin typeface="Calibri" panose="020F0502020204030204" pitchFamily="34" charset="0"/>
                <a:cs typeface="Calibri" panose="020F0502020204030204" pitchFamily="34" charset="0"/>
              </a:rPr>
              <a:t>Fetal Fraction</a:t>
            </a:r>
          </a:p>
          <a:p>
            <a:r>
              <a:rPr lang="en-US" sz="1100" b="1" dirty="0">
                <a:solidFill>
                  <a:srgbClr val="256D9D"/>
                </a:solidFill>
                <a:latin typeface="Calibri" panose="020F0502020204030204" pitchFamily="34" charset="0"/>
                <a:cs typeface="Calibri" panose="020F0502020204030204" pitchFamily="34" charset="0"/>
              </a:rPr>
              <a:t>      </a:t>
            </a:r>
            <a:r>
              <a:rPr lang="en-US" sz="1600">
                <a:latin typeface="Calibri" panose="020F0502020204030204" pitchFamily="34" charset="0"/>
                <a:cs typeface="Calibri" panose="020F0502020204030204" pitchFamily="34" charset="0"/>
              </a:rPr>
              <a:t>&lt;&lt;FF&gt;&gt;%</a:t>
            </a:r>
            <a:endParaRPr lang="en-US" sz="1100" dirty="0">
              <a:latin typeface="Calibri" panose="020F0502020204030204" pitchFamily="34" charset="0"/>
              <a:cs typeface="Calibri" panose="020F0502020204030204" pitchFamily="34" charset="0"/>
            </a:endParaRPr>
          </a:p>
          <a:p>
            <a:endParaRPr lang="en-US" sz="1100" b="1" dirty="0">
              <a:solidFill>
                <a:srgbClr val="256D9D"/>
              </a:solidFill>
              <a:latin typeface="Calibri" panose="020F0502020204030204" pitchFamily="34" charset="0"/>
              <a:cs typeface="Calibri" panose="020F0502020204030204" pitchFamily="34" charset="0"/>
            </a:endParaRPr>
          </a:p>
          <a:p>
            <a:r>
              <a:rPr lang="en-US" sz="1100" b="1" dirty="0">
                <a:solidFill>
                  <a:srgbClr val="256D9D"/>
                </a:solidFill>
                <a:latin typeface="Calibri" panose="020F0502020204030204" pitchFamily="34" charset="0"/>
                <a:cs typeface="Calibri" panose="020F0502020204030204" pitchFamily="34" charset="0"/>
              </a:rPr>
              <a:t>Fetal Sex</a:t>
            </a:r>
          </a:p>
          <a:p>
            <a:r>
              <a:rPr lang="en-US" sz="1100" b="1" dirty="0">
                <a:solidFill>
                  <a:srgbClr val="256D9D"/>
                </a:solidFill>
                <a:latin typeface="Calibri" panose="020F0502020204030204" pitchFamily="34" charset="0"/>
                <a:cs typeface="Calibri" panose="020F0502020204030204" pitchFamily="34" charset="0"/>
              </a:rPr>
              <a:t>      </a:t>
            </a:r>
            <a:r>
              <a:rPr lang="en-US" sz="1600" dirty="0">
                <a:latin typeface="Calibri" panose="020F0502020204030204" pitchFamily="34" charset="0"/>
                <a:cs typeface="Calibri" panose="020F0502020204030204" pitchFamily="34" charset="0"/>
              </a:rPr>
              <a:t>NA</a:t>
            </a:r>
            <a:endParaRPr lang="en-US" sz="1100" dirty="0">
              <a:latin typeface="Calibri" panose="020F0502020204030204" pitchFamily="34" charset="0"/>
              <a:cs typeface="Calibri" panose="020F0502020204030204" pitchFamily="34" charset="0"/>
            </a:endParaRPr>
          </a:p>
        </p:txBody>
      </p:sp>
      <p:sp>
        <p:nvSpPr>
          <p:cNvPr id="18" name="Rectangle: Rounded Corners 17">
            <a:extLst>
              <a:ext uri="{FF2B5EF4-FFF2-40B4-BE49-F238E27FC236}">
                <a16:creationId xmlns:a16="http://schemas.microsoft.com/office/drawing/2014/main" id="{052ED01F-71C8-3FFC-8482-23945FF8C082}"/>
              </a:ext>
            </a:extLst>
          </p:cNvPr>
          <p:cNvSpPr/>
          <p:nvPr/>
        </p:nvSpPr>
        <p:spPr>
          <a:xfrm>
            <a:off x="430623" y="1899689"/>
            <a:ext cx="3875010"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9" name="Rectangle: Rounded Corners 18">
            <a:extLst>
              <a:ext uri="{FF2B5EF4-FFF2-40B4-BE49-F238E27FC236}">
                <a16:creationId xmlns:a16="http://schemas.microsoft.com/office/drawing/2014/main" id="{3E681959-5FC1-8178-5CA3-CB804C551E76}"/>
              </a:ext>
            </a:extLst>
          </p:cNvPr>
          <p:cNvSpPr/>
          <p:nvPr/>
        </p:nvSpPr>
        <p:spPr>
          <a:xfrm>
            <a:off x="4408972" y="1899689"/>
            <a:ext cx="2021955" cy="1236883"/>
          </a:xfrm>
          <a:prstGeom prst="roundRect">
            <a:avLst/>
          </a:prstGeom>
          <a:noFill/>
          <a:ln w="76200" cmpd="tri">
            <a:solidFill>
              <a:srgbClr val="2AA9DB"/>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100">
              <a:latin typeface="Calibri" panose="020F0502020204030204" pitchFamily="34" charset="0"/>
              <a:cs typeface="Calibri" panose="020F0502020204030204" pitchFamily="34" charset="0"/>
            </a:endParaRPr>
          </a:p>
        </p:txBody>
      </p:sp>
      <p:graphicFrame>
        <p:nvGraphicFramePr>
          <p:cNvPr id="20" name="Table 19">
            <a:extLst>
              <a:ext uri="{FF2B5EF4-FFF2-40B4-BE49-F238E27FC236}">
                <a16:creationId xmlns:a16="http://schemas.microsoft.com/office/drawing/2014/main" id="{FC25077C-3F86-82CD-EEBC-1345FC094F1E}"/>
              </a:ext>
            </a:extLst>
          </p:cNvPr>
          <p:cNvGraphicFramePr>
            <a:graphicFrameLocks noGrp="1"/>
          </p:cNvGraphicFramePr>
          <p:nvPr>
            <p:extLst>
              <p:ext uri="{D42A27DB-BD31-4B8C-83A1-F6EECF244321}">
                <p14:modId xmlns:p14="http://schemas.microsoft.com/office/powerpoint/2010/main" val="2056559761"/>
              </p:ext>
            </p:extLst>
          </p:nvPr>
        </p:nvGraphicFramePr>
        <p:xfrm>
          <a:off x="446345" y="3545404"/>
          <a:ext cx="5984582" cy="545890"/>
        </p:xfrm>
        <a:graphic>
          <a:graphicData uri="http://schemas.openxmlformats.org/drawingml/2006/table">
            <a:tbl>
              <a:tblPr firstRow="1" bandRow="1">
                <a:tableStyleId>{EB9631B5-78F2-41C9-869B-9F39066F8104}</a:tableStyleId>
              </a:tblPr>
              <a:tblGrid>
                <a:gridCol w="5984582">
                  <a:extLst>
                    <a:ext uri="{9D8B030D-6E8A-4147-A177-3AD203B41FA5}">
                      <a16:colId xmlns:a16="http://schemas.microsoft.com/office/drawing/2014/main" val="539532219"/>
                    </a:ext>
                  </a:extLst>
                </a:gridCol>
              </a:tblGrid>
              <a:tr h="545890">
                <a:tc>
                  <a:txBody>
                    <a:bodyPr/>
                    <a:lstStyle/>
                    <a:p>
                      <a:pPr algn="l"/>
                      <a:r>
                        <a:rPr lang="en-US" sz="1050" b="0">
                          <a:solidFill>
                            <a:schemeClr val="tx1"/>
                          </a:solidFill>
                          <a:latin typeface="Calibri" panose="020F0502020204030204" pitchFamily="34" charset="0"/>
                          <a:cs typeface="Calibri" panose="020F0502020204030204" pitchFamily="34" charset="0"/>
                        </a:rPr>
                        <a:t>&lt;&lt;Interpretation&gt;&gt;</a:t>
                      </a:r>
                      <a:endParaRPr lang="en-US" sz="1050" b="0" dirty="0">
                        <a:solidFill>
                          <a:schemeClr val="tx1"/>
                        </a:solidFill>
                        <a:latin typeface="Calibri" panose="020F0502020204030204" pitchFamily="34" charset="0"/>
                        <a:cs typeface="Calibri" panose="020F0502020204030204" pitchFamily="34" charset="0"/>
                      </a:endParaRPr>
                    </a:p>
                  </a:txBody>
                  <a:tcPr anchor="ctr">
                    <a:lnL w="12700" cap="flat" cmpd="sng" algn="ctr">
                      <a:noFill/>
                      <a:prstDash val="solid"/>
                      <a:round/>
                      <a:headEnd type="none" w="med" len="med"/>
                      <a:tailEnd type="none" w="med" len="med"/>
                    </a:lnL>
                    <a:lnR w="635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6350" cap="flat" cmpd="sng" algn="ctr">
                      <a:solidFill>
                        <a:srgbClr val="2AA9DB"/>
                      </a:solidFill>
                      <a:prstDash val="solid"/>
                      <a:round/>
                      <a:headEnd type="none" w="med" len="med"/>
                      <a:tailEnd type="none" w="med" len="med"/>
                    </a:lnB>
                    <a:lnTlToBr w="12700" cmpd="sng">
                      <a:noFill/>
                      <a:prstDash val="solid"/>
                    </a:lnTlToBr>
                    <a:lnBlToTr w="12700" cmpd="sng">
                      <a:noFill/>
                      <a:prstDash val="solid"/>
                    </a:lnBlToTr>
                  </a:tcPr>
                </a:tc>
                <a:extLst>
                  <a:ext uri="{0D108BD9-81ED-4DB2-BD59-A6C34878D82A}">
                    <a16:rowId xmlns:a16="http://schemas.microsoft.com/office/drawing/2014/main" val="1483159712"/>
                  </a:ext>
                </a:extLst>
              </a:tr>
            </a:tbl>
          </a:graphicData>
        </a:graphic>
      </p:graphicFrame>
      <p:sp>
        <p:nvSpPr>
          <p:cNvPr id="22" name="TextBox 21">
            <a:extLst>
              <a:ext uri="{FF2B5EF4-FFF2-40B4-BE49-F238E27FC236}">
                <a16:creationId xmlns:a16="http://schemas.microsoft.com/office/drawing/2014/main" id="{5D2A34DF-A85D-AFAC-37DA-EDB3DA2BCD69}"/>
              </a:ext>
            </a:extLst>
          </p:cNvPr>
          <p:cNvSpPr txBox="1"/>
          <p:nvPr/>
        </p:nvSpPr>
        <p:spPr>
          <a:xfrm>
            <a:off x="446345" y="3232822"/>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RESULTS DETAILS</a:t>
            </a:r>
          </a:p>
        </p:txBody>
      </p:sp>
      <p:sp>
        <p:nvSpPr>
          <p:cNvPr id="24" name="TextBox 23">
            <a:extLst>
              <a:ext uri="{FF2B5EF4-FFF2-40B4-BE49-F238E27FC236}">
                <a16:creationId xmlns:a16="http://schemas.microsoft.com/office/drawing/2014/main" id="{42FD5668-A2A3-535F-995B-C8E0C0ABE794}"/>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1 of 3</a:t>
            </a:r>
          </a:p>
        </p:txBody>
      </p:sp>
      <p:sp>
        <p:nvSpPr>
          <p:cNvPr id="14" name="TextBox 13">
            <a:extLst>
              <a:ext uri="{FF2B5EF4-FFF2-40B4-BE49-F238E27FC236}">
                <a16:creationId xmlns:a16="http://schemas.microsoft.com/office/drawing/2014/main" id="{F5D7F0E2-04DD-6B22-ABD8-6956309937FF}"/>
              </a:ext>
            </a:extLst>
          </p:cNvPr>
          <p:cNvSpPr txBox="1"/>
          <p:nvPr/>
        </p:nvSpPr>
        <p:spPr>
          <a:xfrm>
            <a:off x="412897" y="6665518"/>
            <a:ext cx="5998758" cy="1600438"/>
          </a:xfrm>
          <a:prstGeom prst="rect">
            <a:avLst/>
          </a:prstGeom>
          <a:noFill/>
        </p:spPr>
        <p:txBody>
          <a:bodyPr wrap="square">
            <a:spAutoFit/>
          </a:bodyPr>
          <a:lstStyle/>
          <a:p>
            <a:pPr algn="just"/>
            <a:r>
              <a:rPr lang="en-US" sz="900" baseline="30000" dirty="0">
                <a:latin typeface="Calibri" panose="020F0502020204030204" pitchFamily="34" charset="0"/>
                <a:cs typeface="Calibri" panose="020F0502020204030204" pitchFamily="34" charset="0"/>
              </a:rPr>
              <a:t>a</a:t>
            </a:r>
            <a:r>
              <a:rPr lang="en-US" sz="900" dirty="0">
                <a:latin typeface="Calibri" panose="020F0502020204030204" pitchFamily="34" charset="0"/>
                <a:cs typeface="Calibri" panose="020F0502020204030204" pitchFamily="34" charset="0"/>
              </a:rPr>
              <a:t> All probabilities, PPVs, and NPVs are calculated on </a:t>
            </a:r>
            <a:r>
              <a:rPr lang="en-US" sz="900" dirty="0">
                <a:latin typeface="Calibri" panose="020F0502020204030204" pitchFamily="34" charset="0"/>
                <a:cs typeface="Calibri" panose="020F0502020204030204" pitchFamily="34" charset="0"/>
                <a:hlinkClick r:id="rId4"/>
              </a:rPr>
              <a:t>https://ppv.geneticsupportfoundation.org/</a:t>
            </a:r>
            <a:r>
              <a:rPr lang="en-US" sz="900" dirty="0">
                <a:latin typeface="Calibri" panose="020F0502020204030204" pitchFamily="34" charset="0"/>
                <a:cs typeface="Calibri" panose="020F0502020204030204" pitchFamily="34" charset="0"/>
              </a:rPr>
              <a:t> based on maternal age and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sensitivity/specificity data.</a:t>
            </a:r>
          </a:p>
          <a:p>
            <a:pPr algn="just"/>
            <a:endParaRPr lang="en-US" sz="8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b</a:t>
            </a:r>
            <a:r>
              <a:rPr lang="en-US" sz="900" dirty="0">
                <a:latin typeface="Calibri" panose="020F0502020204030204" pitchFamily="34" charset="0"/>
                <a:cs typeface="Calibri" panose="020F0502020204030204" pitchFamily="34" charset="0"/>
              </a:rPr>
              <a:t> Risk score (before) for aneuploidy was reported in published study of 17,885 women (Dar, et al. Am J </a:t>
            </a:r>
            <a:r>
              <a:rPr lang="en-US" sz="900" dirty="0" err="1">
                <a:latin typeface="Calibri" panose="020F0502020204030204" pitchFamily="34" charset="0"/>
                <a:cs typeface="Calibri" panose="020F0502020204030204" pitchFamily="34" charset="0"/>
              </a:rPr>
              <a:t>Obstet</a:t>
            </a:r>
            <a:r>
              <a:rPr lang="en-US" sz="900" dirty="0">
                <a:latin typeface="Calibri" panose="020F0502020204030204" pitchFamily="34" charset="0"/>
                <a:cs typeface="Calibri" panose="020F0502020204030204" pitchFamily="34" charset="0"/>
              </a:rPr>
              <a:t> Gynecol. 2014 Nov; 211(5): 527.e1-527.e17) based on maternal age, gestational age, and/or general population.</a:t>
            </a:r>
          </a:p>
          <a:p>
            <a:pPr algn="just"/>
            <a:endParaRPr lang="en-US" sz="900" dirty="0">
              <a:latin typeface="Calibri" panose="020F0502020204030204" pitchFamily="34" charset="0"/>
              <a:cs typeface="Calibri" panose="020F0502020204030204" pitchFamily="34" charset="0"/>
            </a:endParaRPr>
          </a:p>
          <a:p>
            <a:pPr algn="just"/>
            <a:r>
              <a:rPr lang="en-US" sz="900" baseline="30000" dirty="0">
                <a:latin typeface="Calibri" panose="020F0502020204030204" pitchFamily="34" charset="0"/>
                <a:cs typeface="Calibri" panose="020F0502020204030204" pitchFamily="34" charset="0"/>
              </a:rPr>
              <a:t>c</a:t>
            </a:r>
            <a:r>
              <a:rPr lang="en-US" sz="900" dirty="0">
                <a:latin typeface="Calibri" panose="020F0502020204030204" pitchFamily="34" charset="0"/>
                <a:cs typeface="Calibri" panose="020F0502020204030204" pitchFamily="34" charset="0"/>
              </a:rPr>
              <a:t> Risk score (after) value is calculated as a probability value obtained through the Gaussian distribution of the normal group and the abnormal group using the fetal DNA percentage (fetal fraction), chromosome read % (Unique Read %) value, and Z-score value. The risk score (after) may not reflect the actual PPV of this patient, and other test results, ultrasound findings, and personal/family history are not included in the risk assessment.</a:t>
            </a:r>
          </a:p>
          <a:p>
            <a:pPr algn="just"/>
            <a:endParaRPr lang="en-US" sz="900" dirty="0">
              <a:latin typeface="Calibri" panose="020F0502020204030204" pitchFamily="34" charset="0"/>
              <a:cs typeface="Calibri" panose="020F0502020204030204" pitchFamily="34" charset="0"/>
            </a:endParaRPr>
          </a:p>
        </p:txBody>
      </p:sp>
      <p:sp>
        <p:nvSpPr>
          <p:cNvPr id="27" name="TextBox 26">
            <a:extLst>
              <a:ext uri="{FF2B5EF4-FFF2-40B4-BE49-F238E27FC236}">
                <a16:creationId xmlns:a16="http://schemas.microsoft.com/office/drawing/2014/main" id="{970BE3DD-4E97-F3F0-11F1-A265DBE10C25}"/>
              </a:ext>
            </a:extLst>
          </p:cNvPr>
          <p:cNvSpPr txBox="1"/>
          <p:nvPr/>
        </p:nvSpPr>
        <p:spPr>
          <a:xfrm>
            <a:off x="467796" y="1898712"/>
            <a:ext cx="3859287" cy="512769"/>
          </a:xfrm>
          <a:prstGeom prst="rect">
            <a:avLst/>
          </a:prstGeom>
          <a:noFill/>
        </p:spPr>
        <p:txBody>
          <a:bodyPr wrap="square" rtlCol="0">
            <a:spAutoFit/>
          </a:bodyPr>
          <a:lstStyle/>
          <a:p>
            <a:r>
              <a:rPr lang="en-US" sz="1400" b="1" dirty="0">
                <a:solidFill>
                  <a:srgbClr val="256D9D"/>
                </a:solidFill>
                <a:latin typeface="Calibri" panose="020F0502020204030204" pitchFamily="34" charset="0"/>
                <a:cs typeface="Calibri" panose="020F0502020204030204" pitchFamily="34" charset="0"/>
              </a:rPr>
              <a:t>INTERPRETATION (for Aneuploidies)</a:t>
            </a:r>
          </a:p>
          <a:p>
            <a:pPr marL="12700" marR="5080" lvl="0">
              <a:lnSpc>
                <a:spcPct val="122200"/>
              </a:lnSpc>
              <a:spcBef>
                <a:spcPts val="95"/>
              </a:spcBef>
            </a:pPr>
            <a:r>
              <a:rPr lang="en-US" sz="1100" b="1" dirty="0">
                <a:latin typeface="Calibri" panose="020F0502020204030204" pitchFamily="34" charset="0"/>
                <a:ea typeface="Calibri"/>
                <a:cs typeface="Calibri" panose="020F0502020204030204" pitchFamily="34" charset="0"/>
                <a:sym typeface="Calibri"/>
              </a:rPr>
              <a:t>No Call</a:t>
            </a:r>
            <a:endParaRPr lang="en-US" sz="1100" dirty="0">
              <a:latin typeface="Calibri" panose="020F0502020204030204" pitchFamily="34" charset="0"/>
              <a:ea typeface="Calibri"/>
              <a:cs typeface="Calibri" panose="020F0502020204030204" pitchFamily="34" charset="0"/>
              <a:sym typeface="Calibri"/>
            </a:endParaRPr>
          </a:p>
        </p:txBody>
      </p:sp>
      <p:cxnSp>
        <p:nvCxnSpPr>
          <p:cNvPr id="3" name="Straight Connector 2">
            <a:extLst>
              <a:ext uri="{FF2B5EF4-FFF2-40B4-BE49-F238E27FC236}">
                <a16:creationId xmlns:a16="http://schemas.microsoft.com/office/drawing/2014/main" id="{89D14529-C7C6-BEDC-6A17-B75DBD3A2218}"/>
              </a:ext>
            </a:extLst>
          </p:cNvPr>
          <p:cNvCxnSpPr>
            <a:cxnSpLocks/>
          </p:cNvCxnSpPr>
          <p:nvPr/>
        </p:nvCxnSpPr>
        <p:spPr>
          <a:xfrm>
            <a:off x="527050" y="2638781"/>
            <a:ext cx="3681005" cy="0"/>
          </a:xfrm>
          <a:prstGeom prst="line">
            <a:avLst/>
          </a:prstGeom>
          <a:ln>
            <a:solidFill>
              <a:srgbClr val="1975C0"/>
            </a:solidFill>
            <a:prstDash val="lgDash"/>
          </a:ln>
        </p:spPr>
        <p:style>
          <a:lnRef idx="2">
            <a:schemeClr val="accent1"/>
          </a:lnRef>
          <a:fillRef idx="0">
            <a:schemeClr val="accent1"/>
          </a:fillRef>
          <a:effectRef idx="1">
            <a:schemeClr val="accent1"/>
          </a:effectRef>
          <a:fontRef idx="minor">
            <a:schemeClr val="tx1"/>
          </a:fontRef>
        </p:style>
      </p:cxnSp>
      <p:sp>
        <p:nvSpPr>
          <p:cNvPr id="15" name="TextBox 14">
            <a:extLst>
              <a:ext uri="{FF2B5EF4-FFF2-40B4-BE49-F238E27FC236}">
                <a16:creationId xmlns:a16="http://schemas.microsoft.com/office/drawing/2014/main" id="{B2E8E717-D931-1EA3-5E93-8DCF10A8C922}"/>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5" name="TextBox 4">
            <a:extLst>
              <a:ext uri="{FF2B5EF4-FFF2-40B4-BE49-F238E27FC236}">
                <a16:creationId xmlns:a16="http://schemas.microsoft.com/office/drawing/2014/main" id="{4052476B-A1C8-2F8A-2C7C-46665B71B36B}"/>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13" name="Rectangle: Rounded Corners 12">
            <a:extLst>
              <a:ext uri="{FF2B5EF4-FFF2-40B4-BE49-F238E27FC236}">
                <a16:creationId xmlns:a16="http://schemas.microsoft.com/office/drawing/2014/main" id="{CC628DC2-BC85-9DFE-8970-A9176C7F2BAD}"/>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6" name="TextBox 15">
            <a:extLst>
              <a:ext uri="{FF2B5EF4-FFF2-40B4-BE49-F238E27FC236}">
                <a16:creationId xmlns:a16="http://schemas.microsoft.com/office/drawing/2014/main" id="{A5BB67BE-CDCC-5BD4-7448-3B4D2A562F92}"/>
              </a:ext>
            </a:extLst>
          </p:cNvPr>
          <p:cNvSpPr txBox="1"/>
          <p:nvPr/>
        </p:nvSpPr>
        <p:spPr>
          <a:xfrm>
            <a:off x="498896" y="9427924"/>
            <a:ext cx="394296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31" name="Rectangle 30">
            <a:extLst>
              <a:ext uri="{FF2B5EF4-FFF2-40B4-BE49-F238E27FC236}">
                <a16:creationId xmlns:a16="http://schemas.microsoft.com/office/drawing/2014/main" id="{304918E2-62A0-D919-24AF-ECA4E8B6A66E}"/>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2" name="Rectangle 31">
            <a:extLst>
              <a:ext uri="{FF2B5EF4-FFF2-40B4-BE49-F238E27FC236}">
                <a16:creationId xmlns:a16="http://schemas.microsoft.com/office/drawing/2014/main" id="{05756754-CF9B-B3B8-C6E2-DA832A430B12}"/>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3" name="Rectangle 32">
            <a:extLst>
              <a:ext uri="{FF2B5EF4-FFF2-40B4-BE49-F238E27FC236}">
                <a16:creationId xmlns:a16="http://schemas.microsoft.com/office/drawing/2014/main" id="{6111EA2F-64A4-9043-BC10-4E8C53B6A667}"/>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36" name="TextBox 35">
            <a:extLst>
              <a:ext uri="{FF2B5EF4-FFF2-40B4-BE49-F238E27FC236}">
                <a16:creationId xmlns:a16="http://schemas.microsoft.com/office/drawing/2014/main" id="{54B12F5A-41AF-D295-BFFB-21A5FDE36995}"/>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2" name="TextBox 1">
            <a:extLst>
              <a:ext uri="{FF2B5EF4-FFF2-40B4-BE49-F238E27FC236}">
                <a16:creationId xmlns:a16="http://schemas.microsoft.com/office/drawing/2014/main" id="{823A0C91-6907-F2EA-866D-258F201A9F74}"/>
              </a:ext>
            </a:extLst>
          </p:cNvPr>
          <p:cNvSpPr txBox="1"/>
          <p:nvPr/>
        </p:nvSpPr>
        <p:spPr>
          <a:xfrm>
            <a:off x="434824" y="2651201"/>
            <a:ext cx="3859286" cy="415498"/>
          </a:xfrm>
          <a:prstGeom prst="rect">
            <a:avLst/>
          </a:prstGeom>
          <a:noFill/>
        </p:spPr>
        <p:txBody>
          <a:bodyPr wrap="square" rtlCol="0">
            <a:spAutoFit/>
          </a:bodyPr>
          <a:lstStyle/>
          <a:p>
            <a:pPr algn="just">
              <a:spcBef>
                <a:spcPts val="600"/>
              </a:spcBef>
            </a:pPr>
            <a:r>
              <a:rPr lang="en-US" sz="700" i="1" dirty="0">
                <a:solidFill>
                  <a:schemeClr val="tx1">
                    <a:lumMod val="75000"/>
                    <a:lumOff val="25000"/>
                  </a:schemeClr>
                </a:solidFill>
                <a:latin typeface="Calibri" panose="020F0502020204030204" pitchFamily="34" charset="0"/>
                <a:cs typeface="Calibri" panose="020F0502020204030204" pitchFamily="34" charset="0"/>
              </a:rPr>
              <a:t>The result is applicable only for the selected panels. NIPT is  a  screening test, not diagnostic, which evaluates genetic information in the maternal blood, a mixture of maternal and placental DNA. Genetic counseling and diagnostic testing should be offered to further evaluate high risk findings.</a:t>
            </a:r>
            <a:endParaRPr lang="en-US" sz="600" i="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0E664123-08A7-FF53-A3AA-5C39C89D10E3}"/>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8" name="TextBox 7">
            <a:extLst>
              <a:ext uri="{FF2B5EF4-FFF2-40B4-BE49-F238E27FC236}">
                <a16:creationId xmlns:a16="http://schemas.microsoft.com/office/drawing/2014/main" id="{F6753D8A-83F2-1F1C-1387-7275B02911F1}"/>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3253173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pic>
        <p:nvPicPr>
          <p:cNvPr id="1026" name="Picture 2" descr="Home">
            <a:extLst>
              <a:ext uri="{FF2B5EF4-FFF2-40B4-BE49-F238E27FC236}">
                <a16:creationId xmlns:a16="http://schemas.microsoft.com/office/drawing/2014/main" id="{84221953-82AC-8C3B-12AC-1883B145562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13" name="TextBox 12">
            <a:extLst>
              <a:ext uri="{FF2B5EF4-FFF2-40B4-BE49-F238E27FC236}">
                <a16:creationId xmlns:a16="http://schemas.microsoft.com/office/drawing/2014/main" id="{E666A867-4455-152D-1CC5-E07801B192A2}"/>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2 of 3</a:t>
            </a:r>
          </a:p>
        </p:txBody>
      </p:sp>
      <p:sp>
        <p:nvSpPr>
          <p:cNvPr id="21" name="TextBox 20">
            <a:extLst>
              <a:ext uri="{FF2B5EF4-FFF2-40B4-BE49-F238E27FC236}">
                <a16:creationId xmlns:a16="http://schemas.microsoft.com/office/drawing/2014/main" id="{61CE8A61-CAF4-1672-1AA6-B712F7B4EDA4}"/>
              </a:ext>
            </a:extLst>
          </p:cNvPr>
          <p:cNvSpPr txBox="1"/>
          <p:nvPr/>
        </p:nvSpPr>
        <p:spPr>
          <a:xfrm>
            <a:off x="424418" y="2102583"/>
            <a:ext cx="5998758" cy="133882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Autosomal and Sex Chromosomes Aneuploidies</a:t>
            </a:r>
          </a:p>
          <a:p>
            <a:pPr algn="just"/>
            <a:r>
              <a:rPr lang="en-US" sz="800" dirty="0">
                <a:latin typeface="Calibri" panose="020F0502020204030204" pitchFamily="34" charset="0"/>
                <a:cs typeface="Calibri" panose="020F0502020204030204" pitchFamily="34" charset="0"/>
              </a:rPr>
              <a:t>This test is designed to screen for fetal chromosome aneuploidies from cell free DNA analysis and is validated for singleton pregnancies with gestational age of at least 10 weeks, as estimated by last menstrual period. These results do not eliminate the possibility that this pregnancy may be associated with other chromosomal or sub-chromosomal abnormalities, birth defects, and other conditions. This test is not intended to identify pregnancies at risk for open neural tube defects. A negative test result does not eliminate the possibility of chromosomal abnormalities. There is a small possibility that the test results might not reflect the chromosomes of the fetus but may reflect chromosomal changes of the placenta (confined placental mosaicism) or of the mother (chromosomal mosaicism). Potential sources of an inaccurate test result may include but are not limited to maternal, fetal and/or placental mosaicism, low fetal fraction, blood transfusion, transplant surgery and stem cell therapy. Especially, fetal deduction including vanishing fetus, fetal demise can result in false negative result or false positive result. If definitive diagnosis is desired, chorionic villus sampling or amniocentesis would be necessary.</a:t>
            </a:r>
          </a:p>
        </p:txBody>
      </p:sp>
      <p:sp>
        <p:nvSpPr>
          <p:cNvPr id="24" name="TextBox 23">
            <a:extLst>
              <a:ext uri="{FF2B5EF4-FFF2-40B4-BE49-F238E27FC236}">
                <a16:creationId xmlns:a16="http://schemas.microsoft.com/office/drawing/2014/main" id="{4E413E1D-0DC0-0BFF-A4D7-A5163CBFCA5B}"/>
              </a:ext>
            </a:extLst>
          </p:cNvPr>
          <p:cNvSpPr txBox="1"/>
          <p:nvPr/>
        </p:nvSpPr>
        <p:spPr>
          <a:xfrm>
            <a:off x="422872" y="1859020"/>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LIMITATION OF TEST</a:t>
            </a:r>
          </a:p>
        </p:txBody>
      </p:sp>
      <p:sp>
        <p:nvSpPr>
          <p:cNvPr id="25" name="TextBox 24">
            <a:extLst>
              <a:ext uri="{FF2B5EF4-FFF2-40B4-BE49-F238E27FC236}">
                <a16:creationId xmlns:a16="http://schemas.microsoft.com/office/drawing/2014/main" id="{E0FD2CC2-99B0-C2E8-4831-98D2B1CD2419}"/>
              </a:ext>
            </a:extLst>
          </p:cNvPr>
          <p:cNvSpPr txBox="1"/>
          <p:nvPr/>
        </p:nvSpPr>
        <p:spPr>
          <a:xfrm>
            <a:off x="424396" y="3522557"/>
            <a:ext cx="5998758" cy="1708160"/>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Microdeletions</a:t>
            </a:r>
          </a:p>
          <a:p>
            <a:pPr algn="just"/>
            <a:r>
              <a:rPr lang="en-US" sz="800" dirty="0">
                <a:latin typeface="Calibri" panose="020F0502020204030204" pitchFamily="34" charset="0"/>
                <a:cs typeface="Calibri" panose="020F0502020204030204" pitchFamily="34" charset="0"/>
              </a:rPr>
              <a:t>This test is designed to screen for sub-chromosomal deletions in regions 1p36, 2q33.1, 4p16.3, 5p-, 7q11.23, 11q23, 15q11.2-q13, 22q11.2, 108 syndromes (if applicable) and is available for singleton pregnancies with gestational age of at least 10 weeks, as estimated by last menstrual period, crown rump length, or other appropriate method. This is a screening test and can result in false positive or false negative results. Therefore, negative results do not eliminate the possibility of the above-mentioned microdeletions/duplications syndromes. If definitive diagnosis is desired, chorionic sampling or amniocentesis would be necessary, with consideration of prenatal microarray or region- specific DNA probes. In addition, chromosomal and sub-chromosomal findings greater than 3 Mb may be reported, which are rare and complex, insufficient validation may result in lower specificity. Low fetal fraction or short CNV size is a technical limitation. Consultation on the advice of a physician(s) will be necessary for such </a:t>
            </a:r>
            <a:r>
              <a:rPr lang="en-US" sz="800">
                <a:latin typeface="Calibri" panose="020F0502020204030204" pitchFamily="34" charset="0"/>
                <a:cs typeface="Calibri" panose="020F0502020204030204" pitchFamily="34" charset="0"/>
              </a:rPr>
              <a:t>findings. These </a:t>
            </a:r>
            <a:r>
              <a:rPr lang="en-US" sz="800" dirty="0">
                <a:latin typeface="Calibri" panose="020F0502020204030204" pitchFamily="34" charset="0"/>
                <a:cs typeface="Calibri" panose="020F0502020204030204" pitchFamily="34" charset="0"/>
              </a:rPr>
              <a:t>results do not eliminate the possibility that this pregnancy may be associated with other chromosomal or sub-chromosomal abnormalities, birth defects, and other conditions. This test is not intended to identify pregnancies at risk for open neural tube. In addition, there is a small possibility that the test results might not reflect the chromosome status of the fetus, but may reflect sub-chromosomal changes of the placenta (confined placental mosaicism), or of the mother. </a:t>
            </a:r>
          </a:p>
        </p:txBody>
      </p:sp>
      <p:sp>
        <p:nvSpPr>
          <p:cNvPr id="28" name="TextBox 27">
            <a:extLst>
              <a:ext uri="{FF2B5EF4-FFF2-40B4-BE49-F238E27FC236}">
                <a16:creationId xmlns:a16="http://schemas.microsoft.com/office/drawing/2014/main" id="{21FA05A4-05F5-5631-ED5A-C8FE8FD0B99D}"/>
              </a:ext>
            </a:extLst>
          </p:cNvPr>
          <p:cNvSpPr txBox="1"/>
          <p:nvPr/>
        </p:nvSpPr>
        <p:spPr>
          <a:xfrm>
            <a:off x="446345" y="9203303"/>
            <a:ext cx="1148071" cy="246221"/>
          </a:xfrm>
          <a:prstGeom prst="rect">
            <a:avLst/>
          </a:prstGeom>
          <a:noFill/>
        </p:spPr>
        <p:txBody>
          <a:bodyPr wrap="none" rtlCol="0">
            <a:spAutoFit/>
          </a:bodyPr>
          <a:lstStyle/>
          <a:p>
            <a:r>
              <a:rPr lang="en-US" sz="1000" b="1" dirty="0">
                <a:solidFill>
                  <a:srgbClr val="1975C0"/>
                </a:solidFill>
                <a:latin typeface="Calibri" panose="020F0502020204030204" pitchFamily="34" charset="0"/>
                <a:cs typeface="Calibri" panose="020F0502020204030204" pitchFamily="34" charset="0"/>
              </a:rPr>
              <a:t>Result verified by:</a:t>
            </a:r>
          </a:p>
        </p:txBody>
      </p:sp>
      <p:sp>
        <p:nvSpPr>
          <p:cNvPr id="33" name="Rectangle: Rounded Corners 32">
            <a:extLst>
              <a:ext uri="{FF2B5EF4-FFF2-40B4-BE49-F238E27FC236}">
                <a16:creationId xmlns:a16="http://schemas.microsoft.com/office/drawing/2014/main" id="{14E8D476-86D2-C739-EC66-9595FFA7102C}"/>
              </a:ext>
            </a:extLst>
          </p:cNvPr>
          <p:cNvSpPr/>
          <p:nvPr/>
        </p:nvSpPr>
        <p:spPr>
          <a:xfrm>
            <a:off x="501650" y="9449524"/>
            <a:ext cx="5214966" cy="261179"/>
          </a:xfrm>
          <a:prstGeom prst="roundRect">
            <a:avLst/>
          </a:prstGeom>
          <a:noFill/>
          <a:ln>
            <a:solidFill>
              <a:srgbClr val="E5F6F9"/>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34" name="TextBox 33">
            <a:extLst>
              <a:ext uri="{FF2B5EF4-FFF2-40B4-BE49-F238E27FC236}">
                <a16:creationId xmlns:a16="http://schemas.microsoft.com/office/drawing/2014/main" id="{C443EFB5-DCC5-BB89-580C-A584A9AC11EB}"/>
              </a:ext>
            </a:extLst>
          </p:cNvPr>
          <p:cNvSpPr txBox="1"/>
          <p:nvPr/>
        </p:nvSpPr>
        <p:spPr>
          <a:xfrm>
            <a:off x="498896" y="9427924"/>
            <a:ext cx="3910075" cy="276999"/>
          </a:xfrm>
          <a:prstGeom prst="rect">
            <a:avLst/>
          </a:prstGeom>
          <a:noFill/>
        </p:spPr>
        <p:txBody>
          <a:bodyPr wrap="square" rtlCol="0">
            <a:spAutoFit/>
          </a:bodyPr>
          <a:lstStyle/>
          <a:p>
            <a:r>
              <a:rPr lang="en-US" sz="1200" dirty="0">
                <a:latin typeface="Calibri" panose="020F0502020204030204" pitchFamily="34" charset="0"/>
                <a:cs typeface="Calibri" panose="020F0502020204030204" pitchFamily="34" charset="0"/>
              </a:rPr>
              <a:t>Cordlife Laboratory Director : </a:t>
            </a:r>
            <a:r>
              <a:rPr lang="en-US" sz="1200" dirty="0" err="1">
                <a:latin typeface="Calibri" panose="020F0502020204030204" pitchFamily="34" charset="0"/>
                <a:cs typeface="Calibri" panose="020F0502020204030204" pitchFamily="34" charset="0"/>
              </a:rPr>
              <a:t>Yuyus</a:t>
            </a:r>
            <a:r>
              <a:rPr lang="en-US" sz="1200" dirty="0">
                <a:latin typeface="Calibri" panose="020F0502020204030204" pitchFamily="34" charset="0"/>
                <a:cs typeface="Calibri" panose="020F0502020204030204" pitchFamily="34" charset="0"/>
              </a:rPr>
              <a:t> </a:t>
            </a:r>
            <a:r>
              <a:rPr lang="en-US" sz="1200" dirty="0" err="1">
                <a:latin typeface="Calibri" panose="020F0502020204030204" pitchFamily="34" charset="0"/>
                <a:cs typeface="Calibri" panose="020F0502020204030204" pitchFamily="34" charset="0"/>
              </a:rPr>
              <a:t>Kusnadi</a:t>
            </a:r>
            <a:r>
              <a:rPr lang="en-US" sz="1200" dirty="0">
                <a:latin typeface="Calibri" panose="020F0502020204030204" pitchFamily="34" charset="0"/>
                <a:cs typeface="Calibri" panose="020F0502020204030204" pitchFamily="34" charset="0"/>
              </a:rPr>
              <a:t>, PhD</a:t>
            </a:r>
            <a:endParaRPr lang="en-ID" sz="1200" dirty="0">
              <a:latin typeface="Calibri" panose="020F0502020204030204" pitchFamily="34" charset="0"/>
              <a:cs typeface="Calibri" panose="020F0502020204030204" pitchFamily="34" charset="0"/>
            </a:endParaRPr>
          </a:p>
        </p:txBody>
      </p:sp>
      <p:sp>
        <p:nvSpPr>
          <p:cNvPr id="5" name="TextBox 4">
            <a:extLst>
              <a:ext uri="{FF2B5EF4-FFF2-40B4-BE49-F238E27FC236}">
                <a16:creationId xmlns:a16="http://schemas.microsoft.com/office/drawing/2014/main" id="{9E8ADAFD-3C8B-D5A8-C0EA-DDF4F8506E2E}"/>
              </a:ext>
            </a:extLst>
          </p:cNvPr>
          <p:cNvSpPr txBox="1"/>
          <p:nvPr/>
        </p:nvSpPr>
        <p:spPr>
          <a:xfrm>
            <a:off x="5713863" y="9220678"/>
            <a:ext cx="857250" cy="338554"/>
          </a:xfrm>
          <a:prstGeom prst="rect">
            <a:avLst/>
          </a:prstGeom>
          <a:noFill/>
        </p:spPr>
        <p:txBody>
          <a:bodyPr wrap="square" rtlCol="0">
            <a:spAutoFit/>
          </a:bodyPr>
          <a:lstStyle/>
          <a:p>
            <a:pPr algn="ctr"/>
            <a:r>
              <a:rPr lang="pt-BR" sz="800" dirty="0">
                <a:solidFill>
                  <a:srgbClr val="000000"/>
                </a:solidFill>
                <a:latin typeface="Calibri" panose="020F0502020204030204" pitchFamily="34" charset="0"/>
              </a:rPr>
              <a:t>DCR No.: 3127 </a:t>
            </a:r>
          </a:p>
          <a:p>
            <a:pPr algn="ctr"/>
            <a:r>
              <a:rPr lang="pt-BR" sz="800" dirty="0">
                <a:solidFill>
                  <a:srgbClr val="000000"/>
                </a:solidFill>
                <a:latin typeface="Calibri" panose="020F0502020204030204" pitchFamily="34" charset="0"/>
              </a:rPr>
              <a:t>QR G1.1-6-2-a</a:t>
            </a:r>
            <a:endParaRPr lang="en-ID" sz="800" dirty="0"/>
          </a:p>
        </p:txBody>
      </p:sp>
      <p:sp>
        <p:nvSpPr>
          <p:cNvPr id="4" name="Rectangle 3">
            <a:extLst>
              <a:ext uri="{FF2B5EF4-FFF2-40B4-BE49-F238E27FC236}">
                <a16:creationId xmlns:a16="http://schemas.microsoft.com/office/drawing/2014/main" id="{C3BFBF21-18FF-5C2F-BF2D-12C0B791A9C0}"/>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6" name="Rectangle 5">
            <a:extLst>
              <a:ext uri="{FF2B5EF4-FFF2-40B4-BE49-F238E27FC236}">
                <a16:creationId xmlns:a16="http://schemas.microsoft.com/office/drawing/2014/main" id="{7D3E4179-B1B6-EE68-C94A-4209DC0C6AB6}"/>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7" name="Rectangle 6">
            <a:extLst>
              <a:ext uri="{FF2B5EF4-FFF2-40B4-BE49-F238E27FC236}">
                <a16:creationId xmlns:a16="http://schemas.microsoft.com/office/drawing/2014/main" id="{6A5BF215-806A-3BFE-F9CD-D62EB2A7CF7B}"/>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14" name="TextBox 13">
            <a:extLst>
              <a:ext uri="{FF2B5EF4-FFF2-40B4-BE49-F238E27FC236}">
                <a16:creationId xmlns:a16="http://schemas.microsoft.com/office/drawing/2014/main" id="{98EA083C-C009-FB6F-F327-CAFE0F80980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3" name="TextBox 2">
            <a:extLst>
              <a:ext uri="{FF2B5EF4-FFF2-40B4-BE49-F238E27FC236}">
                <a16:creationId xmlns:a16="http://schemas.microsoft.com/office/drawing/2014/main" id="{85E576D5-A53C-C007-7E76-2170170C35DB}"/>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2" name="TextBox 1">
            <a:extLst>
              <a:ext uri="{FF2B5EF4-FFF2-40B4-BE49-F238E27FC236}">
                <a16:creationId xmlns:a16="http://schemas.microsoft.com/office/drawing/2014/main" id="{B2209844-89A6-C8B0-BD35-D4D66185A36E}"/>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21471410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Rectangle 11">
            <a:extLst>
              <a:ext uri="{FF2B5EF4-FFF2-40B4-BE49-F238E27FC236}">
                <a16:creationId xmlns:a16="http://schemas.microsoft.com/office/drawing/2014/main" id="{7CA9F03C-C0C8-69FC-D232-9360D2FE9B59}"/>
              </a:ext>
            </a:extLst>
          </p:cNvPr>
          <p:cNvSpPr/>
          <p:nvPr/>
        </p:nvSpPr>
        <p:spPr>
          <a:xfrm>
            <a:off x="4214805" y="181606"/>
            <a:ext cx="2259657" cy="584775"/>
          </a:xfrm>
          <a:prstGeom prst="rect">
            <a:avLst/>
          </a:prstGeom>
          <a:noFill/>
        </p:spPr>
        <p:txBody>
          <a:bodyPr wrap="none" lIns="91440" tIns="45720" rIns="91440" bIns="45720">
            <a:spAutoFit/>
            <a:scene3d>
              <a:camera prst="orthographicFront"/>
              <a:lightRig rig="soft" dir="t">
                <a:rot lat="0" lon="0" rev="15600000"/>
              </a:lightRig>
            </a:scene3d>
            <a:sp3d extrusionH="57150" prstMaterial="softEdge">
              <a:bevelT w="25400" h="38100"/>
            </a:sp3d>
          </a:bodyPr>
          <a:lstStyle/>
          <a:p>
            <a:pPr algn="ctr"/>
            <a:r>
              <a:rPr lang="en-US" sz="3200" b="1" cap="none" spc="0" dirty="0">
                <a:ln/>
                <a:solidFill>
                  <a:srgbClr val="01A3C9"/>
                </a:solidFill>
                <a:effectLst/>
                <a:latin typeface="Calibri" panose="020F0502020204030204" pitchFamily="34" charset="0"/>
                <a:cs typeface="Calibri" panose="020F0502020204030204" pitchFamily="34" charset="0"/>
              </a:rPr>
              <a:t>NIPT </a:t>
            </a:r>
            <a:r>
              <a:rPr lang="en-US" sz="2000" cap="none" spc="0" dirty="0">
                <a:ln/>
                <a:solidFill>
                  <a:srgbClr val="01A3C9"/>
                </a:solidFill>
                <a:effectLst/>
                <a:latin typeface="Calibri" panose="020F0502020204030204" pitchFamily="34" charset="0"/>
                <a:cs typeface="Calibri" panose="020F0502020204030204" pitchFamily="34" charset="0"/>
              </a:rPr>
              <a:t>Test Report</a:t>
            </a:r>
            <a:endParaRPr lang="en-US" sz="3200" cap="none" spc="0" dirty="0">
              <a:ln/>
              <a:solidFill>
                <a:srgbClr val="01A3C9"/>
              </a:solidFill>
              <a:effectLst/>
              <a:latin typeface="Calibri" panose="020F0502020204030204" pitchFamily="34" charset="0"/>
              <a:cs typeface="Calibri" panose="020F0502020204030204" pitchFamily="34" charset="0"/>
            </a:endParaRPr>
          </a:p>
        </p:txBody>
      </p:sp>
      <p:sp>
        <p:nvSpPr>
          <p:cNvPr id="22" name="TextBox 21">
            <a:extLst>
              <a:ext uri="{FF2B5EF4-FFF2-40B4-BE49-F238E27FC236}">
                <a16:creationId xmlns:a16="http://schemas.microsoft.com/office/drawing/2014/main" id="{5D2A34DF-A85D-AFAC-37DA-EDB3DA2BCD69}"/>
              </a:ext>
            </a:extLst>
          </p:cNvPr>
          <p:cNvSpPr txBox="1"/>
          <p:nvPr/>
        </p:nvSpPr>
        <p:spPr>
          <a:xfrm>
            <a:off x="430623" y="1798467"/>
            <a:ext cx="3742660" cy="307777"/>
          </a:xfrm>
          <a:prstGeom prst="rect">
            <a:avLst/>
          </a:prstGeom>
          <a:noFill/>
        </p:spPr>
        <p:txBody>
          <a:bodyPr wrap="square">
            <a:spAutoFit/>
          </a:bodyPr>
          <a:lstStyle/>
          <a:p>
            <a:r>
              <a:rPr lang="en-US" sz="1400" b="1" dirty="0">
                <a:solidFill>
                  <a:srgbClr val="256D9D"/>
                </a:solidFill>
                <a:latin typeface="Calibri" panose="020F0502020204030204" pitchFamily="34" charset="0"/>
                <a:cs typeface="Calibri" panose="020F0502020204030204" pitchFamily="34" charset="0"/>
              </a:rPr>
              <a:t>ABOUT CORDLIFE NIPT</a:t>
            </a:r>
          </a:p>
        </p:txBody>
      </p:sp>
      <p:sp>
        <p:nvSpPr>
          <p:cNvPr id="13" name="TextBox 12">
            <a:extLst>
              <a:ext uri="{FF2B5EF4-FFF2-40B4-BE49-F238E27FC236}">
                <a16:creationId xmlns:a16="http://schemas.microsoft.com/office/drawing/2014/main" id="{37754FAC-03F1-BCC7-92A9-9BBA783CFE39}"/>
              </a:ext>
            </a:extLst>
          </p:cNvPr>
          <p:cNvSpPr txBox="1"/>
          <p:nvPr/>
        </p:nvSpPr>
        <p:spPr>
          <a:xfrm>
            <a:off x="5770169" y="9510229"/>
            <a:ext cx="660758" cy="215444"/>
          </a:xfrm>
          <a:prstGeom prst="rect">
            <a:avLst/>
          </a:prstGeom>
          <a:noFill/>
        </p:spPr>
        <p:txBody>
          <a:bodyPr wrap="none" rtlCol="0">
            <a:spAutoFit/>
          </a:bodyPr>
          <a:lstStyle/>
          <a:p>
            <a:r>
              <a:rPr lang="en-US" sz="800" i="1" dirty="0">
                <a:solidFill>
                  <a:schemeClr val="tx1">
                    <a:lumMod val="50000"/>
                    <a:lumOff val="50000"/>
                  </a:schemeClr>
                </a:solidFill>
                <a:latin typeface="Calibri" panose="020F0502020204030204" pitchFamily="34" charset="0"/>
                <a:cs typeface="Calibri" panose="020F0502020204030204" pitchFamily="34" charset="0"/>
              </a:rPr>
              <a:t>Page 3 of 3</a:t>
            </a:r>
          </a:p>
        </p:txBody>
      </p:sp>
      <p:sp>
        <p:nvSpPr>
          <p:cNvPr id="16" name="TextBox 15">
            <a:extLst>
              <a:ext uri="{FF2B5EF4-FFF2-40B4-BE49-F238E27FC236}">
                <a16:creationId xmlns:a16="http://schemas.microsoft.com/office/drawing/2014/main" id="{DC73C67E-DF8C-C2DA-0A2D-B06FBC379BE1}"/>
              </a:ext>
            </a:extLst>
          </p:cNvPr>
          <p:cNvSpPr txBox="1"/>
          <p:nvPr/>
        </p:nvSpPr>
        <p:spPr>
          <a:xfrm>
            <a:off x="430623" y="2071689"/>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Definition(s)</a:t>
            </a:r>
            <a:endParaRPr lang="en-US" sz="1000" dirty="0">
              <a:latin typeface="Calibri" panose="020F0502020204030204" pitchFamily="34" charset="0"/>
              <a:cs typeface="Calibri" panose="020F0502020204030204" pitchFamily="34" charset="0"/>
            </a:endParaRPr>
          </a:p>
        </p:txBody>
      </p:sp>
      <p:sp>
        <p:nvSpPr>
          <p:cNvPr id="18" name="TextBox 17">
            <a:extLst>
              <a:ext uri="{FF2B5EF4-FFF2-40B4-BE49-F238E27FC236}">
                <a16:creationId xmlns:a16="http://schemas.microsoft.com/office/drawing/2014/main" id="{1D702B0D-E9ED-91A1-3997-E42203777706}"/>
              </a:ext>
            </a:extLst>
          </p:cNvPr>
          <p:cNvSpPr txBox="1"/>
          <p:nvPr/>
        </p:nvSpPr>
        <p:spPr>
          <a:xfrm>
            <a:off x="3444723" y="2281396"/>
            <a:ext cx="2986200" cy="1046440"/>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Positive Predictive Value (PPV) </a:t>
            </a:r>
            <a:r>
              <a:rPr lang="en-US" sz="900" dirty="0">
                <a:latin typeface="Calibri" panose="020F0502020204030204" pitchFamily="34" charset="0"/>
                <a:cs typeface="Calibri" panose="020F0502020204030204" pitchFamily="34" charset="0"/>
              </a:rPr>
              <a:t>the probability that a fetus is actually affected given that the test result indicates high risk.</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Negative Predictive Value (NPV) </a:t>
            </a:r>
            <a:r>
              <a:rPr lang="en-US" sz="900" dirty="0">
                <a:latin typeface="Calibri" panose="020F0502020204030204" pitchFamily="34" charset="0"/>
                <a:cs typeface="Calibri" panose="020F0502020204030204" pitchFamily="34" charset="0"/>
              </a:rPr>
              <a:t>the probability that a fetus is truly unaffected given that the test result indicates low risk.</a:t>
            </a:r>
          </a:p>
        </p:txBody>
      </p:sp>
      <p:sp>
        <p:nvSpPr>
          <p:cNvPr id="21" name="TextBox 20">
            <a:extLst>
              <a:ext uri="{FF2B5EF4-FFF2-40B4-BE49-F238E27FC236}">
                <a16:creationId xmlns:a16="http://schemas.microsoft.com/office/drawing/2014/main" id="{07B23869-0372-6D8D-187B-E0E46E51B6AD}"/>
              </a:ext>
            </a:extLst>
          </p:cNvPr>
          <p:cNvSpPr txBox="1"/>
          <p:nvPr/>
        </p:nvSpPr>
        <p:spPr>
          <a:xfrm>
            <a:off x="430623" y="2281396"/>
            <a:ext cx="2982656" cy="769441"/>
          </a:xfrm>
          <a:prstGeom prst="rect">
            <a:avLst/>
          </a:prstGeom>
          <a:noFill/>
        </p:spPr>
        <p:txBody>
          <a:bodyPr wrap="square">
            <a:spAutoFit/>
          </a:bodyPr>
          <a:lstStyle/>
          <a:p>
            <a:pPr algn="just"/>
            <a:r>
              <a:rPr lang="en-US" sz="900" b="1" dirty="0">
                <a:solidFill>
                  <a:srgbClr val="099049"/>
                </a:solidFill>
                <a:latin typeface="Calibri" panose="020F0502020204030204" pitchFamily="34" charset="0"/>
                <a:cs typeface="Calibri" panose="020F0502020204030204" pitchFamily="34" charset="0"/>
              </a:rPr>
              <a:t>Sensitivity</a:t>
            </a:r>
            <a:r>
              <a:rPr lang="en-US" sz="900" dirty="0">
                <a:latin typeface="Calibri" panose="020F0502020204030204" pitchFamily="34" charset="0"/>
                <a:cs typeface="Calibri" panose="020F0502020204030204" pitchFamily="34" charset="0"/>
              </a:rPr>
              <a:t> is  the proportion of true high-risk cases that are correctly identified as high risk by the test.</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099049"/>
                </a:solidFill>
                <a:latin typeface="Calibri" panose="020F0502020204030204" pitchFamily="34" charset="0"/>
                <a:cs typeface="Calibri" panose="020F0502020204030204" pitchFamily="34" charset="0"/>
              </a:rPr>
              <a:t>Specificity</a:t>
            </a:r>
            <a:r>
              <a:rPr lang="en-US" sz="900" dirty="0">
                <a:latin typeface="Calibri" panose="020F0502020204030204" pitchFamily="34" charset="0"/>
                <a:cs typeface="Calibri" panose="020F0502020204030204" pitchFamily="34" charset="0"/>
              </a:rPr>
              <a:t> is the proportion of true unaffected cases that are correctly identified as low risk by the test.</a:t>
            </a:r>
          </a:p>
        </p:txBody>
      </p:sp>
      <p:sp>
        <p:nvSpPr>
          <p:cNvPr id="24" name="TextBox 23">
            <a:extLst>
              <a:ext uri="{FF2B5EF4-FFF2-40B4-BE49-F238E27FC236}">
                <a16:creationId xmlns:a16="http://schemas.microsoft.com/office/drawing/2014/main" id="{916CC831-1D0D-CAC5-759D-5FFAAE033D14}"/>
              </a:ext>
            </a:extLst>
          </p:cNvPr>
          <p:cNvSpPr txBox="1"/>
          <p:nvPr/>
        </p:nvSpPr>
        <p:spPr>
          <a:xfrm>
            <a:off x="430622" y="5711816"/>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Test Information</a:t>
            </a:r>
            <a:endParaRPr lang="en-US" sz="1000" dirty="0">
              <a:latin typeface="Calibri" panose="020F0502020204030204" pitchFamily="34" charset="0"/>
              <a:cs typeface="Calibri" panose="020F0502020204030204" pitchFamily="34" charset="0"/>
            </a:endParaRPr>
          </a:p>
        </p:txBody>
      </p:sp>
      <p:sp>
        <p:nvSpPr>
          <p:cNvPr id="8" name="TextBox 7">
            <a:extLst>
              <a:ext uri="{FF2B5EF4-FFF2-40B4-BE49-F238E27FC236}">
                <a16:creationId xmlns:a16="http://schemas.microsoft.com/office/drawing/2014/main" id="{D9F77E85-5567-A504-E77C-AA92EE25C50C}"/>
              </a:ext>
            </a:extLst>
          </p:cNvPr>
          <p:cNvSpPr txBox="1"/>
          <p:nvPr/>
        </p:nvSpPr>
        <p:spPr>
          <a:xfrm>
            <a:off x="446345" y="3344934"/>
            <a:ext cx="2998378" cy="261610"/>
          </a:xfrm>
          <a:prstGeom prst="rect">
            <a:avLst/>
          </a:prstGeom>
          <a:noFill/>
        </p:spPr>
        <p:txBody>
          <a:bodyPr wrap="square" rtlCol="0">
            <a:spAutoFit/>
          </a:bodyPr>
          <a:lstStyle/>
          <a:p>
            <a:r>
              <a:rPr lang="en-US" sz="1100" b="1" dirty="0">
                <a:latin typeface="Calibri" panose="020F0502020204030204" pitchFamily="34" charset="0"/>
                <a:cs typeface="Calibri" panose="020F0502020204030204" pitchFamily="34" charset="0"/>
              </a:rPr>
              <a:t>General Test Performance</a:t>
            </a:r>
            <a:endParaRPr lang="en-US" sz="1000" dirty="0">
              <a:latin typeface="Calibri" panose="020F0502020204030204" pitchFamily="34" charset="0"/>
              <a:cs typeface="Calibri" panose="020F0502020204030204" pitchFamily="34" charset="0"/>
            </a:endParaRPr>
          </a:p>
        </p:txBody>
      </p:sp>
      <p:sp>
        <p:nvSpPr>
          <p:cNvPr id="14" name="Rectangle 13">
            <a:extLst>
              <a:ext uri="{FF2B5EF4-FFF2-40B4-BE49-F238E27FC236}">
                <a16:creationId xmlns:a16="http://schemas.microsoft.com/office/drawing/2014/main" id="{4DB2ACAE-EF50-D385-0298-964884111D5F}"/>
              </a:ext>
            </a:extLst>
          </p:cNvPr>
          <p:cNvSpPr/>
          <p:nvPr/>
        </p:nvSpPr>
        <p:spPr>
          <a:xfrm>
            <a:off x="446345" y="9243237"/>
            <a:ext cx="5252706" cy="481157"/>
          </a:xfrm>
          <a:prstGeom prst="rect">
            <a:avLst/>
          </a:prstGeom>
          <a:solidFill>
            <a:srgbClr val="00A6C8"/>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Calibri" panose="020F0502020204030204" pitchFamily="34" charset="0"/>
              <a:cs typeface="Calibri" panose="020F0502020204030204" pitchFamily="34" charset="0"/>
            </a:endParaRPr>
          </a:p>
        </p:txBody>
      </p:sp>
      <p:sp>
        <p:nvSpPr>
          <p:cNvPr id="17" name="TextBox 16">
            <a:extLst>
              <a:ext uri="{FF2B5EF4-FFF2-40B4-BE49-F238E27FC236}">
                <a16:creationId xmlns:a16="http://schemas.microsoft.com/office/drawing/2014/main" id="{0307D28F-DB88-1628-45AB-4764BF435B7A}"/>
              </a:ext>
            </a:extLst>
          </p:cNvPr>
          <p:cNvSpPr txBox="1"/>
          <p:nvPr/>
        </p:nvSpPr>
        <p:spPr>
          <a:xfrm>
            <a:off x="398720" y="9214510"/>
            <a:ext cx="2722170" cy="323165"/>
          </a:xfrm>
          <a:prstGeom prst="rect">
            <a:avLst/>
          </a:prstGeom>
          <a:noFill/>
        </p:spPr>
        <p:txBody>
          <a:bodyPr wrap="square" rtlCol="0">
            <a:spAutoFit/>
          </a:bodyPr>
          <a:lstStyle/>
          <a:p>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Group Ltd.</a:t>
            </a:r>
          </a:p>
          <a:p>
            <a:endParaRPr lang="en-US" sz="700" dirty="0">
              <a:solidFill>
                <a:srgbClr val="FF0000"/>
              </a:solidFill>
              <a:latin typeface="Calibri" panose="020F0502020204030204" pitchFamily="34" charset="0"/>
              <a:cs typeface="Calibri" panose="020F0502020204030204" pitchFamily="34" charset="0"/>
            </a:endParaRPr>
          </a:p>
        </p:txBody>
      </p:sp>
      <p:graphicFrame>
        <p:nvGraphicFramePr>
          <p:cNvPr id="19" name="Table 18">
            <a:extLst>
              <a:ext uri="{FF2B5EF4-FFF2-40B4-BE49-F238E27FC236}">
                <a16:creationId xmlns:a16="http://schemas.microsoft.com/office/drawing/2014/main" id="{6885B12A-027D-0C71-3252-790EFAEB1E17}"/>
              </a:ext>
            </a:extLst>
          </p:cNvPr>
          <p:cNvGraphicFramePr>
            <a:graphicFrameLocks noGrp="1"/>
          </p:cNvGraphicFramePr>
          <p:nvPr>
            <p:extLst>
              <p:ext uri="{D42A27DB-BD31-4B8C-83A1-F6EECF244321}">
                <p14:modId xmlns:p14="http://schemas.microsoft.com/office/powerpoint/2010/main" val="2018145526"/>
              </p:ext>
            </p:extLst>
          </p:nvPr>
        </p:nvGraphicFramePr>
        <p:xfrm>
          <a:off x="515895" y="3598367"/>
          <a:ext cx="5915028" cy="2127485"/>
        </p:xfrm>
        <a:graphic>
          <a:graphicData uri="http://schemas.openxmlformats.org/drawingml/2006/table">
            <a:tbl>
              <a:tblPr/>
              <a:tblGrid>
                <a:gridCol w="696955">
                  <a:extLst>
                    <a:ext uri="{9D8B030D-6E8A-4147-A177-3AD203B41FA5}">
                      <a16:colId xmlns:a16="http://schemas.microsoft.com/office/drawing/2014/main" val="828020576"/>
                    </a:ext>
                  </a:extLst>
                </a:gridCol>
                <a:gridCol w="520845">
                  <a:extLst>
                    <a:ext uri="{9D8B030D-6E8A-4147-A177-3AD203B41FA5}">
                      <a16:colId xmlns:a16="http://schemas.microsoft.com/office/drawing/2014/main" val="3384034683"/>
                    </a:ext>
                  </a:extLst>
                </a:gridCol>
                <a:gridCol w="608900">
                  <a:extLst>
                    <a:ext uri="{9D8B030D-6E8A-4147-A177-3AD203B41FA5}">
                      <a16:colId xmlns:a16="http://schemas.microsoft.com/office/drawing/2014/main" val="456906497"/>
                    </a:ext>
                  </a:extLst>
                </a:gridCol>
                <a:gridCol w="608900">
                  <a:extLst>
                    <a:ext uri="{9D8B030D-6E8A-4147-A177-3AD203B41FA5}">
                      <a16:colId xmlns:a16="http://schemas.microsoft.com/office/drawing/2014/main" val="3477495698"/>
                    </a:ext>
                  </a:extLst>
                </a:gridCol>
                <a:gridCol w="608900">
                  <a:extLst>
                    <a:ext uri="{9D8B030D-6E8A-4147-A177-3AD203B41FA5}">
                      <a16:colId xmlns:a16="http://schemas.microsoft.com/office/drawing/2014/main" val="1057236272"/>
                    </a:ext>
                  </a:extLst>
                </a:gridCol>
                <a:gridCol w="608900">
                  <a:extLst>
                    <a:ext uri="{9D8B030D-6E8A-4147-A177-3AD203B41FA5}">
                      <a16:colId xmlns:a16="http://schemas.microsoft.com/office/drawing/2014/main" val="3265217624"/>
                    </a:ext>
                  </a:extLst>
                </a:gridCol>
                <a:gridCol w="608900">
                  <a:extLst>
                    <a:ext uri="{9D8B030D-6E8A-4147-A177-3AD203B41FA5}">
                      <a16:colId xmlns:a16="http://schemas.microsoft.com/office/drawing/2014/main" val="1644197022"/>
                    </a:ext>
                  </a:extLst>
                </a:gridCol>
                <a:gridCol w="608900">
                  <a:extLst>
                    <a:ext uri="{9D8B030D-6E8A-4147-A177-3AD203B41FA5}">
                      <a16:colId xmlns:a16="http://schemas.microsoft.com/office/drawing/2014/main" val="454983325"/>
                    </a:ext>
                  </a:extLst>
                </a:gridCol>
                <a:gridCol w="521914">
                  <a:extLst>
                    <a:ext uri="{9D8B030D-6E8A-4147-A177-3AD203B41FA5}">
                      <a16:colId xmlns:a16="http://schemas.microsoft.com/office/drawing/2014/main" val="1396855724"/>
                    </a:ext>
                  </a:extLst>
                </a:gridCol>
                <a:gridCol w="521914">
                  <a:extLst>
                    <a:ext uri="{9D8B030D-6E8A-4147-A177-3AD203B41FA5}">
                      <a16:colId xmlns:a16="http://schemas.microsoft.com/office/drawing/2014/main" val="3134404346"/>
                    </a:ext>
                  </a:extLst>
                </a:gridCol>
              </a:tblGrid>
              <a:tr h="324110">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Chromosome Aneuploidies</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N</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Sensitivity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dirty="0">
                          <a:solidFill>
                            <a:srgbClr val="FFFFFF"/>
                          </a:solidFill>
                          <a:effectLst/>
                          <a:highlight>
                            <a:srgbClr val="0F9ED5"/>
                          </a:highlight>
                          <a:latin typeface="Calibri" panose="020F0502020204030204" pitchFamily="34" charset="0"/>
                          <a:cs typeface="Calibri" panose="020F0502020204030204" pitchFamily="34" charset="0"/>
                        </a:rPr>
                        <a:t>Specificity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PPV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NPV</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tc>
                  <a:txBody>
                    <a:bodyPr/>
                    <a:lstStyle/>
                    <a:p>
                      <a:pPr algn="ctr" rtl="0" fontAlgn="ctr"/>
                      <a:r>
                        <a:rPr lang="en-ID" sz="750" b="1" i="0" u="none" strike="noStrike">
                          <a:solidFill>
                            <a:srgbClr val="FFFFFF"/>
                          </a:solidFill>
                          <a:effectLst/>
                          <a:highlight>
                            <a:srgbClr val="0F9ED5"/>
                          </a:highlight>
                          <a:latin typeface="Calibri" panose="020F0502020204030204" pitchFamily="34" charset="0"/>
                          <a:cs typeface="Calibri" panose="020F0502020204030204" pitchFamily="34" charset="0"/>
                        </a:rPr>
                        <a:t>95% CI</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0F9ED5"/>
                    </a:solidFill>
                  </a:tcPr>
                </a:tc>
                <a:extLst>
                  <a:ext uri="{0D108BD9-81ED-4DB2-BD59-A6C34878D82A}">
                    <a16:rowId xmlns:a16="http://schemas.microsoft.com/office/drawing/2014/main" val="3187033463"/>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T21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92.59 - 100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2929797979"/>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T18</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83.89 - 100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583648907"/>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T13</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75.75 - 100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67491429"/>
                  </a:ext>
                </a:extLst>
              </a:tr>
              <a:tr h="257625">
                <a:tc>
                  <a:txBody>
                    <a:bodyPr/>
                    <a:lstStyle/>
                    <a:p>
                      <a:pPr algn="ctr" rtl="0"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XO</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86.2 - 100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99.95%</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99.83 - 99.99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92.31%</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75.86 - 97.86</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1141652948"/>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56.55 - 100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983530270"/>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XXX</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905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43.85 - 100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3689875215"/>
                  </a:ext>
                </a:extLst>
              </a:tr>
              <a:tr h="257625">
                <a:tc>
                  <a:txBody>
                    <a:bodyPr/>
                    <a:lstStyle/>
                    <a:p>
                      <a:pPr algn="ctr" rtl="0"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XYY</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4364</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905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34.24 - 100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a:solidFill>
                            <a:srgbClr val="000000"/>
                          </a:solidFill>
                          <a:effectLst/>
                          <a:highlight>
                            <a:srgbClr val="F3F8FA"/>
                          </a:highlight>
                          <a:latin typeface="Calibri" panose="020F0502020204030204" pitchFamily="34" charset="0"/>
                          <a:cs typeface="Calibri" panose="020F0502020204030204" pitchFamily="34" charset="0"/>
                        </a:rPr>
                        <a:t>&gt;99.99%</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tc>
                  <a:txBody>
                    <a:bodyPr/>
                    <a:lstStyle/>
                    <a:p>
                      <a:pPr algn="ctr" fontAlgn="ctr"/>
                      <a:r>
                        <a:rPr lang="en-ID" sz="750" b="0" i="0" u="none" strike="noStrike" dirty="0">
                          <a:solidFill>
                            <a:srgbClr val="000000"/>
                          </a:solidFill>
                          <a:effectLst/>
                          <a:highlight>
                            <a:srgbClr val="F3F8FA"/>
                          </a:highlight>
                          <a:latin typeface="Calibri" panose="020F0502020204030204" pitchFamily="34" charset="0"/>
                          <a:cs typeface="Calibri" panose="020F0502020204030204" pitchFamily="34" charset="0"/>
                        </a:rPr>
                        <a:t>99.91 - 100</a:t>
                      </a:r>
                    </a:p>
                  </a:txBody>
                  <a:tcPr marL="5437" marR="5437" marT="5437" marB="0" anchor="ctr">
                    <a:lnL w="12700" cap="flat" cmpd="sng" algn="ctr">
                      <a:solidFill>
                        <a:srgbClr val="FFFFFF"/>
                      </a:solidFill>
                      <a:prstDash val="solid"/>
                      <a:round/>
                      <a:headEnd type="none" w="med" len="med"/>
                      <a:tailEnd type="none" w="med" len="med"/>
                    </a:lnL>
                    <a:lnR w="12700" cap="flat" cmpd="sng" algn="ctr">
                      <a:solidFill>
                        <a:srgbClr val="FFFFFF"/>
                      </a:solidFill>
                      <a:prstDash val="solid"/>
                      <a:round/>
                      <a:headEnd type="none" w="med" len="med"/>
                      <a:tailEnd type="none" w="med" len="med"/>
                    </a:lnR>
                    <a:lnT w="12700" cap="flat" cmpd="sng" algn="ctr">
                      <a:solidFill>
                        <a:srgbClr val="FFFFFF"/>
                      </a:solidFill>
                      <a:prstDash val="solid"/>
                      <a:round/>
                      <a:headEnd type="none" w="med" len="med"/>
                      <a:tailEnd type="none" w="med" len="med"/>
                    </a:lnT>
                    <a:lnB w="12700" cap="flat" cmpd="sng" algn="ctr">
                      <a:solidFill>
                        <a:srgbClr val="FFFFFF"/>
                      </a:solidFill>
                      <a:prstDash val="solid"/>
                      <a:round/>
                      <a:headEnd type="none" w="med" len="med"/>
                      <a:tailEnd type="none" w="med" len="med"/>
                    </a:lnB>
                    <a:solidFill>
                      <a:srgbClr val="F3F8FA"/>
                    </a:solidFill>
                  </a:tcPr>
                </a:tc>
                <a:extLst>
                  <a:ext uri="{0D108BD9-81ED-4DB2-BD59-A6C34878D82A}">
                    <a16:rowId xmlns:a16="http://schemas.microsoft.com/office/drawing/2014/main" val="456435667"/>
                  </a:ext>
                </a:extLst>
              </a:tr>
            </a:tbl>
          </a:graphicData>
        </a:graphic>
      </p:graphicFrame>
      <p:sp>
        <p:nvSpPr>
          <p:cNvPr id="5" name="TextBox 4">
            <a:extLst>
              <a:ext uri="{FF2B5EF4-FFF2-40B4-BE49-F238E27FC236}">
                <a16:creationId xmlns:a16="http://schemas.microsoft.com/office/drawing/2014/main" id="{83BDE22F-18DA-6614-035F-9062356BF7B7}"/>
              </a:ext>
            </a:extLst>
          </p:cNvPr>
          <p:cNvSpPr txBox="1"/>
          <p:nvPr/>
        </p:nvSpPr>
        <p:spPr>
          <a:xfrm>
            <a:off x="427072" y="7894705"/>
            <a:ext cx="5996103" cy="1115690"/>
          </a:xfrm>
          <a:prstGeom prst="rect">
            <a:avLst/>
          </a:prstGeom>
          <a:noFill/>
        </p:spPr>
        <p:txBody>
          <a:bodyPr wrap="square" rtlCol="0">
            <a:spAutoFit/>
          </a:bodyPr>
          <a:lstStyle/>
          <a:p>
            <a:pPr algn="just"/>
            <a:r>
              <a:rPr lang="en-US" sz="1050" b="1" dirty="0">
                <a:latin typeface="Calibri" panose="020F0502020204030204" pitchFamily="34" charset="0"/>
                <a:cs typeface="Calibri" panose="020F0502020204030204" pitchFamily="34" charset="0"/>
              </a:rPr>
              <a:t>References:</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YM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Dennis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Lo,</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RWK</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Chiu,</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chromosomal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by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maternal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plasma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nucleic</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acid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analysis;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Clinical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chemistry,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2008.</a:t>
            </a:r>
          </a:p>
          <a:p>
            <a:pPr marL="104140" marR="10795"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Bianchi</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OW</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sequencing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versus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standard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Engl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J</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2014;</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370:799-808.</a:t>
            </a:r>
          </a:p>
          <a:p>
            <a:pPr marL="104140" marR="10795" lvl="0" indent="-91440">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Anthony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screening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update: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position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statement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the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American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College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Medical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Genomics.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Genet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Med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2016;</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13:1056-65.</a:t>
            </a:r>
          </a:p>
          <a:p>
            <a:pPr marL="108585" marR="8255" lvl="0" indent="-95885">
              <a:buClr>
                <a:srgbClr val="000000"/>
              </a:buClr>
              <a:buSzPts val="650"/>
              <a:buFont typeface="Arial"/>
              <a:buAutoNum type="arabicPeriod"/>
            </a:pPr>
            <a:r>
              <a:rPr lang="en-US" sz="800" dirty="0">
                <a:solidFill>
                  <a:srgbClr val="000000"/>
                </a:solidFill>
                <a:latin typeface="Calibri" panose="020F0502020204030204" pitchFamily="34" charset="0"/>
                <a:ea typeface="Arial"/>
                <a:cs typeface="Calibri" panose="020F0502020204030204" pitchFamily="34" charset="0"/>
                <a:sym typeface="Arial"/>
              </a:rPr>
              <a:t>Chen,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et</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Validation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of</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fetal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DNA</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fraction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estimation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and</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its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application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noninvasive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testing</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for</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aneuploidy</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detection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in</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multiple</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pregnancies.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Prenatal</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Diagnosis,</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dirty="0">
                <a:solidFill>
                  <a:srgbClr val="000000"/>
                </a:solidFill>
                <a:latin typeface="Calibri" panose="020F0502020204030204" pitchFamily="34" charset="0"/>
                <a:ea typeface="Arial"/>
                <a:cs typeface="Calibri" panose="020F0502020204030204" pitchFamily="34" charset="0"/>
                <a:sym typeface="Arial"/>
              </a:rPr>
              <a:t>2019.</a:t>
            </a:r>
            <a:r>
              <a:rPr lang="en-US" sz="800" dirty="0">
                <a:solidFill>
                  <a:srgbClr val="000000"/>
                </a:solidFill>
                <a:latin typeface="Calibri" panose="020F0502020204030204" pitchFamily="34" charset="0"/>
                <a:ea typeface="Times New Roman"/>
                <a:cs typeface="Calibri" panose="020F0502020204030204" pitchFamily="34" charset="0"/>
                <a:sym typeface="Times New Roman"/>
              </a:rPr>
              <a:t> </a:t>
            </a:r>
            <a:r>
              <a:rPr lang="en-US" sz="800">
                <a:solidFill>
                  <a:srgbClr val="000000"/>
                </a:solidFill>
                <a:latin typeface="Calibri" panose="020F0502020204030204" pitchFamily="34" charset="0"/>
                <a:ea typeface="Arial"/>
                <a:cs typeface="Calibri" panose="020F0502020204030204" pitchFamily="34" charset="0"/>
                <a:sym typeface="Arial"/>
              </a:rPr>
              <a:t>39(13):1273-1282.</a:t>
            </a:r>
            <a:endParaRPr lang="en-US" sz="800" dirty="0">
              <a:solidFill>
                <a:srgbClr val="000000"/>
              </a:solidFill>
              <a:latin typeface="Calibri" panose="020F0502020204030204" pitchFamily="34" charset="0"/>
              <a:ea typeface="Arial"/>
              <a:cs typeface="Calibri" panose="020F0502020204030204" pitchFamily="34" charset="0"/>
              <a:sym typeface="Arial"/>
            </a:endParaRPr>
          </a:p>
        </p:txBody>
      </p:sp>
      <p:sp>
        <p:nvSpPr>
          <p:cNvPr id="20" name="TextBox 19">
            <a:extLst>
              <a:ext uri="{FF2B5EF4-FFF2-40B4-BE49-F238E27FC236}">
                <a16:creationId xmlns:a16="http://schemas.microsoft.com/office/drawing/2014/main" id="{16A7A226-4281-5A45-C110-38218C55B026}"/>
              </a:ext>
            </a:extLst>
          </p:cNvPr>
          <p:cNvSpPr txBox="1"/>
          <p:nvPr/>
        </p:nvSpPr>
        <p:spPr>
          <a:xfrm>
            <a:off x="2557354" y="9214885"/>
            <a:ext cx="3243371" cy="538609"/>
          </a:xfrm>
          <a:prstGeom prst="rect">
            <a:avLst/>
          </a:prstGeom>
          <a:noFill/>
        </p:spPr>
        <p:txBody>
          <a:bodyPr wrap="square" rtlCol="0">
            <a:spAutoFit/>
          </a:bodyPr>
          <a:lstStyle/>
          <a:p>
            <a:r>
              <a:rPr lang="en-US" sz="800" b="1" dirty="0">
                <a:solidFill>
                  <a:schemeClr val="bg1"/>
                </a:solidFill>
                <a:latin typeface="Calibri" panose="020F0502020204030204" pitchFamily="34" charset="0"/>
                <a:cs typeface="Calibri" panose="020F0502020204030204" pitchFamily="34" charset="0"/>
              </a:rPr>
              <a:t>Laboratory: PT </a:t>
            </a:r>
            <a:r>
              <a:rPr lang="en-US" sz="800" b="1" dirty="0" err="1">
                <a:solidFill>
                  <a:schemeClr val="bg1"/>
                </a:solidFill>
                <a:latin typeface="Calibri" panose="020F0502020204030204" pitchFamily="34" charset="0"/>
                <a:cs typeface="Calibri" panose="020F0502020204030204" pitchFamily="34" charset="0"/>
              </a:rPr>
              <a:t>Cordlife</a:t>
            </a:r>
            <a:r>
              <a:rPr lang="en-US" sz="800" b="1" dirty="0">
                <a:solidFill>
                  <a:schemeClr val="bg1"/>
                </a:solidFill>
                <a:latin typeface="Calibri" panose="020F0502020204030204" pitchFamily="34" charset="0"/>
                <a:cs typeface="Calibri" panose="020F0502020204030204" pitchFamily="34" charset="0"/>
              </a:rPr>
              <a:t> </a:t>
            </a:r>
            <a:r>
              <a:rPr lang="en-US" sz="800" b="1" dirty="0" err="1">
                <a:solidFill>
                  <a:schemeClr val="bg1"/>
                </a:solidFill>
                <a:latin typeface="Calibri" panose="020F0502020204030204" pitchFamily="34" charset="0"/>
                <a:cs typeface="Calibri" panose="020F0502020204030204" pitchFamily="34" charset="0"/>
              </a:rPr>
              <a:t>Persada</a:t>
            </a:r>
            <a:endParaRPr lang="en-US" sz="800" b="1" dirty="0">
              <a:solidFill>
                <a:schemeClr val="bg1"/>
              </a:solidFill>
              <a:latin typeface="Calibri" panose="020F0502020204030204" pitchFamily="34" charset="0"/>
              <a:cs typeface="Calibri" panose="020F0502020204030204" pitchFamily="34" charset="0"/>
            </a:endParaRPr>
          </a:p>
          <a:p>
            <a:r>
              <a:rPr lang="en-US" sz="700" dirty="0">
                <a:solidFill>
                  <a:schemeClr val="bg1"/>
                </a:solidFill>
                <a:latin typeface="Calibri" panose="020F0502020204030204" pitchFamily="34" charset="0"/>
                <a:cs typeface="Calibri" panose="020F0502020204030204" pitchFamily="34" charset="0"/>
              </a:rPr>
              <a:t>Jl. </a:t>
            </a:r>
            <a:r>
              <a:rPr lang="en-US" sz="700" dirty="0" err="1">
                <a:solidFill>
                  <a:schemeClr val="bg1"/>
                </a:solidFill>
                <a:latin typeface="Calibri" panose="020F0502020204030204" pitchFamily="34" charset="0"/>
                <a:cs typeface="Calibri" panose="020F0502020204030204" pitchFamily="34" charset="0"/>
              </a:rPr>
              <a:t>Bungur</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Besar</a:t>
            </a:r>
            <a:r>
              <a:rPr lang="en-US" sz="700" dirty="0">
                <a:solidFill>
                  <a:schemeClr val="bg1"/>
                </a:solidFill>
                <a:latin typeface="Calibri" panose="020F0502020204030204" pitchFamily="34" charset="0"/>
                <a:cs typeface="Calibri" panose="020F0502020204030204" pitchFamily="34" charset="0"/>
              </a:rPr>
              <a:t> Raya No. 23, </a:t>
            </a:r>
            <a:r>
              <a:rPr lang="en-US" sz="700" dirty="0" err="1">
                <a:solidFill>
                  <a:schemeClr val="bg1"/>
                </a:solidFill>
                <a:latin typeface="Calibri" panose="020F0502020204030204" pitchFamily="34" charset="0"/>
                <a:cs typeface="Calibri" panose="020F0502020204030204" pitchFamily="34" charset="0"/>
              </a:rPr>
              <a:t>Gunung</a:t>
            </a:r>
            <a:r>
              <a:rPr lang="en-US" sz="700" dirty="0">
                <a:solidFill>
                  <a:schemeClr val="bg1"/>
                </a:solidFill>
                <a:latin typeface="Calibri" panose="020F0502020204030204" pitchFamily="34" charset="0"/>
                <a:cs typeface="Calibri" panose="020F0502020204030204" pitchFamily="34" charset="0"/>
              </a:rPr>
              <a:t> </a:t>
            </a:r>
            <a:r>
              <a:rPr lang="en-US" sz="700" dirty="0" err="1">
                <a:solidFill>
                  <a:schemeClr val="bg1"/>
                </a:solidFill>
                <a:latin typeface="Calibri" panose="020F0502020204030204" pitchFamily="34" charset="0"/>
                <a:cs typeface="Calibri" panose="020F0502020204030204" pitchFamily="34" charset="0"/>
              </a:rPr>
              <a:t>Sahari</a:t>
            </a:r>
            <a:r>
              <a:rPr lang="en-US" sz="700" dirty="0">
                <a:solidFill>
                  <a:schemeClr val="bg1"/>
                </a:solidFill>
                <a:latin typeface="Calibri" panose="020F0502020204030204" pitchFamily="34" charset="0"/>
                <a:cs typeface="Calibri" panose="020F0502020204030204" pitchFamily="34" charset="0"/>
              </a:rPr>
              <a:t> Selatan</a:t>
            </a:r>
          </a:p>
          <a:p>
            <a:r>
              <a:rPr lang="en-US" sz="700" dirty="0" err="1">
                <a:solidFill>
                  <a:schemeClr val="bg1"/>
                </a:solidFill>
                <a:latin typeface="Calibri" panose="020F0502020204030204" pitchFamily="34" charset="0"/>
                <a:cs typeface="Calibri" panose="020F0502020204030204" pitchFamily="34" charset="0"/>
              </a:rPr>
              <a:t>Kemayoran</a:t>
            </a:r>
            <a:r>
              <a:rPr lang="en-US" sz="700" dirty="0">
                <a:solidFill>
                  <a:schemeClr val="bg1"/>
                </a:solidFill>
                <a:latin typeface="Calibri" panose="020F0502020204030204" pitchFamily="34" charset="0"/>
                <a:cs typeface="Calibri" panose="020F0502020204030204" pitchFamily="34" charset="0"/>
              </a:rPr>
              <a:t>, Jakarta Pusat</a:t>
            </a:r>
          </a:p>
          <a:p>
            <a:r>
              <a:rPr lang="en-US" sz="700" dirty="0">
                <a:solidFill>
                  <a:schemeClr val="bg1"/>
                </a:solidFill>
                <a:latin typeface="Calibri" panose="020F0502020204030204" pitchFamily="34" charset="0"/>
                <a:cs typeface="Calibri" panose="020F0502020204030204" pitchFamily="34" charset="0"/>
              </a:rPr>
              <a:t>Phone: 62-21-8086-4674    Email: info@id.cordlife.com</a:t>
            </a:r>
          </a:p>
        </p:txBody>
      </p:sp>
      <p:sp>
        <p:nvSpPr>
          <p:cNvPr id="3" name="TextBox 2">
            <a:extLst>
              <a:ext uri="{FF2B5EF4-FFF2-40B4-BE49-F238E27FC236}">
                <a16:creationId xmlns:a16="http://schemas.microsoft.com/office/drawing/2014/main" id="{A9B1BF20-B6AD-E17C-FC3C-9A25A83A2E14}"/>
              </a:ext>
            </a:extLst>
          </p:cNvPr>
          <p:cNvSpPr txBox="1"/>
          <p:nvPr/>
        </p:nvSpPr>
        <p:spPr>
          <a:xfrm>
            <a:off x="432169" y="5927399"/>
            <a:ext cx="5998758" cy="1738938"/>
          </a:xfrm>
          <a:prstGeom prst="rect">
            <a:avLst/>
          </a:prstGeom>
          <a:noFill/>
        </p:spPr>
        <p:txBody>
          <a:bodyPr wrap="square">
            <a:spAutoFit/>
          </a:bodyPr>
          <a:lstStyle/>
          <a:p>
            <a:pPr algn="just"/>
            <a:r>
              <a:rPr lang="en-US" sz="900" b="1" dirty="0">
                <a:solidFill>
                  <a:srgbClr val="5E2E8C"/>
                </a:solidFill>
                <a:latin typeface="Calibri" panose="020F0502020204030204" pitchFamily="34" charset="0"/>
                <a:cs typeface="Calibri" panose="020F0502020204030204" pitchFamily="34" charset="0"/>
              </a:rPr>
              <a:t>Methodology: </a:t>
            </a:r>
            <a:r>
              <a:rPr lang="en-US" sz="900" dirty="0">
                <a:latin typeface="Calibri" panose="020F0502020204030204" pitchFamily="34" charset="0"/>
                <a:cs typeface="Calibri" panose="020F0502020204030204" pitchFamily="34" charset="0"/>
              </a:rPr>
              <a:t>This non-invasive screening  test utilizes massively parallel sequencing of cell-free DNA fragments from maternal blood samples. The workflow consists of automated sample preparation, library preparation, and next generation whole genome sequencing. Both performance of the workflow and algorithm has been validated by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a:t>
            </a:r>
          </a:p>
          <a:p>
            <a:pPr algn="just"/>
            <a:endParaRPr lang="en-US" sz="800" dirty="0">
              <a:latin typeface="Calibri" panose="020F0502020204030204" pitchFamily="34" charset="0"/>
              <a:cs typeface="Calibri" panose="020F0502020204030204" pitchFamily="34" charset="0"/>
            </a:endParaRPr>
          </a:p>
          <a:p>
            <a:pPr algn="just"/>
            <a:r>
              <a:rPr lang="en-US" sz="900" b="1" dirty="0">
                <a:solidFill>
                  <a:srgbClr val="5E2E8C"/>
                </a:solidFill>
                <a:latin typeface="Calibri" panose="020F0502020204030204" pitchFamily="34" charset="0"/>
                <a:cs typeface="Calibri" panose="020F0502020204030204" pitchFamily="34" charset="0"/>
              </a:rPr>
              <a:t>Disclaimer: </a:t>
            </a:r>
            <a:r>
              <a:rPr lang="en-US" sz="900" dirty="0" err="1">
                <a:latin typeface="Calibri" panose="020F0502020204030204" pitchFamily="34" charset="0"/>
                <a:cs typeface="Calibri" panose="020F0502020204030204" pitchFamily="34" charset="0"/>
              </a:rPr>
              <a:t>Cordlife</a:t>
            </a:r>
            <a:r>
              <a:rPr lang="en-US" sz="900" dirty="0">
                <a:latin typeface="Calibri" panose="020F0502020204030204" pitchFamily="34" charset="0"/>
                <a:cs typeface="Calibri" panose="020F0502020204030204" pitchFamily="34" charset="0"/>
              </a:rPr>
              <a:t> NIPT is a screening test, not diagnostic. It evaluates genetic information in the maternal blood, which is a mixture of maternal and placental DNA, to determine the chance for specific chromosome abnormalities. The test does NOT tell with certainty if a fetus is affected, and only tests for the conditions ordered by the healthcare provider. A low risk result does not guarantee an unaffected fetus. The manner in which this information is used to guide patient care is the responsibility of the healthcare provider, including advising for the need for genetic counseling or diagnostic testing. Any test should be interpreted in the context of all available clinical findings. The result of this test are not intended to be used as the sole means for management decisions.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shall not be responsible and the client shall exempt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from any loss or effect resulting from the client's decision based on </a:t>
            </a:r>
            <a:r>
              <a:rPr lang="en-US" sz="900" b="0" dirty="0" err="1">
                <a:solidFill>
                  <a:srgbClr val="222222"/>
                </a:solidFill>
                <a:effectLst/>
                <a:highlight>
                  <a:srgbClr val="FFFFFF"/>
                </a:highlight>
                <a:latin typeface="Calibri" panose="020F0502020204030204" pitchFamily="34" charset="0"/>
                <a:cs typeface="Calibri" panose="020F0502020204030204" pitchFamily="34" charset="0"/>
              </a:rPr>
              <a:t>Cordlife</a:t>
            </a:r>
            <a:r>
              <a:rPr lang="en-US" sz="900" b="0" dirty="0">
                <a:solidFill>
                  <a:srgbClr val="222222"/>
                </a:solidFill>
                <a:effectLst/>
                <a:highlight>
                  <a:srgbClr val="FFFFFF"/>
                </a:highlight>
                <a:latin typeface="Calibri" panose="020F0502020204030204" pitchFamily="34" charset="0"/>
                <a:cs typeface="Calibri" panose="020F0502020204030204" pitchFamily="34" charset="0"/>
              </a:rPr>
              <a:t> NIPT test results.</a:t>
            </a:r>
            <a:endParaRPr lang="en-US" sz="900" dirty="0">
              <a:latin typeface="Calibri" panose="020F0502020204030204" pitchFamily="34" charset="0"/>
              <a:cs typeface="Calibri" panose="020F0502020204030204" pitchFamily="34" charset="0"/>
            </a:endParaRPr>
          </a:p>
        </p:txBody>
      </p:sp>
      <p:pic>
        <p:nvPicPr>
          <p:cNvPr id="2" name="Picture 2" descr="Home">
            <a:extLst>
              <a:ext uri="{FF2B5EF4-FFF2-40B4-BE49-F238E27FC236}">
                <a16:creationId xmlns:a16="http://schemas.microsoft.com/office/drawing/2014/main" id="{FAD51C6D-EDD1-C9EF-2501-6D7D787CF16A}"/>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b="27546"/>
          <a:stretch/>
        </p:blipFill>
        <p:spPr bwMode="auto">
          <a:xfrm>
            <a:off x="446345" y="94239"/>
            <a:ext cx="1905000" cy="600407"/>
          </a:xfrm>
          <a:prstGeom prst="rect">
            <a:avLst/>
          </a:prstGeom>
          <a:noFill/>
          <a:extLst>
            <a:ext uri="{909E8E84-426E-40DD-AFC4-6F175D3DCCD1}">
              <a14:hiddenFill xmlns:a14="http://schemas.microsoft.com/office/drawing/2010/main">
                <a:solidFill>
                  <a:srgbClr val="FFFFFF"/>
                </a:solidFill>
              </a14:hiddenFill>
            </a:ext>
          </a:extLst>
        </p:spPr>
      </p:pic>
      <p:sp>
        <p:nvSpPr>
          <p:cNvPr id="7" name="TextBox 6">
            <a:extLst>
              <a:ext uri="{FF2B5EF4-FFF2-40B4-BE49-F238E27FC236}">
                <a16:creationId xmlns:a16="http://schemas.microsoft.com/office/drawing/2014/main" id="{3C44CAAA-4577-CEC1-C9A9-849D93F55DF8}"/>
              </a:ext>
            </a:extLst>
          </p:cNvPr>
          <p:cNvSpPr txBox="1"/>
          <p:nvPr/>
        </p:nvSpPr>
        <p:spPr>
          <a:xfrm>
            <a:off x="5713863" y="9220678"/>
            <a:ext cx="857250" cy="338554"/>
          </a:xfrm>
          <a:prstGeom prst="rect">
            <a:avLst/>
          </a:prstGeom>
          <a:noFill/>
        </p:spPr>
        <p:txBody>
          <a:bodyPr wrap="square" rtlCol="0">
            <a:spAutoFit/>
          </a:bodyPr>
          <a:lstStyle/>
          <a:p>
            <a:pPr algn="ctr"/>
            <a:r>
              <a:rPr lang="pt-BR" sz="800" b="0" i="0" dirty="0">
                <a:solidFill>
                  <a:srgbClr val="000000"/>
                </a:solidFill>
                <a:effectLst/>
                <a:latin typeface="Calibri" panose="020F0502020204030204" pitchFamily="34" charset="0"/>
                <a:cs typeface="Calibri" panose="020F0502020204030204" pitchFamily="34" charset="0"/>
              </a:rPr>
              <a:t>DCR No.: 3127 </a:t>
            </a:r>
          </a:p>
          <a:p>
            <a:pPr algn="ctr"/>
            <a:r>
              <a:rPr lang="pt-BR" sz="800" b="0" i="0" dirty="0">
                <a:solidFill>
                  <a:srgbClr val="000000"/>
                </a:solidFill>
                <a:effectLst/>
                <a:latin typeface="Calibri" panose="020F0502020204030204" pitchFamily="34" charset="0"/>
                <a:cs typeface="Calibri" panose="020F0502020204030204" pitchFamily="34" charset="0"/>
              </a:rPr>
              <a:t>QR G1.1-6-2-a</a:t>
            </a:r>
            <a:endParaRPr lang="en-ID" sz="800" dirty="0">
              <a:latin typeface="Calibri" panose="020F0502020204030204" pitchFamily="34" charset="0"/>
              <a:cs typeface="Calibri" panose="020F0502020204030204" pitchFamily="34" charset="0"/>
            </a:endParaRPr>
          </a:p>
        </p:txBody>
      </p:sp>
      <p:sp>
        <p:nvSpPr>
          <p:cNvPr id="11" name="Rectangle 10">
            <a:extLst>
              <a:ext uri="{FF2B5EF4-FFF2-40B4-BE49-F238E27FC236}">
                <a16:creationId xmlns:a16="http://schemas.microsoft.com/office/drawing/2014/main" id="{B1E19719-BDB6-BAB4-E9DA-F6B82E38E625}"/>
              </a:ext>
            </a:extLst>
          </p:cNvPr>
          <p:cNvSpPr/>
          <p:nvPr/>
        </p:nvSpPr>
        <p:spPr>
          <a:xfrm>
            <a:off x="430623" y="772625"/>
            <a:ext cx="1956394"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latin typeface="Calibri" panose="020F0502020204030204" pitchFamily="34" charset="0"/>
              <a:cs typeface="Calibri" panose="020F0502020204030204" pitchFamily="34" charset="0"/>
            </a:endParaRPr>
          </a:p>
        </p:txBody>
      </p:sp>
      <p:sp>
        <p:nvSpPr>
          <p:cNvPr id="15" name="Rectangle 14">
            <a:extLst>
              <a:ext uri="{FF2B5EF4-FFF2-40B4-BE49-F238E27FC236}">
                <a16:creationId xmlns:a16="http://schemas.microsoft.com/office/drawing/2014/main" id="{E0C200C1-A910-902E-2C82-CEB64E845555}"/>
              </a:ext>
            </a:extLst>
          </p:cNvPr>
          <p:cNvSpPr/>
          <p:nvPr/>
        </p:nvSpPr>
        <p:spPr>
          <a:xfrm>
            <a:off x="2452579" y="772625"/>
            <a:ext cx="1956393" cy="954107"/>
          </a:xfrm>
          <a:prstGeom prst="rect">
            <a:avLst/>
          </a:prstGeom>
          <a:noFill/>
          <a:ln w="15875" cmpd="tri">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27" name="Rectangle 26">
            <a:extLst>
              <a:ext uri="{FF2B5EF4-FFF2-40B4-BE49-F238E27FC236}">
                <a16:creationId xmlns:a16="http://schemas.microsoft.com/office/drawing/2014/main" id="{A3686196-4A84-E640-3E18-9C179AC399FC}"/>
              </a:ext>
            </a:extLst>
          </p:cNvPr>
          <p:cNvSpPr/>
          <p:nvPr/>
        </p:nvSpPr>
        <p:spPr>
          <a:xfrm>
            <a:off x="4474534" y="772625"/>
            <a:ext cx="1956393" cy="954107"/>
          </a:xfrm>
          <a:prstGeom prst="rect">
            <a:avLst/>
          </a:prstGeom>
          <a:noFill/>
          <a:ln w="15875" cmpd="thickThin">
            <a:solidFill>
              <a:schemeClr val="tx2">
                <a:lumMod val="75000"/>
                <a:lumOff val="2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600">
              <a:latin typeface="Calibri" panose="020F0502020204030204" pitchFamily="34" charset="0"/>
              <a:cs typeface="Calibri" panose="020F0502020204030204" pitchFamily="34" charset="0"/>
            </a:endParaRPr>
          </a:p>
        </p:txBody>
      </p:sp>
      <p:sp>
        <p:nvSpPr>
          <p:cNvPr id="9" name="TextBox 8">
            <a:extLst>
              <a:ext uri="{FF2B5EF4-FFF2-40B4-BE49-F238E27FC236}">
                <a16:creationId xmlns:a16="http://schemas.microsoft.com/office/drawing/2014/main" id="{5C802576-1772-9902-47C2-5C9CE6B02F42}"/>
              </a:ext>
            </a:extLst>
          </p:cNvPr>
          <p:cNvSpPr txBox="1"/>
          <p:nvPr/>
        </p:nvSpPr>
        <p:spPr>
          <a:xfrm>
            <a:off x="2452581" y="772625"/>
            <a:ext cx="1964140" cy="861774"/>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Pregnancy Information</a:t>
            </a:r>
          </a:p>
          <a:p>
            <a:r>
              <a:rPr lang="en-US" sz="700" dirty="0">
                <a:latin typeface="Calibri" panose="020F0502020204030204" pitchFamily="34" charset="0"/>
                <a:cs typeface="Calibri" panose="020F0502020204030204" pitchFamily="34" charset="0"/>
              </a:rPr>
              <a:t>Gestational Age: </a:t>
            </a:r>
            <a:r>
              <a:rPr lang="en-US" sz="700" dirty="0">
                <a:solidFill>
                  <a:schemeClr val="dk1"/>
                </a:solidFill>
                <a:latin typeface="Calibri" panose="020F0502020204030204" pitchFamily="34" charset="0"/>
                <a:ea typeface="Calibri"/>
                <a:cs typeface="Calibri" panose="020F0502020204030204" pitchFamily="34" charset="0"/>
                <a:sym typeface="Calibri"/>
              </a:rPr>
              <a:t>&lt;&lt;W&gt;&gt; Weeks &lt;&lt;D&gt;&gt; Days</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Pregnancy Type:  &lt;&lt;Pregnancy Type&gt;&gt;</a:t>
            </a:r>
          </a:p>
          <a:p>
            <a:r>
              <a:rPr lang="en-US" sz="700" b="1" dirty="0">
                <a:latin typeface="Calibri" panose="020F0502020204030204" pitchFamily="34" charset="0"/>
                <a:cs typeface="Calibri" panose="020F0502020204030204" pitchFamily="34" charset="0"/>
              </a:rPr>
              <a:t>Doctor Information</a:t>
            </a:r>
          </a:p>
          <a:p>
            <a:r>
              <a:rPr lang="en-US" sz="700" dirty="0">
                <a:latin typeface="Calibri" panose="020F0502020204030204" pitchFamily="34" charset="0"/>
                <a:cs typeface="Calibri" panose="020F0502020204030204" pitchFamily="34" charset="0"/>
              </a:rPr>
              <a:t>Physician: &lt;&lt;Doctor&gt;&gt;</a:t>
            </a:r>
          </a:p>
          <a:p>
            <a:r>
              <a:rPr lang="en-US" sz="700" dirty="0">
                <a:latin typeface="Calibri" panose="020F0502020204030204" pitchFamily="34" charset="0"/>
                <a:cs typeface="Calibri" panose="020F0502020204030204" pitchFamily="34" charset="0"/>
              </a:rPr>
              <a:t>Hospital/Clinic: &lt;&lt;Hospital&gt;&gt;</a:t>
            </a:r>
          </a:p>
          <a:p>
            <a:endParaRPr lang="en-US" sz="800" dirty="0">
              <a:latin typeface="Calibri" panose="020F0502020204030204" pitchFamily="34" charset="0"/>
              <a:cs typeface="Calibri" panose="020F0502020204030204" pitchFamily="34" charset="0"/>
            </a:endParaRPr>
          </a:p>
        </p:txBody>
      </p:sp>
      <p:sp>
        <p:nvSpPr>
          <p:cNvPr id="6" name="TextBox 5">
            <a:extLst>
              <a:ext uri="{FF2B5EF4-FFF2-40B4-BE49-F238E27FC236}">
                <a16:creationId xmlns:a16="http://schemas.microsoft.com/office/drawing/2014/main" id="{42D2349F-85AE-05E0-F017-60422B66B38B}"/>
              </a:ext>
            </a:extLst>
          </p:cNvPr>
          <p:cNvSpPr txBox="1"/>
          <p:nvPr/>
        </p:nvSpPr>
        <p:spPr>
          <a:xfrm>
            <a:off x="4466785" y="766381"/>
            <a:ext cx="1956391" cy="846386"/>
          </a:xfrm>
          <a:prstGeom prst="rect">
            <a:avLst/>
          </a:prstGeom>
          <a:noFill/>
          <a:ln cmpd="tri">
            <a:noFill/>
          </a:ln>
        </p:spPr>
        <p:txBody>
          <a:bodyPr wrap="square" rtlCol="0">
            <a:spAutoFit/>
          </a:bodyPr>
          <a:lstStyle/>
          <a:p>
            <a:r>
              <a:rPr lang="en-US" sz="700" b="1" dirty="0">
                <a:latin typeface="Calibri" panose="020F0502020204030204" pitchFamily="34" charset="0"/>
                <a:cs typeface="Calibri" panose="020F0502020204030204" pitchFamily="34" charset="0"/>
              </a:rPr>
              <a:t>Test Information</a:t>
            </a:r>
          </a:p>
          <a:p>
            <a:r>
              <a:rPr lang="en-US" sz="700" dirty="0">
                <a:latin typeface="Calibri" panose="020F0502020204030204" pitchFamily="34" charset="0"/>
                <a:cs typeface="Calibri" panose="020F0502020204030204" pitchFamily="34" charset="0"/>
              </a:rPr>
              <a:t>Sample Type: Blood</a:t>
            </a:r>
          </a:p>
          <a:p>
            <a:r>
              <a:rPr lang="en-US" sz="700" dirty="0">
                <a:latin typeface="Calibri" panose="020F0502020204030204" pitchFamily="34" charset="0"/>
                <a:cs typeface="Calibri" panose="020F0502020204030204" pitchFamily="34" charset="0"/>
              </a:rPr>
              <a:t>Collection Date: &lt;&lt;Collection Date&gt;&gt;</a:t>
            </a:r>
          </a:p>
          <a:p>
            <a:r>
              <a:rPr lang="en-US" sz="700" dirty="0">
                <a:latin typeface="Calibri" panose="020F0502020204030204" pitchFamily="34" charset="0"/>
                <a:cs typeface="Calibri" panose="020F0502020204030204" pitchFamily="34" charset="0"/>
              </a:rPr>
              <a:t>Receipt Date: &lt;&lt;Receipt Date&gt;&gt;</a:t>
            </a:r>
          </a:p>
          <a:p>
            <a:r>
              <a:rPr lang="en-US" sz="700" dirty="0">
                <a:latin typeface="Calibri" panose="020F0502020204030204" pitchFamily="34" charset="0"/>
                <a:cs typeface="Calibri" panose="020F0502020204030204" pitchFamily="34" charset="0"/>
              </a:rPr>
              <a:t>Report Date: &lt;&lt;Report Date&gt;&gt;</a:t>
            </a:r>
          </a:p>
          <a:p>
            <a:r>
              <a:rPr lang="en-US" sz="700" dirty="0">
                <a:latin typeface="Calibri" panose="020F0502020204030204" pitchFamily="34" charset="0"/>
                <a:cs typeface="Calibri" panose="020F0502020204030204" pitchFamily="34" charset="0"/>
              </a:rPr>
              <a:t>Resample: &lt;&lt;Resample&gt;&gt;</a:t>
            </a:r>
          </a:p>
          <a:p>
            <a:r>
              <a:rPr lang="en-US" sz="700" dirty="0">
                <a:latin typeface="Calibri" panose="020F0502020204030204" pitchFamily="34" charset="0"/>
                <a:cs typeface="Calibri" panose="020F0502020204030204" pitchFamily="34" charset="0"/>
              </a:rPr>
              <a:t>Test Requested: &lt;&lt;Test Requested&gt;&gt;</a:t>
            </a:r>
          </a:p>
        </p:txBody>
      </p:sp>
      <p:sp>
        <p:nvSpPr>
          <p:cNvPr id="4" name="TextBox 3">
            <a:extLst>
              <a:ext uri="{FF2B5EF4-FFF2-40B4-BE49-F238E27FC236}">
                <a16:creationId xmlns:a16="http://schemas.microsoft.com/office/drawing/2014/main" id="{4C2BF772-6DA3-6728-40BA-052F047AD6E9}"/>
              </a:ext>
            </a:extLst>
          </p:cNvPr>
          <p:cNvSpPr txBox="1"/>
          <p:nvPr/>
        </p:nvSpPr>
        <p:spPr>
          <a:xfrm>
            <a:off x="434824" y="772625"/>
            <a:ext cx="1956393" cy="969496"/>
          </a:xfrm>
          <a:prstGeom prst="rect">
            <a:avLst/>
          </a:prstGeom>
          <a:noFill/>
        </p:spPr>
        <p:txBody>
          <a:bodyPr wrap="square" rtlCol="0">
            <a:spAutoFit/>
          </a:bodyPr>
          <a:lstStyle/>
          <a:p>
            <a:r>
              <a:rPr lang="en-US" sz="700" b="1" dirty="0">
                <a:latin typeface="Calibri" panose="020F0502020204030204" pitchFamily="34" charset="0"/>
                <a:cs typeface="Calibri" panose="020F0502020204030204" pitchFamily="34" charset="0"/>
              </a:rPr>
              <a:t>Patient Information</a:t>
            </a:r>
          </a:p>
          <a:p>
            <a:r>
              <a:rPr lang="en-US" sz="700" dirty="0">
                <a:latin typeface="Calibri" panose="020F0502020204030204" pitchFamily="34" charset="0"/>
                <a:cs typeface="Calibri" panose="020F0502020204030204" pitchFamily="34" charset="0"/>
              </a:rPr>
              <a:t>Lab ID: &lt;&lt;Sample Number&gt;&gt;</a:t>
            </a:r>
          </a:p>
          <a:p>
            <a:r>
              <a:rPr lang="en-US" sz="700" dirty="0">
                <a:latin typeface="Calibri" panose="020F0502020204030204" pitchFamily="34" charset="0"/>
                <a:cs typeface="Calibri" panose="020F0502020204030204" pitchFamily="34" charset="0"/>
              </a:rPr>
              <a:t>Patient Name: &lt;&lt;Patient Name&gt;&gt;</a:t>
            </a:r>
          </a:p>
          <a:p>
            <a:r>
              <a:rPr lang="en-US" sz="700" dirty="0">
                <a:latin typeface="Calibri" panose="020F0502020204030204" pitchFamily="34" charset="0"/>
                <a:cs typeface="Calibri" panose="020F0502020204030204" pitchFamily="34" charset="0"/>
              </a:rPr>
              <a:t>Client Sample ID: &lt;&lt;Kit ID&gt;&gt;</a:t>
            </a:r>
          </a:p>
          <a:p>
            <a:r>
              <a:rPr lang="en-US" sz="700" dirty="0">
                <a:latin typeface="Calibri" panose="020F0502020204030204" pitchFamily="34" charset="0"/>
                <a:cs typeface="Calibri" panose="020F0502020204030204" pitchFamily="34" charset="0"/>
              </a:rPr>
              <a:t>Date of Birth: &lt;&lt;DOB&gt;&gt; (&lt;&lt;A&gt;&gt;)</a:t>
            </a:r>
          </a:p>
          <a:p>
            <a:r>
              <a:rPr lang="en-US" sz="700" dirty="0">
                <a:latin typeface="Calibri" panose="020F0502020204030204" pitchFamily="34" charset="0"/>
                <a:cs typeface="Calibri" panose="020F0502020204030204" pitchFamily="34" charset="0"/>
              </a:rPr>
              <a:t>Maternal Weight/Height: </a:t>
            </a:r>
            <a:r>
              <a:rPr lang="en-US" sz="700" dirty="0">
                <a:solidFill>
                  <a:srgbClr val="000000"/>
                </a:solidFill>
                <a:latin typeface="Calibri" panose="020F0502020204030204" pitchFamily="34" charset="0"/>
                <a:ea typeface="Calibri"/>
                <a:cs typeface="Calibri" panose="020F0502020204030204" pitchFamily="34" charset="0"/>
                <a:sym typeface="Calibri"/>
              </a:rPr>
              <a:t>&lt;&lt;kg&gt;&gt;kg / &lt;&lt;cm&gt;&gt;cm </a:t>
            </a:r>
            <a:endParaRPr lang="en-US" sz="700" dirty="0">
              <a:latin typeface="Calibri" panose="020F0502020204030204" pitchFamily="34" charset="0"/>
              <a:cs typeface="Calibri" panose="020F0502020204030204" pitchFamily="34" charset="0"/>
            </a:endParaRPr>
          </a:p>
          <a:p>
            <a:r>
              <a:rPr lang="en-US" sz="700" dirty="0">
                <a:latin typeface="Calibri" panose="020F0502020204030204" pitchFamily="34" charset="0"/>
                <a:cs typeface="Calibri" panose="020F0502020204030204" pitchFamily="34" charset="0"/>
              </a:rPr>
              <a:t>Indication: </a:t>
            </a:r>
            <a:r>
              <a:rPr lang="en-US" sz="700" dirty="0">
                <a:solidFill>
                  <a:srgbClr val="000000"/>
                </a:solidFill>
                <a:latin typeface="Calibri" panose="020F0502020204030204" pitchFamily="34" charset="0"/>
                <a:ea typeface="Calibri"/>
                <a:cs typeface="Calibri" panose="020F0502020204030204" pitchFamily="34" charset="0"/>
                <a:sym typeface="Calibri"/>
              </a:rPr>
              <a:t>&lt;&lt;Indication&gt;&gt;</a:t>
            </a:r>
            <a:endParaRPr lang="en-US" sz="700" dirty="0">
              <a:latin typeface="Calibri" panose="020F0502020204030204" pitchFamily="34" charset="0"/>
              <a:cs typeface="Calibri" panose="020F0502020204030204" pitchFamily="34" charset="0"/>
            </a:endParaRPr>
          </a:p>
          <a:p>
            <a:endParaRPr lang="en-US" sz="800" dirty="0">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439584829"/>
      </p:ext>
    </p:extLst>
  </p:cSld>
  <p:clrMapOvr>
    <a:masterClrMapping/>
  </p:clrMapOvr>
</p:sld>
</file>

<file path=ppt/theme/theme1.xml><?xml version="1.0" encoding="utf-8"?>
<a:theme xmlns:a="http://schemas.openxmlformats.org/drawingml/2006/main" name="Office Theme">
  <a:themeElements>
    <a:clrScheme name="Office Them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Office Theme</Template>
  <TotalTime>11565</TotalTime>
  <Words>1830</Words>
  <Application>Microsoft Macintosh PowerPoint</Application>
  <PresentationFormat>A4 Paper (210x297 mm)</PresentationFormat>
  <Paragraphs>202</Paragraphs>
  <Slides>3</Slides>
  <Notes>3</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vt:i4>
      </vt:variant>
    </vt:vector>
  </HeadingPairs>
  <TitlesOfParts>
    <vt:vector size="8" baseType="lpstr">
      <vt:lpstr>Aptos</vt:lpstr>
      <vt:lpstr>Aptos Display</vt:lpstr>
      <vt:lpstr>Arial</vt:lpstr>
      <vt:lpstr>Calibri</vt:lpstr>
      <vt:lpstr>Office Theme</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Dwi</dc:creator>
  <cp:lastModifiedBy>sam martin</cp:lastModifiedBy>
  <cp:revision>100</cp:revision>
  <dcterms:created xsi:type="dcterms:W3CDTF">2024-06-13T04:30:46Z</dcterms:created>
  <dcterms:modified xsi:type="dcterms:W3CDTF">2026-01-05T03:13:24Z</dcterms:modified>
</cp:coreProperties>
</file>