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340" r:id="rId2"/>
    <p:sldId id="341" r:id="rId3"/>
    <p:sldId id="342" r:id="rId4"/>
    <p:sldId id="343" r:id="rId5"/>
    <p:sldId id="344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0818" autoAdjust="0"/>
  </p:normalViewPr>
  <p:slideViewPr>
    <p:cSldViewPr snapToGrid="0">
      <p:cViewPr varScale="1">
        <p:scale>
          <a:sx n="181" d="100"/>
          <a:sy n="181" d="100"/>
        </p:scale>
        <p:origin x="70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34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41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36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v.geneticsupportfoundation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71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700" marR="5080" lvl="0">
              <a:lnSpc>
                <a:spcPct val="122200"/>
              </a:lnSpc>
              <a:spcBef>
                <a:spcPts val="95"/>
              </a:spcBef>
            </a:pPr>
            <a:r>
              <a:rPr lang="en-US" sz="11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&lt;&lt;Interpretation&gt;&gt;</a:t>
            </a:r>
            <a:endParaRPr lang="en-US" sz="11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&lt;&lt;FF_YFF&gt;&gt;%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&lt;&lt;Gender&gt;&gt;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C25077C-3F86-82CD-EEBC-1345FC09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633969"/>
              </p:ext>
            </p:extLst>
          </p:nvPr>
        </p:nvGraphicFramePr>
        <p:xfrm>
          <a:off x="446345" y="3545404"/>
          <a:ext cx="5984582" cy="19583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3522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NPP/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sebelum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setelah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&lt;&lt;ST21_TT21&gt;&gt;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&lt;&lt;T18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&lt;&lt;ST18_TT18&gt;&gt;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&lt;&lt;T18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&lt;&lt;ST13_TT13&gt;&gt;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Turner)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Klinefelter)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Jacob)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7F0E2-04DD-6B22-ABD8-6956309937FF}"/>
              </a:ext>
            </a:extLst>
          </p:cNvPr>
          <p:cNvSpPr txBox="1"/>
          <p:nvPr/>
        </p:nvSpPr>
        <p:spPr>
          <a:xfrm>
            <a:off x="412897" y="6665518"/>
            <a:ext cx="59987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NPP dan NPN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https://ppv.geneticsupportfoundation.org/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data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sebelum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publikasi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studi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17.885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wanita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(Dar, et al. Am J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Obstet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Gynecol. 2014 Nov; 211(5): 527.e1-527.e17)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populasi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Nilai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skor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diperoleh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kelompok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normal dan abnormal Gaussian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persentase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chromosome read % (Unique Read %)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Z-score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NPP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aktual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ultrasonografi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riwayat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pribadi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keluarga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disertakan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penilaian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6" y="9427924"/>
            <a:ext cx="3910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D2FD6-E858-9351-6742-CF943C979954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F450B-FC0E-07FF-AF92-F82E364AC472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A50ADE-C21B-8C2B-5393-5566FA46DA7A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3DCCD5-A177-14A2-18D4-EF3D9E8C6113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4226508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98467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93B88F-465A-858F-2F66-B72843820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824678"/>
              </p:ext>
            </p:extLst>
          </p:nvPr>
        </p:nvGraphicFramePr>
        <p:xfrm>
          <a:off x="464687" y="2286588"/>
          <a:ext cx="5984584" cy="2156298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4476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18008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02380160"/>
                    </a:ext>
                  </a:extLst>
                </a:gridCol>
                <a:gridCol w="1899684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984136">
                  <a:extLst>
                    <a:ext uri="{9D8B030D-6E8A-4147-A177-3AD203B41FA5}">
                      <a16:colId xmlns:a16="http://schemas.microsoft.com/office/drawing/2014/main" val="34049865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41061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Jacobsen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11q23.3-q25</a:t>
                      </a:r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&lt;&lt;MD6&gt;&gt;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31958"/>
                  </a:ext>
                </a:extLst>
              </a:tr>
              <a:tr h="396948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&lt;&lt;MD2&gt;&gt;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Prader-</a:t>
                      </a:r>
                      <a:r>
                        <a:rPr lang="en-US" sz="900" b="1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</a:t>
                      </a:r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/Angelman syndrome (15q11.2-q13)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&lt;&lt;MD7&gt;&gt;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Wolf-Hirschhorn syndrome 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(4p16.3)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(22q11.2)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 Du Chat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(5p-)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&lt;&lt;MD4&gt;&gt;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Mikrodelesi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duplikasi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lainnya</a:t>
                      </a:r>
                      <a:endParaRPr lang="en-US" sz="90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&lt;&lt;Other MD&gt;&gt;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(7q11.23 deletion)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&lt;&lt;MD5&gt;&gt;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11667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C65888-2E26-5D65-3D1E-5F293A21906C}"/>
              </a:ext>
            </a:extLst>
          </p:cNvPr>
          <p:cNvSpPr txBox="1"/>
          <p:nvPr/>
        </p:nvSpPr>
        <p:spPr>
          <a:xfrm>
            <a:off x="436708" y="2045473"/>
            <a:ext cx="2681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2742E-79C3-2E41-E269-1BCEA92A7D48}"/>
              </a:ext>
            </a:extLst>
          </p:cNvPr>
          <p:cNvSpPr txBox="1"/>
          <p:nvPr/>
        </p:nvSpPr>
        <p:spPr>
          <a:xfrm>
            <a:off x="430623" y="4467209"/>
            <a:ext cx="2681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Interpretasi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2D37D9-91C3-B54A-893B-EF7DB5C047FA}"/>
              </a:ext>
            </a:extLst>
          </p:cNvPr>
          <p:cNvSpPr/>
          <p:nvPr/>
        </p:nvSpPr>
        <p:spPr>
          <a:xfrm>
            <a:off x="446345" y="4711884"/>
            <a:ext cx="5984582" cy="751231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5653054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5424161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D2CC2-99B0-C2E8-4831-98D2B1CD2419}"/>
              </a:ext>
            </a:extLst>
          </p:cNvPr>
          <p:cNvSpPr txBox="1"/>
          <p:nvPr/>
        </p:nvSpPr>
        <p:spPr>
          <a:xfrm>
            <a:off x="432147" y="7175718"/>
            <a:ext cx="599875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regio 1p36, 2q33.1, 4p16.3, 5p-, 7q11.23, 11q23, 15q11.2-q13, 22q11.2, 108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tersedia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crown-rump length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Oleh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karena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disebutkan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villous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mempertimbangkan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microarray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prenatal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region-specific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probes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3 Mb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sifatnya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jarang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kompleks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mencukupi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CNV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pendek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keterbatasan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teknis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mendapatkan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dokter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semacam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tambahan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D6A08-E6D8-5412-AB11-E5C0721C0020}"/>
              </a:ext>
            </a:extLst>
          </p:cNvPr>
          <p:cNvSpPr txBox="1"/>
          <p:nvPr/>
        </p:nvSpPr>
        <p:spPr>
          <a:xfrm>
            <a:off x="530472" y="4721775"/>
            <a:ext cx="58811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20" lvl="0"/>
            <a:r>
              <a:rPr lang="en-US" sz="9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&lt;&lt;MDI&gt;&gt;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7" y="9427924"/>
            <a:ext cx="4037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BFDC31-A6D5-F8B7-F84B-37668A1C1243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C4F97D-1963-62D4-7550-794B23141BF9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8B1726-A187-5C14-886B-972B44D5B8D8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264B1B-B9F0-F1F4-B8A4-0D520C967407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B1C33-4FAA-D38D-F058-24ECACDEB02E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DF43C4-7E09-3379-ECF9-2FA5D3C47C3F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EC0F1F-7CEC-26B0-0ED6-BF3717E45BAA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4186498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/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295F3B-C8A3-526B-82C2-578E6D8913D8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EE83D-221C-146C-F331-42C37A01D30C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F5262-1D1F-39CF-6061-603631E36FA4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80305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FE09A-7043-B615-4C39-2E64D394CB1E}"/>
              </a:ext>
            </a:extLst>
          </p:cNvPr>
          <p:cNvSpPr txBox="1"/>
          <p:nvPr/>
        </p:nvSpPr>
        <p:spPr>
          <a:xfrm>
            <a:off x="427072" y="1928026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37A4B-BF3F-A231-3F4F-A37D3C359050}"/>
              </a:ext>
            </a:extLst>
          </p:cNvPr>
          <p:cNvSpPr txBox="1"/>
          <p:nvPr/>
        </p:nvSpPr>
        <p:spPr>
          <a:xfrm>
            <a:off x="430623" y="1706318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7560F51-55B8-6972-7A07-055C195AA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639178"/>
              </p:ext>
            </p:extLst>
          </p:nvPr>
        </p:nvGraphicFramePr>
        <p:xfrm>
          <a:off x="449872" y="2175460"/>
          <a:ext cx="2988000" cy="70942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988446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1p32-p31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&lt;&lt;1p32-p31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1q41-q42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&lt;&lt;1q41-q42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1q43-q44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&lt;&lt;1q43-q44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2p12-p11.2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&lt;&lt;2p12-p11.2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2p15-p16.1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&lt;&lt;2p15-p16.1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2q31.1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&lt;&lt;2q31.1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2q31.1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&lt;&lt;2q31.1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2q35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&lt;&lt;2q35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3p25.3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&lt;&lt;3p25.3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3pter-p25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&lt;&lt;3pter-p25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3q13.31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&lt;&lt;3q13.31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Dandy-Walker syndrome (DWS)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&lt;&lt;Dandy-Walker syndrome (DWS)&gt;&gt;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3q26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&lt;&lt;3q26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3q29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&lt;&lt;3q29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4q21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&lt;&lt;4q21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Axenfeld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-Rieger syndrome type 1 (RIEG1)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&lt;&lt;Axenfeld-Rieger syndrome type 1 (RIEG1)&gt;&gt;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5p13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&lt;&lt;5p13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5q14.3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&lt;&lt;5q14.3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Sotos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&lt;&lt;Sotos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6p22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&lt;&lt;6p22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6q11-q14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&lt;&lt;6q11-q14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6q24-q25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&lt;&lt;6q24-q25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Coffin-Siris syndrome 1 (CSS1)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&lt;&lt;Coffin-Siris syndrome 1 (CSS1)&gt;&gt;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Chordoma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&lt;&lt;Chordoma&gt;&gt;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Greig cephalopolysyndactyly syndrome (GCPS)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&lt;&lt;Greig cephalopolysyndactyly syndrome (GCPS)&gt;&gt;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7p22.1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&lt;&lt;7p22.1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7q11.23 deletion (distal)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&lt;&lt;7q11.23 deletion (distal)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(WBS, duplication) </a:t>
                      </a:r>
                      <a:endParaRPr lang="en-US" sz="65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&lt;&lt;Williams-Beuren syndrome (WBS, duplication)&gt;&gt;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Currarino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&lt;&lt;Currarino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7q36.3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&lt;&lt;7q36.3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E574D0D-0392-B0FF-4304-BFB4DE315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313524"/>
              </p:ext>
            </p:extLst>
          </p:nvPr>
        </p:nvGraphicFramePr>
        <p:xfrm>
          <a:off x="3624208" y="2175460"/>
          <a:ext cx="2988000" cy="67284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442633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74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8p11.2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&lt;&lt;8p11.2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8p23.1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&lt;&lt;8p23.1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8q12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&lt;&lt;8q12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Nablus mask-like facial syndrome (NMLFS)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&lt;&lt;Nablus mask-like facial syndrome (NMLFS)&gt;&gt;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Trichorhinophalangeal syndrome type 2 (TRPS2)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&lt;&lt;Trichorhinophalangeal syndrome type 2 (TRPS2)&gt;&gt;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9p13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&lt;&lt;9p13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9p24.3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&lt;&lt;9p24.3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9q33.3q34.11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&lt;&lt;9q33.3q34.11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Early infantile epileptic encephalopathy 4 (EIEE4)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&lt;&lt;Early infantile epileptic encephalopathy 4 (EIEE4)&gt;&gt;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Kleefstra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1 (KLEFS1)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&lt;&lt;Kleefstra syndrome 1 (KLEFS1)&gt;&gt;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10p11.21-p12.31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&lt;&lt;10p11.21-p12.31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syndrome/ 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velocardiofacial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complex 2 (DSG2)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&lt;&lt;DiGeorge (DSG2)&gt;&gt;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10q22.3-q23.2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&lt;&lt;10q22.3-q23.2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Split-hand/foot malformation 3 (SHFM3)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&lt;&lt;Split-hand/foot malformation 3 (SHFM3)&gt;&gt;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10q26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&lt;&lt;10q26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Potocki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-Shaffer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&lt;&lt;Potocki-Shaffer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WAGR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&lt;&lt;WAGR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WAGRO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&lt;&lt;WAGRO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11q13.2-q13.4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&lt;&lt;11q13.2-q13.4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11q22.2-q22.3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&lt;&lt;11q22.2-q22.3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&lt;&lt;11q23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12p12.1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&lt;&lt;12p12.1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12q14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&lt;&lt;12q14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12q15q21.1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&lt;&lt;12q15q21.1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13q14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&lt;&lt;13q14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167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14q11-q22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&lt;&lt;14q11-q22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948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Frias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&lt;&lt;Frias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954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14q24.1-q24.3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&lt;&lt;14q24.1-q24.3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103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8AC2A7-6D49-62E1-FF1A-3BBE658252E8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8ADCCD-6009-4A2C-A52A-AE1E1A13B78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97CAB-628A-B77A-454D-EEC0E16C28F2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5B3C74-AD2D-DF5D-2401-8DCA28BB5E92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6798DA-60A0-BB3D-2407-90F0D8297999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37EDC-E9F5-0726-BF62-51AEC425223B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7025F4-CDB7-10CC-AC86-6DB2CA36F621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82F55-8D5C-8C83-0589-AE96A359D1EB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2974261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B8EDE70-2F90-1A79-E36B-8E567D674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22629"/>
              </p:ext>
            </p:extLst>
          </p:nvPr>
        </p:nvGraphicFramePr>
        <p:xfrm>
          <a:off x="499188" y="2190825"/>
          <a:ext cx="2988000" cy="68351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691803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73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deletion syndrome {BP4 to BP5} (loss)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deletion syndrome {BP4 to BP5} (loss)&gt;&gt;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deletion syndrome {BP4 to BP5} (gain)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deletion syndrome {BP4 to BP5} (gain)&gt;&gt;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15q14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&lt;&lt;15q14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15q25.2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&lt;&lt;15q25.2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15q26-qter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&lt;&lt;15q26-qter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16p11.2-p12.2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&lt;&lt;16p11.2-p12.2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16p12.2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&lt;&lt;16p12.2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Polycystic kidney disease, infantile severe, with tuberous sclerosis (PKDTS)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&lt;&lt;Polycystic kidney disease, infantile severe, with tuberous sclerosis (PKDTS)&gt;&gt;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Rubinstein-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Taybi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&lt;&lt;Rubinstein-Taybi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Alpha-thalassemia/intellectual disability syndrome, chromosome 16-related    (ATR-16)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&lt;&lt;Alpha-thalassemia&gt;&gt;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16q22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&lt;&lt;16q22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Smith-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Magenis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&lt;&lt;Smith-Magenis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Yuan-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Harel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Lupski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(YUHAL)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&lt;&lt;Yuan-Harel-Lupski syndrome (YUHAL)&gt;&gt;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Miller-</a:t>
                      </a:r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Dieker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lissencephaly syndrome (MDLS) (loss)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&lt;&lt;Miller-Dieker lissencephaly syndrome (MDLS) (loss)&gt;&gt;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Miller-</a:t>
                      </a:r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Dieker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lissencephaly syndrome (MDLS) (gain)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&lt;&lt;Miller-Dieker lissencephaly syndrome (MDLS) (gain)&gt;&gt;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17p13.3 telomeric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&lt;&lt;17p13.3 telomeric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17q21.31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&lt;&lt;17q21.31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17q23.1-q23.2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&lt;&lt;17q23.1-q23.2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257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Tetrasomy 18p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&lt;&lt;Tetrasomy 18p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071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18p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&lt;&lt;18p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26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18q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&lt;&lt;18q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05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19p13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&lt;&lt;19p13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14424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ED080B9-CC2C-055E-FE5A-4D1E1A9BF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558924"/>
              </p:ext>
            </p:extLst>
          </p:nvPr>
        </p:nvGraphicFramePr>
        <p:xfrm>
          <a:off x="3683346" y="2198941"/>
          <a:ext cx="2988000" cy="43357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2031203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i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724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19q13.11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&lt;&lt;19q13.11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20p13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&lt;&lt;20p13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21q22.11-q22.12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&lt;&lt;21q22.11-q22.12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deletion syndrome (distal, D-E/F)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deletion syndrome (distal, D-E/F)&gt;&gt;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deletion syndrome (LCR22 B/C-D)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deletion syndrome (LCR22 B/C-D)&gt;&gt;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Xp11.22-p11.23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&lt;&lt;Xp11.22-p11.23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Xp21.2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&lt;&lt;Xp21.2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Xp22.31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&lt;&lt;Xp22.31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Xq22.3 telomeric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&lt;&lt;Xq22.3 telomeric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Xq27.3-q28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&lt;&lt;Xq27.3-q28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Xq28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&lt;&lt;Xq28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ABA1FF-2703-F24F-F4EE-2DFD0071D979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A5FAF9-75BF-25C6-6363-28CEA473D97B}"/>
              </a:ext>
            </a:extLst>
          </p:cNvPr>
          <p:cNvSpPr txBox="1"/>
          <p:nvPr/>
        </p:nvSpPr>
        <p:spPr>
          <a:xfrm>
            <a:off x="427072" y="1928026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112B6-0EE1-334E-332B-78F2486D02A2}"/>
              </a:ext>
            </a:extLst>
          </p:cNvPr>
          <p:cNvSpPr txBox="1"/>
          <p:nvPr/>
        </p:nvSpPr>
        <p:spPr>
          <a:xfrm>
            <a:off x="430623" y="1706318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BDC12-261A-B250-980A-852805D64B9D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B7432-18FA-E6FE-FB4D-FE8FD4DA94F0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3DA2A7-544D-22D1-B6AC-95CE2C712910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CF983A-F71F-3320-2F5C-6153071D3C9E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3CDA15-57E2-02ED-742A-771B2FE4D85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435633-79F6-9F48-BFF3-4088283AD42C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D1992D-A5E0-B1AF-EBA6-3FF90B075AE9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2049104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12992</TotalTime>
  <Words>3327</Words>
  <Application>Microsoft Macintosh PowerPoint</Application>
  <PresentationFormat>A4 Paper (210x297 mm)</PresentationFormat>
  <Paragraphs>551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128</cp:revision>
  <dcterms:created xsi:type="dcterms:W3CDTF">2024-06-13T04:30:46Z</dcterms:created>
  <dcterms:modified xsi:type="dcterms:W3CDTF">2026-01-05T03:07:02Z</dcterms:modified>
</cp:coreProperties>
</file>