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340" r:id="rId2"/>
    <p:sldId id="341" r:id="rId3"/>
    <p:sldId id="342" r:id="rId4"/>
    <p:sldId id="343" r:id="rId5"/>
    <p:sldId id="344" r:id="rId6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0E6E229-C8AF-48D0-00DD-7C10297B2569}" name="Lab Manager" initials="LM" userId="d14a33ac0ceee803" providerId="Windows Live"/>
  <p188:author id="{CB6C2E59-5052-A676-A62D-8EC3A2F35C0D}" name="Lab Exec02" initials="LE" userId="2570120b052f3b7b" providerId="Windows Live"/>
  <p188:author id="{C3F37261-C495-8902-B2E6-D7FCA57F3785}" name="Meri Virtin" initials="MV" userId="05a2d77c8c74f754" providerId="Windows Live"/>
  <p188:author id="{4A23E062-0C49-A1F7-BE07-CACFFB8CC98F}" name="Dwi Astuti Handayani" initials="DAH" userId="Dwi Astuti Handayani" providerId="None"/>
  <p188:author id="{F97F367D-8195-4952-2436-DB42D502EDB7}" name="Dwi" initials="D" userId="S::dwi.astuti@cordlife.com::7129da7c-f5bb-45a1-9e5d-0cc5ac43401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9ED5"/>
    <a:srgbClr val="00A6C8"/>
    <a:srgbClr val="099049"/>
    <a:srgbClr val="009A43"/>
    <a:srgbClr val="E5F6F9"/>
    <a:srgbClr val="1975C0"/>
    <a:srgbClr val="5E2E8C"/>
    <a:srgbClr val="632C8F"/>
    <a:srgbClr val="1973BA"/>
    <a:srgbClr val="2AA9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 autoAdjust="0"/>
    <p:restoredTop sz="90846" autoAdjust="0"/>
  </p:normalViewPr>
  <p:slideViewPr>
    <p:cSldViewPr snapToGrid="0">
      <p:cViewPr varScale="1">
        <p:scale>
          <a:sx n="197" d="100"/>
          <a:sy n="197" d="100"/>
        </p:scale>
        <p:origin x="455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8/10/relationships/authors" Target="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E09E9B-57B9-4CBC-9B6F-C0875E2CCF71}" type="datetimeFigureOut">
              <a:rPr lang="en-US" smtClean="0"/>
              <a:t>1/4/26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20B0AA-EC77-4154-9376-38D730BDF5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719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0B0AA-EC77-4154-9376-38D730BDF5E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3174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0B0AA-EC77-4154-9376-38D730BDF5E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1346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0B0AA-EC77-4154-9376-38D730BDF5E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1089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0B0AA-EC77-4154-9376-38D730BDF5E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9415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0B0AA-EC77-4154-9376-38D730BDF5E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1366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190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386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738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1/4/26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10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1/4/26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422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1/4/26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119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1/4/26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331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1/4/26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937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1/4/26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84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866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648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AF875B-3630-45B7-8F1C-7ABA6E502FCC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416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ppv.geneticsupportfoundation.org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A205713-3348-4385-2B4B-E68890BDD5BF}"/>
              </a:ext>
            </a:extLst>
          </p:cNvPr>
          <p:cNvSpPr/>
          <p:nvPr/>
        </p:nvSpPr>
        <p:spPr>
          <a:xfrm>
            <a:off x="430623" y="772625"/>
            <a:ext cx="1956394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0747F1-4CEA-40FD-98C3-6C40BF950E8B}"/>
              </a:ext>
            </a:extLst>
          </p:cNvPr>
          <p:cNvSpPr/>
          <p:nvPr/>
        </p:nvSpPr>
        <p:spPr>
          <a:xfrm>
            <a:off x="2452579" y="772625"/>
            <a:ext cx="1956393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4F0FCA8-40AD-49DE-872B-14A5F086A1B6}"/>
              </a:ext>
            </a:extLst>
          </p:cNvPr>
          <p:cNvSpPr/>
          <p:nvPr/>
        </p:nvSpPr>
        <p:spPr>
          <a:xfrm>
            <a:off x="4474534" y="772625"/>
            <a:ext cx="1956393" cy="954107"/>
          </a:xfrm>
          <a:prstGeom prst="rect">
            <a:avLst/>
          </a:prstGeom>
          <a:noFill/>
          <a:ln w="15875" cmpd="thickThin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A9F03C-C0C8-69FC-D232-9360D2FE9B59}"/>
              </a:ext>
            </a:extLst>
          </p:cNvPr>
          <p:cNvSpPr/>
          <p:nvPr/>
        </p:nvSpPr>
        <p:spPr>
          <a:xfrm>
            <a:off x="4214805" y="181606"/>
            <a:ext cx="225965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3200" b="1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NIPT </a:t>
            </a:r>
            <a:r>
              <a:rPr lang="en-US" sz="2000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Test Report</a:t>
            </a:r>
            <a:endParaRPr lang="en-US" sz="3200" cap="none" spc="0" dirty="0">
              <a:ln/>
              <a:solidFill>
                <a:srgbClr val="01A3C9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 descr="Home">
            <a:extLst>
              <a:ext uri="{FF2B5EF4-FFF2-40B4-BE49-F238E27FC236}">
                <a16:creationId xmlns:a16="http://schemas.microsoft.com/office/drawing/2014/main" id="{84221953-82AC-8C3B-12AC-1883B14556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546"/>
          <a:stretch/>
        </p:blipFill>
        <p:spPr bwMode="auto">
          <a:xfrm>
            <a:off x="446345" y="94239"/>
            <a:ext cx="1905000" cy="600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E6FB33D-4B4C-56BE-5DC6-6C14A78D3ADB}"/>
              </a:ext>
            </a:extLst>
          </p:cNvPr>
          <p:cNvSpPr txBox="1"/>
          <p:nvPr/>
        </p:nvSpPr>
        <p:spPr>
          <a:xfrm>
            <a:off x="452696" y="1911472"/>
            <a:ext cx="3859287" cy="711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INTERPRETASI (</a:t>
            </a:r>
            <a:r>
              <a:rPr lang="en-US" sz="14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Aneuploidi</a:t>
            </a:r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12700" marR="5080" lvl="0">
              <a:lnSpc>
                <a:spcPct val="122200"/>
              </a:lnSpc>
              <a:spcBef>
                <a:spcPts val="95"/>
              </a:spcBef>
            </a:pPr>
            <a:r>
              <a:rPr lang="en-US" sz="1100" b="1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&lt;&lt;Interpretation&gt;&gt;</a:t>
            </a:r>
            <a:endParaRPr lang="en-US" sz="1100"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algn="just"/>
            <a:endParaRPr lang="en-US" sz="1200" dirty="0">
              <a:latin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264A46-8BCE-0626-AF69-52E456E30DDC}"/>
              </a:ext>
            </a:extLst>
          </p:cNvPr>
          <p:cNvSpPr txBox="1"/>
          <p:nvPr/>
        </p:nvSpPr>
        <p:spPr>
          <a:xfrm>
            <a:off x="4441862" y="1975938"/>
            <a:ext cx="1969793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Fraksi</a:t>
            </a:r>
            <a:r>
              <a:rPr lang="en-US" sz="11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endParaRPr lang="en-US" sz="1100" b="1" dirty="0">
              <a:solidFill>
                <a:srgbClr val="256D9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1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US" sz="1600">
                <a:latin typeface="Calibri" panose="020F0502020204030204" pitchFamily="34" charset="0"/>
                <a:cs typeface="Calibri" panose="020F0502020204030204" pitchFamily="34" charset="0"/>
              </a:rPr>
              <a:t>&lt;&lt;FF_YFF&gt;&gt;%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100" b="1" dirty="0">
              <a:solidFill>
                <a:srgbClr val="256D9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1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Jenis</a:t>
            </a:r>
            <a:r>
              <a:rPr lang="en-US" sz="11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Kelamin</a:t>
            </a:r>
            <a:r>
              <a:rPr lang="en-US" sz="11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endParaRPr lang="en-US" sz="1100" b="1" dirty="0">
              <a:solidFill>
                <a:srgbClr val="256D9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1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&lt;&lt;Gender&gt;&gt;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E681959-5FC1-8178-5CA3-CB804C551E76}"/>
              </a:ext>
            </a:extLst>
          </p:cNvPr>
          <p:cNvSpPr/>
          <p:nvPr/>
        </p:nvSpPr>
        <p:spPr>
          <a:xfrm>
            <a:off x="4408972" y="1899689"/>
            <a:ext cx="2021955" cy="1236883"/>
          </a:xfrm>
          <a:prstGeom prst="roundRect">
            <a:avLst/>
          </a:prstGeom>
          <a:noFill/>
          <a:ln w="76200" cmpd="tri">
            <a:solidFill>
              <a:srgbClr val="2AA9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FC25077C-3F86-82CD-EEBC-1345FC094F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3953867"/>
              </p:ext>
            </p:extLst>
          </p:nvPr>
        </p:nvGraphicFramePr>
        <p:xfrm>
          <a:off x="446345" y="3545404"/>
          <a:ext cx="5984582" cy="264414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1873522">
                  <a:extLst>
                    <a:ext uri="{9D8B030D-6E8A-4147-A177-3AD203B41FA5}">
                      <a16:colId xmlns:a16="http://schemas.microsoft.com/office/drawing/2014/main" val="539532219"/>
                    </a:ext>
                  </a:extLst>
                </a:gridCol>
                <a:gridCol w="1083733">
                  <a:extLst>
                    <a:ext uri="{9D8B030D-6E8A-4147-A177-3AD203B41FA5}">
                      <a16:colId xmlns:a16="http://schemas.microsoft.com/office/drawing/2014/main" val="3883297624"/>
                    </a:ext>
                  </a:extLst>
                </a:gridCol>
                <a:gridCol w="948267">
                  <a:extLst>
                    <a:ext uri="{9D8B030D-6E8A-4147-A177-3AD203B41FA5}">
                      <a16:colId xmlns:a16="http://schemas.microsoft.com/office/drawing/2014/main" val="1695220194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334132603"/>
                    </a:ext>
                  </a:extLst>
                </a:gridCol>
                <a:gridCol w="1012260">
                  <a:extLst>
                    <a:ext uri="{9D8B030D-6E8A-4147-A177-3AD203B41FA5}">
                      <a16:colId xmlns:a16="http://schemas.microsoft.com/office/drawing/2014/main" val="524729326"/>
                    </a:ext>
                  </a:extLst>
                </a:gridCol>
              </a:tblGrid>
              <a:tr h="243208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Kondisi</a:t>
                      </a:r>
                      <a:endParaRPr lang="en-US" sz="105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Hasil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NPP/</a:t>
                      </a:r>
                      <a:r>
                        <a:rPr lang="en-US" sz="105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NPN</a:t>
                      </a:r>
                      <a:r>
                        <a:rPr lang="en-US" sz="1050" b="1" baseline="500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endParaRPr lang="en-US" sz="1050" b="1" baseline="50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Skor </a:t>
                      </a:r>
                      <a:r>
                        <a:rPr lang="en-US" sz="105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Risiko</a:t>
                      </a:r>
                      <a:r>
                        <a:rPr lang="en-US" sz="1050" b="1" baseline="500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</a:t>
                      </a:r>
                      <a:r>
                        <a:rPr lang="en-US" sz="10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7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7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sebelum</a:t>
                      </a:r>
                      <a:r>
                        <a:rPr lang="en-US" sz="7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sz="105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Skor </a:t>
                      </a:r>
                      <a:r>
                        <a:rPr lang="en-US" sz="105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Risiko</a:t>
                      </a:r>
                      <a:r>
                        <a:rPr lang="en-US" sz="1050" b="1" baseline="500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</a:t>
                      </a:r>
                      <a:endParaRPr lang="en-US" sz="1050" b="1" baseline="50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7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setelah</a:t>
                      </a:r>
                      <a:r>
                        <a:rPr lang="en-US" sz="7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sz="9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83159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21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&lt;&lt;T21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  <a:endParaRPr lang="en-US" sz="900" dirty="0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&lt;&lt;ST21_TT21&gt;&gt;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&lt;&lt;T21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1165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18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&lt;&lt;T18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  <a:endParaRPr lang="en-US" sz="900" dirty="0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&lt;&lt;ST18_TT18&gt;&gt;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&lt;&lt;T18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04423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13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&lt;&lt;T13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  <a:endParaRPr lang="en-US" sz="900" dirty="0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&lt;&lt;ST13_TT13&gt;&gt;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&lt;&lt;T13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23189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&lt;&lt;T9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  <a:endParaRPr lang="en-US" sz="900" dirty="0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&lt;&lt;T9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99320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16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&lt;&lt;T16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  <a:endParaRPr lang="en-US" sz="900" dirty="0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</a:t>
                      </a:r>
                      <a:endParaRPr lang="en-US" sz="900" b="1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&lt;&lt;T16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202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22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&lt;&lt;T22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  <a:endParaRPr lang="en-US" sz="900" dirty="0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</a:t>
                      </a:r>
                      <a:endParaRPr lang="en-US" sz="900" b="1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&lt;&lt;T22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44474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XO (</a:t>
                      </a:r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Sindrom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Turner)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&lt;&lt;XO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  <a:endParaRPr lang="en-US" sz="900" dirty="0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</a:t>
                      </a:r>
                      <a:endParaRPr lang="en-US" sz="900" b="1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&lt;&lt;XO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4809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XXX (</a:t>
                      </a:r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X)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&lt;&lt;XXX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  <a:endParaRPr lang="en-US" sz="900" dirty="0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</a:t>
                      </a:r>
                      <a:endParaRPr lang="en-US" sz="900" b="1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&lt;&lt;XXX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51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XXY (</a:t>
                      </a:r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Sindrom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Klinefelter)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&lt;&lt;XXY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  <a:endParaRPr lang="en-US" sz="900" dirty="0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</a:t>
                      </a:r>
                      <a:endParaRPr lang="en-US" sz="900" b="1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&lt;&lt;XXY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22886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XYY (</a:t>
                      </a:r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Sindrom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Jacob)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&lt;&lt;XYY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  <a:endParaRPr lang="en-US" sz="900" dirty="0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</a:t>
                      </a:r>
                      <a:endParaRPr lang="en-US" sz="900" b="1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&lt;&lt;XYY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806044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5D2A34DF-A85D-AFAC-37DA-EDB3DA2BCD69}"/>
              </a:ext>
            </a:extLst>
          </p:cNvPr>
          <p:cNvSpPr txBox="1"/>
          <p:nvPr/>
        </p:nvSpPr>
        <p:spPr>
          <a:xfrm>
            <a:off x="446345" y="3232822"/>
            <a:ext cx="37426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RINCIAN HASIL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2FD5668-A2A3-535F-995B-C8E0C0ABE794}"/>
              </a:ext>
            </a:extLst>
          </p:cNvPr>
          <p:cNvSpPr txBox="1"/>
          <p:nvPr/>
        </p:nvSpPr>
        <p:spPr>
          <a:xfrm>
            <a:off x="5770169" y="9510229"/>
            <a:ext cx="9332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Halaman 1 </a:t>
            </a:r>
            <a:r>
              <a:rPr lang="en-US" sz="8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3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9D14529-C7C6-BEDC-6A17-B75DBD3A2218}"/>
              </a:ext>
            </a:extLst>
          </p:cNvPr>
          <p:cNvCxnSpPr>
            <a:cxnSpLocks/>
          </p:cNvCxnSpPr>
          <p:nvPr/>
        </p:nvCxnSpPr>
        <p:spPr>
          <a:xfrm>
            <a:off x="533400" y="2594922"/>
            <a:ext cx="3681005" cy="0"/>
          </a:xfrm>
          <a:prstGeom prst="line">
            <a:avLst/>
          </a:prstGeom>
          <a:ln>
            <a:solidFill>
              <a:srgbClr val="1975C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4845B88-6304-C188-11BF-EC9C14685CB0}"/>
              </a:ext>
            </a:extLst>
          </p:cNvPr>
          <p:cNvSpPr txBox="1"/>
          <p:nvPr/>
        </p:nvSpPr>
        <p:spPr>
          <a:xfrm>
            <a:off x="446345" y="9202369"/>
            <a:ext cx="13516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srgbClr val="1975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Hasil </a:t>
            </a:r>
            <a:r>
              <a:rPr lang="en-US" sz="1000" b="1" dirty="0" err="1">
                <a:solidFill>
                  <a:srgbClr val="1975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diverifikasi</a:t>
            </a:r>
            <a:r>
              <a:rPr lang="en-US" sz="1000" b="1" dirty="0">
                <a:solidFill>
                  <a:srgbClr val="1975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oleh: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D7F0E2-04DD-6B22-ABD8-6956309937FF}"/>
              </a:ext>
            </a:extLst>
          </p:cNvPr>
          <p:cNvSpPr txBox="1"/>
          <p:nvPr/>
        </p:nvSpPr>
        <p:spPr>
          <a:xfrm>
            <a:off x="412897" y="6665518"/>
            <a:ext cx="5998758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9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Semua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probabilitas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NPP dan NPN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dihitung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https://ppv.geneticsupportfoundation.org/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berdasarkan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dan data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sensitivitas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spesifisitas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NIPT.</a:t>
            </a:r>
          </a:p>
          <a:p>
            <a:pPr algn="just"/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9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Skor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sebelum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aneuploidi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dilaporkan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publikasi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studi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terhadap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17.885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wanita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(Dar, et al. Am J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Obstet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Gynecol. 2014 Nov; 211(5): 527.e1-527.e17)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berdasarkan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dan/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populasi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umum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algn="just"/>
            <a:endParaRPr lang="en-US" sz="9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9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Nilai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skor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setelah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dihitung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sebagai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nilai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probabilitas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diperoleh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distribusi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kelompok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normal dan abnormal Gaussian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menggunakan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persentase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DNA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fraksi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),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nilai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i="1" dirty="0">
                <a:latin typeface="Calibri" panose="020F0502020204030204" pitchFamily="34" charset="0"/>
                <a:cs typeface="Calibri" panose="020F0502020204030204" pitchFamily="34" charset="0"/>
              </a:rPr>
              <a:t>chromosome read % (Unique Read %)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dan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nilai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i="1" dirty="0">
                <a:latin typeface="Calibri" panose="020F0502020204030204" pitchFamily="34" charset="0"/>
                <a:cs typeface="Calibri" panose="020F0502020204030204" pitchFamily="34" charset="0"/>
              </a:rPr>
              <a:t>Z-score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Skor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setelah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mungkin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merefleksikan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NPP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aktual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serta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lainnya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temuan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ultrasonografi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dan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riwayat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pribadi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keluarga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disertakan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dalam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penilaian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algn="just"/>
            <a:endParaRPr lang="en-US" sz="9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B425E74-126B-618D-3860-13906278BBB1}"/>
              </a:ext>
            </a:extLst>
          </p:cNvPr>
          <p:cNvSpPr/>
          <p:nvPr/>
        </p:nvSpPr>
        <p:spPr>
          <a:xfrm>
            <a:off x="430623" y="1899689"/>
            <a:ext cx="3875010" cy="1236883"/>
          </a:xfrm>
          <a:prstGeom prst="roundRect">
            <a:avLst/>
          </a:prstGeom>
          <a:noFill/>
          <a:ln w="76200" cmpd="tri">
            <a:solidFill>
              <a:srgbClr val="2AA9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2FACED1-6AC2-2602-5A69-7520452AAE52}"/>
              </a:ext>
            </a:extLst>
          </p:cNvPr>
          <p:cNvSpPr txBox="1"/>
          <p:nvPr/>
        </p:nvSpPr>
        <p:spPr>
          <a:xfrm>
            <a:off x="2452581" y="772625"/>
            <a:ext cx="19563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7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&lt;&lt;W&gt;&gt; Weeks &lt;&lt;D&gt;&gt; Days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&lt;&lt;Pregnancy Type&gt;&gt;</a:t>
            </a:r>
          </a:p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Dokter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Nama: &lt;&lt;Doctor&gt;&gt;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Rumah Sakit/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Klinik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&lt;&lt;Hospital&gt;&gt;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56B20D6-42AA-FAAA-B8DB-FC1082E5765C}"/>
              </a:ext>
            </a:extLst>
          </p:cNvPr>
          <p:cNvSpPr/>
          <p:nvPr/>
        </p:nvSpPr>
        <p:spPr>
          <a:xfrm>
            <a:off x="501650" y="9449524"/>
            <a:ext cx="5214966" cy="261179"/>
          </a:xfrm>
          <a:prstGeom prst="roundRect">
            <a:avLst/>
          </a:prstGeom>
          <a:noFill/>
          <a:ln>
            <a:solidFill>
              <a:srgbClr val="E5F6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F275569-4B51-0C50-4A6E-8BB71CABF2DF}"/>
              </a:ext>
            </a:extLst>
          </p:cNvPr>
          <p:cNvSpPr txBox="1"/>
          <p:nvPr/>
        </p:nvSpPr>
        <p:spPr>
          <a:xfrm>
            <a:off x="498896" y="9427924"/>
            <a:ext cx="39429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Direktur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Laboratorium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Cordlife :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Yuyus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Kusnadi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, PhD</a:t>
            </a:r>
            <a:endParaRPr lang="en-ID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2E9BAB-6793-4E1E-6636-EE417E9BE086}"/>
              </a:ext>
            </a:extLst>
          </p:cNvPr>
          <p:cNvSpPr txBox="1"/>
          <p:nvPr/>
        </p:nvSpPr>
        <p:spPr>
          <a:xfrm>
            <a:off x="4466785" y="766381"/>
            <a:ext cx="1964142" cy="846386"/>
          </a:xfrm>
          <a:prstGeom prst="rect">
            <a:avLst/>
          </a:prstGeom>
          <a:noFill/>
          <a:ln cmpd="tri">
            <a:noFill/>
          </a:ln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Sampel: Blood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Pengambilan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&lt;&lt;Collection Date&gt;&gt;</a:t>
            </a:r>
            <a:endParaRPr lang="en-US" sz="700" dirty="0">
              <a:solidFill>
                <a:srgbClr val="545454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Diterima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&lt;&lt;Receipt Date&gt;&gt;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Laporan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Selesai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&lt;&lt;Report Date&gt;&gt;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&lt;&lt;Test Requested&gt;&gt;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0B8863-BC02-F315-8CB2-20CAA65E7C29}"/>
              </a:ext>
            </a:extLst>
          </p:cNvPr>
          <p:cNvSpPr txBox="1"/>
          <p:nvPr/>
        </p:nvSpPr>
        <p:spPr>
          <a:xfrm>
            <a:off x="498898" y="2594922"/>
            <a:ext cx="37155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Hasil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berlaku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hanya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panel yang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dipilih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NIPT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skrining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bukan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diagnostik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menilai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genetik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di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dalam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darah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yang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merupakan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campuran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DNA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plasenta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Konseling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genetik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diagnostik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perlu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disarankan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evaluasi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lebih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lanjut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jika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berisiko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tinggi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9C6B61-747C-3C57-35A9-D3E148D636D3}"/>
              </a:ext>
            </a:extLst>
          </p:cNvPr>
          <p:cNvSpPr txBox="1"/>
          <p:nvPr/>
        </p:nvSpPr>
        <p:spPr>
          <a:xfrm>
            <a:off x="5713863" y="9220678"/>
            <a:ext cx="857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dirty="0">
                <a:solidFill>
                  <a:srgbClr val="000000"/>
                </a:solidFill>
                <a:latin typeface="Calibri" panose="020F0502020204030204" pitchFamily="34" charset="0"/>
              </a:rPr>
              <a:t>DCR No.: 3573</a:t>
            </a:r>
          </a:p>
          <a:p>
            <a:pPr algn="ctr"/>
            <a:r>
              <a:rPr lang="pt-BR" sz="800" dirty="0">
                <a:solidFill>
                  <a:srgbClr val="000000"/>
                </a:solidFill>
                <a:latin typeface="Calibri" panose="020F0502020204030204" pitchFamily="34" charset="0"/>
              </a:rPr>
              <a:t>QR G1.1-6-3-e</a:t>
            </a:r>
            <a:endParaRPr lang="en-ID" sz="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B93D23-158D-2F0D-52FE-B1DFBD4CEA44}"/>
              </a:ext>
            </a:extLst>
          </p:cNvPr>
          <p:cNvSpPr txBox="1"/>
          <p:nvPr/>
        </p:nvSpPr>
        <p:spPr>
          <a:xfrm>
            <a:off x="434824" y="772625"/>
            <a:ext cx="19563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No. Lab: &lt;&lt;Sample Number&gt;&gt;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&lt;&lt;Patient Name&gt;&gt;</a:t>
            </a: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Lahir: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&lt;&lt;DOB&gt;&gt; (&lt;&lt;A&gt;&gt;)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Berat/Tinggi Badan Ibu: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&lt;&lt;kg&gt;&gt;kg / &lt;&lt;cm&gt;&gt;cm 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Indikasi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&lt;&lt;Indication&gt;&gt;</a:t>
            </a:r>
          </a:p>
        </p:txBody>
      </p:sp>
    </p:spTree>
    <p:extLst>
      <p:ext uri="{BB962C8B-B14F-4D97-AF65-F5344CB8AC3E}">
        <p14:creationId xmlns:p14="http://schemas.microsoft.com/office/powerpoint/2010/main" val="4277527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CA9F03C-C0C8-69FC-D232-9360D2FE9B59}"/>
              </a:ext>
            </a:extLst>
          </p:cNvPr>
          <p:cNvSpPr/>
          <p:nvPr/>
        </p:nvSpPr>
        <p:spPr>
          <a:xfrm>
            <a:off x="4214805" y="181606"/>
            <a:ext cx="225965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3200" b="1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NIPT </a:t>
            </a:r>
            <a:r>
              <a:rPr lang="en-US" sz="2000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Test Report</a:t>
            </a:r>
            <a:endParaRPr lang="en-US" sz="3200" cap="none" spc="0" dirty="0">
              <a:ln/>
              <a:solidFill>
                <a:srgbClr val="01A3C9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 descr="Home">
            <a:extLst>
              <a:ext uri="{FF2B5EF4-FFF2-40B4-BE49-F238E27FC236}">
                <a16:creationId xmlns:a16="http://schemas.microsoft.com/office/drawing/2014/main" id="{84221953-82AC-8C3B-12AC-1883B14556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546"/>
          <a:stretch/>
        </p:blipFill>
        <p:spPr bwMode="auto">
          <a:xfrm>
            <a:off x="446345" y="94239"/>
            <a:ext cx="1905000" cy="600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D2A34DF-A85D-AFAC-37DA-EDB3DA2BCD69}"/>
              </a:ext>
            </a:extLst>
          </p:cNvPr>
          <p:cNvSpPr txBox="1"/>
          <p:nvPr/>
        </p:nvSpPr>
        <p:spPr>
          <a:xfrm>
            <a:off x="430623" y="1798467"/>
            <a:ext cx="37426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RINCIAN HASIL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493B88F-465A-858F-2F66-B72843820E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1699682"/>
              </p:ext>
            </p:extLst>
          </p:nvPr>
        </p:nvGraphicFramePr>
        <p:xfrm>
          <a:off x="464687" y="2286588"/>
          <a:ext cx="5984584" cy="2156298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1874476">
                  <a:extLst>
                    <a:ext uri="{9D8B030D-6E8A-4147-A177-3AD203B41FA5}">
                      <a16:colId xmlns:a16="http://schemas.microsoft.com/office/drawing/2014/main" val="539532219"/>
                    </a:ext>
                  </a:extLst>
                </a:gridCol>
                <a:gridCol w="1018008">
                  <a:extLst>
                    <a:ext uri="{9D8B030D-6E8A-4147-A177-3AD203B41FA5}">
                      <a16:colId xmlns:a16="http://schemas.microsoft.com/office/drawing/2014/main" val="388329762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102380160"/>
                    </a:ext>
                  </a:extLst>
                </a:gridCol>
                <a:gridCol w="1899684">
                  <a:extLst>
                    <a:ext uri="{9D8B030D-6E8A-4147-A177-3AD203B41FA5}">
                      <a16:colId xmlns:a16="http://schemas.microsoft.com/office/drawing/2014/main" val="1695220194"/>
                    </a:ext>
                  </a:extLst>
                </a:gridCol>
                <a:gridCol w="984136">
                  <a:extLst>
                    <a:ext uri="{9D8B030D-6E8A-4147-A177-3AD203B41FA5}">
                      <a16:colId xmlns:a16="http://schemas.microsoft.com/office/drawing/2014/main" val="340498656"/>
                    </a:ext>
                  </a:extLst>
                </a:gridCol>
              </a:tblGrid>
              <a:tr h="243208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Kondisi</a:t>
                      </a:r>
                      <a:endParaRPr lang="en-US" sz="105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Hasil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Kondisi</a:t>
                      </a:r>
                      <a:endParaRPr lang="en-US" sz="105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Hasil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83159712"/>
                  </a:ext>
                </a:extLst>
              </a:tr>
              <a:tr h="410610">
                <a:tc>
                  <a:txBody>
                    <a:bodyPr/>
                    <a:lstStyle/>
                    <a:p>
                      <a:pPr algn="ctr"/>
                      <a:r>
                        <a:rPr lang="en-US" sz="900" b="1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1p36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&lt;&lt;MD1&gt;&gt;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Jacobsen syndrome</a:t>
                      </a:r>
                    </a:p>
                    <a:p>
                      <a:pPr algn="ctr"/>
                      <a:r>
                        <a:rPr lang="en-US" sz="900" b="1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11q23.3-q25</a:t>
                      </a:r>
                      <a:r>
                        <a:rPr lang="en-US" sz="900" b="1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&lt;&lt;MD6&gt;&gt;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331958"/>
                  </a:ext>
                </a:extLst>
              </a:tr>
              <a:tr h="396948">
                <a:tc>
                  <a:txBody>
                    <a:bodyPr/>
                    <a:lstStyle/>
                    <a:p>
                      <a:pPr algn="ctr"/>
                      <a:r>
                        <a:rPr lang="en-US" sz="900" b="1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2q33.1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&lt;&lt;MD2&gt;&gt;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Prader-</a:t>
                      </a:r>
                      <a:r>
                        <a:rPr lang="en-US" sz="900" b="1" i="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willi</a:t>
                      </a:r>
                      <a:r>
                        <a:rPr lang="en-US" sz="900" b="1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/Angelman syndrome (15q11.2-q13)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&lt;&lt;MD7&gt;&gt;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3445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Wolf-Hirschhorn syndrome </a:t>
                      </a:r>
                    </a:p>
                    <a:p>
                      <a:pPr algn="ctr"/>
                      <a:r>
                        <a:rPr lang="en-US" sz="900" b="1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(4p16.3)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&lt;&lt;MD3&gt;&gt;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DiGeorge syndrome</a:t>
                      </a:r>
                    </a:p>
                    <a:p>
                      <a:pPr algn="ctr"/>
                      <a:r>
                        <a:rPr lang="en-US" sz="900" b="1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(22q11.2)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&lt;&lt;MD8&gt;&gt;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477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Cri Du Chat syndrome</a:t>
                      </a:r>
                    </a:p>
                    <a:p>
                      <a:pPr algn="ctr"/>
                      <a:r>
                        <a:rPr lang="en-US" sz="900" b="1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(5p-)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&lt;&lt;MD4&gt;&gt;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Mikrodelesi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/</a:t>
                      </a:r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duplikasi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lainnya</a:t>
                      </a:r>
                      <a:endParaRPr lang="en-US" sz="900" b="1" baseline="50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&lt;&lt;Other MD&gt;&gt;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69246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Williams-Beuren syndrome (7q11.23 deletion)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&lt;&lt;MD5&gt;&gt;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611667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9C65888-2E26-5D65-3D1E-5F293A21906C}"/>
              </a:ext>
            </a:extLst>
          </p:cNvPr>
          <p:cNvSpPr txBox="1"/>
          <p:nvPr/>
        </p:nvSpPr>
        <p:spPr>
          <a:xfrm>
            <a:off x="436708" y="2045473"/>
            <a:ext cx="26811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Mikrodelesi</a:t>
            </a:r>
            <a:endParaRPr lang="en-US" sz="11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32742E-79C3-2E41-E269-1BCEA92A7D48}"/>
              </a:ext>
            </a:extLst>
          </p:cNvPr>
          <p:cNvSpPr txBox="1"/>
          <p:nvPr/>
        </p:nvSpPr>
        <p:spPr>
          <a:xfrm>
            <a:off x="430623" y="4467209"/>
            <a:ext cx="26811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Interpretasi</a:t>
            </a:r>
            <a:endParaRPr lang="en-US" sz="11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52D37D9-91C3-B54A-893B-EF7DB5C047FA}"/>
              </a:ext>
            </a:extLst>
          </p:cNvPr>
          <p:cNvSpPr/>
          <p:nvPr/>
        </p:nvSpPr>
        <p:spPr>
          <a:xfrm>
            <a:off x="446345" y="4711884"/>
            <a:ext cx="5984582" cy="751231"/>
          </a:xfrm>
          <a:prstGeom prst="roundRect">
            <a:avLst/>
          </a:prstGeom>
          <a:noFill/>
          <a:ln>
            <a:solidFill>
              <a:srgbClr val="E5F6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66A867-4455-152D-1CC5-E07801B192A2}"/>
              </a:ext>
            </a:extLst>
          </p:cNvPr>
          <p:cNvSpPr txBox="1"/>
          <p:nvPr/>
        </p:nvSpPr>
        <p:spPr>
          <a:xfrm>
            <a:off x="5770169" y="9510229"/>
            <a:ext cx="9332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Halaman 2 </a:t>
            </a:r>
            <a:r>
              <a:rPr lang="en-US" sz="8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1CE8A61-CAF4-1672-1AA6-B712F7B4EDA4}"/>
              </a:ext>
            </a:extLst>
          </p:cNvPr>
          <p:cNvSpPr txBox="1"/>
          <p:nvPr/>
        </p:nvSpPr>
        <p:spPr>
          <a:xfrm>
            <a:off x="432169" y="5653054"/>
            <a:ext cx="5998758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900" b="1" dirty="0" err="1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Aneuploidi</a:t>
            </a:r>
            <a:r>
              <a:rPr lang="en-US" sz="900" b="1" dirty="0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b="1" dirty="0" err="1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900" b="1" dirty="0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Autosomal dan </a:t>
            </a:r>
            <a:r>
              <a:rPr lang="en-US" sz="900" b="1" dirty="0" err="1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Seks</a:t>
            </a:r>
            <a:endParaRPr lang="en-US" sz="900" b="1" dirty="0">
              <a:solidFill>
                <a:srgbClr val="5E2E8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didesain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sebagai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skrining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aneuploidi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berdasarkan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analisis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DNA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bebas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divalidasi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tunggal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paling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10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minggu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diperkirakan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periode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menstruasi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terakhir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Hasil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mengeliminasi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kemungkinan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sedang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dijalani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mengalami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abnormalitas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sub-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lain,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kelainan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bawaan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lahir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kondisi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lainnya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ditujukan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mengidentifikasi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defek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tabung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saraf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terbuka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Hasil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negatif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mengeliminasi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kemungkinan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abnormalitas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Terdapat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kemungkinan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kecil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merefleksikan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namun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merefleksikan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perubahan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plasenta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800" i="1" dirty="0">
                <a:latin typeface="Calibri" panose="020F0502020204030204" pitchFamily="34" charset="0"/>
                <a:cs typeface="Calibri" panose="020F0502020204030204" pitchFamily="34" charset="0"/>
              </a:rPr>
              <a:t>confined placental mosaicism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mosaikisme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).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Sumber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berpotensi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menyebabkan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ketidakakuratan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di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antaranya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namun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terbatas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pada,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mosaikisme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dan/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plasenta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fraksi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rendah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transfusi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darah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operasi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transplantasi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dan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terapi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punca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Terutama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pengurangan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jumlah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seperti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800" i="1" dirty="0">
                <a:latin typeface="Calibri" panose="020F0502020204030204" pitchFamily="34" charset="0"/>
                <a:cs typeface="Calibri" panose="020F0502020204030204" pitchFamily="34" charset="0"/>
              </a:rPr>
              <a:t>vanishing fetus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kematian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dapat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menyebabkan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negatif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positif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palsu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Jika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menginginkan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diagnosis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definitif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maka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i="1" dirty="0">
                <a:latin typeface="Calibri" panose="020F0502020204030204" pitchFamily="34" charset="0"/>
                <a:cs typeface="Calibri" panose="020F0502020204030204" pitchFamily="34" charset="0"/>
              </a:rPr>
              <a:t>chorionic villus sampling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amniosentesis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mungkin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dibutuhkan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E413E1D-0DC0-0BFF-A4D7-A5163CBFCA5B}"/>
              </a:ext>
            </a:extLst>
          </p:cNvPr>
          <p:cNvSpPr txBox="1"/>
          <p:nvPr/>
        </p:nvSpPr>
        <p:spPr>
          <a:xfrm>
            <a:off x="430623" y="5424161"/>
            <a:ext cx="37426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KETERBATASAN PEMERIKSAAN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0FD2CC2-99B0-C2E8-4831-98D2B1CD2419}"/>
              </a:ext>
            </a:extLst>
          </p:cNvPr>
          <p:cNvSpPr txBox="1"/>
          <p:nvPr/>
        </p:nvSpPr>
        <p:spPr>
          <a:xfrm>
            <a:off x="432147" y="7175718"/>
            <a:ext cx="5998758" cy="1831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900" b="1" dirty="0" err="1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Mikrodelesi</a:t>
            </a:r>
            <a:endParaRPr lang="en-US" sz="900" b="1" dirty="0">
              <a:solidFill>
                <a:srgbClr val="5E2E8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didesain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sebagai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skrining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delesi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sub-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pada regio 1p36, 2q33.1, 4p16.3, 5p-, 7q11.23, 11q23, 15q11.2-q13, 22q11.2, 108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sindrom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jika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ada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) dan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tersedia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tunggal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paling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10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minggu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diperkirakan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periode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menstruasi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terakhir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i="1" dirty="0">
                <a:latin typeface="Calibri" panose="020F0502020204030204" pitchFamily="34" charset="0"/>
                <a:cs typeface="Calibri" panose="020F0502020204030204" pitchFamily="34" charset="0"/>
              </a:rPr>
              <a:t>crown-rump length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metode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sesuai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lainnya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skrining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dapat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memberikan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positif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negatif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palsu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Oleh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karena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itu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negatif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mengeliminasi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kemungkinan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adanya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sindrom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mikrodelesi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duplikasi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disebutkan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di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Jika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menginginkan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diagnosis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definitif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i="1" dirty="0">
                <a:latin typeface="Calibri" panose="020F0502020204030204" pitchFamily="34" charset="0"/>
                <a:cs typeface="Calibri" panose="020F0502020204030204" pitchFamily="34" charset="0"/>
              </a:rPr>
              <a:t>chorionic villous sampling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amniosentesis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mungkin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dibutuhkan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mempertimbangkan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i="1" dirty="0">
                <a:latin typeface="Calibri" panose="020F0502020204030204" pitchFamily="34" charset="0"/>
                <a:cs typeface="Calibri" panose="020F0502020204030204" pitchFamily="34" charset="0"/>
              </a:rPr>
              <a:t>microarray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prenatal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i="1" dirty="0">
                <a:latin typeface="Calibri" panose="020F0502020204030204" pitchFamily="34" charset="0"/>
                <a:cs typeface="Calibri" panose="020F0502020204030204" pitchFamily="34" charset="0"/>
              </a:rPr>
              <a:t>region-specific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DNA </a:t>
            </a:r>
            <a:r>
              <a:rPr lang="en-US" sz="800" i="1" dirty="0">
                <a:latin typeface="Calibri" panose="020F0502020204030204" pitchFamily="34" charset="0"/>
                <a:cs typeface="Calibri" panose="020F0502020204030204" pitchFamily="34" charset="0"/>
              </a:rPr>
              <a:t>probes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Selain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itu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temuan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dan sub-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berukuran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lebih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3 Mb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mungkin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dilaporkan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sifatnya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jarang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kompleks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validasi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mencukupi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dapat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menyebabkan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spesifisitas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lebih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rendah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Fraksi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rendah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ukuran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CNV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pendek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keterbatasan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teknis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Konsultasi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mendapatkan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saran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dokter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dibutuhkan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temuan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semacam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Hasil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mengeliminasi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kemungkinan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sedang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dijalani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mengalami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abnormalitas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sub-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lain,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kelainan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bawaan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lahir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kondisi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lainnya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ditujukan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mengidentifikasi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defek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tabung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saraf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terbuka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Sebagai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tambahan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terdapat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kemungkinan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kecil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merefleksikan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namun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merefleksikan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perubahan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sub-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plasenta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800" i="1" dirty="0">
                <a:latin typeface="Calibri" panose="020F0502020204030204" pitchFamily="34" charset="0"/>
                <a:cs typeface="Calibri" panose="020F0502020204030204" pitchFamily="34" charset="0"/>
              </a:rPr>
              <a:t>confined placental mosaicism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FD6A08-E6D8-5412-AB11-E5C0721C0020}"/>
              </a:ext>
            </a:extLst>
          </p:cNvPr>
          <p:cNvSpPr txBox="1"/>
          <p:nvPr/>
        </p:nvSpPr>
        <p:spPr>
          <a:xfrm>
            <a:off x="530472" y="4743949"/>
            <a:ext cx="588118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3820" lvl="0"/>
            <a:r>
              <a:rPr lang="en-US" sz="900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&lt;&lt;MDI&gt;&gt;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D14A75-A2B9-0827-6C3B-317B8E8C6411}"/>
              </a:ext>
            </a:extLst>
          </p:cNvPr>
          <p:cNvSpPr txBox="1"/>
          <p:nvPr/>
        </p:nvSpPr>
        <p:spPr>
          <a:xfrm>
            <a:off x="446345" y="9202369"/>
            <a:ext cx="13516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srgbClr val="1975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Hasil </a:t>
            </a:r>
            <a:r>
              <a:rPr lang="en-US" sz="1000" b="1" dirty="0" err="1">
                <a:solidFill>
                  <a:srgbClr val="1975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diverifikasi</a:t>
            </a:r>
            <a:r>
              <a:rPr lang="en-US" sz="1000" b="1" dirty="0">
                <a:solidFill>
                  <a:srgbClr val="1975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oleh: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BDD3D3-E185-AAF7-C476-ED95527FCC7D}"/>
              </a:ext>
            </a:extLst>
          </p:cNvPr>
          <p:cNvSpPr/>
          <p:nvPr/>
        </p:nvSpPr>
        <p:spPr>
          <a:xfrm>
            <a:off x="501650" y="9449524"/>
            <a:ext cx="5214966" cy="261179"/>
          </a:xfrm>
          <a:prstGeom prst="roundRect">
            <a:avLst/>
          </a:prstGeom>
          <a:noFill/>
          <a:ln>
            <a:solidFill>
              <a:srgbClr val="E5F6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EF96A22-0D09-0985-EFB5-3652E6030941}"/>
              </a:ext>
            </a:extLst>
          </p:cNvPr>
          <p:cNvSpPr txBox="1"/>
          <p:nvPr/>
        </p:nvSpPr>
        <p:spPr>
          <a:xfrm>
            <a:off x="498896" y="9427924"/>
            <a:ext cx="39100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Direktur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Laboratorium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Cordlife :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Yuyus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Kusnadi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, PhD</a:t>
            </a:r>
            <a:endParaRPr lang="en-ID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0BFDC31-A6D5-F8B7-F84B-37668A1C1243}"/>
              </a:ext>
            </a:extLst>
          </p:cNvPr>
          <p:cNvSpPr/>
          <p:nvPr/>
        </p:nvSpPr>
        <p:spPr>
          <a:xfrm>
            <a:off x="430623" y="772625"/>
            <a:ext cx="1956394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1C4F97D-1963-62D4-7550-794B23141BF9}"/>
              </a:ext>
            </a:extLst>
          </p:cNvPr>
          <p:cNvSpPr/>
          <p:nvPr/>
        </p:nvSpPr>
        <p:spPr>
          <a:xfrm>
            <a:off x="2452579" y="772625"/>
            <a:ext cx="1956393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58B1726-A187-5C14-886B-972B44D5B8D8}"/>
              </a:ext>
            </a:extLst>
          </p:cNvPr>
          <p:cNvSpPr/>
          <p:nvPr/>
        </p:nvSpPr>
        <p:spPr>
          <a:xfrm>
            <a:off x="4474534" y="772625"/>
            <a:ext cx="1956393" cy="954107"/>
          </a:xfrm>
          <a:prstGeom prst="rect">
            <a:avLst/>
          </a:prstGeom>
          <a:noFill/>
          <a:ln w="15875" cmpd="thickThin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F264B1B-B9F0-F1F4-B8A4-0D520C967407}"/>
              </a:ext>
            </a:extLst>
          </p:cNvPr>
          <p:cNvSpPr txBox="1"/>
          <p:nvPr/>
        </p:nvSpPr>
        <p:spPr>
          <a:xfrm>
            <a:off x="2452581" y="772625"/>
            <a:ext cx="19563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7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&lt;&lt;W&gt;&gt; Weeks &lt;&lt;D&gt;&gt; Days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&lt;&lt;Pregnancy Type&gt;&gt;</a:t>
            </a:r>
          </a:p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Dokter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Nama: &lt;&lt;Doctor&gt;&gt;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Rumah Sakit/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Klinik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&lt;&lt;Hospital&gt;&gt;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D42B3D-1A4D-9AED-BB04-E1ECB12CA05A}"/>
              </a:ext>
            </a:extLst>
          </p:cNvPr>
          <p:cNvSpPr txBox="1"/>
          <p:nvPr/>
        </p:nvSpPr>
        <p:spPr>
          <a:xfrm>
            <a:off x="4466785" y="766381"/>
            <a:ext cx="1964142" cy="846386"/>
          </a:xfrm>
          <a:prstGeom prst="rect">
            <a:avLst/>
          </a:prstGeom>
          <a:noFill/>
          <a:ln cmpd="tri">
            <a:noFill/>
          </a:ln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Sampel: Blood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Pengambilan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&lt;&lt;Collection Date&gt;&gt;</a:t>
            </a:r>
            <a:endParaRPr lang="en-US" sz="700" dirty="0">
              <a:solidFill>
                <a:srgbClr val="545454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Diterima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&lt;&lt;Receipt Date&gt;&gt;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Laporan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Selesai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&lt;&lt;Report Date&gt;&gt;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&lt;&lt;Test Requested&gt;&gt;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90E37F-07B4-742C-94F6-9A02A32DE52F}"/>
              </a:ext>
            </a:extLst>
          </p:cNvPr>
          <p:cNvSpPr txBox="1"/>
          <p:nvPr/>
        </p:nvSpPr>
        <p:spPr>
          <a:xfrm>
            <a:off x="5713863" y="9220678"/>
            <a:ext cx="857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dirty="0">
                <a:solidFill>
                  <a:srgbClr val="000000"/>
                </a:solidFill>
                <a:latin typeface="Calibri" panose="020F0502020204030204" pitchFamily="34" charset="0"/>
              </a:rPr>
              <a:t>DCR No.: 3573</a:t>
            </a:r>
          </a:p>
          <a:p>
            <a:pPr algn="ctr"/>
            <a:r>
              <a:rPr lang="pt-BR" sz="800" dirty="0">
                <a:solidFill>
                  <a:srgbClr val="000000"/>
                </a:solidFill>
                <a:latin typeface="Calibri" panose="020F0502020204030204" pitchFamily="34" charset="0"/>
              </a:rPr>
              <a:t>QR G1.1-6-3-e</a:t>
            </a:r>
            <a:endParaRPr lang="en-ID" sz="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8886B2-5061-275D-C26B-64C9F2651FB8}"/>
              </a:ext>
            </a:extLst>
          </p:cNvPr>
          <p:cNvSpPr txBox="1"/>
          <p:nvPr/>
        </p:nvSpPr>
        <p:spPr>
          <a:xfrm>
            <a:off x="434824" y="772625"/>
            <a:ext cx="19563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No. Lab: &lt;&lt;Sample Number&gt;&gt;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&lt;&lt;Patient Name&gt;&gt;</a:t>
            </a: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Lahir: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&lt;&lt;DOB&gt;&gt; (&lt;&lt;A&gt;&gt;)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Berat/Tinggi Badan Ibu: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&lt;&lt;kg&gt;&gt;kg / &lt;&lt;cm&gt;&gt;cm 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Indikasi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&lt;&lt;Indication&gt;&gt;</a:t>
            </a:r>
          </a:p>
        </p:txBody>
      </p:sp>
    </p:spTree>
    <p:extLst>
      <p:ext uri="{BB962C8B-B14F-4D97-AF65-F5344CB8AC3E}">
        <p14:creationId xmlns:p14="http://schemas.microsoft.com/office/powerpoint/2010/main" val="3310704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CA9F03C-C0C8-69FC-D232-9360D2FE9B59}"/>
              </a:ext>
            </a:extLst>
          </p:cNvPr>
          <p:cNvSpPr/>
          <p:nvPr/>
        </p:nvSpPr>
        <p:spPr>
          <a:xfrm>
            <a:off x="4214805" y="181606"/>
            <a:ext cx="225965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3200" b="1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NIPT </a:t>
            </a:r>
            <a:r>
              <a:rPr lang="en-US" sz="2000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Test Report</a:t>
            </a:r>
            <a:endParaRPr lang="en-US" sz="3200" cap="none" spc="0" dirty="0">
              <a:ln/>
              <a:solidFill>
                <a:srgbClr val="01A3C9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 descr="Home">
            <a:extLst>
              <a:ext uri="{FF2B5EF4-FFF2-40B4-BE49-F238E27FC236}">
                <a16:creationId xmlns:a16="http://schemas.microsoft.com/office/drawing/2014/main" id="{84221953-82AC-8C3B-12AC-1883B14556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546"/>
          <a:stretch/>
        </p:blipFill>
        <p:spPr bwMode="auto">
          <a:xfrm>
            <a:off x="446345" y="94239"/>
            <a:ext cx="1905000" cy="600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D2A34DF-A85D-AFAC-37DA-EDB3DA2BCD69}"/>
              </a:ext>
            </a:extLst>
          </p:cNvPr>
          <p:cNvSpPr txBox="1"/>
          <p:nvPr/>
        </p:nvSpPr>
        <p:spPr>
          <a:xfrm>
            <a:off x="430623" y="1743535"/>
            <a:ext cx="37426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TENTANG CORDLIFE NIPT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754FAC-03F1-BCC7-92A9-9BBA783CFE39}"/>
              </a:ext>
            </a:extLst>
          </p:cNvPr>
          <p:cNvSpPr txBox="1"/>
          <p:nvPr/>
        </p:nvSpPr>
        <p:spPr>
          <a:xfrm>
            <a:off x="5770169" y="9510229"/>
            <a:ext cx="9332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Halaman 3 </a:t>
            </a:r>
            <a:r>
              <a:rPr lang="en-US" sz="8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73C67E-DF8C-C2DA-0A2D-B06FBC379BE1}"/>
              </a:ext>
            </a:extLst>
          </p:cNvPr>
          <p:cNvSpPr txBox="1"/>
          <p:nvPr/>
        </p:nvSpPr>
        <p:spPr>
          <a:xfrm>
            <a:off x="430623" y="2016757"/>
            <a:ext cx="29983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Definisi</a:t>
            </a: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702B0D-E9ED-91A1-3997-E42203777706}"/>
              </a:ext>
            </a:extLst>
          </p:cNvPr>
          <p:cNvSpPr txBox="1"/>
          <p:nvPr/>
        </p:nvSpPr>
        <p:spPr>
          <a:xfrm>
            <a:off x="3444723" y="2216684"/>
            <a:ext cx="2986200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900" b="1" dirty="0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Nilai </a:t>
            </a:r>
            <a:r>
              <a:rPr lang="en-US" sz="900" b="1" dirty="0" err="1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Prediksi</a:t>
            </a:r>
            <a:r>
              <a:rPr lang="en-US" sz="900" b="1" dirty="0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b="1" dirty="0" err="1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Positif</a:t>
            </a:r>
            <a:r>
              <a:rPr lang="en-US" sz="900" b="1" dirty="0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(NPP)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probabilitas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benar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mengalami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kelainan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saat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menunjukkan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tinggi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900" b="1" dirty="0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Nilai </a:t>
            </a:r>
            <a:r>
              <a:rPr lang="en-US" sz="900" b="1" dirty="0" err="1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Prediksi</a:t>
            </a:r>
            <a:r>
              <a:rPr lang="en-US" sz="900" b="1" dirty="0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b="1" dirty="0" err="1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Negatif</a:t>
            </a:r>
            <a:r>
              <a:rPr lang="en-US" sz="900" b="1" dirty="0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(NPN)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probabilitas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benar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mengalami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kelainan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diperiksakan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saat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menunjukkan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rendah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7B23869-0372-6D8D-187B-E0E46E51B6AD}"/>
              </a:ext>
            </a:extLst>
          </p:cNvPr>
          <p:cNvSpPr txBox="1"/>
          <p:nvPr/>
        </p:nvSpPr>
        <p:spPr>
          <a:xfrm>
            <a:off x="430623" y="2226464"/>
            <a:ext cx="298265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900" b="1" dirty="0" err="1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Sensitivitas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proporsi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kasus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tinggi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sebenarnya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teridentifikasi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sebagai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tinggi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oleh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900" b="1" dirty="0" err="1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Spesifisitas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proporsi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kasus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tanpa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kelainan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teridentifikasi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sebagai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rendah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oleh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6CC831-1D0D-CAC5-759D-5FFAAE033D14}"/>
              </a:ext>
            </a:extLst>
          </p:cNvPr>
          <p:cNvSpPr txBox="1"/>
          <p:nvPr/>
        </p:nvSpPr>
        <p:spPr>
          <a:xfrm>
            <a:off x="430622" y="5741017"/>
            <a:ext cx="29983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11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ED1364F-2D63-4BE1-C34A-665BA6715115}"/>
              </a:ext>
            </a:extLst>
          </p:cNvPr>
          <p:cNvSpPr txBox="1"/>
          <p:nvPr/>
        </p:nvSpPr>
        <p:spPr>
          <a:xfrm>
            <a:off x="435930" y="5931957"/>
            <a:ext cx="5998758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900" b="1" dirty="0" err="1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Metode</a:t>
            </a:r>
            <a:r>
              <a:rPr lang="en-US" sz="900" b="1" dirty="0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skrining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non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invasif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menggunakan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metode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i="1" dirty="0">
                <a:latin typeface="Calibri" panose="020F0502020204030204" pitchFamily="34" charset="0"/>
                <a:cs typeface="Calibri" panose="020F0502020204030204" pitchFamily="34" charset="0"/>
              </a:rPr>
              <a:t>massively parallel sequencing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terhadap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potongan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DNA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bebas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sampel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Alur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kerja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terdiri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persiapan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sampel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otomatis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persiapan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i="1" dirty="0">
                <a:latin typeface="Calibri" panose="020F0502020204030204" pitchFamily="34" charset="0"/>
                <a:cs typeface="Calibri" panose="020F0502020204030204" pitchFamily="34" charset="0"/>
              </a:rPr>
              <a:t>library, 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dan </a:t>
            </a:r>
            <a:r>
              <a:rPr lang="en-US" sz="900" i="1" dirty="0">
                <a:latin typeface="Calibri" panose="020F0502020204030204" pitchFamily="34" charset="0"/>
                <a:cs typeface="Calibri" panose="020F0502020204030204" pitchFamily="34" charset="0"/>
              </a:rPr>
              <a:t>next generation whole genome sequencing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Kemampuan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alur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kerja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maupun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algoritme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divalidasi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oleh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900" b="1" dirty="0" err="1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Penafian</a:t>
            </a:r>
            <a:r>
              <a:rPr lang="en-US" sz="900" b="1" dirty="0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NIPT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skrining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bukan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diagnostik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mengevaluasi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genetik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merupakan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campuran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DNA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menentukan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kemungkinan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abnormalitas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spesifik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TIDAK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memberitahukan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secara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pasti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apakah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mengalami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kelainan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dan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hanya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menguji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kondisi-kondisi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diminta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oleh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penyedia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layanan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kesehatan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Hasil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rendah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menjamin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tanpa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kelainan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Bagaimana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digunakan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memandu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perawatan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tanggung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jawab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penyedia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layanan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kesehatan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termasuk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memberikan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saran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saat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dibutuhkan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konseling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genetik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diagnostik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Hasil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harus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dibaca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dalam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kaitannya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semua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temuan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klinis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ada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lainnya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Hasil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dimaksudkan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digunakan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sebagai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sumber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tunggal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dalam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mengambil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keputusan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tata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laksana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bertanggung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jawab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Klien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harus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membebaskan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semua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kehilangan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efek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timbul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keputusan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Klien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berdasarkan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NIPT.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F77E85-5567-A504-E77C-AA92EE25C50C}"/>
              </a:ext>
            </a:extLst>
          </p:cNvPr>
          <p:cNvSpPr txBox="1"/>
          <p:nvPr/>
        </p:nvSpPr>
        <p:spPr>
          <a:xfrm>
            <a:off x="446345" y="3288667"/>
            <a:ext cx="29983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Calibri" panose="020F0502020204030204" pitchFamily="34" charset="0"/>
                <a:cs typeface="Calibri" panose="020F0502020204030204" pitchFamily="34" charset="0"/>
              </a:rPr>
              <a:t>Gambaran </a:t>
            </a:r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Umum</a:t>
            </a:r>
            <a:r>
              <a:rPr lang="en-US" sz="11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DB2ACAE-EF50-D385-0298-964884111D5F}"/>
              </a:ext>
            </a:extLst>
          </p:cNvPr>
          <p:cNvSpPr/>
          <p:nvPr/>
        </p:nvSpPr>
        <p:spPr>
          <a:xfrm>
            <a:off x="446345" y="9243237"/>
            <a:ext cx="5252706" cy="481157"/>
          </a:xfrm>
          <a:prstGeom prst="rect">
            <a:avLst/>
          </a:prstGeom>
          <a:solidFill>
            <a:srgbClr val="00A6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07D28F-DB88-1628-45AB-4764BF435B7A}"/>
              </a:ext>
            </a:extLst>
          </p:cNvPr>
          <p:cNvSpPr txBox="1"/>
          <p:nvPr/>
        </p:nvSpPr>
        <p:spPr>
          <a:xfrm>
            <a:off x="398720" y="9214510"/>
            <a:ext cx="272217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Group Ltd.</a:t>
            </a:r>
          </a:p>
          <a:p>
            <a:endParaRPr lang="en-US" sz="7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4284C9A-CFC3-294F-CA8F-1E7CDC1831A7}"/>
              </a:ext>
            </a:extLst>
          </p:cNvPr>
          <p:cNvGraphicFramePr>
            <a:graphicFrameLocks noGrp="1"/>
          </p:cNvGraphicFramePr>
          <p:nvPr/>
        </p:nvGraphicFramePr>
        <p:xfrm>
          <a:off x="515895" y="3565125"/>
          <a:ext cx="5915028" cy="2127485"/>
        </p:xfrm>
        <a:graphic>
          <a:graphicData uri="http://schemas.openxmlformats.org/drawingml/2006/table">
            <a:tbl>
              <a:tblPr/>
              <a:tblGrid>
                <a:gridCol w="696955">
                  <a:extLst>
                    <a:ext uri="{9D8B030D-6E8A-4147-A177-3AD203B41FA5}">
                      <a16:colId xmlns:a16="http://schemas.microsoft.com/office/drawing/2014/main" val="828020576"/>
                    </a:ext>
                  </a:extLst>
                </a:gridCol>
                <a:gridCol w="520845">
                  <a:extLst>
                    <a:ext uri="{9D8B030D-6E8A-4147-A177-3AD203B41FA5}">
                      <a16:colId xmlns:a16="http://schemas.microsoft.com/office/drawing/2014/main" val="3384034683"/>
                    </a:ext>
                  </a:extLst>
                </a:gridCol>
                <a:gridCol w="608900">
                  <a:extLst>
                    <a:ext uri="{9D8B030D-6E8A-4147-A177-3AD203B41FA5}">
                      <a16:colId xmlns:a16="http://schemas.microsoft.com/office/drawing/2014/main" val="456906497"/>
                    </a:ext>
                  </a:extLst>
                </a:gridCol>
                <a:gridCol w="608900">
                  <a:extLst>
                    <a:ext uri="{9D8B030D-6E8A-4147-A177-3AD203B41FA5}">
                      <a16:colId xmlns:a16="http://schemas.microsoft.com/office/drawing/2014/main" val="3477495698"/>
                    </a:ext>
                  </a:extLst>
                </a:gridCol>
                <a:gridCol w="608900">
                  <a:extLst>
                    <a:ext uri="{9D8B030D-6E8A-4147-A177-3AD203B41FA5}">
                      <a16:colId xmlns:a16="http://schemas.microsoft.com/office/drawing/2014/main" val="1057236272"/>
                    </a:ext>
                  </a:extLst>
                </a:gridCol>
                <a:gridCol w="608900">
                  <a:extLst>
                    <a:ext uri="{9D8B030D-6E8A-4147-A177-3AD203B41FA5}">
                      <a16:colId xmlns:a16="http://schemas.microsoft.com/office/drawing/2014/main" val="3265217624"/>
                    </a:ext>
                  </a:extLst>
                </a:gridCol>
                <a:gridCol w="608900">
                  <a:extLst>
                    <a:ext uri="{9D8B030D-6E8A-4147-A177-3AD203B41FA5}">
                      <a16:colId xmlns:a16="http://schemas.microsoft.com/office/drawing/2014/main" val="1644197022"/>
                    </a:ext>
                  </a:extLst>
                </a:gridCol>
                <a:gridCol w="608900">
                  <a:extLst>
                    <a:ext uri="{9D8B030D-6E8A-4147-A177-3AD203B41FA5}">
                      <a16:colId xmlns:a16="http://schemas.microsoft.com/office/drawing/2014/main" val="454983325"/>
                    </a:ext>
                  </a:extLst>
                </a:gridCol>
                <a:gridCol w="521914">
                  <a:extLst>
                    <a:ext uri="{9D8B030D-6E8A-4147-A177-3AD203B41FA5}">
                      <a16:colId xmlns:a16="http://schemas.microsoft.com/office/drawing/2014/main" val="1396855724"/>
                    </a:ext>
                  </a:extLst>
                </a:gridCol>
                <a:gridCol w="521914">
                  <a:extLst>
                    <a:ext uri="{9D8B030D-6E8A-4147-A177-3AD203B41FA5}">
                      <a16:colId xmlns:a16="http://schemas.microsoft.com/office/drawing/2014/main" val="3134404346"/>
                    </a:ext>
                  </a:extLst>
                </a:gridCol>
              </a:tblGrid>
              <a:tr h="32411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 err="1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Aneuploidi</a:t>
                      </a:r>
                      <a:r>
                        <a:rPr lang="en-ID" sz="75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ID" sz="750" b="1" i="0" u="none" strike="noStrike" dirty="0" err="1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Kromosom</a:t>
                      </a:r>
                      <a:endParaRPr lang="en-ID" sz="750" b="1" i="0" u="none" strike="noStrike" dirty="0">
                        <a:solidFill>
                          <a:srgbClr val="FFFFFF"/>
                        </a:solidFill>
                        <a:effectLst/>
                        <a:highlight>
                          <a:srgbClr val="0F9ED5"/>
                        </a:highlight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 err="1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Sensitivitas</a:t>
                      </a:r>
                      <a:endParaRPr lang="en-ID" sz="750" b="1" i="0" u="none" strike="noStrike" dirty="0">
                        <a:solidFill>
                          <a:srgbClr val="FFFFFF"/>
                        </a:solidFill>
                        <a:effectLst/>
                        <a:highlight>
                          <a:srgbClr val="0F9ED5"/>
                        </a:highlight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95% CI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 err="1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Spesifisitas</a:t>
                      </a:r>
                      <a:endParaRPr lang="en-ID" sz="750" b="1" i="0" u="none" strike="noStrike" dirty="0">
                        <a:solidFill>
                          <a:srgbClr val="FFFFFF"/>
                        </a:solidFill>
                        <a:effectLst/>
                        <a:highlight>
                          <a:srgbClr val="0F9ED5"/>
                        </a:highlight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95% CI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NPP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95% CI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NPN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95% CI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7033463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T21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92.59 - 100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92.59 - 100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9797979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T18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83.89 - 100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83.89 - 100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3648907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T13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75.75 - 100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75.75 - 100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491429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XO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86.2 - 100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99.95%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99.83 - 99.99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92.31%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75.86 - 97.86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1652948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XXY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56.55 - 100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56.55 - 100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530270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XXX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43.85 - 100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43.85 - 100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9875215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XYY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34.24 - 100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34.24 - 100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643566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D47E540-83E1-6A8E-E9E6-7965BB5F9A07}"/>
              </a:ext>
            </a:extLst>
          </p:cNvPr>
          <p:cNvSpPr txBox="1"/>
          <p:nvPr/>
        </p:nvSpPr>
        <p:spPr>
          <a:xfrm>
            <a:off x="427072" y="8028772"/>
            <a:ext cx="5996103" cy="1115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050" b="1" dirty="0" err="1">
                <a:latin typeface="Calibri" panose="020F0502020204030204" pitchFamily="34" charset="0"/>
                <a:cs typeface="Calibri" panose="020F0502020204030204" pitchFamily="34" charset="0"/>
              </a:rPr>
              <a:t>Referensi</a:t>
            </a:r>
            <a:r>
              <a:rPr lang="en-US" sz="1050" b="1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104140" marR="10795" indent="-91440"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YM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Dennis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Lo,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RWK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Chiu,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Noninvasive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prenatal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diagnosis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of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fetal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chromosomal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aneuploidies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by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maternal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plasma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nucleic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acid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analysis;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Clinical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chemistry,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2008.</a:t>
            </a:r>
          </a:p>
          <a:p>
            <a:pPr marL="104140" marR="10795" indent="-91440"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Bianchi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OW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et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al.,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DNA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sequencing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versus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standard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prenatal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aneuploidy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screening.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Engl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J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Med.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2014;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370:799-808.</a:t>
            </a:r>
          </a:p>
          <a:p>
            <a:pPr marL="104140" marR="10795" lvl="0" indent="-91440"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Anthony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R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et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al.,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Noninvasive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prenatal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screening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for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fetal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aneuploidy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2016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update: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position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statement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of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the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American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College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of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Medical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Genetics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and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Genomics.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Genet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Med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2016;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13:1056-65.</a:t>
            </a:r>
          </a:p>
          <a:p>
            <a:pPr marL="108585" marR="8255" lvl="0" indent="-95885"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Chen,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M.,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et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al.,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Validation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of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fetal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DNA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fraction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estimation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and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its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application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in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noninvasive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prenatal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testing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for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aneuploidy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detection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in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multiple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pregnancies.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Prenatal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Diagnosis,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2019.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39(13):1273-1282.</a:t>
            </a:r>
            <a:endParaRPr lang="en-US" sz="800" dirty="0">
              <a:solidFill>
                <a:srgbClr val="000000"/>
              </a:solidFill>
              <a:latin typeface="Calibri" panose="020F0502020204030204" pitchFamily="34" charset="0"/>
              <a:ea typeface="Arial"/>
              <a:cs typeface="Calibri" panose="020F0502020204030204" pitchFamily="34" charset="0"/>
              <a:sym typeface="Arial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5A98AB8-B916-DFB9-FB91-9644089BECF7}"/>
              </a:ext>
            </a:extLst>
          </p:cNvPr>
          <p:cNvSpPr txBox="1"/>
          <p:nvPr/>
        </p:nvSpPr>
        <p:spPr>
          <a:xfrm>
            <a:off x="2557354" y="9214885"/>
            <a:ext cx="3243371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Laboratorium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PT </a:t>
            </a:r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Persada</a:t>
            </a:r>
            <a:endParaRPr lang="en-US" sz="8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Jl.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Bungur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Besar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Raya No. 23,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Gunung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Sahari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Selatan</a:t>
            </a:r>
          </a:p>
          <a:p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Kemayoran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Jakarta Pusat</a:t>
            </a:r>
          </a:p>
          <a:p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Telp: 62-21-8086-4674    Email: info@id.cordlife.com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98A2FB-92A6-45BD-98E6-9588D702B3F9}"/>
              </a:ext>
            </a:extLst>
          </p:cNvPr>
          <p:cNvSpPr/>
          <p:nvPr/>
        </p:nvSpPr>
        <p:spPr>
          <a:xfrm>
            <a:off x="430623" y="772625"/>
            <a:ext cx="1956394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2A71075-6AF2-E007-0FEC-1E9D054CA883}"/>
              </a:ext>
            </a:extLst>
          </p:cNvPr>
          <p:cNvSpPr/>
          <p:nvPr/>
        </p:nvSpPr>
        <p:spPr>
          <a:xfrm>
            <a:off x="2452579" y="772625"/>
            <a:ext cx="1956393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B21AB12-850E-A599-3FDA-623CED6A497D}"/>
              </a:ext>
            </a:extLst>
          </p:cNvPr>
          <p:cNvSpPr/>
          <p:nvPr/>
        </p:nvSpPr>
        <p:spPr>
          <a:xfrm>
            <a:off x="4474534" y="772625"/>
            <a:ext cx="1956393" cy="954107"/>
          </a:xfrm>
          <a:prstGeom prst="rect">
            <a:avLst/>
          </a:prstGeom>
          <a:noFill/>
          <a:ln w="15875" cmpd="thickThin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83E19D1-FAC2-A0F9-D238-96B9814FD66D}"/>
              </a:ext>
            </a:extLst>
          </p:cNvPr>
          <p:cNvSpPr txBox="1"/>
          <p:nvPr/>
        </p:nvSpPr>
        <p:spPr>
          <a:xfrm>
            <a:off x="2452581" y="772625"/>
            <a:ext cx="19563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7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&lt;&lt;W&gt;&gt; Weeks &lt;&lt;D&gt;&gt; Days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&lt;&lt;Pregnancy Type&gt;&gt;</a:t>
            </a:r>
          </a:p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Dokter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Nama: &lt;&lt;Doctor&gt;&gt;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Rumah Sakit/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Klinik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&lt;&lt;Hospital&gt;&gt;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4FCEDF-C216-F5E7-C25C-336A7C85175E}"/>
              </a:ext>
            </a:extLst>
          </p:cNvPr>
          <p:cNvSpPr txBox="1"/>
          <p:nvPr/>
        </p:nvSpPr>
        <p:spPr>
          <a:xfrm>
            <a:off x="4466785" y="766381"/>
            <a:ext cx="1964142" cy="846386"/>
          </a:xfrm>
          <a:prstGeom prst="rect">
            <a:avLst/>
          </a:prstGeom>
          <a:noFill/>
          <a:ln cmpd="tri">
            <a:noFill/>
          </a:ln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Sampel: Blood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Pengambilan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&lt;&lt;Collection Date&gt;&gt;</a:t>
            </a:r>
            <a:endParaRPr lang="en-US" sz="700" dirty="0">
              <a:solidFill>
                <a:srgbClr val="545454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Diterima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&lt;&lt;Receipt Date&gt;&gt;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Laporan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Selesai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&lt;&lt;Report Date&gt;&gt;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&lt;&lt;Test Requested&gt;&gt;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54DFEE-2BD8-BA9B-B6B2-8E0C9F340696}"/>
              </a:ext>
            </a:extLst>
          </p:cNvPr>
          <p:cNvSpPr txBox="1"/>
          <p:nvPr/>
        </p:nvSpPr>
        <p:spPr>
          <a:xfrm>
            <a:off x="5713863" y="9220678"/>
            <a:ext cx="857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dirty="0">
                <a:solidFill>
                  <a:srgbClr val="000000"/>
                </a:solidFill>
                <a:latin typeface="Calibri" panose="020F0502020204030204" pitchFamily="34" charset="0"/>
              </a:rPr>
              <a:t>DCR No.: 3573</a:t>
            </a:r>
          </a:p>
          <a:p>
            <a:pPr algn="ctr"/>
            <a:r>
              <a:rPr lang="pt-BR" sz="800" dirty="0">
                <a:solidFill>
                  <a:srgbClr val="000000"/>
                </a:solidFill>
                <a:latin typeface="Calibri" panose="020F0502020204030204" pitchFamily="34" charset="0"/>
              </a:rPr>
              <a:t>QR G1.1-6-3-e</a:t>
            </a:r>
            <a:endParaRPr lang="en-ID" sz="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4DD7B0-3A73-D31B-28DA-0CF18DAAF37B}"/>
              </a:ext>
            </a:extLst>
          </p:cNvPr>
          <p:cNvSpPr txBox="1"/>
          <p:nvPr/>
        </p:nvSpPr>
        <p:spPr>
          <a:xfrm>
            <a:off x="434824" y="772625"/>
            <a:ext cx="19563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No. Lab: &lt;&lt;Sample Number&gt;&gt;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&lt;&lt;Patient Name&gt;&gt;</a:t>
            </a: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Lahir: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&lt;&lt;DOB&gt;&gt; (&lt;&lt;A&gt;&gt;)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Berat/Tinggi Badan Ibu: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&lt;&lt;kg&gt;&gt;kg / &lt;&lt;cm&gt;&gt;cm 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Indikasi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&lt;&lt;Indication&gt;&gt;</a:t>
            </a:r>
          </a:p>
        </p:txBody>
      </p:sp>
    </p:spTree>
    <p:extLst>
      <p:ext uri="{BB962C8B-B14F-4D97-AF65-F5344CB8AC3E}">
        <p14:creationId xmlns:p14="http://schemas.microsoft.com/office/powerpoint/2010/main" val="4227952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CA9F03C-C0C8-69FC-D232-9360D2FE9B59}"/>
              </a:ext>
            </a:extLst>
          </p:cNvPr>
          <p:cNvSpPr/>
          <p:nvPr/>
        </p:nvSpPr>
        <p:spPr>
          <a:xfrm>
            <a:off x="4214805" y="181606"/>
            <a:ext cx="225965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3200" b="1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NIPT </a:t>
            </a:r>
            <a:r>
              <a:rPr lang="en-US" sz="2000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Test Report</a:t>
            </a:r>
            <a:endParaRPr lang="en-US" sz="3200" cap="none" spc="0" dirty="0">
              <a:ln/>
              <a:solidFill>
                <a:srgbClr val="01A3C9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 descr="Home">
            <a:extLst>
              <a:ext uri="{FF2B5EF4-FFF2-40B4-BE49-F238E27FC236}">
                <a16:creationId xmlns:a16="http://schemas.microsoft.com/office/drawing/2014/main" id="{84221953-82AC-8C3B-12AC-1883B14556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546"/>
          <a:stretch/>
        </p:blipFill>
        <p:spPr bwMode="auto">
          <a:xfrm>
            <a:off x="446345" y="94239"/>
            <a:ext cx="1905000" cy="600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7754FAC-03F1-BCC7-92A9-9BBA783CFE39}"/>
              </a:ext>
            </a:extLst>
          </p:cNvPr>
          <p:cNvSpPr txBox="1"/>
          <p:nvPr/>
        </p:nvSpPr>
        <p:spPr>
          <a:xfrm>
            <a:off x="5770169" y="9510229"/>
            <a:ext cx="9332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Halaman 1 </a:t>
            </a:r>
            <a:r>
              <a:rPr lang="en-US" sz="8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C3FE09A-7043-B615-4C39-2E64D394CB1E}"/>
              </a:ext>
            </a:extLst>
          </p:cNvPr>
          <p:cNvSpPr txBox="1"/>
          <p:nvPr/>
        </p:nvSpPr>
        <p:spPr>
          <a:xfrm>
            <a:off x="427072" y="1928026"/>
            <a:ext cx="59961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Sindrom</a:t>
            </a:r>
            <a:r>
              <a:rPr lang="en-US" sz="11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mikrodelesi</a:t>
            </a:r>
            <a:r>
              <a:rPr lang="en-US" sz="1100" b="1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duplikasi</a:t>
            </a:r>
            <a:endParaRPr lang="en-US" sz="9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66F174-09D0-F6D5-993E-D54D9AC3CAC0}"/>
              </a:ext>
            </a:extLst>
          </p:cNvPr>
          <p:cNvSpPr/>
          <p:nvPr/>
        </p:nvSpPr>
        <p:spPr>
          <a:xfrm>
            <a:off x="446345" y="9243237"/>
            <a:ext cx="5252706" cy="481157"/>
          </a:xfrm>
          <a:prstGeom prst="rect">
            <a:avLst/>
          </a:prstGeom>
          <a:solidFill>
            <a:srgbClr val="00A6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8201BB-400A-5459-CAF8-270EE4D699CB}"/>
              </a:ext>
            </a:extLst>
          </p:cNvPr>
          <p:cNvSpPr txBox="1"/>
          <p:nvPr/>
        </p:nvSpPr>
        <p:spPr>
          <a:xfrm>
            <a:off x="398720" y="9214510"/>
            <a:ext cx="272217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Group Ltd.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237A4B-BF3F-A231-3F4F-A37D3C359050}"/>
              </a:ext>
            </a:extLst>
          </p:cNvPr>
          <p:cNvSpPr txBox="1"/>
          <p:nvPr/>
        </p:nvSpPr>
        <p:spPr>
          <a:xfrm>
            <a:off x="430623" y="1706318"/>
            <a:ext cx="37426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LAMPIRAN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D7560F51-55B8-6972-7A07-055C195AA5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1476048"/>
              </p:ext>
            </p:extLst>
          </p:nvPr>
        </p:nvGraphicFramePr>
        <p:xfrm>
          <a:off x="449872" y="2175460"/>
          <a:ext cx="2988000" cy="709422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1494000">
                  <a:extLst>
                    <a:ext uri="{9D8B030D-6E8A-4147-A177-3AD203B41FA5}">
                      <a16:colId xmlns:a16="http://schemas.microsoft.com/office/drawing/2014/main" val="539532219"/>
                    </a:ext>
                  </a:extLst>
                </a:gridCol>
                <a:gridCol w="1494000">
                  <a:extLst>
                    <a:ext uri="{9D8B030D-6E8A-4147-A177-3AD203B41FA5}">
                      <a16:colId xmlns:a16="http://schemas.microsoft.com/office/drawing/2014/main" val="19884466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Kondisi</a:t>
                      </a:r>
                      <a:endParaRPr lang="en-US" sz="8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Hasil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387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1p32-p31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&lt;&lt;1p32-p31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3159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1q41-q42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&lt;&lt;1q41-q42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3445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1q43-q44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&lt;&lt;1q43-q44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477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2p12-p11.2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&lt;&lt;2p12-p11.2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69246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2p15-p16.1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&lt;&lt;2p15-p16.1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7595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2q13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&lt;&lt;2q13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02868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2q13 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&lt;&lt;2q13 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382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2q31.1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&lt;&lt;2q31.1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09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2q31.1 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&lt;&lt;2q31.1 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804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2q35 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&lt;&lt;2q35 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49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3p25.3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&lt;&lt;3p25.3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87543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3pter-p25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&lt;&lt;3pter-p25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3217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3q13.31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&lt;&lt;3q13.31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64801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Dandy-Walker syndrome (DWS)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&lt;&lt;Dandy-Walker syndrome (DWS)&gt;&gt;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82251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3q26 microduplication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&lt;&lt;3q26 microduplication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89365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3q29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&lt;&lt;3q29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279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4q21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&lt;&lt;4q21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21565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Axenfeld</a:t>
                      </a:r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-Rieger syndrome type 1 (RIEG1)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&lt;&lt;Axenfeld-Rieger syndrome type 1 (RIEG1)&gt;&gt;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77922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5p13 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&lt;&lt;5p13 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616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5q12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&lt;&lt;5q12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55566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5q14.3 deletion (proximal)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&lt;&lt;5q14.3 deletion (proximal)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19774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Sotos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&lt;&lt;Sotos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7112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6p22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&lt;&lt;6p22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35438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6q11-q14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&lt;&lt;6q11-q14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6801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6q24-q25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&lt;&lt;6q24-q25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59947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Coffin-Siris syndrome 1 (CSS1)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&lt;&lt;Coffin-Siris syndrome 1 (CSS1)&gt;&gt;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73238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Chordoma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&lt;&lt;Chordoma&gt;&gt;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550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Greig cephalopolysyndactyly syndrome (GCPS)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&lt;&lt;Greig cephalopolysyndactyly syndrome (GCPS)&gt;&gt;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6688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7p22.1 microduplication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&lt;&lt;7p22.1 microduplication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19178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7q11.23 deletion (distal)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&lt;&lt;7q11.23 deletion (distal)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82795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Williams-Beuren syndrome (WBS, duplication) </a:t>
                      </a:r>
                      <a:endParaRPr lang="en-US" sz="650" b="0" i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&lt;&lt;Williams-Beuren syndrome (WBS, duplication)&gt;&gt;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37952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Currarino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&lt;&lt;Currarino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00055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7q36.3 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&lt;&lt;7q36.3 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473342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4E574D0D-0392-B0FF-4304-BFB4DE3157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5109878"/>
              </p:ext>
            </p:extLst>
          </p:nvPr>
        </p:nvGraphicFramePr>
        <p:xfrm>
          <a:off x="3624208" y="2175460"/>
          <a:ext cx="2988000" cy="672846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1494000">
                  <a:extLst>
                    <a:ext uri="{9D8B030D-6E8A-4147-A177-3AD203B41FA5}">
                      <a16:colId xmlns:a16="http://schemas.microsoft.com/office/drawing/2014/main" val="539532219"/>
                    </a:ext>
                  </a:extLst>
                </a:gridCol>
                <a:gridCol w="1494000">
                  <a:extLst>
                    <a:ext uri="{9D8B030D-6E8A-4147-A177-3AD203B41FA5}">
                      <a16:colId xmlns:a16="http://schemas.microsoft.com/office/drawing/2014/main" val="14426335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Kondisi</a:t>
                      </a:r>
                      <a:endParaRPr lang="en-US" sz="8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Hasil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07425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8p11.2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&lt;&lt;8p11.2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3159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8p23.1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&lt;&lt;8p23.1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3445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8q12 microduplication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&lt;&lt;8q12 microduplication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477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Nablus mask-like facial syndrome (NMLFS)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&lt;&lt;Nablus mask-like facial syndrome (NMLFS)&gt;&gt;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69246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Trichorhinophalangeal syndrome type 2 (TRPS2)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&lt;&lt;Trichorhinophalangeal syndrome type 2 (TRPS2)&gt;&gt;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7595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9p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&lt;&lt;9p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02868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9p13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&lt;&lt;9p13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382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9p24.3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&lt;&lt;9p24.3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09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9q33.3q34.11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&lt;&lt;9q33.3q34.11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804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Early infantile epileptic encephalopathy 4 (EIEE4)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&lt;&lt;Early infantile epileptic encephalopathy 4 (EIEE4)&gt;&gt;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49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Kleefstra</a:t>
                      </a:r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syndrome 1 (KLEFS1)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&lt;&lt;Kleefstra syndrome 1 (KLEFS1)&gt;&gt;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87543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10p11.21-p12.31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&lt;&lt;10p11.21-p12.31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3217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DiGeorge syndrome/ </a:t>
                      </a:r>
                      <a:r>
                        <a:rPr lang="en-US" sz="650" b="0" i="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velocardiofacial</a:t>
                      </a:r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syndrome complex 2 (DSG2)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&lt;&lt;DiGeorge (DSG2)&gt;&gt;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64801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10q22.3-q23.2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&lt;&lt;10q22.3-q23.2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82251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Split-hand/foot malformation 3 (SHFM3)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&lt;&lt;Split-hand/foot malformation 3 (SHFM3)&gt;&gt;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89365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10q26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&lt;&lt;10q26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279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Potocki</a:t>
                      </a:r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-Shaffer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&lt;&lt;Potocki-Shaffer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21565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WAGR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&lt;&lt;WAGR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77922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WAGRO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&lt;&lt;WAGRO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616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11q13.2-q13.4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&lt;&lt;11q13.2-q13.4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55566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11q22.2-q22.3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&lt;&lt;11q22.2-q22.3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19774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11q23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&lt;&lt;11q23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7112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12p12.1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&lt;&lt;12p12.1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35438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12q14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&lt;&lt;12q14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6801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12q15q21.1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&lt;&lt;12q15q21.1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59947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13q14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&lt;&lt;13q14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21672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14q11-q22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&lt;&lt;14q11-q22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9948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Frias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&lt;&lt;Frias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7954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14q24.1-q24.3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&lt;&lt;14q24.1-q24.3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510364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428AC2A7-6D49-62E1-FF1A-3BBE658252E8}"/>
              </a:ext>
            </a:extLst>
          </p:cNvPr>
          <p:cNvSpPr txBox="1"/>
          <p:nvPr/>
        </p:nvSpPr>
        <p:spPr>
          <a:xfrm>
            <a:off x="2557354" y="9214885"/>
            <a:ext cx="3243371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Laboratorium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PT </a:t>
            </a:r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Persada</a:t>
            </a:r>
            <a:endParaRPr lang="en-US" sz="8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Jl.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Bungur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Besar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Raya No. 23,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Gunung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Sahari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Selatan</a:t>
            </a:r>
          </a:p>
          <a:p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Kemayoran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Jakarta Pusat</a:t>
            </a:r>
          </a:p>
          <a:p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Telp: 62-21-8086-4674    Email: info@id.cordlife.com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C8ADCCD-6009-4A2C-A52A-AE1E1A13B789}"/>
              </a:ext>
            </a:extLst>
          </p:cNvPr>
          <p:cNvSpPr/>
          <p:nvPr/>
        </p:nvSpPr>
        <p:spPr>
          <a:xfrm>
            <a:off x="430623" y="772625"/>
            <a:ext cx="1956394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D697CAB-628A-B77A-454D-EEC0E16C28F2}"/>
              </a:ext>
            </a:extLst>
          </p:cNvPr>
          <p:cNvSpPr/>
          <p:nvPr/>
        </p:nvSpPr>
        <p:spPr>
          <a:xfrm>
            <a:off x="2452579" y="772625"/>
            <a:ext cx="1956393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45B3C74-AD2D-DF5D-2401-8DCA28BB5E92}"/>
              </a:ext>
            </a:extLst>
          </p:cNvPr>
          <p:cNvSpPr/>
          <p:nvPr/>
        </p:nvSpPr>
        <p:spPr>
          <a:xfrm>
            <a:off x="4474534" y="772625"/>
            <a:ext cx="1956393" cy="954107"/>
          </a:xfrm>
          <a:prstGeom prst="rect">
            <a:avLst/>
          </a:prstGeom>
          <a:noFill/>
          <a:ln w="15875" cmpd="thickThin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F6798DA-60A0-BB3D-2407-90F0D8297999}"/>
              </a:ext>
            </a:extLst>
          </p:cNvPr>
          <p:cNvSpPr txBox="1"/>
          <p:nvPr/>
        </p:nvSpPr>
        <p:spPr>
          <a:xfrm>
            <a:off x="2452581" y="772625"/>
            <a:ext cx="19563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7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&lt;&lt;W&gt;&gt; Weeks &lt;&lt;D&gt;&gt; Days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&lt;&lt;Pregnancy Type&gt;&gt;</a:t>
            </a:r>
          </a:p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Dokter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Nama: &lt;&lt;Doctor&gt;&gt;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Rumah Sakit/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Klinik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&lt;&lt;Hospital&gt;&gt;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B26682-4B70-1DF5-DC9D-428BC7766C07}"/>
              </a:ext>
            </a:extLst>
          </p:cNvPr>
          <p:cNvSpPr txBox="1"/>
          <p:nvPr/>
        </p:nvSpPr>
        <p:spPr>
          <a:xfrm>
            <a:off x="4466785" y="766381"/>
            <a:ext cx="1964142" cy="846386"/>
          </a:xfrm>
          <a:prstGeom prst="rect">
            <a:avLst/>
          </a:prstGeom>
          <a:noFill/>
          <a:ln cmpd="tri">
            <a:noFill/>
          </a:ln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Sampel: Blood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Pengambilan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&lt;&lt;Collection Date&gt;&gt;</a:t>
            </a:r>
            <a:endParaRPr lang="en-US" sz="700" dirty="0">
              <a:solidFill>
                <a:srgbClr val="545454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Diterima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&lt;&lt;Receipt Date&gt;&gt;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Laporan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Selesai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&lt;&lt;Report Date&gt;&gt;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&lt;&lt;Test Requested&gt;&gt;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37B698-9B5E-EE14-0253-34EF5115CFED}"/>
              </a:ext>
            </a:extLst>
          </p:cNvPr>
          <p:cNvSpPr txBox="1"/>
          <p:nvPr/>
        </p:nvSpPr>
        <p:spPr>
          <a:xfrm>
            <a:off x="5713863" y="9220678"/>
            <a:ext cx="857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dirty="0">
                <a:solidFill>
                  <a:srgbClr val="000000"/>
                </a:solidFill>
                <a:latin typeface="Calibri" panose="020F0502020204030204" pitchFamily="34" charset="0"/>
              </a:rPr>
              <a:t>DCR No.: 3573</a:t>
            </a:r>
          </a:p>
          <a:p>
            <a:pPr algn="ctr"/>
            <a:r>
              <a:rPr lang="pt-BR" sz="800" dirty="0">
                <a:solidFill>
                  <a:srgbClr val="000000"/>
                </a:solidFill>
                <a:latin typeface="Calibri" panose="020F0502020204030204" pitchFamily="34" charset="0"/>
              </a:rPr>
              <a:t>QR G1.1-6-3-e</a:t>
            </a:r>
            <a:endParaRPr lang="en-ID" sz="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C0D922-57EF-4BF9-F6AF-5B6B081E6CC6}"/>
              </a:ext>
            </a:extLst>
          </p:cNvPr>
          <p:cNvSpPr txBox="1"/>
          <p:nvPr/>
        </p:nvSpPr>
        <p:spPr>
          <a:xfrm>
            <a:off x="434824" y="772625"/>
            <a:ext cx="19563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No. Lab: &lt;&lt;Sample Number&gt;&gt;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&lt;&lt;Patient Name&gt;&gt;</a:t>
            </a: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Lahir: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&lt;&lt;DOB&gt;&gt; (&lt;&lt;A&gt;&gt;)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Berat/Tinggi Badan Ibu: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&lt;&lt;kg&gt;&gt;kg / &lt;&lt;cm&gt;&gt;cm 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Indikasi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&lt;&lt;Indication&gt;&gt;</a:t>
            </a:r>
          </a:p>
        </p:txBody>
      </p:sp>
    </p:spTree>
    <p:extLst>
      <p:ext uri="{BB962C8B-B14F-4D97-AF65-F5344CB8AC3E}">
        <p14:creationId xmlns:p14="http://schemas.microsoft.com/office/powerpoint/2010/main" val="1486881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CA9F03C-C0C8-69FC-D232-9360D2FE9B59}"/>
              </a:ext>
            </a:extLst>
          </p:cNvPr>
          <p:cNvSpPr/>
          <p:nvPr/>
        </p:nvSpPr>
        <p:spPr>
          <a:xfrm>
            <a:off x="4214805" y="181606"/>
            <a:ext cx="225965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3200" b="1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NIPT </a:t>
            </a:r>
            <a:r>
              <a:rPr lang="en-US" sz="2000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Test Report</a:t>
            </a:r>
            <a:endParaRPr lang="en-US" sz="3200" cap="none" spc="0" dirty="0">
              <a:ln/>
              <a:solidFill>
                <a:srgbClr val="01A3C9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 descr="Home">
            <a:extLst>
              <a:ext uri="{FF2B5EF4-FFF2-40B4-BE49-F238E27FC236}">
                <a16:creationId xmlns:a16="http://schemas.microsoft.com/office/drawing/2014/main" id="{84221953-82AC-8C3B-12AC-1883B14556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546"/>
          <a:stretch/>
        </p:blipFill>
        <p:spPr bwMode="auto">
          <a:xfrm>
            <a:off x="446345" y="94239"/>
            <a:ext cx="1905000" cy="600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7754FAC-03F1-BCC7-92A9-9BBA783CFE39}"/>
              </a:ext>
            </a:extLst>
          </p:cNvPr>
          <p:cNvSpPr txBox="1"/>
          <p:nvPr/>
        </p:nvSpPr>
        <p:spPr>
          <a:xfrm>
            <a:off x="5770169" y="9510229"/>
            <a:ext cx="9332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Halaman 2 </a:t>
            </a:r>
            <a:r>
              <a:rPr lang="en-US" sz="8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66F174-09D0-F6D5-993E-D54D9AC3CAC0}"/>
              </a:ext>
            </a:extLst>
          </p:cNvPr>
          <p:cNvSpPr/>
          <p:nvPr/>
        </p:nvSpPr>
        <p:spPr>
          <a:xfrm>
            <a:off x="446345" y="9243237"/>
            <a:ext cx="5252706" cy="481157"/>
          </a:xfrm>
          <a:prstGeom prst="rect">
            <a:avLst/>
          </a:prstGeom>
          <a:solidFill>
            <a:srgbClr val="00A6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8201BB-400A-5459-CAF8-270EE4D699CB}"/>
              </a:ext>
            </a:extLst>
          </p:cNvPr>
          <p:cNvSpPr txBox="1"/>
          <p:nvPr/>
        </p:nvSpPr>
        <p:spPr>
          <a:xfrm>
            <a:off x="398720" y="9214510"/>
            <a:ext cx="272217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Group Ltd.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5B8EDE70-2F90-1A79-E36B-8E567D6748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6525750"/>
              </p:ext>
            </p:extLst>
          </p:nvPr>
        </p:nvGraphicFramePr>
        <p:xfrm>
          <a:off x="499188" y="2190825"/>
          <a:ext cx="2988000" cy="683514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1494000">
                  <a:extLst>
                    <a:ext uri="{9D8B030D-6E8A-4147-A177-3AD203B41FA5}">
                      <a16:colId xmlns:a16="http://schemas.microsoft.com/office/drawing/2014/main" val="539532219"/>
                    </a:ext>
                  </a:extLst>
                </a:gridCol>
                <a:gridCol w="1494000">
                  <a:extLst>
                    <a:ext uri="{9D8B030D-6E8A-4147-A177-3AD203B41FA5}">
                      <a16:colId xmlns:a16="http://schemas.microsoft.com/office/drawing/2014/main" val="16918032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800" b="1" i="0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Kondisi</a:t>
                      </a:r>
                      <a:r>
                        <a:rPr lang="en-US" sz="800" b="1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Hasil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97358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15q13.3 deletion syndrome {BP4 to BP5} (loss)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&lt;&lt;15q13.3 deletion syndrome {BP4 to BP5} (loss)&gt;&gt;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477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15q13.3 deletion syndrome {BP4 to BP5} (gain)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&lt;&lt;15q13.3 deletion syndrome {BP4 to BP5} (gain)&gt;&gt;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69246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15q14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&lt;&lt;15q14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7595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15q25.2 deletion (proximal)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&lt;&lt;15q25.2 deletion (proximal)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02868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15q26-qter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&lt;&lt;15q26-qter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382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16p11.2-p12.2 microduplication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&lt;&lt;16p11.2-p12.2 microduplication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09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16p12.2 deletion (proximal)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&lt;&lt;16p12.2 deletion (proximal)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804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16p13.11 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&lt;&lt;16p13.11 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49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16p13.11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&lt;&lt;16p13.11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87543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Polycystic kidney disease, infantile severe, with tuberous sclerosis (PKDTS)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&lt;&lt;Polycystic kidney disease, infantile severe, with tuberous sclerosis (PKDTS)&gt;&gt;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3217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Rubinstein-</a:t>
                      </a:r>
                      <a:r>
                        <a:rPr lang="en-US" sz="650" b="0" i="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Taybi</a:t>
                      </a:r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&lt;&lt;Rubinstein-Taybi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64801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Alpha-thalassemia/intellectual disability syndrome, chromosome </a:t>
                      </a:r>
                      <a:r>
                        <a:rPr lang="en-US" sz="650" b="0" i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16-related  (</a:t>
                      </a:r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ATR-16)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&lt;&lt;Alpha-thalassemia&gt;&gt;</a:t>
                      </a:r>
                      <a:endParaRPr lang="en-US" sz="65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82251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16q22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&lt;&lt;16q22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89365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Smith-</a:t>
                      </a:r>
                      <a:r>
                        <a:rPr lang="en-US" sz="650" b="0" i="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Magenis</a:t>
                      </a:r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&lt;&lt;Smith-Magenis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279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Yuan-</a:t>
                      </a:r>
                      <a:r>
                        <a:rPr lang="en-US" sz="650" b="0" i="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Harel</a:t>
                      </a:r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</a:t>
                      </a:r>
                      <a:r>
                        <a:rPr lang="en-US" sz="650" b="0" i="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Lupski</a:t>
                      </a:r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syndrome (YUHAL)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&lt;&lt;Yuan-Harel-Lupski syndrome (YUHAL)&gt;&gt;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21565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17p12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&lt;&lt;17p12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77922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17p12 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&lt;&lt;17p12 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616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17p13.1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&lt;&lt;17p13.1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55566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Miller-</a:t>
                      </a:r>
                      <a:r>
                        <a:rPr lang="en-US" sz="650" b="0" i="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Dieker</a:t>
                      </a:r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lissencephaly syndrome (MDLS) (loss)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&lt;&lt;Miller-Dieker lissencephaly syndrome (MDLS) (loss)&gt;&gt;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19774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Miller-</a:t>
                      </a:r>
                      <a:r>
                        <a:rPr lang="en-US" sz="650" b="0" i="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Dieker</a:t>
                      </a:r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lissencephaly syndrome (MDLS) (gain)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&lt;&lt;Miller-Dieker lissencephaly syndrome (MDLS) (gain)&gt;&gt;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7112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17p13.3 telomeric 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&lt;&lt;17p13.3 telomeric 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35438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17q12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&lt;&lt;17q12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6801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17q21.31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&lt;&lt;17q21.31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59947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17q23.1-q23.2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&lt;&lt;17q23.1-q23.2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62579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Tetrasomy 18p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&lt;&lt;Tetrasomy 18p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90717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18p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&lt;&lt;18p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38262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18q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&lt;&lt;18q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88050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19p13 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&lt;&lt;19p13 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4144248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1ED080B9-CC2C-055E-FE5A-4D1E1A9BF8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4433093"/>
              </p:ext>
            </p:extLst>
          </p:nvPr>
        </p:nvGraphicFramePr>
        <p:xfrm>
          <a:off x="3683346" y="2198941"/>
          <a:ext cx="2988000" cy="433578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1494000">
                  <a:extLst>
                    <a:ext uri="{9D8B030D-6E8A-4147-A177-3AD203B41FA5}">
                      <a16:colId xmlns:a16="http://schemas.microsoft.com/office/drawing/2014/main" val="539532219"/>
                    </a:ext>
                  </a:extLst>
                </a:gridCol>
                <a:gridCol w="1494000">
                  <a:extLst>
                    <a:ext uri="{9D8B030D-6E8A-4147-A177-3AD203B41FA5}">
                      <a16:colId xmlns:a16="http://schemas.microsoft.com/office/drawing/2014/main" val="20312031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800" b="1" i="0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Kondisi</a:t>
                      </a:r>
                      <a:endParaRPr lang="en-US" sz="800" b="1" i="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Hasil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8724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19q13.11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&lt;&lt;19q13.11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477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20p13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&lt;&lt;20p13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69246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21q22.11-q22.12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&lt;&lt;21q22.11-q22.12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7595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22q11.2 deletion syndrome (distal, D-E/F)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&lt;&lt;22q11.2 deletion syndrome (distal, D-E/F)&gt;&gt;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02868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22q11.2 deletion syndrome (LCR22 B/C-D)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&lt;&lt;22q11.2 deletion syndrome (LCR22 B/C-D)&gt;&gt;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382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22q13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&lt;&lt;22q13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09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22q13 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&lt;&lt;22q13 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804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Xp11.22 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&lt;&lt;Xp11.22 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49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Xp11.22-p11.23 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&lt;&lt;Xp11.22-p11.23 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87543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Xp11.23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&lt;&lt;Xp11.23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3217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Xp11.3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&lt;&lt;Xp11.3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64801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Xp21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&lt;&lt;Xp21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82251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Xp21.2 microduplication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&lt;&lt;Xp21.2 microduplication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89365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Xp22.31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&lt;&lt;Xp22.31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279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Xq21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&lt;&lt;Xq21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21565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Xq22.3 telomeric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&lt;&lt;Xq22.3 telomeric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77922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Xq27.3-q28 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&lt;&lt;Xq27.3-q28 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616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Xq28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&lt;&lt;Xq28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555669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5ABA1FF-2703-F24F-F4EE-2DFD0071D979}"/>
              </a:ext>
            </a:extLst>
          </p:cNvPr>
          <p:cNvSpPr txBox="1"/>
          <p:nvPr/>
        </p:nvSpPr>
        <p:spPr>
          <a:xfrm>
            <a:off x="2557354" y="9214885"/>
            <a:ext cx="3243371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Laboratorium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PT </a:t>
            </a:r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Persada</a:t>
            </a:r>
            <a:endParaRPr lang="en-US" sz="8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Jl.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Bungur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Besar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Raya No. 23,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Gunung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Sahari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Selatan</a:t>
            </a:r>
          </a:p>
          <a:p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Kemayoran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Jakarta Pusat</a:t>
            </a:r>
          </a:p>
          <a:p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Telp: 62-21-8086-4674    Email: info@id.cordlife.com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A5FAF9-75BF-25C6-6363-28CEA473D97B}"/>
              </a:ext>
            </a:extLst>
          </p:cNvPr>
          <p:cNvSpPr txBox="1"/>
          <p:nvPr/>
        </p:nvSpPr>
        <p:spPr>
          <a:xfrm>
            <a:off x="427072" y="1928026"/>
            <a:ext cx="59961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Sindrom</a:t>
            </a:r>
            <a:r>
              <a:rPr lang="en-US" sz="11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mikrodelesi</a:t>
            </a:r>
            <a:r>
              <a:rPr lang="en-US" sz="1100" b="1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duplikasi</a:t>
            </a:r>
            <a:endParaRPr lang="en-US" sz="9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7112B6-0EE1-334E-332B-78F2486D02A2}"/>
              </a:ext>
            </a:extLst>
          </p:cNvPr>
          <p:cNvSpPr txBox="1"/>
          <p:nvPr/>
        </p:nvSpPr>
        <p:spPr>
          <a:xfrm>
            <a:off x="430623" y="1706318"/>
            <a:ext cx="37426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LAMPIRAN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AEBDC12-261A-B250-980A-852805D64B9D}"/>
              </a:ext>
            </a:extLst>
          </p:cNvPr>
          <p:cNvSpPr/>
          <p:nvPr/>
        </p:nvSpPr>
        <p:spPr>
          <a:xfrm>
            <a:off x="430623" y="772625"/>
            <a:ext cx="1956394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FB7432-18FA-E6FE-FB4D-FE8FD4DA94F0}"/>
              </a:ext>
            </a:extLst>
          </p:cNvPr>
          <p:cNvSpPr/>
          <p:nvPr/>
        </p:nvSpPr>
        <p:spPr>
          <a:xfrm>
            <a:off x="2452579" y="772625"/>
            <a:ext cx="1956393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3DA2A7-544D-22D1-B6AC-95CE2C712910}"/>
              </a:ext>
            </a:extLst>
          </p:cNvPr>
          <p:cNvSpPr/>
          <p:nvPr/>
        </p:nvSpPr>
        <p:spPr>
          <a:xfrm>
            <a:off x="4474534" y="772625"/>
            <a:ext cx="1956393" cy="954107"/>
          </a:xfrm>
          <a:prstGeom prst="rect">
            <a:avLst/>
          </a:prstGeom>
          <a:noFill/>
          <a:ln w="15875" cmpd="thickThin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CF983A-F71F-3320-2F5C-6153071D3C9E}"/>
              </a:ext>
            </a:extLst>
          </p:cNvPr>
          <p:cNvSpPr txBox="1"/>
          <p:nvPr/>
        </p:nvSpPr>
        <p:spPr>
          <a:xfrm>
            <a:off x="2452581" y="772625"/>
            <a:ext cx="19563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7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&lt;&lt;W&gt;&gt; Weeks &lt;&lt;D&gt;&gt; Days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&lt;&lt;Pregnancy Type&gt;&gt;</a:t>
            </a:r>
          </a:p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Dokter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Nama: &lt;&lt;Doctor&gt;&gt;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Rumah Sakit/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Klinik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&lt;&lt;Hospital&gt;&gt;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DFCD84-8D93-7EC9-DF2D-3E7D71603617}"/>
              </a:ext>
            </a:extLst>
          </p:cNvPr>
          <p:cNvSpPr txBox="1"/>
          <p:nvPr/>
        </p:nvSpPr>
        <p:spPr>
          <a:xfrm>
            <a:off x="4466785" y="766381"/>
            <a:ext cx="1964142" cy="846386"/>
          </a:xfrm>
          <a:prstGeom prst="rect">
            <a:avLst/>
          </a:prstGeom>
          <a:noFill/>
          <a:ln cmpd="tri">
            <a:noFill/>
          </a:ln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Sampel: Blood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Pengambilan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&lt;&lt;Collection Date&gt;&gt;</a:t>
            </a:r>
            <a:endParaRPr lang="en-US" sz="700" dirty="0">
              <a:solidFill>
                <a:srgbClr val="545454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Diterima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&lt;&lt;Receipt Date&gt;&gt;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Laporan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Selesai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&lt;&lt;Report Date&gt;&gt;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&lt;&lt;Test Requested&gt;&gt;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F6D15F-BAD6-1569-27EF-7DC5F36DC4BF}"/>
              </a:ext>
            </a:extLst>
          </p:cNvPr>
          <p:cNvSpPr txBox="1"/>
          <p:nvPr/>
        </p:nvSpPr>
        <p:spPr>
          <a:xfrm>
            <a:off x="5713863" y="9220678"/>
            <a:ext cx="857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dirty="0">
                <a:solidFill>
                  <a:srgbClr val="000000"/>
                </a:solidFill>
                <a:latin typeface="Calibri" panose="020F0502020204030204" pitchFamily="34" charset="0"/>
              </a:rPr>
              <a:t>DCR No.: 3573</a:t>
            </a:r>
          </a:p>
          <a:p>
            <a:pPr algn="ctr"/>
            <a:r>
              <a:rPr lang="pt-BR" sz="800" dirty="0">
                <a:solidFill>
                  <a:srgbClr val="000000"/>
                </a:solidFill>
                <a:latin typeface="Calibri" panose="020F0502020204030204" pitchFamily="34" charset="0"/>
              </a:rPr>
              <a:t>QR G1.1-6-3-e</a:t>
            </a:r>
            <a:endParaRPr lang="en-ID" sz="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965DE5-B941-8EF6-CDF6-D4A1B1CDD6FB}"/>
              </a:ext>
            </a:extLst>
          </p:cNvPr>
          <p:cNvSpPr txBox="1"/>
          <p:nvPr/>
        </p:nvSpPr>
        <p:spPr>
          <a:xfrm>
            <a:off x="434824" y="772625"/>
            <a:ext cx="19563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No. Lab: &lt;&lt;Sample Number&gt;&gt;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&lt;&lt;Patient Name&gt;&gt;</a:t>
            </a: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Lahir: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&lt;&lt;DOB&gt;&gt; (&lt;&lt;A&gt;&gt;)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Berat/Tinggi Badan Ibu: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&lt;&lt;kg&gt;&gt;kg / &lt;&lt;cm&gt;&gt;cm 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Indikasi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&lt;&lt;Indication&gt;&gt;</a:t>
            </a:r>
          </a:p>
        </p:txBody>
      </p:sp>
    </p:spTree>
    <p:extLst>
      <p:ext uri="{BB962C8B-B14F-4D97-AF65-F5344CB8AC3E}">
        <p14:creationId xmlns:p14="http://schemas.microsoft.com/office/powerpoint/2010/main" val="17683357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12998</TotalTime>
  <Words>3369</Words>
  <Application>Microsoft Macintosh PowerPoint</Application>
  <PresentationFormat>A4 Paper (210x297 mm)</PresentationFormat>
  <Paragraphs>565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Dwi</dc:creator>
  <cp:lastModifiedBy>sam martin</cp:lastModifiedBy>
  <cp:revision>125</cp:revision>
  <dcterms:created xsi:type="dcterms:W3CDTF">2024-06-13T04:30:46Z</dcterms:created>
  <dcterms:modified xsi:type="dcterms:W3CDTF">2026-01-05T03:10:03Z</dcterms:modified>
</cp:coreProperties>
</file>