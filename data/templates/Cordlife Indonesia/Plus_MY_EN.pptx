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
  </p:notesMasterIdLst>
  <p:sldIdLst>
    <p:sldId id="330" r:id="rId2"/>
    <p:sldId id="331" r:id="rId3"/>
    <p:sldId id="332" r:id="rId4"/>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laysia version" id="{FE771C7B-36E6-4832-B63F-9DF2C17B9980}">
          <p14:sldIdLst>
            <p14:sldId id="330"/>
            <p14:sldId id="331"/>
            <p14:sldId id="332"/>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3F37261-C495-8902-B2E6-D7FCA57F3785}" name="Meri Virtin" initials="MV" userId="05a2d77c8c74f754" providerId="Windows Live"/>
  <p188:author id="{4A23E062-0C49-A1F7-BE07-CACFFB8CC98F}" name="Dwi Astuti Handayani" initials="DAH" userId="Dwi Astuti Handayani" providerId="None"/>
  <p188:author id="{F97F367D-8195-4952-2436-DB42D502EDB7}" name="Dwi" initials="D" userId="S::dwi.astuti@cordlife.com::7129da7c-f5bb-45a1-9e5d-0cc5ac43401b" providerId="AD"/>
  <p188:author id="{2AD7E67D-6C4E-A42D-7787-1BE1BACAA48C}" name="Evon Lee Bee Lay" initials="EB" userId="S::evon.lee@stemlife.com::92a3c5e0-263d-4d39-b45b-d2c2c51ac627" providerId="AD"/>
  <p188:author id="{2C3757E8-09BA-7C23-CF17-B5826D7C6949}" name="PT Cordlife Persada" initials="PP" userId="9bd9c189f0b1781f"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FBF2F2"/>
    <a:srgbClr val="C42438"/>
    <a:srgbClr val="C02337"/>
    <a:srgbClr val="EFCDCD"/>
    <a:srgbClr val="E280A9"/>
    <a:srgbClr val="FDB9C1"/>
    <a:srgbClr val="C82439"/>
    <a:srgbClr val="00A6C8"/>
    <a:srgbClr val="FF5B5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90814" autoAdjust="0"/>
  </p:normalViewPr>
  <p:slideViewPr>
    <p:cSldViewPr snapToGrid="0">
      <p:cViewPr varScale="1">
        <p:scale>
          <a:sx n="162" d="100"/>
          <a:sy n="162" d="100"/>
        </p:scale>
        <p:origin x="4208"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10" Type="http://schemas.microsoft.com/office/2018/10/relationships/authors" Target="authors.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E09E9B-57B9-4CBC-9B6F-C0875E2CCF71}" type="datetimeFigureOut">
              <a:rPr lang="en-US" smtClean="0"/>
              <a:t>1/4/26</a:t>
            </a:fld>
            <a:endParaRPr lang="en-US"/>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20B0AA-EC77-4154-9376-38D730BDF5EA}" type="slidenum">
              <a:rPr lang="en-US" smtClean="0"/>
              <a:t>‹#›</a:t>
            </a:fld>
            <a:endParaRPr lang="en-US"/>
          </a:p>
        </p:txBody>
      </p:sp>
    </p:spTree>
    <p:extLst>
      <p:ext uri="{BB962C8B-B14F-4D97-AF65-F5344CB8AC3E}">
        <p14:creationId xmlns:p14="http://schemas.microsoft.com/office/powerpoint/2010/main" val="34267197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1</a:t>
            </a:fld>
            <a:endParaRPr lang="en-US"/>
          </a:p>
        </p:txBody>
      </p:sp>
    </p:spTree>
    <p:extLst>
      <p:ext uri="{BB962C8B-B14F-4D97-AF65-F5344CB8AC3E}">
        <p14:creationId xmlns:p14="http://schemas.microsoft.com/office/powerpoint/2010/main" val="27191093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2</a:t>
            </a:fld>
            <a:endParaRPr lang="en-US"/>
          </a:p>
        </p:txBody>
      </p:sp>
    </p:spTree>
    <p:extLst>
      <p:ext uri="{BB962C8B-B14F-4D97-AF65-F5344CB8AC3E}">
        <p14:creationId xmlns:p14="http://schemas.microsoft.com/office/powerpoint/2010/main" val="34256453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753190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93386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527738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AF875B-3630-45B7-8F1C-7ABA6E502FCC}" type="datetimeFigureOut">
              <a:rPr lang="en-US" smtClean="0"/>
              <a:t>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62110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AF875B-3630-45B7-8F1C-7ABA6E502FCC}" type="datetimeFigureOut">
              <a:rPr lang="en-US" smtClean="0"/>
              <a:t>1/4/26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951422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AF875B-3630-45B7-8F1C-7ABA6E502FCC}" type="datetimeFigureOut">
              <a:rPr lang="en-US" smtClean="0"/>
              <a:t>1/4/26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3301194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AF875B-3630-45B7-8F1C-7ABA6E502FCC}" type="datetimeFigureOut">
              <a:rPr lang="en-US" smtClean="0"/>
              <a:t>1/4/26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40C759-50FA-4561-BC40-732FB404009C}" type="slidenum">
              <a:rPr lang="en-US" smtClean="0"/>
              <a:t>‹#›</a:t>
            </a:fld>
            <a:endParaRPr lang="en-US" dirty="0"/>
          </a:p>
        </p:txBody>
      </p:sp>
    </p:spTree>
    <p:extLst>
      <p:ext uri="{BB962C8B-B14F-4D97-AF65-F5344CB8AC3E}">
        <p14:creationId xmlns:p14="http://schemas.microsoft.com/office/powerpoint/2010/main" val="36883317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227937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24684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050866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41648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B6AF875B-3630-45B7-8F1C-7ABA6E502FCC}" type="datetimeFigureOut">
              <a:rPr lang="en-US" smtClean="0"/>
              <a:t>1/4/26</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D540C759-50FA-4561-BC40-732FB404009C}" type="slidenum">
              <a:rPr lang="en-US" smtClean="0"/>
              <a:t>‹#›</a:t>
            </a:fld>
            <a:endParaRPr lang="en-US"/>
          </a:p>
        </p:txBody>
      </p:sp>
    </p:spTree>
    <p:extLst>
      <p:ext uri="{BB962C8B-B14F-4D97-AF65-F5344CB8AC3E}">
        <p14:creationId xmlns:p14="http://schemas.microsoft.com/office/powerpoint/2010/main" val="20854161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ppv.geneticsupportfoundation.org/"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A205713-3348-4385-2B4B-E68890BDD5BF}"/>
              </a:ext>
            </a:extLst>
          </p:cNvPr>
          <p:cNvSpPr/>
          <p:nvPr/>
        </p:nvSpPr>
        <p:spPr>
          <a:xfrm>
            <a:off x="430623" y="772625"/>
            <a:ext cx="1956394" cy="954107"/>
          </a:xfrm>
          <a:prstGeom prst="rect">
            <a:avLst/>
          </a:prstGeom>
          <a:noFill/>
          <a:ln w="15875" cmpd="tri">
            <a:solidFill>
              <a:srgbClr val="C02337"/>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690747F1-4CEA-40FD-98C3-6C40BF950E8B}"/>
              </a:ext>
            </a:extLst>
          </p:cNvPr>
          <p:cNvSpPr/>
          <p:nvPr/>
        </p:nvSpPr>
        <p:spPr>
          <a:xfrm>
            <a:off x="2452579" y="772625"/>
            <a:ext cx="1956393" cy="954107"/>
          </a:xfrm>
          <a:prstGeom prst="rect">
            <a:avLst/>
          </a:prstGeom>
          <a:noFill/>
          <a:ln w="15875" cmpd="tri">
            <a:solidFill>
              <a:srgbClr val="C02337"/>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94F0FCA8-40AD-49DE-872B-14A5F086A1B6}"/>
              </a:ext>
            </a:extLst>
          </p:cNvPr>
          <p:cNvSpPr/>
          <p:nvPr/>
        </p:nvSpPr>
        <p:spPr>
          <a:xfrm>
            <a:off x="4474534" y="772625"/>
            <a:ext cx="1956393" cy="954107"/>
          </a:xfrm>
          <a:prstGeom prst="rect">
            <a:avLst/>
          </a:prstGeom>
          <a:noFill/>
          <a:ln w="15875" cmpd="thickThin">
            <a:solidFill>
              <a:srgbClr val="C02337"/>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26264A46-8BCE-0626-AF69-52E456E30DDC}"/>
              </a:ext>
            </a:extLst>
          </p:cNvPr>
          <p:cNvSpPr txBox="1"/>
          <p:nvPr/>
        </p:nvSpPr>
        <p:spPr>
          <a:xfrm>
            <a:off x="4441862" y="1975938"/>
            <a:ext cx="1969793" cy="1092607"/>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Fetal Fraction</a:t>
            </a:r>
          </a:p>
          <a:p>
            <a:r>
              <a:rPr lang="en-US" sz="1100" b="1" dirty="0">
                <a:latin typeface="Calibri" panose="020F0502020204030204" pitchFamily="34" charset="0"/>
                <a:cs typeface="Calibri" panose="020F0502020204030204" pitchFamily="34" charset="0"/>
              </a:rPr>
              <a:t>     </a:t>
            </a:r>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&lt;&lt;FF_YFF&gt;&gt;%</a:t>
            </a:r>
          </a:p>
          <a:p>
            <a:endParaRPr lang="en-US" sz="1100" b="1" dirty="0">
              <a:latin typeface="Calibri" panose="020F0502020204030204" pitchFamily="34" charset="0"/>
              <a:cs typeface="Calibri" panose="020F0502020204030204" pitchFamily="34" charset="0"/>
            </a:endParaRPr>
          </a:p>
          <a:p>
            <a:r>
              <a:rPr lang="en-US" sz="1100" b="1" dirty="0">
                <a:latin typeface="Calibri" panose="020F0502020204030204" pitchFamily="34" charset="0"/>
                <a:cs typeface="Calibri" panose="020F0502020204030204" pitchFamily="34" charset="0"/>
              </a:rPr>
              <a:t>Fetal Sex</a:t>
            </a:r>
          </a:p>
          <a:p>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&lt;&lt;Gender&gt;&gt;</a:t>
            </a:r>
            <a:endParaRPr lang="en-US" sz="1100" dirty="0">
              <a:latin typeface="Calibri" panose="020F0502020204030204" pitchFamily="34" charset="0"/>
              <a:cs typeface="Calibri" panose="020F0502020204030204" pitchFamily="34" charset="0"/>
            </a:endParaRPr>
          </a:p>
        </p:txBody>
      </p:sp>
      <p:sp>
        <p:nvSpPr>
          <p:cNvPr id="18" name="Rectangle: Rounded Corners 17">
            <a:extLst>
              <a:ext uri="{FF2B5EF4-FFF2-40B4-BE49-F238E27FC236}">
                <a16:creationId xmlns:a16="http://schemas.microsoft.com/office/drawing/2014/main" id="{052ED01F-71C8-3FFC-8482-23945FF8C082}"/>
              </a:ext>
            </a:extLst>
          </p:cNvPr>
          <p:cNvSpPr/>
          <p:nvPr/>
        </p:nvSpPr>
        <p:spPr>
          <a:xfrm>
            <a:off x="430623" y="1899689"/>
            <a:ext cx="3875010" cy="1236883"/>
          </a:xfrm>
          <a:prstGeom prst="roundRect">
            <a:avLst/>
          </a:prstGeom>
          <a:noFill/>
          <a:ln w="76200" cmpd="tri">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9" name="Rectangle: Rounded Corners 18">
            <a:extLst>
              <a:ext uri="{FF2B5EF4-FFF2-40B4-BE49-F238E27FC236}">
                <a16:creationId xmlns:a16="http://schemas.microsoft.com/office/drawing/2014/main" id="{3E681959-5FC1-8178-5CA3-CB804C551E76}"/>
              </a:ext>
            </a:extLst>
          </p:cNvPr>
          <p:cNvSpPr/>
          <p:nvPr/>
        </p:nvSpPr>
        <p:spPr>
          <a:xfrm>
            <a:off x="4408972" y="1899689"/>
            <a:ext cx="2021955" cy="1236883"/>
          </a:xfrm>
          <a:prstGeom prst="roundRect">
            <a:avLst/>
          </a:prstGeom>
          <a:noFill/>
          <a:ln w="76200" cmpd="tri">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latin typeface="Calibri" panose="020F0502020204030204" pitchFamily="34" charset="0"/>
              <a:cs typeface="Calibri" panose="020F0502020204030204" pitchFamily="34" charset="0"/>
            </a:endParaRPr>
          </a:p>
        </p:txBody>
      </p:sp>
      <p:graphicFrame>
        <p:nvGraphicFramePr>
          <p:cNvPr id="20" name="Table 19">
            <a:extLst>
              <a:ext uri="{FF2B5EF4-FFF2-40B4-BE49-F238E27FC236}">
                <a16:creationId xmlns:a16="http://schemas.microsoft.com/office/drawing/2014/main" id="{FC25077C-3F86-82CD-EEBC-1345FC094F1E}"/>
              </a:ext>
            </a:extLst>
          </p:cNvPr>
          <p:cNvGraphicFramePr>
            <a:graphicFrameLocks noGrp="1"/>
          </p:cNvGraphicFramePr>
          <p:nvPr>
            <p:extLst>
              <p:ext uri="{D42A27DB-BD31-4B8C-83A1-F6EECF244321}">
                <p14:modId xmlns:p14="http://schemas.microsoft.com/office/powerpoint/2010/main" val="2082331219"/>
              </p:ext>
            </p:extLst>
          </p:nvPr>
        </p:nvGraphicFramePr>
        <p:xfrm>
          <a:off x="446345" y="3545404"/>
          <a:ext cx="5984582" cy="2118360"/>
        </p:xfrm>
        <a:graphic>
          <a:graphicData uri="http://schemas.openxmlformats.org/drawingml/2006/table">
            <a:tbl>
              <a:tblPr firstRow="1" bandRow="1">
                <a:noFill/>
                <a:tableStyleId>{EB9631B5-78F2-41C9-869B-9F39066F8104}</a:tableStyleId>
              </a:tblPr>
              <a:tblGrid>
                <a:gridCol w="1873522">
                  <a:extLst>
                    <a:ext uri="{9D8B030D-6E8A-4147-A177-3AD203B41FA5}">
                      <a16:colId xmlns:a16="http://schemas.microsoft.com/office/drawing/2014/main" val="539532219"/>
                    </a:ext>
                  </a:extLst>
                </a:gridCol>
                <a:gridCol w="1083733">
                  <a:extLst>
                    <a:ext uri="{9D8B030D-6E8A-4147-A177-3AD203B41FA5}">
                      <a16:colId xmlns:a16="http://schemas.microsoft.com/office/drawing/2014/main" val="3883297624"/>
                    </a:ext>
                  </a:extLst>
                </a:gridCol>
                <a:gridCol w="948267">
                  <a:extLst>
                    <a:ext uri="{9D8B030D-6E8A-4147-A177-3AD203B41FA5}">
                      <a16:colId xmlns:a16="http://schemas.microsoft.com/office/drawing/2014/main" val="1695220194"/>
                    </a:ext>
                  </a:extLst>
                </a:gridCol>
                <a:gridCol w="1066800">
                  <a:extLst>
                    <a:ext uri="{9D8B030D-6E8A-4147-A177-3AD203B41FA5}">
                      <a16:colId xmlns:a16="http://schemas.microsoft.com/office/drawing/2014/main" val="334132603"/>
                    </a:ext>
                  </a:extLst>
                </a:gridCol>
                <a:gridCol w="1012260">
                  <a:extLst>
                    <a:ext uri="{9D8B030D-6E8A-4147-A177-3AD203B41FA5}">
                      <a16:colId xmlns:a16="http://schemas.microsoft.com/office/drawing/2014/main" val="524729326"/>
                    </a:ext>
                  </a:extLst>
                </a:gridCol>
              </a:tblGrid>
              <a:tr h="243208">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PPV/</a:t>
                      </a:r>
                      <a:r>
                        <a:rPr lang="en-US" sz="1050" b="1" dirty="0" err="1">
                          <a:latin typeface="Calibri" panose="020F0502020204030204" pitchFamily="34" charset="0"/>
                          <a:cs typeface="Calibri" panose="020F0502020204030204" pitchFamily="34" charset="0"/>
                        </a:rPr>
                        <a:t>NPV</a:t>
                      </a:r>
                      <a:r>
                        <a:rPr lang="en-US" sz="1050" b="1" baseline="50000" dirty="0" err="1">
                          <a:latin typeface="Calibri" panose="020F0502020204030204" pitchFamily="34" charset="0"/>
                          <a:cs typeface="Calibri" panose="020F0502020204030204" pitchFamily="34" charset="0"/>
                        </a:rPr>
                        <a:t>a</a:t>
                      </a:r>
                      <a:endParaRPr lang="en-US" sz="1050" b="1" baseline="50000"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Pre -test</a:t>
                      </a:r>
                    </a:p>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b</a:t>
                      </a:r>
                      <a:r>
                        <a:rPr lang="en-US" sz="1050" b="1" dirty="0">
                          <a:latin typeface="Calibri" panose="020F0502020204030204" pitchFamily="34" charset="0"/>
                          <a:cs typeface="Calibri" panose="020F0502020204030204" pitchFamily="34" charset="0"/>
                        </a:rPr>
                        <a:t> </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Post-test</a:t>
                      </a:r>
                    </a:p>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c</a:t>
                      </a:r>
                      <a:endParaRPr lang="en-US" sz="1050" b="1" baseline="50000"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extLst>
                  <a:ext uri="{0D108BD9-81ED-4DB2-BD59-A6C34878D82A}">
                    <a16:rowId xmlns:a16="http://schemas.microsoft.com/office/drawing/2014/main" val="1483159712"/>
                  </a:ext>
                </a:extLst>
              </a:tr>
              <a:tr h="0">
                <a:tc>
                  <a:txBody>
                    <a:bodyPr/>
                    <a:lstStyle/>
                    <a:p>
                      <a:pPr algn="ctr"/>
                      <a:r>
                        <a:rPr lang="en-US" sz="1000" b="1" dirty="0">
                          <a:latin typeface="Calibri" panose="020F0502020204030204" pitchFamily="34" charset="0"/>
                          <a:cs typeface="Calibri" panose="020F0502020204030204" pitchFamily="34" charset="0"/>
                        </a:rPr>
                        <a:t>Trisomy 21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470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&lt;&lt;T21 Result&gt;&gt;</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&lt;&lt;ST21_TT21&gt;&gt;</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&lt;&lt;T21 Risk After&gt;&gt;</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1621165317"/>
                  </a:ext>
                </a:extLst>
              </a:tr>
              <a:tr h="0">
                <a:tc>
                  <a:txBody>
                    <a:bodyPr/>
                    <a:lstStyle/>
                    <a:p>
                      <a:pPr algn="ctr"/>
                      <a:r>
                        <a:rPr lang="en-US" sz="1000" b="1" dirty="0">
                          <a:latin typeface="Calibri" panose="020F0502020204030204" pitchFamily="34" charset="0"/>
                          <a:cs typeface="Calibri" panose="020F0502020204030204" pitchFamily="34" charset="0"/>
                        </a:rPr>
                        <a:t>Trisomy 18</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&lt;&lt;T18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&lt;&lt;ST18_TT18&gt;&gt;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&lt;&lt;T18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3020442383"/>
                  </a:ext>
                </a:extLst>
              </a:tr>
              <a:tr h="0">
                <a:tc>
                  <a:txBody>
                    <a:bodyPr/>
                    <a:lstStyle/>
                    <a:p>
                      <a:pPr algn="ctr"/>
                      <a:r>
                        <a:rPr lang="en-US" sz="1000" b="1" dirty="0">
                          <a:latin typeface="Calibri" panose="020F0502020204030204" pitchFamily="34" charset="0"/>
                          <a:cs typeface="Calibri" panose="020F0502020204030204" pitchFamily="34" charset="0"/>
                        </a:rPr>
                        <a:t>Trisomy 13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&lt;&lt;T13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dirty="0">
                          <a:latin typeface="Calibri" panose="020F0502020204030204" pitchFamily="34" charset="0"/>
                          <a:cs typeface="Calibri" panose="020F0502020204030204" pitchFamily="34" charset="0"/>
                        </a:rPr>
                        <a:t>&lt;&lt;ST13_TT13&gt;&gt;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&lt;&lt;T13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332318909"/>
                  </a:ext>
                </a:extLst>
              </a:tr>
              <a:tr h="0">
                <a:tc>
                  <a:txBody>
                    <a:bodyPr/>
                    <a:lstStyle/>
                    <a:p>
                      <a:pPr algn="ctr"/>
                      <a:r>
                        <a:rPr lang="en-US" sz="1000" b="1" dirty="0">
                          <a:latin typeface="Calibri" panose="020F0502020204030204" pitchFamily="34" charset="0"/>
                          <a:cs typeface="Calibri" panose="020F0502020204030204" pitchFamily="34" charset="0"/>
                        </a:rPr>
                        <a:t>XO (Turner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&lt;&lt;XO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&lt;&lt;XO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598480914"/>
                  </a:ext>
                </a:extLst>
              </a:tr>
              <a:tr h="0">
                <a:tc>
                  <a:txBody>
                    <a:bodyPr/>
                    <a:lstStyle/>
                    <a:p>
                      <a:pPr algn="ctr"/>
                      <a:r>
                        <a:rPr lang="en-US" sz="1000" b="1" dirty="0">
                          <a:latin typeface="Calibri" panose="020F0502020204030204" pitchFamily="34" charset="0"/>
                          <a:cs typeface="Calibri" panose="020F0502020204030204" pitchFamily="34" charset="0"/>
                        </a:rPr>
                        <a:t>XXX (Trisomy X)</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&lt;&lt;XXX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&lt;&lt;XXX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366551876"/>
                  </a:ext>
                </a:extLst>
              </a:tr>
              <a:tr h="0">
                <a:tc>
                  <a:txBody>
                    <a:bodyPr/>
                    <a:lstStyle/>
                    <a:p>
                      <a:pPr algn="ctr"/>
                      <a:r>
                        <a:rPr lang="en-US" sz="1000" b="1" dirty="0">
                          <a:latin typeface="Calibri" panose="020F0502020204030204" pitchFamily="34" charset="0"/>
                          <a:cs typeface="Calibri" panose="020F0502020204030204" pitchFamily="34" charset="0"/>
                        </a:rPr>
                        <a:t>XXY (Klinefelter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&lt;&lt;XXY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&lt;&lt;XXY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3012288664"/>
                  </a:ext>
                </a:extLst>
              </a:tr>
              <a:tr h="0">
                <a:tc>
                  <a:txBody>
                    <a:bodyPr/>
                    <a:lstStyle/>
                    <a:p>
                      <a:pPr algn="ctr"/>
                      <a:r>
                        <a:rPr lang="en-US" sz="1000" b="1" dirty="0">
                          <a:latin typeface="Calibri" panose="020F0502020204030204" pitchFamily="34" charset="0"/>
                          <a:cs typeface="Calibri" panose="020F0502020204030204" pitchFamily="34" charset="0"/>
                        </a:rPr>
                        <a:t>XYY (Jacob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&lt;&lt;XYY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&lt;&lt;XYY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3550806044"/>
                  </a:ext>
                </a:extLst>
              </a:tr>
            </a:tbl>
          </a:graphicData>
        </a:graphic>
      </p:graphicFrame>
      <p:sp>
        <p:nvSpPr>
          <p:cNvPr id="22" name="TextBox 21">
            <a:extLst>
              <a:ext uri="{FF2B5EF4-FFF2-40B4-BE49-F238E27FC236}">
                <a16:creationId xmlns:a16="http://schemas.microsoft.com/office/drawing/2014/main" id="{5D2A34DF-A85D-AFAC-37DA-EDB3DA2BCD69}"/>
              </a:ext>
            </a:extLst>
          </p:cNvPr>
          <p:cNvSpPr txBox="1"/>
          <p:nvPr/>
        </p:nvSpPr>
        <p:spPr>
          <a:xfrm>
            <a:off x="444468" y="3237627"/>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RESULTS DETAILS</a:t>
            </a:r>
          </a:p>
        </p:txBody>
      </p:sp>
      <p:sp>
        <p:nvSpPr>
          <p:cNvPr id="24" name="TextBox 23">
            <a:extLst>
              <a:ext uri="{FF2B5EF4-FFF2-40B4-BE49-F238E27FC236}">
                <a16:creationId xmlns:a16="http://schemas.microsoft.com/office/drawing/2014/main" id="{42FD5668-A2A3-535F-995B-C8E0C0ABE794}"/>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3</a:t>
            </a:r>
          </a:p>
        </p:txBody>
      </p:sp>
      <p:cxnSp>
        <p:nvCxnSpPr>
          <p:cNvPr id="3" name="Straight Connector 2">
            <a:extLst>
              <a:ext uri="{FF2B5EF4-FFF2-40B4-BE49-F238E27FC236}">
                <a16:creationId xmlns:a16="http://schemas.microsoft.com/office/drawing/2014/main" id="{89D14529-C7C6-BEDC-6A17-B75DBD3A2218}"/>
              </a:ext>
            </a:extLst>
          </p:cNvPr>
          <p:cNvCxnSpPr>
            <a:cxnSpLocks/>
          </p:cNvCxnSpPr>
          <p:nvPr/>
        </p:nvCxnSpPr>
        <p:spPr>
          <a:xfrm>
            <a:off x="527050" y="2656142"/>
            <a:ext cx="3681005" cy="0"/>
          </a:xfrm>
          <a:prstGeom prst="line">
            <a:avLst/>
          </a:prstGeom>
          <a:ln>
            <a:solidFill>
              <a:srgbClr val="C02337"/>
            </a:solidFill>
            <a:prstDash val="lgDash"/>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F5D7F0E2-04DD-6B22-ABD8-6956309937FF}"/>
              </a:ext>
            </a:extLst>
          </p:cNvPr>
          <p:cNvSpPr txBox="1"/>
          <p:nvPr/>
        </p:nvSpPr>
        <p:spPr>
          <a:xfrm>
            <a:off x="412897" y="6665518"/>
            <a:ext cx="5998758" cy="1738938"/>
          </a:xfrm>
          <a:prstGeom prst="rect">
            <a:avLst/>
          </a:prstGeom>
          <a:noFill/>
        </p:spPr>
        <p:txBody>
          <a:bodyPr wrap="square">
            <a:spAutoFit/>
          </a:bodyPr>
          <a:lstStyle/>
          <a:p>
            <a:pPr algn="just"/>
            <a:r>
              <a:rPr lang="en-US" sz="900" baseline="30000" dirty="0">
                <a:latin typeface="Calibri" panose="020F0502020204030204" pitchFamily="34" charset="0"/>
                <a:cs typeface="Calibri" panose="020F0502020204030204" pitchFamily="34" charset="0"/>
              </a:rPr>
              <a:t>a</a:t>
            </a:r>
            <a:r>
              <a:rPr lang="en-US" sz="900" dirty="0">
                <a:latin typeface="Calibri" panose="020F0502020204030204" pitchFamily="34" charset="0"/>
                <a:cs typeface="Calibri" panose="020F0502020204030204" pitchFamily="34" charset="0"/>
              </a:rPr>
              <a:t> All probabilities, PPVs, and NPVs are calculated on </a:t>
            </a:r>
            <a:r>
              <a:rPr lang="en-US" sz="900" dirty="0">
                <a:latin typeface="Calibri" panose="020F0502020204030204" pitchFamily="34" charset="0"/>
                <a:cs typeface="Calibri" panose="020F0502020204030204" pitchFamily="34" charset="0"/>
                <a:hlinkClick r:id="rId3"/>
              </a:rPr>
              <a:t>https://ppv.geneticsupportfoundation.org/</a:t>
            </a:r>
            <a:r>
              <a:rPr lang="en-US" sz="900" dirty="0">
                <a:latin typeface="Calibri" panose="020F0502020204030204" pitchFamily="34" charset="0"/>
                <a:cs typeface="Calibri" panose="020F0502020204030204" pitchFamily="34" charset="0"/>
              </a:rPr>
              <a:t> based on maternal age and </a:t>
            </a:r>
            <a:r>
              <a:rPr lang="en-US" sz="900" dirty="0" err="1">
                <a:latin typeface="Calibri" panose="020F0502020204030204" pitchFamily="34" charset="0"/>
                <a:cs typeface="Calibri" panose="020F0502020204030204" pitchFamily="34" charset="0"/>
              </a:rPr>
              <a:t>StemLife</a:t>
            </a:r>
            <a:r>
              <a:rPr lang="en-US" sz="900" dirty="0">
                <a:latin typeface="Calibri" panose="020F0502020204030204" pitchFamily="34" charset="0"/>
                <a:cs typeface="Calibri" panose="020F0502020204030204" pitchFamily="34" charset="0"/>
              </a:rPr>
              <a:t> NIPT sensitivity/specificity data.</a:t>
            </a:r>
          </a:p>
          <a:p>
            <a:pPr algn="just"/>
            <a:endParaRPr lang="en-US" sz="8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b</a:t>
            </a:r>
            <a:r>
              <a:rPr lang="en-US" sz="900" dirty="0">
                <a:latin typeface="Calibri" panose="020F0502020204030204" pitchFamily="34" charset="0"/>
                <a:cs typeface="Calibri" panose="020F0502020204030204" pitchFamily="34" charset="0"/>
              </a:rPr>
              <a:t> The pre-test risk score for aneuploidy is based on a published study involving 17,885 women (Dar et al., Am J </a:t>
            </a:r>
            <a:r>
              <a:rPr lang="en-US" sz="900" dirty="0" err="1">
                <a:latin typeface="Calibri" panose="020F0502020204030204" pitchFamily="34" charset="0"/>
                <a:cs typeface="Calibri" panose="020F0502020204030204" pitchFamily="34" charset="0"/>
              </a:rPr>
              <a:t>Obstet</a:t>
            </a:r>
            <a:r>
              <a:rPr lang="en-US" sz="900" dirty="0">
                <a:latin typeface="Calibri" panose="020F0502020204030204" pitchFamily="34" charset="0"/>
                <a:cs typeface="Calibri" panose="020F0502020204030204" pitchFamily="34" charset="0"/>
              </a:rPr>
              <a:t> Gynecol. 2014 Nov; 211(5): 527.e1–527.e17), which considered maternal age, gestational age, and/or general population data.</a:t>
            </a:r>
          </a:p>
          <a:p>
            <a:pPr algn="just"/>
            <a:endParaRPr lang="en-US" sz="9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c</a:t>
            </a:r>
            <a:r>
              <a:rPr lang="en-US" sz="900" dirty="0">
                <a:latin typeface="Calibri" panose="020F0502020204030204" pitchFamily="34" charset="0"/>
                <a:cs typeface="Calibri" panose="020F0502020204030204" pitchFamily="34" charset="0"/>
              </a:rPr>
              <a:t> Post-test risk score value is calculated as a probability value obtained through the Gaussian distribution of the normal group and the abnormal group using the fetal DNA percentage (fetal fraction), chromosome read % (Unique Read %) value, and Z-score value. The post test risk score may not reflect the actual PPV of this patient, and other test results, ultrasound findings, and personal/family history are not included in the risk assessment.</a:t>
            </a:r>
          </a:p>
          <a:p>
            <a:pPr algn="just"/>
            <a:endParaRPr lang="en-US" sz="900" dirty="0">
              <a:latin typeface="Calibri" panose="020F0502020204030204" pitchFamily="34" charset="0"/>
              <a:cs typeface="Calibri" panose="020F0502020204030204" pitchFamily="34" charset="0"/>
            </a:endParaRPr>
          </a:p>
        </p:txBody>
      </p:sp>
      <p:pic>
        <p:nvPicPr>
          <p:cNvPr id="11" name="Picture 10">
            <a:extLst>
              <a:ext uri="{FF2B5EF4-FFF2-40B4-BE49-F238E27FC236}">
                <a16:creationId xmlns:a16="http://schemas.microsoft.com/office/drawing/2014/main" id="{FBB5B363-1468-01A7-7F2E-87830301A60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8246" y="-311894"/>
            <a:ext cx="1667941" cy="1447807"/>
          </a:xfrm>
          <a:prstGeom prst="rect">
            <a:avLst/>
          </a:prstGeom>
        </p:spPr>
      </p:pic>
      <p:sp>
        <p:nvSpPr>
          <p:cNvPr id="23" name="Rectangle 22">
            <a:extLst>
              <a:ext uri="{FF2B5EF4-FFF2-40B4-BE49-F238E27FC236}">
                <a16:creationId xmlns:a16="http://schemas.microsoft.com/office/drawing/2014/main" id="{FE10BDA8-6E71-A197-8560-945E2F9A196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C02337"/>
                </a:solidFill>
                <a:effectLst/>
                <a:latin typeface="Calibri" panose="020F0502020204030204" pitchFamily="34" charset="0"/>
                <a:cs typeface="Calibri" panose="020F0502020204030204" pitchFamily="34" charset="0"/>
              </a:rPr>
              <a:t>NIPT </a:t>
            </a:r>
            <a:r>
              <a:rPr lang="en-US" sz="2000" cap="none" spc="0" dirty="0">
                <a:ln/>
                <a:solidFill>
                  <a:srgbClr val="C02337"/>
                </a:solidFill>
                <a:effectLst/>
                <a:latin typeface="Calibri" panose="020F0502020204030204" pitchFamily="34" charset="0"/>
                <a:cs typeface="Calibri" panose="020F0502020204030204" pitchFamily="34" charset="0"/>
              </a:rPr>
              <a:t>Test Report</a:t>
            </a:r>
            <a:endParaRPr lang="en-US" sz="3200" cap="none" spc="0" dirty="0">
              <a:ln/>
              <a:solidFill>
                <a:srgbClr val="C02337"/>
              </a:solidFill>
              <a:effectLst/>
              <a:latin typeface="Calibri" panose="020F0502020204030204" pitchFamily="34" charset="0"/>
              <a:cs typeface="Calibri" panose="020F0502020204030204" pitchFamily="34" charset="0"/>
            </a:endParaRPr>
          </a:p>
        </p:txBody>
      </p:sp>
      <p:sp>
        <p:nvSpPr>
          <p:cNvPr id="25" name="Rectangle: Rounded Corners 24">
            <a:extLst>
              <a:ext uri="{FF2B5EF4-FFF2-40B4-BE49-F238E27FC236}">
                <a16:creationId xmlns:a16="http://schemas.microsoft.com/office/drawing/2014/main" id="{C255419B-7D9F-286C-F90D-5D028B5E060C}"/>
              </a:ext>
            </a:extLst>
          </p:cNvPr>
          <p:cNvSpPr/>
          <p:nvPr/>
        </p:nvSpPr>
        <p:spPr>
          <a:xfrm>
            <a:off x="537325" y="9463972"/>
            <a:ext cx="5176538" cy="206556"/>
          </a:xfrm>
          <a:prstGeom prst="roundRect">
            <a:avLst/>
          </a:prstGeom>
          <a:noFill/>
          <a:ln>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6ADF4B2D-E848-8007-B2AD-D3A9E5C1EC8B}"/>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3165 </a:t>
            </a:r>
          </a:p>
          <a:p>
            <a:pPr algn="ctr"/>
            <a:r>
              <a:rPr lang="pt-BR" sz="800" b="0" i="0" dirty="0">
                <a:solidFill>
                  <a:srgbClr val="000000"/>
                </a:solidFill>
                <a:effectLst/>
                <a:latin typeface="Calibri" panose="020F0502020204030204" pitchFamily="34" charset="0"/>
                <a:cs typeface="Calibri" panose="020F0502020204030204" pitchFamily="34" charset="0"/>
              </a:rPr>
              <a:t>QR G1.1-6-4-a</a:t>
            </a:r>
            <a:endParaRPr lang="en-ID" sz="800" dirty="0">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9847590E-2383-A71D-DE54-A9343D91607F}"/>
              </a:ext>
            </a:extLst>
          </p:cNvPr>
          <p:cNvSpPr txBox="1"/>
          <p:nvPr/>
        </p:nvSpPr>
        <p:spPr>
          <a:xfrm>
            <a:off x="446345" y="9203303"/>
            <a:ext cx="1226618"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Results verified by:</a:t>
            </a:r>
          </a:p>
        </p:txBody>
      </p:sp>
      <p:sp>
        <p:nvSpPr>
          <p:cNvPr id="12" name="TextBox 11">
            <a:extLst>
              <a:ext uri="{FF2B5EF4-FFF2-40B4-BE49-F238E27FC236}">
                <a16:creationId xmlns:a16="http://schemas.microsoft.com/office/drawing/2014/main" id="{52A032D7-6E36-FFCF-B1EB-F399544D65F9}"/>
              </a:ext>
            </a:extLst>
          </p:cNvPr>
          <p:cNvSpPr txBox="1"/>
          <p:nvPr/>
        </p:nvSpPr>
        <p:spPr>
          <a:xfrm>
            <a:off x="498897" y="9427924"/>
            <a:ext cx="3828186" cy="276999"/>
          </a:xfrm>
          <a:prstGeom prst="rect">
            <a:avLst/>
          </a:prstGeom>
          <a:noFill/>
        </p:spPr>
        <p:txBody>
          <a:bodyPr wrap="square" rtlCol="0">
            <a:spAutoFit/>
          </a:bodyPr>
          <a:lstStyle/>
          <a:p>
            <a:r>
              <a:rPr lang="en-US" sz="1200" dirty="0">
                <a:latin typeface="Calibri" panose="020F0502020204030204" pitchFamily="34" charset="0"/>
                <a:cs typeface="Calibri" panose="020F0502020204030204" pitchFamily="34" charset="0"/>
              </a:rPr>
              <a:t>Cordlife Laboratory Director : </a:t>
            </a:r>
            <a:r>
              <a:rPr lang="en-US" sz="1200" dirty="0" err="1">
                <a:latin typeface="Calibri" panose="020F0502020204030204" pitchFamily="34" charset="0"/>
                <a:cs typeface="Calibri" panose="020F0502020204030204" pitchFamily="34" charset="0"/>
              </a:rPr>
              <a:t>Yuyus</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Kusnadi</a:t>
            </a:r>
            <a:r>
              <a:rPr lang="en-US" sz="1200" dirty="0">
                <a:latin typeface="Calibri" panose="020F0502020204030204" pitchFamily="34" charset="0"/>
                <a:cs typeface="Calibri" panose="020F0502020204030204" pitchFamily="34" charset="0"/>
              </a:rPr>
              <a:t>, PhD</a:t>
            </a:r>
            <a:endParaRPr lang="en-ID" sz="1200" dirty="0">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7938018E-7C91-2C40-2F25-4B1D62893305}"/>
              </a:ext>
            </a:extLst>
          </p:cNvPr>
          <p:cNvSpPr txBox="1"/>
          <p:nvPr/>
        </p:nvSpPr>
        <p:spPr>
          <a:xfrm>
            <a:off x="4470985" y="772625"/>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8" name="TextBox 7">
            <a:extLst>
              <a:ext uri="{FF2B5EF4-FFF2-40B4-BE49-F238E27FC236}">
                <a16:creationId xmlns:a16="http://schemas.microsoft.com/office/drawing/2014/main" id="{90E11F8C-6871-C190-CE89-B70C2A7765DB}"/>
              </a:ext>
            </a:extLst>
          </p:cNvPr>
          <p:cNvSpPr txBox="1"/>
          <p:nvPr/>
        </p:nvSpPr>
        <p:spPr>
          <a:xfrm>
            <a:off x="2449030" y="771746"/>
            <a:ext cx="1956391" cy="73866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p:txBody>
      </p:sp>
      <p:sp>
        <p:nvSpPr>
          <p:cNvPr id="13" name="TextBox 12">
            <a:extLst>
              <a:ext uri="{FF2B5EF4-FFF2-40B4-BE49-F238E27FC236}">
                <a16:creationId xmlns:a16="http://schemas.microsoft.com/office/drawing/2014/main" id="{1A418D20-98E6-069F-6218-7CC0DB844A90}"/>
              </a:ext>
            </a:extLst>
          </p:cNvPr>
          <p:cNvSpPr txBox="1"/>
          <p:nvPr/>
        </p:nvSpPr>
        <p:spPr>
          <a:xfrm>
            <a:off x="467796" y="1898712"/>
            <a:ext cx="3859287" cy="512769"/>
          </a:xfrm>
          <a:prstGeom prst="rect">
            <a:avLst/>
          </a:prstGeom>
          <a:noFill/>
        </p:spPr>
        <p:txBody>
          <a:bodyPr wrap="square" rtlCol="0">
            <a:spAutoFit/>
          </a:bodyPr>
          <a:lstStyle/>
          <a:p>
            <a:r>
              <a:rPr lang="en-US" sz="1400" b="1" dirty="0">
                <a:latin typeface="Calibri" panose="020F0502020204030204" pitchFamily="34" charset="0"/>
                <a:cs typeface="Calibri" panose="020F0502020204030204" pitchFamily="34" charset="0"/>
              </a:rPr>
              <a:t>INTERPRETATION (for Aneuploidies)</a:t>
            </a:r>
          </a:p>
          <a:p>
            <a:pPr marL="12700" marR="5080" lvl="0">
              <a:lnSpc>
                <a:spcPct val="122200"/>
              </a:lnSpc>
              <a:spcBef>
                <a:spcPts val="95"/>
              </a:spcBef>
            </a:pPr>
            <a:r>
              <a:rPr lang="en-US" sz="1100" b="1" dirty="0">
                <a:latin typeface="Calibri" panose="020F0502020204030204" pitchFamily="34" charset="0"/>
                <a:ea typeface="Calibri"/>
                <a:cs typeface="Calibri" panose="020F0502020204030204" pitchFamily="34" charset="0"/>
                <a:sym typeface="Calibri"/>
              </a:rPr>
              <a:t>&lt;&lt;Interpretation&gt;&gt;</a:t>
            </a:r>
            <a:endParaRPr lang="en-US" sz="1100" dirty="0">
              <a:latin typeface="Calibri" panose="020F0502020204030204" pitchFamily="34" charset="0"/>
              <a:ea typeface="Calibri"/>
              <a:cs typeface="Calibri" panose="020F0502020204030204" pitchFamily="34" charset="0"/>
              <a:sym typeface="Calibri"/>
            </a:endParaRPr>
          </a:p>
        </p:txBody>
      </p:sp>
      <p:sp>
        <p:nvSpPr>
          <p:cNvPr id="16" name="TextBox 15">
            <a:extLst>
              <a:ext uri="{FF2B5EF4-FFF2-40B4-BE49-F238E27FC236}">
                <a16:creationId xmlns:a16="http://schemas.microsoft.com/office/drawing/2014/main" id="{60C30E7E-8865-9D46-E3C2-C3CA7D56611C}"/>
              </a:ext>
            </a:extLst>
          </p:cNvPr>
          <p:cNvSpPr txBox="1"/>
          <p:nvPr/>
        </p:nvSpPr>
        <p:spPr>
          <a:xfrm>
            <a:off x="434824" y="2651201"/>
            <a:ext cx="3859286" cy="415498"/>
          </a:xfrm>
          <a:prstGeom prst="rect">
            <a:avLst/>
          </a:prstGeom>
          <a:noFill/>
        </p:spPr>
        <p:txBody>
          <a:bodyPr wrap="square" rtlCol="0">
            <a:spAutoFit/>
          </a:bodyPr>
          <a:lstStyle/>
          <a:p>
            <a:pPr algn="just">
              <a:spcBef>
                <a:spcPts val="600"/>
              </a:spcBef>
            </a:pPr>
            <a:r>
              <a:rPr lang="en-US" sz="700" i="1" dirty="0">
                <a:solidFill>
                  <a:schemeClr val="tx1">
                    <a:lumMod val="75000"/>
                    <a:lumOff val="25000"/>
                  </a:schemeClr>
                </a:solidFill>
                <a:latin typeface="Calibri" panose="020F0502020204030204" pitchFamily="34" charset="0"/>
                <a:cs typeface="Calibri" panose="020F0502020204030204" pitchFamily="34" charset="0"/>
              </a:rPr>
              <a:t>The result is applicable only for the selected panels. NIPT is  a  screening test, not diagnostic, which evaluates genetic information in the maternal blood, a mixture of maternal and placental DNA. Genetic counseling and diagnostic testing should be offered to further evaluate high risk findings.</a:t>
            </a:r>
            <a:endParaRPr lang="en-US" sz="600" i="1" dirty="0">
              <a:solidFill>
                <a:schemeClr val="tx1">
                  <a:lumMod val="75000"/>
                  <a:lumOff val="25000"/>
                </a:schemeClr>
              </a:solidFill>
              <a:latin typeface="Calibri" panose="020F0502020204030204" pitchFamily="34" charset="0"/>
              <a:cs typeface="Calibri" panose="020F0502020204030204" pitchFamily="34" charset="0"/>
            </a:endParaRPr>
          </a:p>
        </p:txBody>
      </p:sp>
      <p:sp>
        <p:nvSpPr>
          <p:cNvPr id="15" name="TextBox 14">
            <a:extLst>
              <a:ext uri="{FF2B5EF4-FFF2-40B4-BE49-F238E27FC236}">
                <a16:creationId xmlns:a16="http://schemas.microsoft.com/office/drawing/2014/main" id="{F68D72B2-4100-28D6-1CAF-94C83680BFB9}"/>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97748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RESULTS DETAILS</a:t>
            </a:r>
          </a:p>
        </p:txBody>
      </p:sp>
      <p:graphicFrame>
        <p:nvGraphicFramePr>
          <p:cNvPr id="2" name="Table 1">
            <a:extLst>
              <a:ext uri="{FF2B5EF4-FFF2-40B4-BE49-F238E27FC236}">
                <a16:creationId xmlns:a16="http://schemas.microsoft.com/office/drawing/2014/main" id="{7493B88F-465A-858F-2F66-B72843820E08}"/>
              </a:ext>
            </a:extLst>
          </p:cNvPr>
          <p:cNvGraphicFramePr>
            <a:graphicFrameLocks noGrp="1"/>
          </p:cNvGraphicFramePr>
          <p:nvPr>
            <p:extLst>
              <p:ext uri="{D42A27DB-BD31-4B8C-83A1-F6EECF244321}">
                <p14:modId xmlns:p14="http://schemas.microsoft.com/office/powerpoint/2010/main" val="3784781718"/>
              </p:ext>
            </p:extLst>
          </p:nvPr>
        </p:nvGraphicFramePr>
        <p:xfrm>
          <a:off x="464687" y="2286588"/>
          <a:ext cx="5984584" cy="1790538"/>
        </p:xfrm>
        <a:graphic>
          <a:graphicData uri="http://schemas.openxmlformats.org/drawingml/2006/table">
            <a:tbl>
              <a:tblPr firstRow="1" bandRow="1">
                <a:noFill/>
                <a:tableStyleId>{EB9631B5-78F2-41C9-869B-9F39066F8104}</a:tableStyleId>
              </a:tblPr>
              <a:tblGrid>
                <a:gridCol w="1874476">
                  <a:extLst>
                    <a:ext uri="{9D8B030D-6E8A-4147-A177-3AD203B41FA5}">
                      <a16:colId xmlns:a16="http://schemas.microsoft.com/office/drawing/2014/main" val="539532219"/>
                    </a:ext>
                  </a:extLst>
                </a:gridCol>
                <a:gridCol w="1018008">
                  <a:extLst>
                    <a:ext uri="{9D8B030D-6E8A-4147-A177-3AD203B41FA5}">
                      <a16:colId xmlns:a16="http://schemas.microsoft.com/office/drawing/2014/main" val="3883297624"/>
                    </a:ext>
                  </a:extLst>
                </a:gridCol>
                <a:gridCol w="208280">
                  <a:extLst>
                    <a:ext uri="{9D8B030D-6E8A-4147-A177-3AD203B41FA5}">
                      <a16:colId xmlns:a16="http://schemas.microsoft.com/office/drawing/2014/main" val="1102380160"/>
                    </a:ext>
                  </a:extLst>
                </a:gridCol>
                <a:gridCol w="1899684">
                  <a:extLst>
                    <a:ext uri="{9D8B030D-6E8A-4147-A177-3AD203B41FA5}">
                      <a16:colId xmlns:a16="http://schemas.microsoft.com/office/drawing/2014/main" val="1695220194"/>
                    </a:ext>
                  </a:extLst>
                </a:gridCol>
                <a:gridCol w="984136">
                  <a:extLst>
                    <a:ext uri="{9D8B030D-6E8A-4147-A177-3AD203B41FA5}">
                      <a16:colId xmlns:a16="http://schemas.microsoft.com/office/drawing/2014/main" val="340498656"/>
                    </a:ext>
                  </a:extLst>
                </a:gridCol>
              </a:tblGrid>
              <a:tr h="243208">
                <a:tc>
                  <a:txBody>
                    <a:bodyPr/>
                    <a:lstStyle/>
                    <a:p>
                      <a:pPr algn="ctr"/>
                      <a:r>
                        <a:rPr lang="en-US" sz="1050" b="1" dirty="0"/>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algn="ctr"/>
                      <a:r>
                        <a:rPr lang="en-US" sz="1050" b="1" dirty="0"/>
                        <a:t>Result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algn="ctr"/>
                      <a:endParaRPr lang="en-US" sz="1050" b="1" dirty="0"/>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50" b="1" dirty="0"/>
                        <a:t>Conditions</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algn="ctr"/>
                      <a:r>
                        <a:rPr lang="en-US" sz="1050" b="1" dirty="0"/>
                        <a:t>Result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extLst>
                  <a:ext uri="{0D108BD9-81ED-4DB2-BD59-A6C34878D82A}">
                    <a16:rowId xmlns:a16="http://schemas.microsoft.com/office/drawing/2014/main" val="1483159712"/>
                  </a:ext>
                </a:extLst>
              </a:tr>
              <a:tr h="410610">
                <a:tc>
                  <a:txBody>
                    <a:bodyPr/>
                    <a:lstStyle/>
                    <a:p>
                      <a:pPr algn="ctr"/>
                      <a:r>
                        <a:rPr lang="en-US" sz="900" b="1" dirty="0">
                          <a:latin typeface="Calibri" panose="020F0502020204030204" pitchFamily="34" charset="0"/>
                          <a:cs typeface="Calibri" panose="020F0502020204030204" pitchFamily="34" charset="0"/>
                        </a:rPr>
                        <a:t>1p36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&lt;&lt;MD1&gt;&gt;</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Williams-Beuren syndrome (7q11.23 deletion)</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&lt;&lt;MD5&gt;&gt;</a:t>
                      </a:r>
                    </a:p>
                  </a:txBody>
                  <a:tcPr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069331958"/>
                  </a:ext>
                </a:extLst>
              </a:tr>
              <a:tr h="396948">
                <a:tc>
                  <a:txBody>
                    <a:bodyPr/>
                    <a:lstStyle/>
                    <a:p>
                      <a:pPr algn="ctr"/>
                      <a:r>
                        <a:rPr lang="en-US" sz="900" b="1" dirty="0">
                          <a:latin typeface="Calibri" panose="020F0502020204030204" pitchFamily="34" charset="0"/>
                          <a:cs typeface="Calibri" panose="020F0502020204030204" pitchFamily="34" charset="0"/>
                        </a:rPr>
                        <a:t>2q33.1 deletion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&lt;&lt;MD2&gt;&gt;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Jacobsen syndrome</a:t>
                      </a:r>
                    </a:p>
                    <a:p>
                      <a:pPr algn="ctr"/>
                      <a:r>
                        <a:rPr lang="en-US" sz="900" b="1" dirty="0">
                          <a:latin typeface="Calibri" panose="020F0502020204030204" pitchFamily="34" charset="0"/>
                          <a:cs typeface="Calibri" panose="020F0502020204030204" pitchFamily="34" charset="0"/>
                        </a:rPr>
                        <a:t>(11q23.3-q25)</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&lt;&lt;MD6&gt;&gt;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463445317"/>
                  </a:ext>
                </a:extLst>
              </a:tr>
              <a:tr h="0">
                <a:tc>
                  <a:txBody>
                    <a:bodyPr/>
                    <a:lstStyle/>
                    <a:p>
                      <a:pPr algn="ctr"/>
                      <a:r>
                        <a:rPr lang="en-US" sz="900" b="1" dirty="0">
                          <a:latin typeface="Calibri" panose="020F0502020204030204" pitchFamily="34" charset="0"/>
                          <a:cs typeface="Calibri" panose="020F0502020204030204" pitchFamily="34" charset="0"/>
                        </a:rPr>
                        <a:t>Wolf-Hirschhorn syndrome </a:t>
                      </a:r>
                    </a:p>
                    <a:p>
                      <a:pPr algn="ctr"/>
                      <a:r>
                        <a:rPr lang="en-US" sz="900" b="1" dirty="0">
                          <a:latin typeface="Calibri" panose="020F0502020204030204" pitchFamily="34" charset="0"/>
                          <a:cs typeface="Calibri" panose="020F0502020204030204" pitchFamily="34" charset="0"/>
                        </a:rPr>
                        <a:t>(4p16.3)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&lt;&lt;MD3&gt;&gt;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Prader-Willi/Angelman syndrome (15q11.2-q13)</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&lt;&lt;MD7&gt;&gt;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868477542"/>
                  </a:ext>
                </a:extLst>
              </a:tr>
              <a:tr h="0">
                <a:tc>
                  <a:txBody>
                    <a:bodyPr/>
                    <a:lstStyle/>
                    <a:p>
                      <a:pPr algn="ctr"/>
                      <a:r>
                        <a:rPr lang="en-US" sz="900" b="1" dirty="0">
                          <a:latin typeface="Calibri" panose="020F0502020204030204" pitchFamily="34" charset="0"/>
                          <a:cs typeface="Calibri" panose="020F0502020204030204" pitchFamily="34" charset="0"/>
                        </a:rPr>
                        <a:t>Cri Du Chat syndrome</a:t>
                      </a:r>
                    </a:p>
                    <a:p>
                      <a:pPr algn="ctr"/>
                      <a:r>
                        <a:rPr lang="en-US" sz="900" b="1" dirty="0">
                          <a:latin typeface="Calibri" panose="020F0502020204030204" pitchFamily="34" charset="0"/>
                          <a:cs typeface="Calibri" panose="020F0502020204030204" pitchFamily="34" charset="0"/>
                        </a:rPr>
                        <a:t>(5p-)</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&lt;&lt;MD4&gt;&gt;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DiGeorge syndrome</a:t>
                      </a:r>
                    </a:p>
                    <a:p>
                      <a:pPr algn="ctr"/>
                      <a:r>
                        <a:rPr lang="en-US" sz="900" b="1" dirty="0">
                          <a:latin typeface="Calibri" panose="020F0502020204030204" pitchFamily="34" charset="0"/>
                          <a:cs typeface="Calibri" panose="020F0502020204030204" pitchFamily="34" charset="0"/>
                        </a:rPr>
                        <a:t>(22q11.2)</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&lt;&lt;MD8&gt;&gt;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1316924696"/>
                  </a:ext>
                </a:extLst>
              </a:tr>
            </a:tbl>
          </a:graphicData>
        </a:graphic>
      </p:graphicFrame>
      <p:sp>
        <p:nvSpPr>
          <p:cNvPr id="3" name="TextBox 2">
            <a:extLst>
              <a:ext uri="{FF2B5EF4-FFF2-40B4-BE49-F238E27FC236}">
                <a16:creationId xmlns:a16="http://schemas.microsoft.com/office/drawing/2014/main" id="{89C65888-2E26-5D65-3D1E-5F293A21906C}"/>
              </a:ext>
            </a:extLst>
          </p:cNvPr>
          <p:cNvSpPr txBox="1"/>
          <p:nvPr/>
        </p:nvSpPr>
        <p:spPr>
          <a:xfrm>
            <a:off x="436708" y="2045473"/>
            <a:ext cx="2681172"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Microdeletions</a:t>
            </a:r>
            <a:endParaRPr lang="en-US" sz="11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EF32742E-79C3-2E41-E269-1BCEA92A7D48}"/>
              </a:ext>
            </a:extLst>
          </p:cNvPr>
          <p:cNvSpPr txBox="1"/>
          <p:nvPr/>
        </p:nvSpPr>
        <p:spPr>
          <a:xfrm>
            <a:off x="430623" y="4467209"/>
            <a:ext cx="2681172"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Interpretation(s)</a:t>
            </a:r>
            <a:endParaRPr lang="en-US" sz="1100" dirty="0">
              <a:latin typeface="Calibri" panose="020F0502020204030204" pitchFamily="34" charset="0"/>
              <a:cs typeface="Calibri" panose="020F0502020204030204" pitchFamily="34" charset="0"/>
            </a:endParaRPr>
          </a:p>
        </p:txBody>
      </p:sp>
      <p:sp>
        <p:nvSpPr>
          <p:cNvPr id="9" name="Rectangle: Rounded Corners 8">
            <a:extLst>
              <a:ext uri="{FF2B5EF4-FFF2-40B4-BE49-F238E27FC236}">
                <a16:creationId xmlns:a16="http://schemas.microsoft.com/office/drawing/2014/main" id="{D52D37D9-91C3-B54A-893B-EF7DB5C047FA}"/>
              </a:ext>
            </a:extLst>
          </p:cNvPr>
          <p:cNvSpPr/>
          <p:nvPr/>
        </p:nvSpPr>
        <p:spPr>
          <a:xfrm>
            <a:off x="446345" y="4711884"/>
            <a:ext cx="5984582" cy="800297"/>
          </a:xfrm>
          <a:prstGeom prst="roundRect">
            <a:avLst/>
          </a:prstGeom>
          <a:noFill/>
          <a:ln>
            <a:solidFill>
              <a:srgbClr val="FB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E666A867-4455-152D-1CC5-E07801B192A2}"/>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2 of 3</a:t>
            </a:r>
          </a:p>
        </p:txBody>
      </p:sp>
      <p:sp>
        <p:nvSpPr>
          <p:cNvPr id="21" name="TextBox 20">
            <a:extLst>
              <a:ext uri="{FF2B5EF4-FFF2-40B4-BE49-F238E27FC236}">
                <a16:creationId xmlns:a16="http://schemas.microsoft.com/office/drawing/2014/main" id="{61CE8A61-CAF4-1672-1AA6-B712F7B4EDA4}"/>
              </a:ext>
            </a:extLst>
          </p:cNvPr>
          <p:cNvSpPr txBox="1"/>
          <p:nvPr/>
        </p:nvSpPr>
        <p:spPr>
          <a:xfrm>
            <a:off x="432169" y="5755744"/>
            <a:ext cx="5998758" cy="1338828"/>
          </a:xfrm>
          <a:prstGeom prst="rect">
            <a:avLst/>
          </a:prstGeom>
          <a:noFill/>
        </p:spPr>
        <p:txBody>
          <a:bodyPr wrap="square">
            <a:spAutoFit/>
          </a:bodyPr>
          <a:lstStyle/>
          <a:p>
            <a:pPr algn="just"/>
            <a:r>
              <a:rPr lang="en-US" sz="900" b="1" dirty="0">
                <a:latin typeface="Calibri" panose="020F0502020204030204" pitchFamily="34" charset="0"/>
                <a:cs typeface="Calibri" panose="020F0502020204030204" pitchFamily="34" charset="0"/>
              </a:rPr>
              <a:t>Autosomal and Sex Chromosome Aneuploidies</a:t>
            </a:r>
          </a:p>
          <a:p>
            <a:pPr algn="just"/>
            <a:r>
              <a:rPr lang="en-US" sz="800" dirty="0">
                <a:latin typeface="Calibri" panose="020F0502020204030204" pitchFamily="34" charset="0"/>
                <a:cs typeface="Calibri" panose="020F0502020204030204" pitchFamily="34" charset="0"/>
              </a:rPr>
              <a:t>This test is designed to screen for fetal chromosome aneuploidies using cell free DNA analysis, validated for singleton pregnancies with gestational age of at least 10 weeks, as estimated by the last menstrual period. These results do not eliminate the possibility that the pregnancy may be associated with other chromosomal or sub-chromosomal abnormalities, birth defects, and/or other conditions. This test is not intended to identify pregnancies at risk for open neural tube defects. A negative test result does not eliminate the possibility of chromosomal abnormalities. There is a small possibility that the test results might not reflect the chromosomes of the fetus but may reflect chromosomal changes of the placenta (confined placental mosaicism) or of the mother (chromosomal mosaicism). Potential sources of inaccurate test results may include, but are not limited to maternal, fetal and/or placental mosaicism, low fetal fraction, blood transfusion, transplant surgery and stem cell therapy. Especially, in particular fetal reduction including vanishing twin, fetal demise can result in false-negative or false-positive result. If a definitive diagnosis is desired, chorionic villus sampling or amniocentesis would be necessary.</a:t>
            </a:r>
          </a:p>
        </p:txBody>
      </p:sp>
      <p:sp>
        <p:nvSpPr>
          <p:cNvPr id="24" name="TextBox 23">
            <a:extLst>
              <a:ext uri="{FF2B5EF4-FFF2-40B4-BE49-F238E27FC236}">
                <a16:creationId xmlns:a16="http://schemas.microsoft.com/office/drawing/2014/main" id="{4E413E1D-0DC0-0BFF-A4D7-A5163CBFCA5B}"/>
              </a:ext>
            </a:extLst>
          </p:cNvPr>
          <p:cNvSpPr txBox="1"/>
          <p:nvPr/>
        </p:nvSpPr>
        <p:spPr>
          <a:xfrm>
            <a:off x="430623" y="5512181"/>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LIMITATION OF TEST</a:t>
            </a:r>
          </a:p>
        </p:txBody>
      </p:sp>
      <p:sp>
        <p:nvSpPr>
          <p:cNvPr id="25" name="TextBox 24">
            <a:extLst>
              <a:ext uri="{FF2B5EF4-FFF2-40B4-BE49-F238E27FC236}">
                <a16:creationId xmlns:a16="http://schemas.microsoft.com/office/drawing/2014/main" id="{E0FD2CC2-99B0-C2E8-4831-98D2B1CD2419}"/>
              </a:ext>
            </a:extLst>
          </p:cNvPr>
          <p:cNvSpPr txBox="1"/>
          <p:nvPr/>
        </p:nvSpPr>
        <p:spPr>
          <a:xfrm>
            <a:off x="432147" y="7175718"/>
            <a:ext cx="5998758" cy="1708160"/>
          </a:xfrm>
          <a:prstGeom prst="rect">
            <a:avLst/>
          </a:prstGeom>
          <a:noFill/>
        </p:spPr>
        <p:txBody>
          <a:bodyPr wrap="square">
            <a:spAutoFit/>
          </a:bodyPr>
          <a:lstStyle/>
          <a:p>
            <a:pPr algn="just"/>
            <a:r>
              <a:rPr lang="en-US" sz="900" b="1" dirty="0">
                <a:latin typeface="Calibri" panose="020F0502020204030204" pitchFamily="34" charset="0"/>
                <a:cs typeface="Calibri" panose="020F0502020204030204" pitchFamily="34" charset="0"/>
              </a:rPr>
              <a:t>Microdeletions</a:t>
            </a:r>
          </a:p>
          <a:p>
            <a:pPr algn="just"/>
            <a:r>
              <a:rPr lang="en-US" sz="800" dirty="0">
                <a:latin typeface="Calibri" panose="020F0502020204030204" pitchFamily="34" charset="0"/>
                <a:cs typeface="Calibri" panose="020F0502020204030204" pitchFamily="34" charset="0"/>
              </a:rPr>
              <a:t>This test is designed to screen for sub-chromosomal deletions in the regions of 1p36, 2q33.1, 4p16.3, 5p-, 7q11.23, 11q23, 15q11.2-q13, 22q11.2, and 108 syndromes (if applicable) and is available for singleton pregnancies with gestational age of at least 10 weeks, as estimated by the last menstrual period, crown-rump length, or another appropriate method. This is a screening test and may result in false-positive or false-negative results. Therefore, a negative results does not eliminate the possibility of the above-mentioned microdeletions/duplications syndromes. If a definitive diagnosis is desired, chorionic villus sampling or amniocentesis would be necessary, with consideration of prenatal microarray or region-specific DNA probes. In addition, chromosomal or sub-chromosomal findings greater than 3 Mb may be reported, which are rare and complex, insufficient validation may result in lower specificity. Low fetal fraction or short Copy Number Variation (CNV) size are technical limitation. Consultation with a physician(s) will be necessary for such findings. These results do not eliminate the possibility that the pregnancy may be associated with other chromosomal or sub-chromosomal abnormalities, birth defects, and/or other conditions. This test is not intended to identify pregnancies at risk for open neural tube defects. Furthermore, there is a small possibility that the test results may not reflect the chromosomal status of the fetus, but may instead reflect sub-chromosomal changes of the placenta (confined placental mosaicism), or of the mother. </a:t>
            </a:r>
          </a:p>
        </p:txBody>
      </p:sp>
      <p:sp>
        <p:nvSpPr>
          <p:cNvPr id="28" name="TextBox 27">
            <a:extLst>
              <a:ext uri="{FF2B5EF4-FFF2-40B4-BE49-F238E27FC236}">
                <a16:creationId xmlns:a16="http://schemas.microsoft.com/office/drawing/2014/main" id="{82AAE524-2EB2-C10E-0496-53D7DA01CBBE}"/>
              </a:ext>
            </a:extLst>
          </p:cNvPr>
          <p:cNvSpPr txBox="1"/>
          <p:nvPr/>
        </p:nvSpPr>
        <p:spPr>
          <a:xfrm>
            <a:off x="498897" y="4747308"/>
            <a:ext cx="5689600" cy="246221"/>
          </a:xfrm>
          <a:prstGeom prst="rect">
            <a:avLst/>
          </a:prstGeom>
          <a:noFill/>
        </p:spPr>
        <p:txBody>
          <a:bodyPr wrap="square">
            <a:spAutoFit/>
          </a:bodyPr>
          <a:lstStyle/>
          <a:p>
            <a:pPr marL="83820" lvl="0"/>
            <a:r>
              <a:rPr lang="en-US" sz="1000" dirty="0">
                <a:latin typeface="Calibri" panose="020F0502020204030204" pitchFamily="34" charset="0"/>
                <a:ea typeface="Calibri"/>
                <a:cs typeface="Calibri" panose="020F0502020204030204" pitchFamily="34" charset="0"/>
                <a:sym typeface="Calibri"/>
              </a:rPr>
              <a:t>&lt;&lt;MDI&gt;&gt;</a:t>
            </a:r>
          </a:p>
        </p:txBody>
      </p:sp>
      <p:pic>
        <p:nvPicPr>
          <p:cNvPr id="7" name="Picture 6">
            <a:extLst>
              <a:ext uri="{FF2B5EF4-FFF2-40B4-BE49-F238E27FC236}">
                <a16:creationId xmlns:a16="http://schemas.microsoft.com/office/drawing/2014/main" id="{D2AB43B1-400F-C6AE-46E6-024F7D22D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8246" y="-311894"/>
            <a:ext cx="1667941" cy="1447807"/>
          </a:xfrm>
          <a:prstGeom prst="rect">
            <a:avLst/>
          </a:prstGeom>
        </p:spPr>
      </p:pic>
      <p:sp>
        <p:nvSpPr>
          <p:cNvPr id="11" name="Rectangle 10">
            <a:extLst>
              <a:ext uri="{FF2B5EF4-FFF2-40B4-BE49-F238E27FC236}">
                <a16:creationId xmlns:a16="http://schemas.microsoft.com/office/drawing/2014/main" id="{4D4033D1-63E4-B193-0F12-03824974799C}"/>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C02337"/>
                </a:solidFill>
                <a:effectLst/>
                <a:latin typeface="Calibri" panose="020F0502020204030204" pitchFamily="34" charset="0"/>
                <a:cs typeface="Calibri" panose="020F0502020204030204" pitchFamily="34" charset="0"/>
              </a:rPr>
              <a:t>NIPT </a:t>
            </a:r>
            <a:r>
              <a:rPr lang="en-US" sz="2000" cap="none" spc="0" dirty="0">
                <a:ln/>
                <a:solidFill>
                  <a:srgbClr val="C02337"/>
                </a:solidFill>
                <a:effectLst/>
                <a:latin typeface="Calibri" panose="020F0502020204030204" pitchFamily="34" charset="0"/>
                <a:cs typeface="Calibri" panose="020F0502020204030204" pitchFamily="34" charset="0"/>
              </a:rPr>
              <a:t>Test Report</a:t>
            </a:r>
            <a:endParaRPr lang="en-US" sz="3200" cap="none" spc="0" dirty="0">
              <a:ln/>
              <a:solidFill>
                <a:srgbClr val="C02337"/>
              </a:solidFill>
              <a:effectLst/>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1BDFE2F2-D0D5-678E-1EEA-2799353566AE}"/>
              </a:ext>
            </a:extLst>
          </p:cNvPr>
          <p:cNvSpPr/>
          <p:nvPr/>
        </p:nvSpPr>
        <p:spPr>
          <a:xfrm>
            <a:off x="430623" y="772625"/>
            <a:ext cx="1956394"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7" name="Rectangle 16">
            <a:extLst>
              <a:ext uri="{FF2B5EF4-FFF2-40B4-BE49-F238E27FC236}">
                <a16:creationId xmlns:a16="http://schemas.microsoft.com/office/drawing/2014/main" id="{25575850-A549-2669-E0A8-25A1A1DE5243}"/>
              </a:ext>
            </a:extLst>
          </p:cNvPr>
          <p:cNvSpPr/>
          <p:nvPr/>
        </p:nvSpPr>
        <p:spPr>
          <a:xfrm>
            <a:off x="2452579" y="772625"/>
            <a:ext cx="1956393"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8" name="Rectangle 17">
            <a:extLst>
              <a:ext uri="{FF2B5EF4-FFF2-40B4-BE49-F238E27FC236}">
                <a16:creationId xmlns:a16="http://schemas.microsoft.com/office/drawing/2014/main" id="{80E7CDCA-F736-140A-AA86-32CC57BA663E}"/>
              </a:ext>
            </a:extLst>
          </p:cNvPr>
          <p:cNvSpPr/>
          <p:nvPr/>
        </p:nvSpPr>
        <p:spPr>
          <a:xfrm>
            <a:off x="4474534" y="772625"/>
            <a:ext cx="1956393" cy="954107"/>
          </a:xfrm>
          <a:prstGeom prst="rect">
            <a:avLst/>
          </a:prstGeom>
          <a:noFill/>
          <a:ln w="15875" cmpd="thickThi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B91AF2B1-F8C4-D203-EEB2-8EB1126B3746}"/>
              </a:ext>
            </a:extLst>
          </p:cNvPr>
          <p:cNvSpPr txBox="1"/>
          <p:nvPr/>
        </p:nvSpPr>
        <p:spPr>
          <a:xfrm>
            <a:off x="4470985" y="772625"/>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26" name="TextBox 25">
            <a:extLst>
              <a:ext uri="{FF2B5EF4-FFF2-40B4-BE49-F238E27FC236}">
                <a16:creationId xmlns:a16="http://schemas.microsoft.com/office/drawing/2014/main" id="{750605DF-1DE2-4973-0A49-19B87B8F5915}"/>
              </a:ext>
            </a:extLst>
          </p:cNvPr>
          <p:cNvSpPr txBox="1"/>
          <p:nvPr/>
        </p:nvSpPr>
        <p:spPr>
          <a:xfrm>
            <a:off x="2449030" y="771746"/>
            <a:ext cx="1956391" cy="73866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p:txBody>
      </p:sp>
      <p:sp>
        <p:nvSpPr>
          <p:cNvPr id="5" name="TextBox 4">
            <a:extLst>
              <a:ext uri="{FF2B5EF4-FFF2-40B4-BE49-F238E27FC236}">
                <a16:creationId xmlns:a16="http://schemas.microsoft.com/office/drawing/2014/main" id="{35EA3450-4577-9121-2D79-1729F27A591F}"/>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3165 </a:t>
            </a:r>
          </a:p>
          <a:p>
            <a:pPr algn="ctr"/>
            <a:r>
              <a:rPr lang="pt-BR" sz="800" b="0" i="0" dirty="0">
                <a:solidFill>
                  <a:srgbClr val="000000"/>
                </a:solidFill>
                <a:effectLst/>
                <a:latin typeface="Calibri" panose="020F0502020204030204" pitchFamily="34" charset="0"/>
                <a:cs typeface="Calibri" panose="020F0502020204030204" pitchFamily="34" charset="0"/>
              </a:rPr>
              <a:t>QR G1.1-6-4-a</a:t>
            </a:r>
            <a:endParaRPr lang="en-ID" sz="800" dirty="0">
              <a:latin typeface="Calibri" panose="020F0502020204030204" pitchFamily="34" charset="0"/>
              <a:cs typeface="Calibri" panose="020F0502020204030204" pitchFamily="34" charset="0"/>
            </a:endParaRPr>
          </a:p>
        </p:txBody>
      </p:sp>
      <p:sp>
        <p:nvSpPr>
          <p:cNvPr id="6" name="Rectangle: Rounded Corners 5">
            <a:extLst>
              <a:ext uri="{FF2B5EF4-FFF2-40B4-BE49-F238E27FC236}">
                <a16:creationId xmlns:a16="http://schemas.microsoft.com/office/drawing/2014/main" id="{FA7DDA8C-6425-8905-CFE2-79F8BEC1911A}"/>
              </a:ext>
            </a:extLst>
          </p:cNvPr>
          <p:cNvSpPr/>
          <p:nvPr/>
        </p:nvSpPr>
        <p:spPr>
          <a:xfrm>
            <a:off x="537325" y="9463972"/>
            <a:ext cx="5176538" cy="206556"/>
          </a:xfrm>
          <a:prstGeom prst="roundRect">
            <a:avLst/>
          </a:prstGeom>
          <a:noFill/>
          <a:ln>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FA52F126-4C40-13F6-F745-BCC95116CCDF}"/>
              </a:ext>
            </a:extLst>
          </p:cNvPr>
          <p:cNvSpPr txBox="1"/>
          <p:nvPr/>
        </p:nvSpPr>
        <p:spPr>
          <a:xfrm>
            <a:off x="446345" y="9203303"/>
            <a:ext cx="1226618"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Results verified by:</a:t>
            </a:r>
          </a:p>
        </p:txBody>
      </p:sp>
      <p:sp>
        <p:nvSpPr>
          <p:cNvPr id="12" name="TextBox 11">
            <a:extLst>
              <a:ext uri="{FF2B5EF4-FFF2-40B4-BE49-F238E27FC236}">
                <a16:creationId xmlns:a16="http://schemas.microsoft.com/office/drawing/2014/main" id="{A2C0A2C8-E99E-A737-02DF-EC46D2EC8D46}"/>
              </a:ext>
            </a:extLst>
          </p:cNvPr>
          <p:cNvSpPr txBox="1"/>
          <p:nvPr/>
        </p:nvSpPr>
        <p:spPr>
          <a:xfrm>
            <a:off x="498897" y="9427924"/>
            <a:ext cx="3674386" cy="276999"/>
          </a:xfrm>
          <a:prstGeom prst="rect">
            <a:avLst/>
          </a:prstGeom>
          <a:noFill/>
        </p:spPr>
        <p:txBody>
          <a:bodyPr wrap="square" rtlCol="0">
            <a:spAutoFit/>
          </a:bodyPr>
          <a:lstStyle/>
          <a:p>
            <a:r>
              <a:rPr lang="en-US" sz="1200" dirty="0">
                <a:latin typeface="Calibri" panose="020F0502020204030204" pitchFamily="34" charset="0"/>
                <a:cs typeface="Calibri" panose="020F0502020204030204" pitchFamily="34" charset="0"/>
              </a:rPr>
              <a:t>Cordlife Laboratory Director : </a:t>
            </a:r>
            <a:r>
              <a:rPr lang="en-US" sz="1200" dirty="0" err="1">
                <a:latin typeface="Calibri" panose="020F0502020204030204" pitchFamily="34" charset="0"/>
                <a:cs typeface="Calibri" panose="020F0502020204030204" pitchFamily="34" charset="0"/>
              </a:rPr>
              <a:t>Yuyus</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Kusnadi</a:t>
            </a:r>
            <a:r>
              <a:rPr lang="en-US" sz="1200" dirty="0">
                <a:latin typeface="Calibri" panose="020F0502020204030204" pitchFamily="34" charset="0"/>
                <a:cs typeface="Calibri" panose="020F0502020204030204" pitchFamily="34" charset="0"/>
              </a:rPr>
              <a:t>, PhD</a:t>
            </a:r>
            <a:endParaRPr lang="en-ID" sz="1200" dirty="0">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91FC99E7-602F-A434-124B-AE53A3523C48}"/>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623763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ABOUT STEMLIFE NIPT</a:t>
            </a:r>
          </a:p>
        </p:txBody>
      </p:sp>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3 of 3</a:t>
            </a:r>
          </a:p>
        </p:txBody>
      </p:sp>
      <p:sp>
        <p:nvSpPr>
          <p:cNvPr id="16" name="TextBox 15">
            <a:extLst>
              <a:ext uri="{FF2B5EF4-FFF2-40B4-BE49-F238E27FC236}">
                <a16:creationId xmlns:a16="http://schemas.microsoft.com/office/drawing/2014/main" id="{DC73C67E-DF8C-C2DA-0A2D-B06FBC379BE1}"/>
              </a:ext>
            </a:extLst>
          </p:cNvPr>
          <p:cNvSpPr txBox="1"/>
          <p:nvPr/>
        </p:nvSpPr>
        <p:spPr>
          <a:xfrm>
            <a:off x="430623" y="2071689"/>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Definition(s)</a:t>
            </a:r>
            <a:endParaRPr lang="en-US" sz="1000" dirty="0">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1D702B0D-E9ED-91A1-3997-E42203777706}"/>
              </a:ext>
            </a:extLst>
          </p:cNvPr>
          <p:cNvSpPr txBox="1"/>
          <p:nvPr/>
        </p:nvSpPr>
        <p:spPr>
          <a:xfrm>
            <a:off x="3444723" y="2281396"/>
            <a:ext cx="2986200" cy="1046440"/>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Positive Predictive Value (PPV) </a:t>
            </a:r>
            <a:r>
              <a:rPr lang="en-US" sz="900" dirty="0">
                <a:latin typeface="Calibri" panose="020F0502020204030204" pitchFamily="34" charset="0"/>
                <a:cs typeface="Calibri" panose="020F0502020204030204" pitchFamily="34" charset="0"/>
              </a:rPr>
              <a:t>is the probability that a fetus is actually affected given that the test result indicates high risk.</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Negative Predictive Value (NPV) </a:t>
            </a:r>
            <a:r>
              <a:rPr lang="en-US" sz="900" dirty="0">
                <a:latin typeface="Calibri" panose="020F0502020204030204" pitchFamily="34" charset="0"/>
                <a:cs typeface="Calibri" panose="020F0502020204030204" pitchFamily="34" charset="0"/>
              </a:rPr>
              <a:t>is the probability that a fetus is truly unaffected given that the test result indicates low risk.</a:t>
            </a:r>
          </a:p>
        </p:txBody>
      </p:sp>
      <p:sp>
        <p:nvSpPr>
          <p:cNvPr id="21" name="TextBox 20">
            <a:extLst>
              <a:ext uri="{FF2B5EF4-FFF2-40B4-BE49-F238E27FC236}">
                <a16:creationId xmlns:a16="http://schemas.microsoft.com/office/drawing/2014/main" id="{07B23869-0372-6D8D-187B-E0E46E51B6AD}"/>
              </a:ext>
            </a:extLst>
          </p:cNvPr>
          <p:cNvSpPr txBox="1"/>
          <p:nvPr/>
        </p:nvSpPr>
        <p:spPr>
          <a:xfrm>
            <a:off x="430623" y="2281396"/>
            <a:ext cx="2982656" cy="769441"/>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Sensitivity</a:t>
            </a:r>
            <a:r>
              <a:rPr lang="en-US" sz="900" dirty="0">
                <a:latin typeface="Calibri" panose="020F0502020204030204" pitchFamily="34" charset="0"/>
                <a:cs typeface="Calibri" panose="020F0502020204030204" pitchFamily="34" charset="0"/>
              </a:rPr>
              <a:t> is  the proportion of true high-risk cases that are correctly identified as high-risk by the test.</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Specificity</a:t>
            </a:r>
            <a:r>
              <a:rPr lang="en-US" sz="900" dirty="0">
                <a:latin typeface="Calibri" panose="020F0502020204030204" pitchFamily="34" charset="0"/>
                <a:cs typeface="Calibri" panose="020F0502020204030204" pitchFamily="34" charset="0"/>
              </a:rPr>
              <a:t> is the proportion of true unaffected cases that are correctly identified as low-risk by the test.</a:t>
            </a:r>
          </a:p>
        </p:txBody>
      </p:sp>
      <p:sp>
        <p:nvSpPr>
          <p:cNvPr id="24" name="TextBox 23">
            <a:extLst>
              <a:ext uri="{FF2B5EF4-FFF2-40B4-BE49-F238E27FC236}">
                <a16:creationId xmlns:a16="http://schemas.microsoft.com/office/drawing/2014/main" id="{916CC831-1D0D-CAC5-759D-5FFAAE033D14}"/>
              </a:ext>
            </a:extLst>
          </p:cNvPr>
          <p:cNvSpPr txBox="1"/>
          <p:nvPr/>
        </p:nvSpPr>
        <p:spPr>
          <a:xfrm>
            <a:off x="430622" y="5711816"/>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Test Information</a:t>
            </a:r>
            <a:endParaRPr lang="en-US" sz="10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D9F77E85-5567-A504-E77C-AA92EE25C50C}"/>
              </a:ext>
            </a:extLst>
          </p:cNvPr>
          <p:cNvSpPr txBox="1"/>
          <p:nvPr/>
        </p:nvSpPr>
        <p:spPr>
          <a:xfrm>
            <a:off x="446345" y="3344934"/>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General Test Performance</a:t>
            </a:r>
            <a:endParaRPr lang="en-US" sz="1000" dirty="0">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4DB2ACAE-EF50-D385-0298-964884111D5F}"/>
              </a:ext>
            </a:extLst>
          </p:cNvPr>
          <p:cNvSpPr/>
          <p:nvPr/>
        </p:nvSpPr>
        <p:spPr>
          <a:xfrm>
            <a:off x="446345" y="9243237"/>
            <a:ext cx="5252706" cy="481157"/>
          </a:xfrm>
          <a:prstGeom prst="rect">
            <a:avLst/>
          </a:prstGeom>
          <a:noFill/>
          <a:ln>
            <a:solidFill>
              <a:srgbClr val="C424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Calibri" panose="020F0502020204030204" pitchFamily="34" charset="0"/>
              <a:cs typeface="Calibri" panose="020F0502020204030204" pitchFamily="34" charset="0"/>
            </a:endParaRPr>
          </a:p>
        </p:txBody>
      </p:sp>
      <p:graphicFrame>
        <p:nvGraphicFramePr>
          <p:cNvPr id="19" name="Table 18">
            <a:extLst>
              <a:ext uri="{FF2B5EF4-FFF2-40B4-BE49-F238E27FC236}">
                <a16:creationId xmlns:a16="http://schemas.microsoft.com/office/drawing/2014/main" id="{6885B12A-027D-0C71-3252-790EFAEB1E17}"/>
              </a:ext>
            </a:extLst>
          </p:cNvPr>
          <p:cNvGraphicFramePr>
            <a:graphicFrameLocks noGrp="1"/>
          </p:cNvGraphicFramePr>
          <p:nvPr>
            <p:extLst>
              <p:ext uri="{D42A27DB-BD31-4B8C-83A1-F6EECF244321}">
                <p14:modId xmlns:p14="http://schemas.microsoft.com/office/powerpoint/2010/main" val="3898580598"/>
              </p:ext>
            </p:extLst>
          </p:nvPr>
        </p:nvGraphicFramePr>
        <p:xfrm>
          <a:off x="515895" y="3598367"/>
          <a:ext cx="5915028" cy="2127485"/>
        </p:xfrm>
        <a:graphic>
          <a:graphicData uri="http://schemas.openxmlformats.org/drawingml/2006/table">
            <a:tbl>
              <a:tblPr/>
              <a:tblGrid>
                <a:gridCol w="696955">
                  <a:extLst>
                    <a:ext uri="{9D8B030D-6E8A-4147-A177-3AD203B41FA5}">
                      <a16:colId xmlns:a16="http://schemas.microsoft.com/office/drawing/2014/main" val="828020576"/>
                    </a:ext>
                  </a:extLst>
                </a:gridCol>
                <a:gridCol w="520845">
                  <a:extLst>
                    <a:ext uri="{9D8B030D-6E8A-4147-A177-3AD203B41FA5}">
                      <a16:colId xmlns:a16="http://schemas.microsoft.com/office/drawing/2014/main" val="3384034683"/>
                    </a:ext>
                  </a:extLst>
                </a:gridCol>
                <a:gridCol w="608900">
                  <a:extLst>
                    <a:ext uri="{9D8B030D-6E8A-4147-A177-3AD203B41FA5}">
                      <a16:colId xmlns:a16="http://schemas.microsoft.com/office/drawing/2014/main" val="456906497"/>
                    </a:ext>
                  </a:extLst>
                </a:gridCol>
                <a:gridCol w="608900">
                  <a:extLst>
                    <a:ext uri="{9D8B030D-6E8A-4147-A177-3AD203B41FA5}">
                      <a16:colId xmlns:a16="http://schemas.microsoft.com/office/drawing/2014/main" val="3477495698"/>
                    </a:ext>
                  </a:extLst>
                </a:gridCol>
                <a:gridCol w="608900">
                  <a:extLst>
                    <a:ext uri="{9D8B030D-6E8A-4147-A177-3AD203B41FA5}">
                      <a16:colId xmlns:a16="http://schemas.microsoft.com/office/drawing/2014/main" val="1057236272"/>
                    </a:ext>
                  </a:extLst>
                </a:gridCol>
                <a:gridCol w="608900">
                  <a:extLst>
                    <a:ext uri="{9D8B030D-6E8A-4147-A177-3AD203B41FA5}">
                      <a16:colId xmlns:a16="http://schemas.microsoft.com/office/drawing/2014/main" val="3265217624"/>
                    </a:ext>
                  </a:extLst>
                </a:gridCol>
                <a:gridCol w="608900">
                  <a:extLst>
                    <a:ext uri="{9D8B030D-6E8A-4147-A177-3AD203B41FA5}">
                      <a16:colId xmlns:a16="http://schemas.microsoft.com/office/drawing/2014/main" val="1644197022"/>
                    </a:ext>
                  </a:extLst>
                </a:gridCol>
                <a:gridCol w="608900">
                  <a:extLst>
                    <a:ext uri="{9D8B030D-6E8A-4147-A177-3AD203B41FA5}">
                      <a16:colId xmlns:a16="http://schemas.microsoft.com/office/drawing/2014/main" val="454983325"/>
                    </a:ext>
                  </a:extLst>
                </a:gridCol>
                <a:gridCol w="521914">
                  <a:extLst>
                    <a:ext uri="{9D8B030D-6E8A-4147-A177-3AD203B41FA5}">
                      <a16:colId xmlns:a16="http://schemas.microsoft.com/office/drawing/2014/main" val="1396855724"/>
                    </a:ext>
                  </a:extLst>
                </a:gridCol>
                <a:gridCol w="521914">
                  <a:extLst>
                    <a:ext uri="{9D8B030D-6E8A-4147-A177-3AD203B41FA5}">
                      <a16:colId xmlns:a16="http://schemas.microsoft.com/office/drawing/2014/main" val="3134404346"/>
                    </a:ext>
                  </a:extLst>
                </a:gridCol>
              </a:tblGrid>
              <a:tr h="324110">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Chromosome Aneuploidies</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N</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Sensitivity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Specificity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PPV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NPV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extLst>
                  <a:ext uri="{0D108BD9-81ED-4DB2-BD59-A6C34878D82A}">
                    <a16:rowId xmlns:a16="http://schemas.microsoft.com/office/drawing/2014/main" val="3187033463"/>
                  </a:ext>
                </a:extLst>
              </a:tr>
              <a:tr h="257625">
                <a:tc>
                  <a:txBody>
                    <a:bodyPr/>
                    <a:lstStyle/>
                    <a:p>
                      <a:pPr algn="ctr" rtl="0" fontAlgn="ctr"/>
                      <a:r>
                        <a:rPr lang="en-ID" sz="750" b="0" i="0" u="none" strike="noStrike" dirty="0">
                          <a:solidFill>
                            <a:srgbClr val="000000"/>
                          </a:solidFill>
                          <a:effectLst/>
                          <a:latin typeface="Calibri" panose="020F0502020204030204" pitchFamily="34" charset="0"/>
                          <a:cs typeface="Calibri" panose="020F0502020204030204" pitchFamily="34" charset="0"/>
                        </a:rPr>
                        <a:t>T21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2929797979"/>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T18</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1583648907"/>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T13</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467491429"/>
                  </a:ext>
                </a:extLst>
              </a:tr>
              <a:tr h="257625">
                <a:tc>
                  <a:txBody>
                    <a:bodyPr/>
                    <a:lstStyle/>
                    <a:p>
                      <a:pPr algn="ctr" rtl="0" fontAlgn="ctr"/>
                      <a:r>
                        <a:rPr lang="en-ID" sz="750" b="0" i="0" u="none" strike="noStrike" dirty="0">
                          <a:solidFill>
                            <a:srgbClr val="000000"/>
                          </a:solidFill>
                          <a:effectLst/>
                          <a:latin typeface="Calibri" panose="020F0502020204030204" pitchFamily="34" charset="0"/>
                          <a:cs typeface="Calibri" panose="020F0502020204030204" pitchFamily="34" charset="0"/>
                        </a:rPr>
                        <a:t>XO</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86.2 - 100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99.95%</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99.83 - 99.99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92.31%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75.86 - 97.86</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1141652948"/>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XXY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3983530270"/>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XXX</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3689875215"/>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XYY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456435667"/>
                  </a:ext>
                </a:extLst>
              </a:tr>
            </a:tbl>
          </a:graphicData>
        </a:graphic>
      </p:graphicFrame>
      <p:sp>
        <p:nvSpPr>
          <p:cNvPr id="5" name="TextBox 4">
            <a:extLst>
              <a:ext uri="{FF2B5EF4-FFF2-40B4-BE49-F238E27FC236}">
                <a16:creationId xmlns:a16="http://schemas.microsoft.com/office/drawing/2014/main" id="{83BDE22F-18DA-6614-035F-9062356BF7B7}"/>
              </a:ext>
            </a:extLst>
          </p:cNvPr>
          <p:cNvSpPr txBox="1"/>
          <p:nvPr/>
        </p:nvSpPr>
        <p:spPr>
          <a:xfrm>
            <a:off x="427072" y="7894705"/>
            <a:ext cx="5996103" cy="1115690"/>
          </a:xfrm>
          <a:prstGeom prst="rect">
            <a:avLst/>
          </a:prstGeom>
          <a:noFill/>
        </p:spPr>
        <p:txBody>
          <a:bodyPr wrap="square" rtlCol="0">
            <a:spAutoFit/>
          </a:bodyPr>
          <a:lstStyle/>
          <a:p>
            <a:pPr algn="just"/>
            <a:r>
              <a:rPr lang="en-US" sz="1050" b="1" dirty="0">
                <a:latin typeface="Calibri" panose="020F0502020204030204" pitchFamily="34" charset="0"/>
                <a:cs typeface="Calibri" panose="020F0502020204030204" pitchFamily="34" charset="0"/>
              </a:rPr>
              <a:t>References:</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YM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Dennis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Lo,</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RWK</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Chiu,</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chromosomal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by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maternal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plasma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nucleic</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acid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analysis;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Clinical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chemistry,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2008.</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Bianchi</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OW</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sequencing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versus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standard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Engl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J</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2014;</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370:799-808.</a:t>
            </a:r>
          </a:p>
          <a:p>
            <a:pPr marL="104140" marR="10795" lvl="0"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Anthony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update: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position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statement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the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American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College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Genomics.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13:1056-65.</a:t>
            </a:r>
          </a:p>
          <a:p>
            <a:pPr marL="108585" marR="8255" lvl="0" indent="-95885">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Chen,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Validation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fraction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estimation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its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application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testing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detection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multiple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pregnancies.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2019.</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a:solidFill>
                  <a:srgbClr val="000000"/>
                </a:solidFill>
                <a:latin typeface="Calibri" panose="020F0502020204030204" pitchFamily="34" charset="0"/>
                <a:ea typeface="Arial"/>
                <a:cs typeface="Calibri" panose="020F0502020204030204" pitchFamily="34" charset="0"/>
                <a:sym typeface="Arial"/>
              </a:rPr>
              <a:t>39(13):1273-1282.</a:t>
            </a:r>
            <a:endParaRPr lang="en-US" sz="800" dirty="0">
              <a:solidFill>
                <a:srgbClr val="000000"/>
              </a:solidFill>
              <a:latin typeface="Calibri" panose="020F0502020204030204" pitchFamily="34" charset="0"/>
              <a:ea typeface="Arial"/>
              <a:cs typeface="Calibri" panose="020F0502020204030204" pitchFamily="34" charset="0"/>
              <a:sym typeface="Arial"/>
            </a:endParaRPr>
          </a:p>
        </p:txBody>
      </p:sp>
      <p:sp>
        <p:nvSpPr>
          <p:cNvPr id="20" name="TextBox 19">
            <a:extLst>
              <a:ext uri="{FF2B5EF4-FFF2-40B4-BE49-F238E27FC236}">
                <a16:creationId xmlns:a16="http://schemas.microsoft.com/office/drawing/2014/main" id="{16A7A226-4281-5A45-C110-38218C55B026}"/>
              </a:ext>
            </a:extLst>
          </p:cNvPr>
          <p:cNvSpPr txBox="1"/>
          <p:nvPr/>
        </p:nvSpPr>
        <p:spPr>
          <a:xfrm>
            <a:off x="3414595" y="9214885"/>
            <a:ext cx="2236398" cy="538609"/>
          </a:xfrm>
          <a:prstGeom prst="rect">
            <a:avLst/>
          </a:prstGeom>
          <a:noFill/>
        </p:spPr>
        <p:txBody>
          <a:bodyPr wrap="square" rtlCol="0">
            <a:spAutoFit/>
          </a:bodyPr>
          <a:lstStyle/>
          <a:p>
            <a:r>
              <a:rPr lang="en-US" sz="800" b="1" dirty="0">
                <a:latin typeface="Calibri" panose="020F0502020204030204" pitchFamily="34" charset="0"/>
                <a:cs typeface="Calibri" panose="020F0502020204030204" pitchFamily="34" charset="0"/>
              </a:rPr>
              <a:t>Laboratory:</a:t>
            </a:r>
          </a:p>
          <a:p>
            <a:r>
              <a:rPr lang="en-US" sz="700" dirty="0">
                <a:latin typeface="Calibri" panose="020F0502020204030204" pitchFamily="34" charset="0"/>
                <a:cs typeface="Calibri" panose="020F0502020204030204" pitchFamily="34" charset="0"/>
              </a:rPr>
              <a:t>Jl. </a:t>
            </a:r>
            <a:r>
              <a:rPr lang="en-US" sz="700" dirty="0" err="1">
                <a:latin typeface="Calibri" panose="020F0502020204030204" pitchFamily="34" charset="0"/>
                <a:cs typeface="Calibri" panose="020F0502020204030204" pitchFamily="34" charset="0"/>
              </a:rPr>
              <a:t>Bungur</a:t>
            </a:r>
            <a:r>
              <a:rPr lang="en-US" sz="700" dirty="0">
                <a:latin typeface="Calibri" panose="020F0502020204030204" pitchFamily="34" charset="0"/>
                <a:cs typeface="Calibri" panose="020F0502020204030204" pitchFamily="34" charset="0"/>
              </a:rPr>
              <a:t> </a:t>
            </a:r>
            <a:r>
              <a:rPr lang="en-US" sz="700" dirty="0" err="1">
                <a:latin typeface="Calibri" panose="020F0502020204030204" pitchFamily="34" charset="0"/>
                <a:cs typeface="Calibri" panose="020F0502020204030204" pitchFamily="34" charset="0"/>
              </a:rPr>
              <a:t>Besar</a:t>
            </a:r>
            <a:r>
              <a:rPr lang="en-US" sz="700" dirty="0">
                <a:latin typeface="Calibri" panose="020F0502020204030204" pitchFamily="34" charset="0"/>
                <a:cs typeface="Calibri" panose="020F0502020204030204" pitchFamily="34" charset="0"/>
              </a:rPr>
              <a:t> Raya No. 23, </a:t>
            </a:r>
            <a:r>
              <a:rPr lang="en-US" sz="700" dirty="0" err="1">
                <a:latin typeface="Calibri" panose="020F0502020204030204" pitchFamily="34" charset="0"/>
                <a:cs typeface="Calibri" panose="020F0502020204030204" pitchFamily="34" charset="0"/>
              </a:rPr>
              <a:t>Gunung</a:t>
            </a:r>
            <a:r>
              <a:rPr lang="en-US" sz="700" dirty="0">
                <a:latin typeface="Calibri" panose="020F0502020204030204" pitchFamily="34" charset="0"/>
                <a:cs typeface="Calibri" panose="020F0502020204030204" pitchFamily="34" charset="0"/>
              </a:rPr>
              <a:t> </a:t>
            </a:r>
            <a:r>
              <a:rPr lang="en-US" sz="700" dirty="0" err="1">
                <a:latin typeface="Calibri" panose="020F0502020204030204" pitchFamily="34" charset="0"/>
                <a:cs typeface="Calibri" panose="020F0502020204030204" pitchFamily="34" charset="0"/>
              </a:rPr>
              <a:t>Sahari</a:t>
            </a:r>
            <a:r>
              <a:rPr lang="en-US" sz="700" dirty="0">
                <a:latin typeface="Calibri" panose="020F0502020204030204" pitchFamily="34" charset="0"/>
                <a:cs typeface="Calibri" panose="020F0502020204030204" pitchFamily="34" charset="0"/>
              </a:rPr>
              <a:t> Selatan</a:t>
            </a:r>
          </a:p>
          <a:p>
            <a:r>
              <a:rPr lang="en-US" sz="700" dirty="0" err="1">
                <a:latin typeface="Calibri" panose="020F0502020204030204" pitchFamily="34" charset="0"/>
                <a:cs typeface="Calibri" panose="020F0502020204030204" pitchFamily="34" charset="0"/>
              </a:rPr>
              <a:t>Kemayoran</a:t>
            </a:r>
            <a:r>
              <a:rPr lang="en-US" sz="700" dirty="0">
                <a:latin typeface="Calibri" panose="020F0502020204030204" pitchFamily="34" charset="0"/>
                <a:cs typeface="Calibri" panose="020F0502020204030204" pitchFamily="34" charset="0"/>
              </a:rPr>
              <a:t>, Jakarta Pusat</a:t>
            </a:r>
          </a:p>
          <a:p>
            <a:r>
              <a:rPr lang="en-US" sz="700" dirty="0">
                <a:latin typeface="Calibri" panose="020F0502020204030204" pitchFamily="34" charset="0"/>
                <a:cs typeface="Calibri" panose="020F0502020204030204" pitchFamily="34" charset="0"/>
              </a:rPr>
              <a:t>Phone: 62-21-8086-4674</a:t>
            </a:r>
          </a:p>
        </p:txBody>
      </p:sp>
      <p:sp>
        <p:nvSpPr>
          <p:cNvPr id="3" name="TextBox 2">
            <a:extLst>
              <a:ext uri="{FF2B5EF4-FFF2-40B4-BE49-F238E27FC236}">
                <a16:creationId xmlns:a16="http://schemas.microsoft.com/office/drawing/2014/main" id="{A9B1BF20-B6AD-E17C-FC3C-9A25A83A2E14}"/>
              </a:ext>
            </a:extLst>
          </p:cNvPr>
          <p:cNvSpPr txBox="1"/>
          <p:nvPr/>
        </p:nvSpPr>
        <p:spPr>
          <a:xfrm>
            <a:off x="432169" y="5863607"/>
            <a:ext cx="5998758" cy="173893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Methodology: </a:t>
            </a:r>
            <a:r>
              <a:rPr lang="en-US" sz="900" dirty="0">
                <a:latin typeface="Calibri" panose="020F0502020204030204" pitchFamily="34" charset="0"/>
                <a:cs typeface="Calibri" panose="020F0502020204030204" pitchFamily="34" charset="0"/>
              </a:rPr>
              <a:t>This non-invasive screening  test utilizes massively parallel sequencing of cell-free DNA fragments from maternal blood samples. The workflow consists of automated sample preparation, library preparation, and next generation whole genome sequencing. Both the performance of the workflow and algorithm have been validated by </a:t>
            </a:r>
            <a:r>
              <a:rPr lang="en-US" sz="900" dirty="0" err="1">
                <a:latin typeface="Calibri" panose="020F0502020204030204" pitchFamily="34" charset="0"/>
                <a:cs typeface="Calibri" panose="020F0502020204030204" pitchFamily="34" charset="0"/>
              </a:rPr>
              <a:t>StemLife</a:t>
            </a:r>
            <a:r>
              <a:rPr lang="en-US" sz="900" dirty="0">
                <a:latin typeface="Calibri" panose="020F0502020204030204" pitchFamily="34" charset="0"/>
                <a:cs typeface="Calibri" panose="020F0502020204030204" pitchFamily="34" charset="0"/>
              </a:rPr>
              <a:t>. </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5E2E8C"/>
                </a:solidFill>
                <a:latin typeface="Calibri" panose="020F0502020204030204" pitchFamily="34" charset="0"/>
                <a:cs typeface="Calibri" panose="020F0502020204030204" pitchFamily="34" charset="0"/>
              </a:rPr>
              <a:t>Disclaimer: </a:t>
            </a:r>
            <a:r>
              <a:rPr lang="en-US" sz="900" dirty="0">
                <a:latin typeface="Calibri" panose="020F0502020204030204" pitchFamily="34" charset="0"/>
                <a:cs typeface="Calibri" panose="020F0502020204030204" pitchFamily="34" charset="0"/>
              </a:rPr>
              <a:t>StemLife NIPT is a screening test, not a diagnostic test. It evaluates genetic information in the maternal blood, which contains a mixture of maternal and placental DNA, to determine the likelihood of specific chromosome abnormalities. The test does NOT provide certainty whether a fetus is affected, and only screens for the conditions ordered by the healthcare provider. A low-risk result does not guarantee an unaffected fetus. The manner in which this information is used to guide patient care is the responsibility of the healthcare provider, including advising on the need for genetic counseling or diagnostic testing. Any test results should be interpreted in the context of all available clinical findings. The results of this test are not intended to be used as the sole means for management decisions. </a:t>
            </a:r>
            <a:r>
              <a:rPr lang="en-US" sz="900" b="0" dirty="0">
                <a:effectLst/>
                <a:highlight>
                  <a:srgbClr val="FFFFFF"/>
                </a:highlight>
                <a:latin typeface="Calibri" panose="020F0502020204030204" pitchFamily="34" charset="0"/>
                <a:cs typeface="Calibri" panose="020F0502020204030204" pitchFamily="34" charset="0"/>
              </a:rPr>
              <a:t>StemLife shall not be responsible and the client shall exempt StemLife from any loss or consequences resulting from the decision based on </a:t>
            </a:r>
            <a:r>
              <a:rPr lang="en-US" sz="900" dirty="0">
                <a:highlight>
                  <a:srgbClr val="FFFFFF"/>
                </a:highlight>
                <a:latin typeface="Calibri" panose="020F0502020204030204" pitchFamily="34" charset="0"/>
                <a:cs typeface="Calibri" panose="020F0502020204030204" pitchFamily="34" charset="0"/>
              </a:rPr>
              <a:t>StemLife </a:t>
            </a:r>
            <a:r>
              <a:rPr lang="en-US" sz="900" b="0" dirty="0">
                <a:effectLst/>
                <a:highlight>
                  <a:srgbClr val="FFFFFF"/>
                </a:highlight>
                <a:latin typeface="Calibri" panose="020F0502020204030204" pitchFamily="34" charset="0"/>
                <a:cs typeface="Calibri" panose="020F0502020204030204" pitchFamily="34" charset="0"/>
              </a:rPr>
              <a:t>NIPT test results.</a:t>
            </a:r>
            <a:endParaRPr lang="en-US" sz="900" dirty="0">
              <a:latin typeface="Calibri" panose="020F0502020204030204" pitchFamily="34" charset="0"/>
              <a:cs typeface="Calibri" panose="020F0502020204030204" pitchFamily="34" charset="0"/>
            </a:endParaRPr>
          </a:p>
        </p:txBody>
      </p:sp>
      <p:pic>
        <p:nvPicPr>
          <p:cNvPr id="2" name="Picture 1">
            <a:extLst>
              <a:ext uri="{FF2B5EF4-FFF2-40B4-BE49-F238E27FC236}">
                <a16:creationId xmlns:a16="http://schemas.microsoft.com/office/drawing/2014/main" id="{A8B266CD-523A-DF19-F1ED-0C3F8795FF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8246" y="-311894"/>
            <a:ext cx="1667941" cy="1447807"/>
          </a:xfrm>
          <a:prstGeom prst="rect">
            <a:avLst/>
          </a:prstGeom>
        </p:spPr>
      </p:pic>
      <p:sp>
        <p:nvSpPr>
          <p:cNvPr id="11" name="Rectangle 10">
            <a:extLst>
              <a:ext uri="{FF2B5EF4-FFF2-40B4-BE49-F238E27FC236}">
                <a16:creationId xmlns:a16="http://schemas.microsoft.com/office/drawing/2014/main" id="{1983AF4F-FA92-064E-ED50-DAEC8FA7CC36}"/>
              </a:ext>
            </a:extLst>
          </p:cNvPr>
          <p:cNvSpPr/>
          <p:nvPr/>
        </p:nvSpPr>
        <p:spPr>
          <a:xfrm>
            <a:off x="430623" y="772625"/>
            <a:ext cx="1956394"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27" name="Rectangle 26">
            <a:extLst>
              <a:ext uri="{FF2B5EF4-FFF2-40B4-BE49-F238E27FC236}">
                <a16:creationId xmlns:a16="http://schemas.microsoft.com/office/drawing/2014/main" id="{0E3BB315-D1D2-408D-C1E1-D9A2CCAABD1C}"/>
              </a:ext>
            </a:extLst>
          </p:cNvPr>
          <p:cNvSpPr/>
          <p:nvPr/>
        </p:nvSpPr>
        <p:spPr>
          <a:xfrm>
            <a:off x="2452579" y="772625"/>
            <a:ext cx="1956393"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28" name="Rectangle 27">
            <a:extLst>
              <a:ext uri="{FF2B5EF4-FFF2-40B4-BE49-F238E27FC236}">
                <a16:creationId xmlns:a16="http://schemas.microsoft.com/office/drawing/2014/main" id="{20F2B3C9-E511-F1CD-B852-1E6CC89C271F}"/>
              </a:ext>
            </a:extLst>
          </p:cNvPr>
          <p:cNvSpPr/>
          <p:nvPr/>
        </p:nvSpPr>
        <p:spPr>
          <a:xfrm>
            <a:off x="4474534" y="772625"/>
            <a:ext cx="1956393" cy="954107"/>
          </a:xfrm>
          <a:prstGeom prst="rect">
            <a:avLst/>
          </a:prstGeom>
          <a:noFill/>
          <a:ln w="15875" cmpd="thickThi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7" name="TextBox 36">
            <a:extLst>
              <a:ext uri="{FF2B5EF4-FFF2-40B4-BE49-F238E27FC236}">
                <a16:creationId xmlns:a16="http://schemas.microsoft.com/office/drawing/2014/main" id="{CC66D8A1-9F36-A215-AB24-0B1E69D29014}"/>
              </a:ext>
            </a:extLst>
          </p:cNvPr>
          <p:cNvSpPr txBox="1"/>
          <p:nvPr/>
        </p:nvSpPr>
        <p:spPr>
          <a:xfrm>
            <a:off x="531522" y="9225055"/>
            <a:ext cx="3429000" cy="523220"/>
          </a:xfrm>
          <a:prstGeom prst="rect">
            <a:avLst/>
          </a:prstGeom>
          <a:noFill/>
        </p:spPr>
        <p:txBody>
          <a:bodyPr wrap="square">
            <a:spAutoFit/>
          </a:bodyPr>
          <a:lstStyle/>
          <a:p>
            <a:r>
              <a:rPr lang="en-ID" sz="700" b="1" dirty="0" err="1">
                <a:effectLst/>
                <a:latin typeface="Calibri" panose="020F0502020204030204" pitchFamily="34" charset="0"/>
                <a:cs typeface="Calibri" panose="020F0502020204030204" pitchFamily="34" charset="0"/>
              </a:rPr>
              <a:t>StemLife</a:t>
            </a:r>
            <a:r>
              <a:rPr lang="en-ID" sz="700" b="1" dirty="0">
                <a:effectLst/>
                <a:latin typeface="Calibri" panose="020F0502020204030204" pitchFamily="34" charset="0"/>
                <a:cs typeface="Calibri" panose="020F0502020204030204" pitchFamily="34" charset="0"/>
              </a:rPr>
              <a:t> Biotechnology </a:t>
            </a:r>
            <a:r>
              <a:rPr lang="en-ID" sz="700" b="1" dirty="0" err="1">
                <a:effectLst/>
                <a:latin typeface="Calibri" panose="020F0502020204030204" pitchFamily="34" charset="0"/>
                <a:cs typeface="Calibri" panose="020F0502020204030204" pitchFamily="34" charset="0"/>
              </a:rPr>
              <a:t>Sdn</a:t>
            </a:r>
            <a:r>
              <a:rPr lang="en-ID" sz="700" b="1" dirty="0">
                <a:effectLst/>
                <a:latin typeface="Calibri" panose="020F0502020204030204" pitchFamily="34" charset="0"/>
                <a:cs typeface="Calibri" panose="020F0502020204030204" pitchFamily="34" charset="0"/>
              </a:rPr>
              <a:t>. Bhd. </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B-8-15, Megan Avenue II</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12 Jalan Yap Kwan Seng</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50450 Kuala Lumpur, Malaysia</a:t>
            </a:r>
          </a:p>
        </p:txBody>
      </p:sp>
      <p:sp>
        <p:nvSpPr>
          <p:cNvPr id="4" name="Rectangle 3">
            <a:extLst>
              <a:ext uri="{FF2B5EF4-FFF2-40B4-BE49-F238E27FC236}">
                <a16:creationId xmlns:a16="http://schemas.microsoft.com/office/drawing/2014/main" id="{10B267A8-CE86-B856-8ED5-B125373B1198}"/>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C02337"/>
                </a:solidFill>
                <a:effectLst/>
                <a:latin typeface="Calibri" panose="020F0502020204030204" pitchFamily="34" charset="0"/>
                <a:cs typeface="Calibri" panose="020F0502020204030204" pitchFamily="34" charset="0"/>
              </a:rPr>
              <a:t>NIPT </a:t>
            </a:r>
            <a:r>
              <a:rPr lang="en-US" sz="2000" cap="none" spc="0" dirty="0">
                <a:ln/>
                <a:solidFill>
                  <a:srgbClr val="C02337"/>
                </a:solidFill>
                <a:effectLst/>
                <a:latin typeface="Calibri" panose="020F0502020204030204" pitchFamily="34" charset="0"/>
                <a:cs typeface="Calibri" panose="020F0502020204030204" pitchFamily="34" charset="0"/>
              </a:rPr>
              <a:t>Test Report</a:t>
            </a:r>
            <a:endParaRPr lang="en-US" sz="3200" cap="none" spc="0" dirty="0">
              <a:ln/>
              <a:solidFill>
                <a:srgbClr val="C02337"/>
              </a:solidFill>
              <a:effectLst/>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063D223E-BA7B-2F2F-15FB-B61F73130423}"/>
              </a:ext>
            </a:extLst>
          </p:cNvPr>
          <p:cNvSpPr txBox="1"/>
          <p:nvPr/>
        </p:nvSpPr>
        <p:spPr>
          <a:xfrm>
            <a:off x="5713863" y="922702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3165 </a:t>
            </a:r>
          </a:p>
          <a:p>
            <a:pPr algn="ctr"/>
            <a:r>
              <a:rPr lang="pt-BR" sz="800" b="0" i="0" dirty="0">
                <a:solidFill>
                  <a:srgbClr val="000000"/>
                </a:solidFill>
                <a:effectLst/>
                <a:latin typeface="Calibri" panose="020F0502020204030204" pitchFamily="34" charset="0"/>
                <a:cs typeface="Calibri" panose="020F0502020204030204" pitchFamily="34" charset="0"/>
              </a:rPr>
              <a:t>QR G1.1-6-4-a</a:t>
            </a:r>
            <a:endParaRPr lang="en-ID" sz="8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928CAE30-2977-0073-600B-8B2735E06313}"/>
              </a:ext>
            </a:extLst>
          </p:cNvPr>
          <p:cNvSpPr txBox="1"/>
          <p:nvPr/>
        </p:nvSpPr>
        <p:spPr>
          <a:xfrm>
            <a:off x="4470985" y="772625"/>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10" name="TextBox 9">
            <a:extLst>
              <a:ext uri="{FF2B5EF4-FFF2-40B4-BE49-F238E27FC236}">
                <a16:creationId xmlns:a16="http://schemas.microsoft.com/office/drawing/2014/main" id="{AE8CCFD8-A503-0A23-C671-0A53B8ED3ABA}"/>
              </a:ext>
            </a:extLst>
          </p:cNvPr>
          <p:cNvSpPr txBox="1"/>
          <p:nvPr/>
        </p:nvSpPr>
        <p:spPr>
          <a:xfrm>
            <a:off x="2449030" y="771746"/>
            <a:ext cx="1956391" cy="73866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p:txBody>
      </p:sp>
      <p:sp>
        <p:nvSpPr>
          <p:cNvPr id="12" name="TextBox 11">
            <a:extLst>
              <a:ext uri="{FF2B5EF4-FFF2-40B4-BE49-F238E27FC236}">
                <a16:creationId xmlns:a16="http://schemas.microsoft.com/office/drawing/2014/main" id="{72FBDC47-E10E-07B3-6D5C-6CCFCA3A0B13}"/>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3286271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11232</TotalTime>
  <Words>2021</Words>
  <Application>Microsoft Macintosh PowerPoint</Application>
  <PresentationFormat>A4 Paper (210x297 mm)</PresentationFormat>
  <Paragraphs>264</Paragraphs>
  <Slides>3</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Aptos</vt:lpstr>
      <vt:lpstr>Aptos Display</vt:lpstr>
      <vt:lpstr>Arial</vt:lpstr>
      <vt:lpstr>Calibri</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Dwi</dc:creator>
  <cp:lastModifiedBy>sam martin</cp:lastModifiedBy>
  <cp:revision>100</cp:revision>
  <dcterms:created xsi:type="dcterms:W3CDTF">2024-06-13T04:30:46Z</dcterms:created>
  <dcterms:modified xsi:type="dcterms:W3CDTF">2026-01-05T03:16:15Z</dcterms:modified>
</cp:coreProperties>
</file>