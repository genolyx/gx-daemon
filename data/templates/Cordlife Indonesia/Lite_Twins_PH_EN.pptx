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291" r:id="rId2"/>
    <p:sldId id="292" r:id="rId3"/>
    <p:sldId id="342" r:id="rId4"/>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hilippine" id="{E9ACCF87-03BC-4AB8-AB7F-163DDA8A2C49}">
          <p14:sldIdLst/>
        </p14:section>
        <p14:section name="Philippine version" id="{1BC3D3C4-929D-40D4-A52A-066B8F9AF03F}">
          <p14:sldIdLst>
            <p14:sldId id="291"/>
            <p14:sldId id="292"/>
            <p14:sldId id="34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F6F9"/>
    <a:srgbClr val="0F9ED5"/>
    <a:srgbClr val="00A6C8"/>
    <a:srgbClr val="099049"/>
    <a:srgbClr val="009A43"/>
    <a:srgbClr val="1975C0"/>
    <a:srgbClr val="5E2E8C"/>
    <a:srgbClr val="632C8F"/>
    <a:srgbClr val="1973BA"/>
    <a:srgbClr val="2AA9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0815" autoAdjust="0"/>
  </p:normalViewPr>
  <p:slideViewPr>
    <p:cSldViewPr snapToGrid="0">
      <p:cViewPr varScale="1">
        <p:scale>
          <a:sx n="174" d="100"/>
          <a:sy n="174" d="100"/>
        </p:scale>
        <p:origin x="5800"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10" Type="http://schemas.microsoft.com/office/2018/10/relationships/authors" Target="authors.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1/4/26</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6983174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1/4/26</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ppv.geneticsupportfoundation.org/"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solidFill>
                  <a:srgbClr val="256D9D"/>
                </a:solidFill>
                <a:latin typeface="Calibri" panose="020F0502020204030204" pitchFamily="34" charset="0"/>
                <a:cs typeface="Calibri" panose="020F0502020204030204" pitchFamily="34" charset="0"/>
              </a:rPr>
              <a:t>Fetal Fraction</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&lt;&lt;FF_YFF&gt;&gt;%</a:t>
            </a:r>
            <a:endParaRPr lang="en-US" sz="1100" dirty="0">
              <a:latin typeface="Calibri" panose="020F0502020204030204" pitchFamily="34" charset="0"/>
              <a:cs typeface="Calibri" panose="020F0502020204030204" pitchFamily="34" charset="0"/>
            </a:endParaRPr>
          </a:p>
          <a:p>
            <a:endParaRPr lang="en-US" sz="1100" b="1" dirty="0">
              <a:solidFill>
                <a:srgbClr val="256D9D"/>
              </a:solidFill>
              <a:latin typeface="Calibri" panose="020F0502020204030204" pitchFamily="34" charset="0"/>
              <a:cs typeface="Calibri" panose="020F0502020204030204" pitchFamily="34" charset="0"/>
            </a:endParaRPr>
          </a:p>
          <a:p>
            <a:r>
              <a:rPr lang="en-US" sz="1100" b="1" dirty="0">
                <a:solidFill>
                  <a:srgbClr val="256D9D"/>
                </a:solidFill>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&lt;&lt;Gender&gt;&gt;</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720585255"/>
              </p:ext>
            </p:extLst>
          </p:nvPr>
        </p:nvGraphicFramePr>
        <p:xfrm>
          <a:off x="446345" y="3545404"/>
          <a:ext cx="5984582" cy="1043940"/>
        </p:xfrm>
        <a:graphic>
          <a:graphicData uri="http://schemas.openxmlformats.org/drawingml/2006/table">
            <a:tbl>
              <a:tblPr firstRow="1" bandRow="1">
                <a:tableStyleId>{EB9631B5-78F2-41C9-869B-9F39066F8104}</a:tableStyleId>
              </a:tblPr>
              <a:tblGrid>
                <a:gridCol w="1873522">
                  <a:extLst>
                    <a:ext uri="{9D8B030D-6E8A-4147-A177-3AD203B41FA5}">
                      <a16:colId xmlns:a16="http://schemas.microsoft.com/office/drawing/2014/main" val="539532219"/>
                    </a:ext>
                  </a:extLst>
                </a:gridCol>
                <a:gridCol w="1083733">
                  <a:extLst>
                    <a:ext uri="{9D8B030D-6E8A-4147-A177-3AD203B41FA5}">
                      <a16:colId xmlns:a16="http://schemas.microsoft.com/office/drawing/2014/main" val="3883297624"/>
                    </a:ext>
                  </a:extLst>
                </a:gridCol>
                <a:gridCol w="948267">
                  <a:extLst>
                    <a:ext uri="{9D8B030D-6E8A-4147-A177-3AD203B41FA5}">
                      <a16:colId xmlns:a16="http://schemas.microsoft.com/office/drawing/2014/main" val="1695220194"/>
                    </a:ext>
                  </a:extLst>
                </a:gridCol>
                <a:gridCol w="1066800">
                  <a:extLst>
                    <a:ext uri="{9D8B030D-6E8A-4147-A177-3AD203B41FA5}">
                      <a16:colId xmlns:a16="http://schemas.microsoft.com/office/drawing/2014/main" val="334132603"/>
                    </a:ext>
                  </a:extLst>
                </a:gridCol>
                <a:gridCol w="1012260">
                  <a:extLst>
                    <a:ext uri="{9D8B030D-6E8A-4147-A177-3AD203B41FA5}">
                      <a16:colId xmlns:a16="http://schemas.microsoft.com/office/drawing/2014/main" val="52472932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PPV/</a:t>
                      </a:r>
                      <a:r>
                        <a:rPr lang="en-US" sz="1050" b="1" dirty="0" err="1">
                          <a:latin typeface="Calibri" panose="020F0502020204030204" pitchFamily="34" charset="0"/>
                          <a:cs typeface="Calibri" panose="020F0502020204030204" pitchFamily="34" charset="0"/>
                        </a:rPr>
                        <a:t>NPV</a:t>
                      </a:r>
                      <a:r>
                        <a:rPr lang="en-US" sz="1050" b="1" baseline="50000" dirty="0" err="1">
                          <a:latin typeface="Calibri" panose="020F0502020204030204" pitchFamily="34" charset="0"/>
                          <a:cs typeface="Calibri" panose="020F0502020204030204" pitchFamily="34" charset="0"/>
                        </a:rPr>
                        <a:t>a</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b</a:t>
                      </a:r>
                      <a:r>
                        <a:rPr lang="en-US" sz="1050" b="1" dirty="0">
                          <a:latin typeface="Calibri" panose="020F0502020204030204" pitchFamily="34" charset="0"/>
                          <a:cs typeface="Calibri" panose="020F0502020204030204" pitchFamily="34" charset="0"/>
                        </a:rPr>
                        <a:t> </a:t>
                      </a:r>
                      <a:r>
                        <a:rPr lang="en-US" sz="700" b="1" dirty="0">
                          <a:latin typeface="Calibri" panose="020F0502020204030204" pitchFamily="34" charset="0"/>
                          <a:cs typeface="Calibri" panose="020F0502020204030204" pitchFamily="34" charset="0"/>
                        </a:rPr>
                        <a:t>(before)</a:t>
                      </a:r>
                      <a:endParaRPr lang="en-US" sz="105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c</a:t>
                      </a:r>
                      <a:endParaRPr lang="en-US" sz="1050" b="1" baseline="50000" dirty="0">
                        <a:latin typeface="Calibri" panose="020F0502020204030204" pitchFamily="34" charset="0"/>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US" sz="700" b="1" dirty="0">
                          <a:latin typeface="Calibri" panose="020F0502020204030204" pitchFamily="34" charset="0"/>
                          <a:cs typeface="Calibri" panose="020F0502020204030204" pitchFamily="34" charset="0"/>
                        </a:rPr>
                        <a:t>(after)</a:t>
                      </a:r>
                      <a:endParaRPr lang="en-US" sz="90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0">
                <a:tc>
                  <a:txBody>
                    <a:bodyPr/>
                    <a:lstStyle/>
                    <a:p>
                      <a:pPr algn="ctr"/>
                      <a:r>
                        <a:rPr lang="en-US" sz="900" b="1" dirty="0">
                          <a:latin typeface="Calibri" panose="020F0502020204030204" pitchFamily="34" charset="0"/>
                          <a:cs typeface="Calibri" panose="020F0502020204030204" pitchFamily="34" charset="0"/>
                        </a:rPr>
                        <a:t>Trisomy 21</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&lt;&lt;T21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&lt;&lt;ST21_TT21&gt;&gt;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&lt;&lt;T21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621165317"/>
                  </a:ext>
                </a:extLst>
              </a:tr>
              <a:tr h="0">
                <a:tc>
                  <a:txBody>
                    <a:bodyPr/>
                    <a:lstStyle/>
                    <a:p>
                      <a:pPr algn="ctr"/>
                      <a:r>
                        <a:rPr lang="en-US" sz="900" b="1" dirty="0">
                          <a:latin typeface="Calibri" panose="020F0502020204030204" pitchFamily="34" charset="0"/>
                          <a:cs typeface="Calibri" panose="020F0502020204030204" pitchFamily="34" charset="0"/>
                        </a:rPr>
                        <a:t>Trisomy 18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&lt;&lt;T18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&lt;&lt;ST18_TT18&gt;&gt;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&lt;&lt;T18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20442383"/>
                  </a:ext>
                </a:extLst>
              </a:tr>
              <a:tr h="0">
                <a:tc>
                  <a:txBody>
                    <a:bodyPr/>
                    <a:lstStyle/>
                    <a:p>
                      <a:pPr algn="ctr"/>
                      <a:r>
                        <a:rPr lang="en-US" sz="900" b="1" dirty="0">
                          <a:latin typeface="Calibri" panose="020F0502020204030204" pitchFamily="34" charset="0"/>
                          <a:cs typeface="Calibri" panose="020F0502020204030204" pitchFamily="34" charset="0"/>
                        </a:rPr>
                        <a:t>Trisomy 13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&lt;&lt;ST13_TT13&gt;&gt;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&lt;&lt;T13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332318909"/>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6345" y="3232822"/>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6004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4"/>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Risk score (before) for aneuploidy was reported in published study of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based on maternal age, gestational age, and/or general population.</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Risk score (after) value is calculated as a probability value obtained through the Gaussian distribution of the normal group and the abnormal group using the fetal DNA percentage (fetal fraction), chromosome read % (Unique Read %) value, and Z-score value. The risk score (after)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970BE3DD-4E97-F3F0-11F1-A265DBE10C25}"/>
              </a:ext>
            </a:extLst>
          </p:cNvPr>
          <p:cNvSpPr txBox="1"/>
          <p:nvPr/>
        </p:nvSpPr>
        <p:spPr>
          <a:xfrm>
            <a:off x="467796" y="1898712"/>
            <a:ext cx="3859287" cy="512769"/>
          </a:xfrm>
          <a:prstGeom prst="rect">
            <a:avLst/>
          </a:prstGeom>
          <a:noFill/>
        </p:spPr>
        <p:txBody>
          <a:bodyPr wrap="square" rtlCol="0">
            <a:spAutoFit/>
          </a:bodyPr>
          <a:lstStyle/>
          <a:p>
            <a:r>
              <a:rPr lang="en-US" sz="1400" b="1" dirty="0">
                <a:solidFill>
                  <a:srgbClr val="256D9D"/>
                </a:solidFill>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&lt;&lt;Interpretation&gt;&gt;</a:t>
            </a:r>
            <a:endParaRPr lang="en-US" sz="1100" dirty="0">
              <a:latin typeface="Calibri" panose="020F0502020204030204" pitchFamily="34" charset="0"/>
              <a:ea typeface="Calibri"/>
              <a:cs typeface="Calibri" panose="020F0502020204030204" pitchFamily="34" charset="0"/>
              <a:sym typeface="Calibri"/>
            </a:endParaRP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38781"/>
            <a:ext cx="3681005" cy="0"/>
          </a:xfrm>
          <a:prstGeom prst="line">
            <a:avLst/>
          </a:prstGeom>
          <a:ln>
            <a:solidFill>
              <a:srgbClr val="1975C0"/>
            </a:solidFill>
            <a:prstDash val="lgDash"/>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B2E8E717-D931-1EA3-5E93-8DCF10A8C922}"/>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3127 </a:t>
            </a:r>
          </a:p>
          <a:p>
            <a:pPr algn="ctr"/>
            <a:r>
              <a:rPr lang="pt-BR" sz="800" dirty="0">
                <a:solidFill>
                  <a:srgbClr val="000000"/>
                </a:solidFill>
                <a:latin typeface="Calibri" panose="020F0502020204030204" pitchFamily="34" charset="0"/>
              </a:rPr>
              <a:t>QR G1.1-6-2-a</a:t>
            </a:r>
            <a:endParaRPr lang="en-ID" sz="800" dirty="0"/>
          </a:p>
        </p:txBody>
      </p:sp>
      <p:sp>
        <p:nvSpPr>
          <p:cNvPr id="5" name="TextBox 4">
            <a:extLst>
              <a:ext uri="{FF2B5EF4-FFF2-40B4-BE49-F238E27FC236}">
                <a16:creationId xmlns:a16="http://schemas.microsoft.com/office/drawing/2014/main" id="{4052476B-A1C8-2F8A-2C7C-46665B71B36B}"/>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13" name="Rectangle: Rounded Corners 12">
            <a:extLst>
              <a:ext uri="{FF2B5EF4-FFF2-40B4-BE49-F238E27FC236}">
                <a16:creationId xmlns:a16="http://schemas.microsoft.com/office/drawing/2014/main" id="{CC628DC2-BC85-9DFE-8970-A9176C7F2BAD}"/>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A5BB67BE-CDCC-5BD4-7448-3B4D2A562F92}"/>
              </a:ext>
            </a:extLst>
          </p:cNvPr>
          <p:cNvSpPr txBox="1"/>
          <p:nvPr/>
        </p:nvSpPr>
        <p:spPr>
          <a:xfrm>
            <a:off x="498897" y="9427924"/>
            <a:ext cx="3967888"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31" name="Rectangle 30">
            <a:extLst>
              <a:ext uri="{FF2B5EF4-FFF2-40B4-BE49-F238E27FC236}">
                <a16:creationId xmlns:a16="http://schemas.microsoft.com/office/drawing/2014/main" id="{304918E2-62A0-D919-24AF-ECA4E8B6A66E}"/>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2" name="Rectangle 31">
            <a:extLst>
              <a:ext uri="{FF2B5EF4-FFF2-40B4-BE49-F238E27FC236}">
                <a16:creationId xmlns:a16="http://schemas.microsoft.com/office/drawing/2014/main" id="{05756754-CF9B-B3B8-C6E2-DA832A430B12}"/>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3" name="Rectangle 32">
            <a:extLst>
              <a:ext uri="{FF2B5EF4-FFF2-40B4-BE49-F238E27FC236}">
                <a16:creationId xmlns:a16="http://schemas.microsoft.com/office/drawing/2014/main" id="{6111EA2F-64A4-9043-BC10-4E8C53B6A667}"/>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6" name="TextBox 35">
            <a:extLst>
              <a:ext uri="{FF2B5EF4-FFF2-40B4-BE49-F238E27FC236}">
                <a16:creationId xmlns:a16="http://schemas.microsoft.com/office/drawing/2014/main" id="{54B12F5A-41AF-D295-BFFB-21A5FDE36995}"/>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6AA82573-1BEF-EEDE-B505-9B1F425503F8}"/>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8CBAB1B1-E92B-DC17-CE6F-DA502141E09F}"/>
              </a:ext>
            </a:extLst>
          </p:cNvPr>
          <p:cNvSpPr txBox="1"/>
          <p:nvPr/>
        </p:nvSpPr>
        <p:spPr>
          <a:xfrm>
            <a:off x="4466785" y="766381"/>
            <a:ext cx="1956391" cy="846386"/>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Resample: &lt;&lt;Resample&gt;&gt;</a:t>
            </a:r>
          </a:p>
          <a:p>
            <a:r>
              <a:rPr lang="en-US" sz="700" dirty="0">
                <a:latin typeface="Calibri" panose="020F0502020204030204" pitchFamily="34" charset="0"/>
                <a:cs typeface="Calibri" panose="020F0502020204030204" pitchFamily="34" charset="0"/>
              </a:rPr>
              <a:t>Test Requested: &lt;&lt;Test Requested&gt;&gt;</a:t>
            </a:r>
          </a:p>
        </p:txBody>
      </p:sp>
      <p:sp>
        <p:nvSpPr>
          <p:cNvPr id="4" name="TextBox 3">
            <a:extLst>
              <a:ext uri="{FF2B5EF4-FFF2-40B4-BE49-F238E27FC236}">
                <a16:creationId xmlns:a16="http://schemas.microsoft.com/office/drawing/2014/main" id="{12AF3392-FD20-8AC2-1CF2-3579660F2921}"/>
              </a:ext>
            </a:extLst>
          </p:cNvPr>
          <p:cNvSpPr txBox="1"/>
          <p:nvPr/>
        </p:nvSpPr>
        <p:spPr>
          <a:xfrm>
            <a:off x="434824" y="772625"/>
            <a:ext cx="1956393" cy="969496"/>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Client Sample ID: &lt;&lt;Kit ID&gt;&gt;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25317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8" name="TextBox 27">
            <a:extLst>
              <a:ext uri="{FF2B5EF4-FFF2-40B4-BE49-F238E27FC236}">
                <a16:creationId xmlns:a16="http://schemas.microsoft.com/office/drawing/2014/main" id="{21FA05A4-05F5-5631-ED5A-C8FE8FD0B99D}"/>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33" name="Rectangle: Rounded Corners 32">
            <a:extLst>
              <a:ext uri="{FF2B5EF4-FFF2-40B4-BE49-F238E27FC236}">
                <a16:creationId xmlns:a16="http://schemas.microsoft.com/office/drawing/2014/main" id="{14E8D476-86D2-C739-EC66-9595FFA7102C}"/>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C443EFB5-DCC5-BB89-580C-A584A9AC11EB}"/>
              </a:ext>
            </a:extLst>
          </p:cNvPr>
          <p:cNvSpPr txBox="1"/>
          <p:nvPr/>
        </p:nvSpPr>
        <p:spPr>
          <a:xfrm>
            <a:off x="498896" y="9427924"/>
            <a:ext cx="3910075"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9E8ADAFD-3C8B-D5A8-C0EA-DDF4F8506E2E}"/>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3127 </a:t>
            </a:r>
          </a:p>
          <a:p>
            <a:pPr algn="ctr"/>
            <a:r>
              <a:rPr lang="pt-BR" sz="800" dirty="0">
                <a:solidFill>
                  <a:srgbClr val="000000"/>
                </a:solidFill>
                <a:latin typeface="Calibri" panose="020F0502020204030204" pitchFamily="34" charset="0"/>
              </a:rPr>
              <a:t>QR G1.1-6-2-a</a:t>
            </a:r>
            <a:endParaRPr lang="en-ID" sz="800" dirty="0"/>
          </a:p>
        </p:txBody>
      </p:sp>
      <p:sp>
        <p:nvSpPr>
          <p:cNvPr id="4" name="Rectangle 3">
            <a:extLst>
              <a:ext uri="{FF2B5EF4-FFF2-40B4-BE49-F238E27FC236}">
                <a16:creationId xmlns:a16="http://schemas.microsoft.com/office/drawing/2014/main" id="{C3BFBF21-18FF-5C2F-BF2D-12C0B791A9C0}"/>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7D3E4179-B1B6-EE68-C94A-4209DC0C6AB6}"/>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6A5BF215-806A-3BFE-F9CD-D62EB2A7CF7B}"/>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98EA083C-C009-FB6F-F327-CAFE0F809802}"/>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A1F5054E-7CD1-BC56-41D2-D5271F72F210}"/>
              </a:ext>
            </a:extLst>
          </p:cNvPr>
          <p:cNvSpPr txBox="1"/>
          <p:nvPr/>
        </p:nvSpPr>
        <p:spPr>
          <a:xfrm>
            <a:off x="424418" y="2093406"/>
            <a:ext cx="5998758" cy="133882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Autosomal and Sex Chromosomes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from cell free DNA analysis and is validated for singleton pregnancies with gestational age of at least 10 weeks, as estimated by last menstrual period. These results do not eliminate the possibility that this pregnancy may be associated with other chromosomal or sub-chromosomal abnormalities, birth defects, and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an inaccurate test result may include but are not limited to maternal, fetal and/or placental mosaicism, low fetal fraction, blood transfusion, transplant surgery and stem cell therapy. Especially, fetal deduction including vanishing fetus, fetal demise can result in false negative result or false positive result. If definitive diagnosis is desired, chorionic villus sampling or amniocentesis would be necessary.</a:t>
            </a:r>
          </a:p>
        </p:txBody>
      </p:sp>
      <p:sp>
        <p:nvSpPr>
          <p:cNvPr id="16" name="TextBox 15">
            <a:extLst>
              <a:ext uri="{FF2B5EF4-FFF2-40B4-BE49-F238E27FC236}">
                <a16:creationId xmlns:a16="http://schemas.microsoft.com/office/drawing/2014/main" id="{A3394502-DDA6-5AC0-04F9-34B17B4D3D7D}"/>
              </a:ext>
            </a:extLst>
          </p:cNvPr>
          <p:cNvSpPr txBox="1"/>
          <p:nvPr/>
        </p:nvSpPr>
        <p:spPr>
          <a:xfrm>
            <a:off x="422872" y="1849843"/>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LIMITATION OF TEST</a:t>
            </a:r>
          </a:p>
        </p:txBody>
      </p:sp>
      <p:sp>
        <p:nvSpPr>
          <p:cNvPr id="3" name="TextBox 2">
            <a:extLst>
              <a:ext uri="{FF2B5EF4-FFF2-40B4-BE49-F238E27FC236}">
                <a16:creationId xmlns:a16="http://schemas.microsoft.com/office/drawing/2014/main" id="{21C90C8F-BAD2-49AF-C318-A5C8D0631F05}"/>
              </a:ext>
            </a:extLst>
          </p:cNvPr>
          <p:cNvSpPr txBox="1"/>
          <p:nvPr/>
        </p:nvSpPr>
        <p:spPr>
          <a:xfrm>
            <a:off x="4466785" y="766381"/>
            <a:ext cx="1956391" cy="846386"/>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Resample: &lt;&lt;Resample&gt;&gt;</a:t>
            </a:r>
          </a:p>
          <a:p>
            <a:r>
              <a:rPr lang="en-US" sz="700" dirty="0">
                <a:latin typeface="Calibri" panose="020F0502020204030204" pitchFamily="34" charset="0"/>
                <a:cs typeface="Calibri" panose="020F0502020204030204" pitchFamily="34" charset="0"/>
              </a:rPr>
              <a:t>Test Requested: &lt;&lt;Test Requested&gt;&gt;</a:t>
            </a:r>
          </a:p>
        </p:txBody>
      </p:sp>
      <p:sp>
        <p:nvSpPr>
          <p:cNvPr id="2" name="TextBox 1">
            <a:extLst>
              <a:ext uri="{FF2B5EF4-FFF2-40B4-BE49-F238E27FC236}">
                <a16:creationId xmlns:a16="http://schemas.microsoft.com/office/drawing/2014/main" id="{EDDC8A7F-7E45-2DB7-F6D2-AAA345174B0A}"/>
              </a:ext>
            </a:extLst>
          </p:cNvPr>
          <p:cNvSpPr txBox="1"/>
          <p:nvPr/>
        </p:nvSpPr>
        <p:spPr>
          <a:xfrm>
            <a:off x="434824" y="772625"/>
            <a:ext cx="1956393" cy="969496"/>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Client Sample ID: &lt;&lt;Kit ID&gt;&gt;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14714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ABOUT CORDLIFE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 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 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0307D28F-DB88-1628-45AB-4764BF435B7A}"/>
              </a:ext>
            </a:extLst>
          </p:cNvPr>
          <p:cNvSpPr txBox="1"/>
          <p:nvPr/>
        </p:nvSpPr>
        <p:spPr>
          <a:xfrm>
            <a:off x="398720" y="9214510"/>
            <a:ext cx="2722170" cy="323165"/>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a:p>
            <a:endParaRPr lang="en-US" sz="700" dirty="0">
              <a:solidFill>
                <a:srgbClr val="FF0000"/>
              </a:solidFill>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extLst>
              <p:ext uri="{D42A27DB-BD31-4B8C-83A1-F6EECF244321}">
                <p14:modId xmlns:p14="http://schemas.microsoft.com/office/powerpoint/2010/main" val="1767702136"/>
              </p:ext>
            </p:extLst>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56435667"/>
                  </a:ext>
                </a:extLst>
              </a:tr>
            </a:tbl>
          </a:graphicData>
        </a:graphic>
      </p:graphicFrame>
      <p:sp>
        <p:nvSpPr>
          <p:cNvPr id="5" name="TextBox 4">
            <a:extLst>
              <a:ext uri="{FF2B5EF4-FFF2-40B4-BE49-F238E27FC236}">
                <a16:creationId xmlns:a16="http://schemas.microsoft.com/office/drawing/2014/main" id="{83BDE22F-18DA-6614-035F-9062356BF7B7}"/>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a:solidFill>
                  <a:srgbClr val="000000"/>
                </a:solidFill>
                <a:latin typeface="Calibri" panose="020F0502020204030204" pitchFamily="34" charset="0"/>
                <a:ea typeface="Arial"/>
                <a:cs typeface="Calibri" panose="020F0502020204030204" pitchFamily="34" charset="0"/>
                <a:sym typeface="Arial"/>
              </a:rPr>
              <a:t>39(13):1273-1282.</a:t>
            </a:r>
            <a:endParaRPr lang="en-US" sz="800" dirty="0">
              <a:solidFill>
                <a:srgbClr val="000000"/>
              </a:solidFill>
              <a:latin typeface="Calibri" panose="020F0502020204030204" pitchFamily="34" charset="0"/>
              <a:ea typeface="Arial"/>
              <a:cs typeface="Calibri" panose="020F0502020204030204" pitchFamily="34" charset="0"/>
              <a:sym typeface="Arial"/>
            </a:endParaRPr>
          </a:p>
        </p:txBody>
      </p:sp>
      <p:sp>
        <p:nvSpPr>
          <p:cNvPr id="20" name="TextBox 19">
            <a:extLst>
              <a:ext uri="{FF2B5EF4-FFF2-40B4-BE49-F238E27FC236}">
                <a16:creationId xmlns:a16="http://schemas.microsoft.com/office/drawing/2014/main" id="{16A7A226-4281-5A45-C110-38218C55B026}"/>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sp>
        <p:nvSpPr>
          <p:cNvPr id="3" name="TextBox 2">
            <a:extLst>
              <a:ext uri="{FF2B5EF4-FFF2-40B4-BE49-F238E27FC236}">
                <a16:creationId xmlns:a16="http://schemas.microsoft.com/office/drawing/2014/main" id="{A9B1BF20-B6AD-E17C-FC3C-9A25A83A2E14}"/>
              </a:ext>
            </a:extLst>
          </p:cNvPr>
          <p:cNvSpPr txBox="1"/>
          <p:nvPr/>
        </p:nvSpPr>
        <p:spPr>
          <a:xfrm>
            <a:off x="432169" y="5927399"/>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performance of the workflow and algorithm has been validated by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is a screening test, not diagnostic. It evaluates genetic information in the maternal blood, which is a mixture of maternal and placental DNA, to determine the chance for specific chromosome abnormalities. The test does NOT tell with certainty if a fetus is affected, and only tests for the conditions ordered by the healthcare provider. A low risk result does not guarantee an unaffected fetus. The manner in which this information is used to guide patient care is the responsibility of the healthcare provider, including advising for the need for genetic counseling or diagnostic testing. Any test should be interpreted in the context of all available clinical findings. The result of this test are not intended to be used as the sole means for management decisions.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shall not be responsible and the client shall exempt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from any loss or effect resulting from the client's decision based on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NIPT test results.</a:t>
            </a:r>
            <a:endParaRPr lang="en-US" sz="900" dirty="0">
              <a:latin typeface="Calibri" panose="020F0502020204030204" pitchFamily="34" charset="0"/>
              <a:cs typeface="Calibri" panose="020F0502020204030204" pitchFamily="34" charset="0"/>
            </a:endParaRPr>
          </a:p>
        </p:txBody>
      </p:sp>
      <p:pic>
        <p:nvPicPr>
          <p:cNvPr id="2" name="Picture 2" descr="Home">
            <a:extLst>
              <a:ext uri="{FF2B5EF4-FFF2-40B4-BE49-F238E27FC236}">
                <a16:creationId xmlns:a16="http://schemas.microsoft.com/office/drawing/2014/main" id="{FAD51C6D-EDD1-C9EF-2501-6D7D787CF16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C44CAAA-4577-CEC1-C9A9-849D93F55DF8}"/>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3127 </a:t>
            </a:r>
          </a:p>
          <a:p>
            <a:pPr algn="ctr"/>
            <a:r>
              <a:rPr lang="pt-BR" sz="800" b="0" i="0" dirty="0">
                <a:solidFill>
                  <a:srgbClr val="000000"/>
                </a:solidFill>
                <a:effectLst/>
                <a:latin typeface="Calibri" panose="020F0502020204030204" pitchFamily="34" charset="0"/>
                <a:cs typeface="Calibri" panose="020F0502020204030204" pitchFamily="34" charset="0"/>
              </a:rPr>
              <a:t>QR G1.1-6-2-a</a:t>
            </a:r>
            <a:endParaRPr lang="en-ID" sz="800" dirty="0">
              <a:latin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B1E19719-BDB6-BAB4-E9DA-F6B82E38E625}"/>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5" name="Rectangle 14">
            <a:extLst>
              <a:ext uri="{FF2B5EF4-FFF2-40B4-BE49-F238E27FC236}">
                <a16:creationId xmlns:a16="http://schemas.microsoft.com/office/drawing/2014/main" id="{E0C200C1-A910-902E-2C82-CEB64E845555}"/>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A3686196-4A84-E640-3E18-9C179AC399FC}"/>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5C802576-1772-9902-47C2-5C9CE6B02F42}"/>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0B89C5A3-43D5-DA13-E8F5-C77DB13EE2FF}"/>
              </a:ext>
            </a:extLst>
          </p:cNvPr>
          <p:cNvSpPr txBox="1"/>
          <p:nvPr/>
        </p:nvSpPr>
        <p:spPr>
          <a:xfrm>
            <a:off x="4466785" y="766381"/>
            <a:ext cx="1956391" cy="846386"/>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Resample: &lt;&lt;Resample&gt;&gt;</a:t>
            </a:r>
          </a:p>
          <a:p>
            <a:r>
              <a:rPr lang="en-US" sz="700" dirty="0">
                <a:latin typeface="Calibri" panose="020F0502020204030204" pitchFamily="34" charset="0"/>
                <a:cs typeface="Calibri" panose="020F0502020204030204" pitchFamily="34" charset="0"/>
              </a:rPr>
              <a:t>Test Requested: &lt;&lt;Test Requested&gt;&gt;</a:t>
            </a:r>
          </a:p>
        </p:txBody>
      </p:sp>
      <p:sp>
        <p:nvSpPr>
          <p:cNvPr id="4" name="TextBox 3">
            <a:extLst>
              <a:ext uri="{FF2B5EF4-FFF2-40B4-BE49-F238E27FC236}">
                <a16:creationId xmlns:a16="http://schemas.microsoft.com/office/drawing/2014/main" id="{3CA83D4A-C8A6-F275-E4DB-4B7A17300084}"/>
              </a:ext>
            </a:extLst>
          </p:cNvPr>
          <p:cNvSpPr txBox="1"/>
          <p:nvPr/>
        </p:nvSpPr>
        <p:spPr>
          <a:xfrm>
            <a:off x="434824" y="772625"/>
            <a:ext cx="1956393" cy="969496"/>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Client Sample ID: &lt;&lt;Kit ID&gt;&gt;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3958482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11556</TotalTime>
  <Words>1636</Words>
  <Application>Microsoft Macintosh PowerPoint</Application>
  <PresentationFormat>A4 Paper (210x297 mm)</PresentationFormat>
  <Paragraphs>218</Paragraphs>
  <Slides>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Aptos</vt:lpstr>
      <vt:lpstr>Aptos Display</vt:lpstr>
      <vt:lpstr>Arial</vt:lpstr>
      <vt:lpstr>Calibri</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96</cp:revision>
  <dcterms:created xsi:type="dcterms:W3CDTF">2024-06-13T04:30:46Z</dcterms:created>
  <dcterms:modified xsi:type="dcterms:W3CDTF">2026-01-05T03:11:58Z</dcterms:modified>
</cp:coreProperties>
</file>