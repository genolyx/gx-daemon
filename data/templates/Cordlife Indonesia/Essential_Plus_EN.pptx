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
  </p:notesMasterIdLst>
  <p:sldIdLst>
    <p:sldId id="291" r:id="rId2"/>
    <p:sldId id="292" r:id="rId3"/>
    <p:sldId id="293" r:id="rId4"/>
    <p:sldId id="294" r:id="rId5"/>
    <p:sldId id="295" r:id="rId6"/>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0E6E229-C8AF-48D0-00DD-7C10297B2569}" name="Lab Manager" initials="LM" userId="d14a33ac0ceee803" providerId="Windows Live"/>
  <p188:author id="{CB6C2E59-5052-A676-A62D-8EC3A2F35C0D}" name="Lab Exec02" initials="LE" userId="2570120b052f3b7b" providerId="Windows Live"/>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9ED5"/>
    <a:srgbClr val="00A6C8"/>
    <a:srgbClr val="099049"/>
    <a:srgbClr val="009A43"/>
    <a:srgbClr val="E5F6F9"/>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798" autoAdjust="0"/>
  </p:normalViewPr>
  <p:slideViewPr>
    <p:cSldViewPr snapToGrid="0">
      <p:cViewPr varScale="1">
        <p:scale>
          <a:sx n="166" d="100"/>
          <a:sy n="166" d="100"/>
        </p:scale>
        <p:origin x="6984"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8/10/relationships/authors" Target="author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1/4/26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698317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4</a:t>
            </a:fld>
            <a:endParaRPr lang="en-US"/>
          </a:p>
        </p:txBody>
      </p:sp>
    </p:spTree>
    <p:extLst>
      <p:ext uri="{BB962C8B-B14F-4D97-AF65-F5344CB8AC3E}">
        <p14:creationId xmlns:p14="http://schemas.microsoft.com/office/powerpoint/2010/main" val="22397163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1/4/26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ppv.geneticsupportfoundation.org/"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3521941810"/>
              </p:ext>
            </p:extLst>
          </p:nvPr>
        </p:nvGraphicFramePr>
        <p:xfrm>
          <a:off x="446345" y="3545404"/>
          <a:ext cx="5984582" cy="195834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9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9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9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0">
                <a:tc>
                  <a:txBody>
                    <a:bodyPr/>
                    <a:lstStyle/>
                    <a:p>
                      <a:pPr algn="ctr"/>
                      <a:r>
                        <a:rPr lang="en-US" sz="9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98480914"/>
                  </a:ext>
                </a:extLst>
              </a:tr>
              <a:tr h="0">
                <a:tc>
                  <a:txBody>
                    <a:bodyPr/>
                    <a:lstStyle/>
                    <a:p>
                      <a:pPr algn="ctr"/>
                      <a:r>
                        <a:rPr lang="en-US" sz="9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6551876"/>
                  </a:ext>
                </a:extLst>
              </a:tr>
              <a:tr h="0">
                <a:tc>
                  <a:txBody>
                    <a:bodyPr/>
                    <a:lstStyle/>
                    <a:p>
                      <a:pPr algn="ctr"/>
                      <a:r>
                        <a:rPr lang="en-US" sz="9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2288664"/>
                  </a:ext>
                </a:extLst>
              </a:tr>
              <a:tr h="0">
                <a:tc>
                  <a:txBody>
                    <a:bodyPr/>
                    <a:lstStyle/>
                    <a:p>
                      <a:pPr algn="ctr"/>
                      <a:r>
                        <a:rPr lang="en-US" sz="9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550806044"/>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4"/>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970BE3DD-4E97-F3F0-11F1-A265DBE10C25}"/>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3878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4052476B-A1C8-2F8A-2C7C-46665B71B36B}"/>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3" name="Rectangle: Rounded Corners 12">
            <a:extLst>
              <a:ext uri="{FF2B5EF4-FFF2-40B4-BE49-F238E27FC236}">
                <a16:creationId xmlns:a16="http://schemas.microsoft.com/office/drawing/2014/main" id="{CC628DC2-BC85-9DFE-8970-A9176C7F2BA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5BB67BE-CDCC-5BD4-7448-3B4D2A562F92}"/>
              </a:ext>
            </a:extLst>
          </p:cNvPr>
          <p:cNvSpPr txBox="1"/>
          <p:nvPr/>
        </p:nvSpPr>
        <p:spPr>
          <a:xfrm>
            <a:off x="498897" y="9427924"/>
            <a:ext cx="3967888"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304918E2-62A0-D919-24AF-ECA4E8B6A66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05756754-CF9B-B3B8-C6E2-DA832A430B12}"/>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6111EA2F-64A4-9043-BC10-4E8C53B6A66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0CFC7714-F1E6-F101-05E5-B8BAEBB59CEE}"/>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5" name="TextBox 34">
            <a:extLst>
              <a:ext uri="{FF2B5EF4-FFF2-40B4-BE49-F238E27FC236}">
                <a16:creationId xmlns:a16="http://schemas.microsoft.com/office/drawing/2014/main" id="{476D5DF8-31BD-0656-F975-E52D740346D1}"/>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
        <p:nvSpPr>
          <p:cNvPr id="36" name="TextBox 35">
            <a:extLst>
              <a:ext uri="{FF2B5EF4-FFF2-40B4-BE49-F238E27FC236}">
                <a16:creationId xmlns:a16="http://schemas.microsoft.com/office/drawing/2014/main" id="{54B12F5A-41AF-D295-BFFB-21A5FDE36995}"/>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F20CD6CF-E309-DACF-2804-325B000A6258}"/>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FC1E32AF-13C2-5C2F-BB93-341475F8A8F1}"/>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3572</a:t>
            </a:r>
          </a:p>
          <a:p>
            <a:pPr algn="ctr"/>
            <a:r>
              <a:rPr lang="pt-BR" sz="800" dirty="0">
                <a:solidFill>
                  <a:srgbClr val="000000"/>
                </a:solidFill>
                <a:latin typeface="Calibri" panose="020F0502020204030204" pitchFamily="34" charset="0"/>
              </a:rPr>
              <a:t>QR G1.1-6-1-e</a:t>
            </a:r>
            <a:endParaRPr lang="en-ID" sz="800" dirty="0"/>
          </a:p>
        </p:txBody>
      </p:sp>
    </p:spTree>
    <p:extLst>
      <p:ext uri="{BB962C8B-B14F-4D97-AF65-F5344CB8AC3E}">
        <p14:creationId xmlns:p14="http://schemas.microsoft.com/office/powerpoint/2010/main" val="3896802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1929021709"/>
              </p:ext>
            </p:extLst>
          </p:nvPr>
        </p:nvGraphicFramePr>
        <p:xfrm>
          <a:off x="464687" y="2286588"/>
          <a:ext cx="5984584" cy="2156298"/>
        </p:xfrm>
        <a:graphic>
          <a:graphicData uri="http://schemas.openxmlformats.org/drawingml/2006/table">
            <a:tbl>
              <a:tblPr firstRow="1" bandRow="1">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5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a:latin typeface="Calibri" panose="020F0502020204030204" pitchFamily="34" charset="0"/>
                          <a:cs typeface="Calibri" panose="020F0502020204030204" pitchFamily="34" charset="0"/>
                        </a:rPr>
                        <a:t>(11q23.3-q25)</a:t>
                      </a: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a:t>
                      </a:r>
                      <a:r>
                        <a:rPr lang="en-US" sz="900" b="1" dirty="0" err="1">
                          <a:latin typeface="Calibri" panose="020F0502020204030204" pitchFamily="34" charset="0"/>
                          <a:cs typeface="Calibri" panose="020F0502020204030204" pitchFamily="34" charset="0"/>
                        </a:rPr>
                        <a:t>willi</a:t>
                      </a:r>
                      <a:r>
                        <a:rPr lang="en-US" sz="900" b="1" dirty="0">
                          <a:latin typeface="Calibri" panose="020F0502020204030204" pitchFamily="34" charset="0"/>
                          <a:cs typeface="Calibri" panose="020F0502020204030204" pitchFamily="34" charset="0"/>
                        </a:rPr>
                        <a:t>/Angelman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Other microdeletions/duplications</a:t>
                      </a:r>
                      <a:endParaRPr lang="en-US" sz="900" b="1" baseline="50000"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316924696"/>
                  </a:ext>
                </a:extLst>
              </a:tr>
              <a:tr h="0">
                <a:tc>
                  <a:txBody>
                    <a:bodyPr/>
                    <a:lstStyle/>
                    <a:p>
                      <a:pPr algn="ctr"/>
                      <a:r>
                        <a:rPr lang="en-US" sz="900" b="1" dirty="0">
                          <a:latin typeface="Calibri" panose="020F0502020204030204" pitchFamily="34" charset="0"/>
                          <a:cs typeface="Calibri" panose="020F0502020204030204" pitchFamily="34" charset="0"/>
                        </a:rPr>
                        <a:t>Williams-</a:t>
                      </a:r>
                      <a:r>
                        <a:rPr lang="en-US" sz="900" b="1" dirty="0" err="1">
                          <a:latin typeface="Calibri" panose="020F0502020204030204" pitchFamily="34" charset="0"/>
                          <a:cs typeface="Calibri" panose="020F0502020204030204" pitchFamily="34" charset="0"/>
                        </a:rPr>
                        <a:t>Beuren</a:t>
                      </a:r>
                      <a:r>
                        <a:rPr lang="en-US" sz="900" b="1" dirty="0">
                          <a:latin typeface="Calibri" panose="020F0502020204030204" pitchFamily="34" charset="0"/>
                          <a:cs typeface="Calibri" panose="020F0502020204030204" pitchFamily="34" charset="0"/>
                        </a:rPr>
                        <a:t> syndrome </a:t>
                      </a:r>
                      <a:r>
                        <a:rPr lang="en-US" sz="900" b="1">
                          <a:latin typeface="Calibri" panose="020F0502020204030204" pitchFamily="34" charset="0"/>
                          <a:cs typeface="Calibri" panose="020F0502020204030204" pitchFamily="34" charset="0"/>
                        </a:rPr>
                        <a:t>(7q11.23 deletion)</a:t>
                      </a:r>
                      <a:endParaRPr lang="en-US" sz="900" b="1"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196116673"/>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3"/>
            <a:ext cx="5984582" cy="800297"/>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regions 1p36, 2q33.1, 4p16.3, 5p-, 7q11.23, 11q23, 15q11.2-q13, 22q11.2, 108 syndromes (if applicable) and is available for singleton pregnancies with gestational age of at least 10 weeks, as estimated by last menstrual period, crown rump length, or other appropriate method. This is a screening test and can result in false positive or false negative results. Therefore, negative results do not eliminate the possibility of the above-mentioned microdeletions/duplications syndromes. If definitive diagnosis is desired, chorionic sampling or amniocentesis would be necessary, with consideration of prenatal microarray or region- specific DNA probes. In addition, chromosomal and sub-chromosomal findings greater than 3 Mb may be reported, which are rare and complex, insufficient validation may result in lower specificity. Low fetal fraction or short CNV size is a technical limitation. Consultation on the advice of a physician(s) will be necessary for such findings. These results do not eliminate the possibility that this pregnancy may be associated with other chromosomal or sub-chromosomal abnormalities, birth defects, and other conditions. This test is not intended to identify pregnancies at risk for open neural tube. In addition, there is a small possibility that the test results might not reflect the chromosome status of the fetus, but may reflect sub-chromosomal changes of the placenta (confined placental mosaicism), or of the mother. </a:t>
            </a:r>
          </a:p>
        </p:txBody>
      </p:sp>
      <p:sp>
        <p:nvSpPr>
          <p:cNvPr id="31" name="TextBox 30">
            <a:extLst>
              <a:ext uri="{FF2B5EF4-FFF2-40B4-BE49-F238E27FC236}">
                <a16:creationId xmlns:a16="http://schemas.microsoft.com/office/drawing/2014/main" id="{C990F074-C607-743D-255F-A014BD71685E}"/>
              </a:ext>
            </a:extLst>
          </p:cNvPr>
          <p:cNvSpPr txBox="1"/>
          <p:nvPr/>
        </p:nvSpPr>
        <p:spPr>
          <a:xfrm>
            <a:off x="498897" y="4737128"/>
            <a:ext cx="5846298" cy="230832"/>
          </a:xfrm>
          <a:prstGeom prst="rect">
            <a:avLst/>
          </a:prstGeom>
          <a:noFill/>
        </p:spPr>
        <p:txBody>
          <a:bodyPr wrap="square">
            <a:spAutoFit/>
          </a:bodyPr>
          <a:lstStyle/>
          <a:p>
            <a:pPr marL="83820" lvl="0"/>
            <a:r>
              <a:rPr lang="en-US" sz="900">
                <a:latin typeface="Calibri" panose="020F0502020204030204" pitchFamily="34" charset="0"/>
                <a:ea typeface="Calibri"/>
                <a:cs typeface="Calibri" panose="020F0502020204030204" pitchFamily="34" charset="0"/>
                <a:sym typeface="Calibri"/>
              </a:rPr>
              <a:t>&lt;&lt;MDI&gt;&gt;</a:t>
            </a:r>
            <a:endParaRPr lang="en-US" sz="900" dirty="0">
              <a:latin typeface="Calibri" panose="020F0502020204030204" pitchFamily="34" charset="0"/>
              <a:ea typeface="Calibri"/>
              <a:cs typeface="Calibri" panose="020F0502020204030204" pitchFamily="34" charset="0"/>
              <a:sym typeface="Calibri"/>
            </a:endParaRPr>
          </a:p>
        </p:txBody>
      </p:sp>
      <p:sp>
        <p:nvSpPr>
          <p:cNvPr id="28" name="TextBox 27">
            <a:extLst>
              <a:ext uri="{FF2B5EF4-FFF2-40B4-BE49-F238E27FC236}">
                <a16:creationId xmlns:a16="http://schemas.microsoft.com/office/drawing/2014/main" id="{21FA05A4-05F5-5631-ED5A-C8FE8FD0B99D}"/>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33" name="Rectangle: Rounded Corners 32">
            <a:extLst>
              <a:ext uri="{FF2B5EF4-FFF2-40B4-BE49-F238E27FC236}">
                <a16:creationId xmlns:a16="http://schemas.microsoft.com/office/drawing/2014/main" id="{14E8D476-86D2-C739-EC66-9595FFA7102C}"/>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443EFB5-DCC5-BB89-580C-A584A9AC11EB}"/>
              </a:ext>
            </a:extLst>
          </p:cNvPr>
          <p:cNvSpPr txBox="1"/>
          <p:nvPr/>
        </p:nvSpPr>
        <p:spPr>
          <a:xfrm>
            <a:off x="498896" y="9427924"/>
            <a:ext cx="4134575"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C3BFBF21-18FF-5C2F-BF2D-12C0B791A9C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7D3E4179-B1B6-EE68-C94A-4209DC0C6AB6}"/>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6A5BF215-806A-3BFE-F9CD-D62EB2A7CF7B}"/>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D5BE2EE0-1DC1-3EFE-98A7-C8F885D08453}"/>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4" name="TextBox 13">
            <a:extLst>
              <a:ext uri="{FF2B5EF4-FFF2-40B4-BE49-F238E27FC236}">
                <a16:creationId xmlns:a16="http://schemas.microsoft.com/office/drawing/2014/main" id="{98EA083C-C009-FB6F-F327-CAFE0F80980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63E7546A-B421-1B8F-D25A-2065AFB33FB1}"/>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3572</a:t>
            </a:r>
          </a:p>
          <a:p>
            <a:pPr algn="ctr"/>
            <a:r>
              <a:rPr lang="pt-BR" sz="800" dirty="0">
                <a:solidFill>
                  <a:srgbClr val="000000"/>
                </a:solidFill>
                <a:latin typeface="Calibri" panose="020F0502020204030204" pitchFamily="34" charset="0"/>
              </a:rPr>
              <a:t>QR G1.1-6-1-e</a:t>
            </a:r>
            <a:endParaRPr lang="en-ID" sz="800" dirty="0"/>
          </a:p>
        </p:txBody>
      </p:sp>
      <p:sp>
        <p:nvSpPr>
          <p:cNvPr id="5" name="TextBox 4">
            <a:extLst>
              <a:ext uri="{FF2B5EF4-FFF2-40B4-BE49-F238E27FC236}">
                <a16:creationId xmlns:a16="http://schemas.microsoft.com/office/drawing/2014/main" id="{DB696B14-849F-76EC-4CB7-A280F13127F8}"/>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4610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4ED1364F-2D63-4BE1-C34A-665BA6715115}"/>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307D28F-DB88-1628-45AB-4764BF435B7A}"/>
              </a:ext>
            </a:extLst>
          </p:cNvPr>
          <p:cNvSpPr txBox="1"/>
          <p:nvPr/>
        </p:nvSpPr>
        <p:spPr>
          <a:xfrm>
            <a:off x="398720" y="9214510"/>
            <a:ext cx="2722170" cy="323165"/>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endParaRPr lang="en-US" sz="700" dirty="0">
              <a:solidFill>
                <a:srgbClr val="FF0000"/>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26" name="TextBox 25">
            <a:extLst>
              <a:ext uri="{FF2B5EF4-FFF2-40B4-BE49-F238E27FC236}">
                <a16:creationId xmlns:a16="http://schemas.microsoft.com/office/drawing/2014/main" id="{0C3FE09A-7043-B615-4C39-2E64D394CB1E}"/>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39(13):1273-1282.</a:t>
            </a:r>
          </a:p>
        </p:txBody>
      </p:sp>
      <p:sp>
        <p:nvSpPr>
          <p:cNvPr id="3" name="TextBox 2">
            <a:extLst>
              <a:ext uri="{FF2B5EF4-FFF2-40B4-BE49-F238E27FC236}">
                <a16:creationId xmlns:a16="http://schemas.microsoft.com/office/drawing/2014/main" id="{D635E35A-AC9A-59F6-26EF-496641EAAF0C}"/>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29" name="Rectangle 28">
            <a:extLst>
              <a:ext uri="{FF2B5EF4-FFF2-40B4-BE49-F238E27FC236}">
                <a16:creationId xmlns:a16="http://schemas.microsoft.com/office/drawing/2014/main" id="{A40BD931-393B-2AF4-DB19-5CFC0B99CE5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26597641-8DBC-8DF4-A1E3-3F1FA01B5C6F}"/>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E1355E0E-7921-969A-2FC0-6E89A3319CF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CED9B6E6-E479-9C11-2ADA-169FB7FEE772}"/>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4" name="TextBox 33">
            <a:extLst>
              <a:ext uri="{FF2B5EF4-FFF2-40B4-BE49-F238E27FC236}">
                <a16:creationId xmlns:a16="http://schemas.microsoft.com/office/drawing/2014/main" id="{49E0F059-BA4C-337E-4D4F-278C86E5B60F}"/>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7C57744F-5110-770B-63DD-F07B2D58A166}"/>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3572</a:t>
            </a:r>
          </a:p>
          <a:p>
            <a:pPr algn="ctr"/>
            <a:r>
              <a:rPr lang="pt-BR" sz="800" dirty="0">
                <a:solidFill>
                  <a:srgbClr val="000000"/>
                </a:solidFill>
                <a:latin typeface="Calibri" panose="020F0502020204030204" pitchFamily="34" charset="0"/>
              </a:rPr>
              <a:t>QR G1.1-6-1-e</a:t>
            </a:r>
            <a:endParaRPr lang="en-ID" sz="800" dirty="0"/>
          </a:p>
        </p:txBody>
      </p:sp>
      <p:sp>
        <p:nvSpPr>
          <p:cNvPr id="5" name="TextBox 4">
            <a:extLst>
              <a:ext uri="{FF2B5EF4-FFF2-40B4-BE49-F238E27FC236}">
                <a16:creationId xmlns:a16="http://schemas.microsoft.com/office/drawing/2014/main" id="{97E94028-8969-F990-C1BD-B5A48B925DC7}"/>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93604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2</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215444"/>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5" name="Table 14">
            <a:extLst>
              <a:ext uri="{FF2B5EF4-FFF2-40B4-BE49-F238E27FC236}">
                <a16:creationId xmlns:a16="http://schemas.microsoft.com/office/drawing/2014/main" id="{D7560F51-55B8-6972-7A07-055C195AA506}"/>
              </a:ext>
            </a:extLst>
          </p:cNvPr>
          <p:cNvGraphicFramePr>
            <a:graphicFrameLocks noGrp="1"/>
          </p:cNvGraphicFramePr>
          <p:nvPr>
            <p:extLst>
              <p:ext uri="{D42A27DB-BD31-4B8C-83A1-F6EECF244321}">
                <p14:modId xmlns:p14="http://schemas.microsoft.com/office/powerpoint/2010/main" val="306041587"/>
              </p:ext>
            </p:extLst>
          </p:nvPr>
        </p:nvGraphicFramePr>
        <p:xfrm>
          <a:off x="449872" y="2303049"/>
          <a:ext cx="2988000" cy="709422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gridCol w="1494000">
                  <a:extLst>
                    <a:ext uri="{9D8B030D-6E8A-4147-A177-3AD203B41FA5}">
                      <a16:colId xmlns:a16="http://schemas.microsoft.com/office/drawing/2014/main" val="1988446624"/>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800" b="1" dirty="0">
                          <a:solidFill>
                            <a:schemeClr val="bg1"/>
                          </a:solidFill>
                          <a:latin typeface="Calibri" panose="020F0502020204030204" pitchFamily="34" charset="0"/>
                          <a:cs typeface="Calibri" panose="020F0502020204030204" pitchFamily="34" charset="0"/>
                        </a:rPr>
                        <a:t>Result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279438700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1p32-p31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&lt;&lt;1p32-p31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483159712"/>
                  </a:ext>
                </a:extLst>
              </a:tr>
              <a:tr h="0">
                <a:tc>
                  <a:txBody>
                    <a:bodyPr/>
                    <a:lstStyle/>
                    <a:p>
                      <a:pPr algn="ctr"/>
                      <a:r>
                        <a:rPr lang="en-US" sz="650" b="0" dirty="0">
                          <a:latin typeface="Calibri" panose="020F0502020204030204" pitchFamily="34" charset="0"/>
                          <a:cs typeface="Calibri" panose="020F0502020204030204" pitchFamily="34" charset="0"/>
                        </a:rPr>
                        <a:t>1q41-q42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latin typeface="Calibri" panose="020F0502020204030204" pitchFamily="34" charset="0"/>
                          <a:cs typeface="Calibri" panose="020F0502020204030204" pitchFamily="34" charset="0"/>
                        </a:rPr>
                        <a:t>&lt;&lt;1q41-q42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algn="ctr"/>
                      <a:r>
                        <a:rPr lang="en-US" sz="650" b="0" dirty="0">
                          <a:latin typeface="Calibri" panose="020F0502020204030204" pitchFamily="34" charset="0"/>
                          <a:cs typeface="Calibri" panose="020F0502020204030204" pitchFamily="34" charset="0"/>
                        </a:rPr>
                        <a:t>1q43-q44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latin typeface="Calibri" panose="020F0502020204030204" pitchFamily="34" charset="0"/>
                          <a:cs typeface="Calibri" panose="020F0502020204030204" pitchFamily="34" charset="0"/>
                        </a:rPr>
                        <a:t>&lt;&lt;1q43-q44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latin typeface="Calibri" panose="020F0502020204030204" pitchFamily="34" charset="0"/>
                          <a:cs typeface="Calibri" panose="020F0502020204030204" pitchFamily="34" charset="0"/>
                        </a:rPr>
                        <a:t>2p12-p11.2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latin typeface="Calibri" panose="020F0502020204030204" pitchFamily="34" charset="0"/>
                          <a:cs typeface="Calibri" panose="020F0502020204030204" pitchFamily="34" charset="0"/>
                        </a:rPr>
                        <a:t>&lt;&lt;2p12-p11.2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latin typeface="Calibri" panose="020F0502020204030204" pitchFamily="34" charset="0"/>
                          <a:cs typeface="Calibri" panose="020F0502020204030204" pitchFamily="34" charset="0"/>
                        </a:rPr>
                        <a:t>2p15-p16.1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latin typeface="Calibri" panose="020F0502020204030204" pitchFamily="34" charset="0"/>
                          <a:cs typeface="Calibri" panose="020F0502020204030204" pitchFamily="34" charset="0"/>
                        </a:rPr>
                        <a:t>&lt;&lt;2p15-p16.1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latin typeface="Calibri" panose="020F0502020204030204" pitchFamily="34" charset="0"/>
                          <a:cs typeface="Calibri" panose="020F0502020204030204" pitchFamily="34" charset="0"/>
                        </a:rPr>
                        <a:t>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latin typeface="Calibri" panose="020F0502020204030204" pitchFamily="34" charset="0"/>
                          <a:cs typeface="Calibri" panose="020F0502020204030204" pitchFamily="34" charset="0"/>
                        </a:rPr>
                        <a:t>&lt;&lt;2q13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latin typeface="Calibri" panose="020F0502020204030204" pitchFamily="34" charset="0"/>
                          <a:cs typeface="Calibri" panose="020F0502020204030204" pitchFamily="34" charset="0"/>
                        </a:rPr>
                        <a:t>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&lt;&lt;2q13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latin typeface="Calibri" panose="020F0502020204030204" pitchFamily="34" charset="0"/>
                          <a:cs typeface="Calibri" panose="020F0502020204030204" pitchFamily="34" charset="0"/>
                        </a:rPr>
                        <a:t>2q31.1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&lt;&lt;2q31.1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&lt;&lt;2q31.1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latin typeface="Calibri" panose="020F0502020204030204" pitchFamily="34" charset="0"/>
                          <a:cs typeface="Calibri" panose="020F0502020204030204" pitchFamily="34" charset="0"/>
                        </a:rPr>
                        <a:t>2q35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&lt;&lt;2q35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a:latin typeface="Calibri" panose="020F0502020204030204" pitchFamily="34" charset="0"/>
                          <a:cs typeface="Calibri" panose="020F0502020204030204" pitchFamily="34" charset="0"/>
                        </a:rPr>
                        <a:t>3p25.3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&lt;&lt;3p25.3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latin typeface="Calibri" panose="020F0502020204030204" pitchFamily="34" charset="0"/>
                          <a:cs typeface="Calibri" panose="020F0502020204030204" pitchFamily="34" charset="0"/>
                        </a:rPr>
                        <a:t>3pter-p25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&lt;&lt;3pter-p25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latin typeface="Calibri" panose="020F0502020204030204" pitchFamily="34" charset="0"/>
                          <a:cs typeface="Calibri" panose="020F0502020204030204" pitchFamily="34" charset="0"/>
                        </a:rPr>
                        <a:t>3q13.31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&lt;&lt;3q13.31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latin typeface="Calibri" panose="020F0502020204030204" pitchFamily="34" charset="0"/>
                          <a:cs typeface="Calibri" panose="020F0502020204030204" pitchFamily="34" charset="0"/>
                        </a:rPr>
                        <a:t>Dandy-Walker syndrome (DWS)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&lt;&lt;Dandy-Walker syndrome (DWS)&gt;&gt;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latin typeface="Calibri" panose="020F0502020204030204" pitchFamily="34" charset="0"/>
                          <a:cs typeface="Calibri" panose="020F0502020204030204" pitchFamily="34" charset="0"/>
                        </a:rPr>
                        <a:t>3q26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&lt;&lt;3q26 microduplication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latin typeface="Calibri" panose="020F0502020204030204" pitchFamily="34" charset="0"/>
                          <a:cs typeface="Calibri" panose="020F0502020204030204" pitchFamily="34" charset="0"/>
                        </a:rPr>
                        <a:t>3q29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&lt;&lt;3q29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a:latin typeface="Calibri" panose="020F0502020204030204" pitchFamily="34" charset="0"/>
                          <a:cs typeface="Calibri" panose="020F0502020204030204" pitchFamily="34" charset="0"/>
                        </a:rPr>
                        <a:t>4q21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&lt;&lt;4q21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err="1">
                          <a:latin typeface="Calibri" panose="020F0502020204030204" pitchFamily="34" charset="0"/>
                          <a:cs typeface="Calibri" panose="020F0502020204030204" pitchFamily="34" charset="0"/>
                        </a:rPr>
                        <a:t>Axenfeld</a:t>
                      </a:r>
                      <a:r>
                        <a:rPr lang="en-US" sz="650" b="0" dirty="0">
                          <a:latin typeface="Calibri" panose="020F0502020204030204" pitchFamily="34" charset="0"/>
                          <a:cs typeface="Calibri" panose="020F0502020204030204" pitchFamily="34" charset="0"/>
                        </a:rPr>
                        <a:t>-Rieger syndrome type 1 (RIEG1)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&lt;&lt;Axenfeld-Rieger syndrome type 1 (RIEG1)&gt;&gt;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latin typeface="Calibri" panose="020F0502020204030204" pitchFamily="34" charset="0"/>
                          <a:cs typeface="Calibri" panose="020F0502020204030204" pitchFamily="34" charset="0"/>
                        </a:rPr>
                        <a:t>5p13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&lt;&lt;5p13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latin typeface="Calibri" panose="020F0502020204030204" pitchFamily="34" charset="0"/>
                          <a:cs typeface="Calibri" panose="020F0502020204030204" pitchFamily="34" charset="0"/>
                        </a:rPr>
                        <a:t>5q12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&lt;&lt;5q12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5q14.3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&lt;&lt;5q14.3 deletion (proximal)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algn="ctr"/>
                      <a:r>
                        <a:rPr lang="en-US" sz="650" b="0" dirty="0">
                          <a:latin typeface="Calibri" panose="020F0502020204030204" pitchFamily="34" charset="0"/>
                          <a:cs typeface="Calibri" panose="020F0502020204030204" pitchFamily="34" charset="0"/>
                        </a:rPr>
                        <a:t>Sotos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&lt;&lt;Sotos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27112923"/>
                  </a:ext>
                </a:extLst>
              </a:tr>
              <a:tr h="0">
                <a:tc>
                  <a:txBody>
                    <a:bodyPr/>
                    <a:lstStyle/>
                    <a:p>
                      <a:pPr algn="ctr"/>
                      <a:r>
                        <a:rPr lang="en-US" sz="650" b="0" dirty="0">
                          <a:latin typeface="Calibri" panose="020F0502020204030204" pitchFamily="34" charset="0"/>
                          <a:cs typeface="Calibri" panose="020F0502020204030204" pitchFamily="34" charset="0"/>
                        </a:rPr>
                        <a:t>6p22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&lt;&lt;6p22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93543873"/>
                  </a:ext>
                </a:extLst>
              </a:tr>
              <a:tr h="0">
                <a:tc>
                  <a:txBody>
                    <a:bodyPr/>
                    <a:lstStyle/>
                    <a:p>
                      <a:pPr algn="ctr"/>
                      <a:r>
                        <a:rPr lang="en-US" sz="650" b="0" dirty="0">
                          <a:latin typeface="Calibri" panose="020F0502020204030204" pitchFamily="34" charset="0"/>
                          <a:cs typeface="Calibri" panose="020F0502020204030204" pitchFamily="34" charset="0"/>
                        </a:rPr>
                        <a:t>6q11-q14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&lt;&lt;6q11-q14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8680145"/>
                  </a:ext>
                </a:extLst>
              </a:tr>
              <a:tr h="0">
                <a:tc>
                  <a:txBody>
                    <a:bodyPr/>
                    <a:lstStyle/>
                    <a:p>
                      <a:pPr algn="ctr"/>
                      <a:r>
                        <a:rPr lang="en-US" sz="650" b="0" dirty="0">
                          <a:latin typeface="Calibri" panose="020F0502020204030204" pitchFamily="34" charset="0"/>
                          <a:cs typeface="Calibri" panose="020F0502020204030204" pitchFamily="34" charset="0"/>
                        </a:rPr>
                        <a:t>6q24-q25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&lt;&lt;6q24-q25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55994710"/>
                  </a:ext>
                </a:extLst>
              </a:tr>
              <a:tr h="0">
                <a:tc>
                  <a:txBody>
                    <a:bodyPr/>
                    <a:lstStyle/>
                    <a:p>
                      <a:pPr algn="ctr"/>
                      <a:r>
                        <a:rPr lang="en-US" sz="650" b="0" dirty="0">
                          <a:latin typeface="Calibri" panose="020F0502020204030204" pitchFamily="34" charset="0"/>
                          <a:cs typeface="Calibri" panose="020F0502020204030204" pitchFamily="34" charset="0"/>
                        </a:rPr>
                        <a:t>Coffin-Siris syndrome 1 (CSS1)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&lt;&lt;Coffin-Siris syndrome 1 (CSS1)&gt;&gt;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87323870"/>
                  </a:ext>
                </a:extLst>
              </a:tr>
              <a:tr h="0">
                <a:tc>
                  <a:txBody>
                    <a:bodyPr/>
                    <a:lstStyle/>
                    <a:p>
                      <a:pPr algn="ctr"/>
                      <a:r>
                        <a:rPr lang="en-US" sz="650" b="0" dirty="0">
                          <a:latin typeface="Calibri" panose="020F0502020204030204" pitchFamily="34" charset="0"/>
                          <a:cs typeface="Calibri" panose="020F0502020204030204" pitchFamily="34" charset="0"/>
                        </a:rPr>
                        <a:t>Chordoma</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&lt;&lt;Chordoma&gt;&gt;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69855090"/>
                  </a:ext>
                </a:extLst>
              </a:tr>
              <a:tr h="0">
                <a:tc>
                  <a:txBody>
                    <a:bodyPr/>
                    <a:lstStyle/>
                    <a:p>
                      <a:pPr algn="ctr"/>
                      <a:r>
                        <a:rPr lang="en-US" sz="650" b="0" dirty="0">
                          <a:latin typeface="Calibri" panose="020F0502020204030204" pitchFamily="34" charset="0"/>
                          <a:cs typeface="Calibri" panose="020F0502020204030204" pitchFamily="34" charset="0"/>
                        </a:rPr>
                        <a:t>Greig cephalopolysyndactyly syndrome (GCPS)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&lt;&lt;Greig cephalopolysyndactyly syndrome (GCPS)&gt;&gt;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82668844"/>
                  </a:ext>
                </a:extLst>
              </a:tr>
              <a:tr h="0">
                <a:tc>
                  <a:txBody>
                    <a:bodyPr/>
                    <a:lstStyle/>
                    <a:p>
                      <a:pPr algn="ctr"/>
                      <a:r>
                        <a:rPr lang="en-US" sz="650" b="0" dirty="0">
                          <a:latin typeface="Calibri" panose="020F0502020204030204" pitchFamily="34" charset="0"/>
                          <a:cs typeface="Calibri" panose="020F0502020204030204" pitchFamily="34" charset="0"/>
                        </a:rPr>
                        <a:t>7p22.1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&lt;&lt;7p22.1 microduplication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1191787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7q11.23 deletion (distal)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&lt;&lt;7q11.23 deletion (distal)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1827952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Williams-Beuren syndrome </a:t>
                      </a:r>
                      <a:r>
                        <a:rPr lang="en-US" sz="650" b="0">
                          <a:solidFill>
                            <a:schemeClr val="tx1"/>
                          </a:solidFill>
                          <a:latin typeface="Calibri" panose="020F0502020204030204" pitchFamily="34" charset="0"/>
                          <a:cs typeface="Calibri" panose="020F0502020204030204" pitchFamily="34" charset="0"/>
                        </a:rPr>
                        <a:t>(WBS, duplication)</a:t>
                      </a:r>
                      <a:endParaRPr lang="en-US" sz="6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&lt;&lt;Williams-Beuren syndrome (WBS, duplication)&gt;&gt;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93379528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Currarino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&lt;&lt;Currarino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9000556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7q36.3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&lt;&lt;7q36.3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534733420"/>
                  </a:ext>
                </a:extLst>
              </a:tr>
            </a:tbl>
          </a:graphicData>
        </a:graphic>
      </p:graphicFrame>
      <p:graphicFrame>
        <p:nvGraphicFramePr>
          <p:cNvPr id="16" name="Table 15">
            <a:extLst>
              <a:ext uri="{FF2B5EF4-FFF2-40B4-BE49-F238E27FC236}">
                <a16:creationId xmlns:a16="http://schemas.microsoft.com/office/drawing/2014/main" id="{4E574D0D-0392-B0FF-4304-BFB4DE31579B}"/>
              </a:ext>
            </a:extLst>
          </p:cNvPr>
          <p:cNvGraphicFramePr>
            <a:graphicFrameLocks noGrp="1"/>
          </p:cNvGraphicFramePr>
          <p:nvPr>
            <p:extLst>
              <p:ext uri="{D42A27DB-BD31-4B8C-83A1-F6EECF244321}">
                <p14:modId xmlns:p14="http://schemas.microsoft.com/office/powerpoint/2010/main" val="663559537"/>
              </p:ext>
            </p:extLst>
          </p:nvPr>
        </p:nvGraphicFramePr>
        <p:xfrm>
          <a:off x="3624208" y="2303049"/>
          <a:ext cx="2988000" cy="672846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gridCol w="1494000">
                  <a:extLst>
                    <a:ext uri="{9D8B030D-6E8A-4147-A177-3AD203B41FA5}">
                      <a16:colId xmlns:a16="http://schemas.microsoft.com/office/drawing/2014/main" val="1442633547"/>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800" b="1" dirty="0">
                          <a:solidFill>
                            <a:schemeClr val="bg1"/>
                          </a:solidFill>
                          <a:latin typeface="Calibri" panose="020F0502020204030204" pitchFamily="34" charset="0"/>
                          <a:cs typeface="Calibri" panose="020F0502020204030204" pitchFamily="34" charset="0"/>
                        </a:rPr>
                        <a:t>Result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31007425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&lt;&lt;8p11.2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8p23.1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&lt;&lt;8p23.1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8q12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&lt;&lt;8q12 microduplication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Nablus mask-like facial syndrome (NMLFS)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&lt;&lt;Nablus mask-like facial syndrome (NMLFS)&gt;&gt;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Trichorhinophalangeal syndrome type 2 (TRPS2)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&lt;&lt;Trichorhinophalangeal syndrome type 2 (TRPS2)&gt;&gt;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&lt;&lt;9p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&lt;&lt;9p13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9p24.3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&lt;&lt;9p24.3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9q33.3q34.11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&lt;&lt;9q33.3q34.11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Early infantile epileptic encephalopathy 4 (EIEE4)</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&lt;&lt;Early infantile epileptic encephalopathy 4 (EIEE4)&gt;&gt;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Kleefstra</a:t>
                      </a:r>
                      <a:r>
                        <a:rPr lang="en-US" sz="650" b="0" dirty="0">
                          <a:solidFill>
                            <a:schemeClr val="tx1"/>
                          </a:solidFill>
                          <a:latin typeface="Calibri" panose="020F0502020204030204" pitchFamily="34" charset="0"/>
                          <a:cs typeface="Calibri" panose="020F0502020204030204" pitchFamily="34" charset="0"/>
                        </a:rPr>
                        <a:t> syndrome 1 (KLEFS1)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&lt;&lt;Kleefstra syndrome 1 (KLEFS1)&gt;&gt;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10p11.21-p12.31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&lt;&lt;10p11.21-p12.31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a:t>
                      </a:r>
                      <a:r>
                        <a:rPr lang="en-US" sz="650" b="0" dirty="0" err="1">
                          <a:solidFill>
                            <a:schemeClr val="tx1"/>
                          </a:solidFill>
                          <a:latin typeface="Calibri" panose="020F0502020204030204" pitchFamily="34" charset="0"/>
                          <a:cs typeface="Calibri" panose="020F0502020204030204" pitchFamily="34" charset="0"/>
                        </a:rPr>
                        <a:t>velocardiofacial</a:t>
                      </a:r>
                      <a:r>
                        <a:rPr lang="en-US" sz="650" b="0" dirty="0">
                          <a:solidFill>
                            <a:schemeClr val="tx1"/>
                          </a:solidFill>
                          <a:latin typeface="Calibri" panose="020F0502020204030204" pitchFamily="34" charset="0"/>
                          <a:cs typeface="Calibri" panose="020F0502020204030204" pitchFamily="34" charset="0"/>
                        </a:rPr>
                        <a:t> syndrome complex 2 (DSG2)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&lt;&lt;DiGeorge (DSG2)&gt;&gt;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10q22.3-q23.2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&lt;&lt;10q22.3-q23.2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Split-hand/foot malformation 3 (SHFM3)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&lt;&lt;Split-hand/foot malformation 3 (SHFM3)&gt;&gt;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&lt;&lt;10q26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Potocki</a:t>
                      </a:r>
                      <a:r>
                        <a:rPr lang="en-US" sz="650" b="0" dirty="0">
                          <a:solidFill>
                            <a:schemeClr val="tx1"/>
                          </a:solidFill>
                          <a:latin typeface="Calibri" panose="020F0502020204030204" pitchFamily="34" charset="0"/>
                          <a:cs typeface="Calibri" panose="020F0502020204030204" pitchFamily="34" charset="0"/>
                        </a:rPr>
                        <a:t>-Shaffer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&lt;&lt;Potocki-Shaffer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&lt;&lt;WAGR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&lt;&lt;WAGRO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11q13.2-q13.4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&lt;&lt;11q13.2-q13.4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11q22.2-q22.3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&lt;&lt;11q22.2-q22.3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&lt;&lt;11q23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12p12.1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&lt;&lt;12p12.1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935438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&lt;&lt;12q14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86801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12q15q21.1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&lt;&lt;12q15q21.1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5599471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13q14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&lt;&lt;13q14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621672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14q11-q22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&lt;&lt;14q11-q22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6994854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Frias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&lt;&lt;Frias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779541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14q24.1-q24.3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&lt;&lt;14q24.1-q24.3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930510364"/>
                  </a:ext>
                </a:extLst>
              </a:tr>
            </a:tbl>
          </a:graphicData>
        </a:graphic>
      </p:graphicFrame>
      <p:sp>
        <p:nvSpPr>
          <p:cNvPr id="5" name="TextBox 4">
            <a:extLst>
              <a:ext uri="{FF2B5EF4-FFF2-40B4-BE49-F238E27FC236}">
                <a16:creationId xmlns:a16="http://schemas.microsoft.com/office/drawing/2014/main" id="{10C92CBA-7626-367C-8C94-4171AEFD885D}"/>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4" name="Rectangle 3">
            <a:extLst>
              <a:ext uri="{FF2B5EF4-FFF2-40B4-BE49-F238E27FC236}">
                <a16:creationId xmlns:a16="http://schemas.microsoft.com/office/drawing/2014/main" id="{5515CD08-94EF-E556-6F1E-7AE8D89E58A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21EF4A7E-F207-ADB3-D11F-4153EE3E1171}"/>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F62C0D68-911E-B22B-2178-5B58D39EC7CF}"/>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D5700C3E-043C-94FD-6212-92BF90931ECB}"/>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8" name="TextBox 17">
            <a:extLst>
              <a:ext uri="{FF2B5EF4-FFF2-40B4-BE49-F238E27FC236}">
                <a16:creationId xmlns:a16="http://schemas.microsoft.com/office/drawing/2014/main" id="{AFFFF080-BECA-4ED0-6787-EAC4BDE8F31B}"/>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FF9D795F-AC3A-78CE-8B33-300E1F29EC0F}"/>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3572</a:t>
            </a:r>
          </a:p>
          <a:p>
            <a:pPr algn="ctr"/>
            <a:r>
              <a:rPr lang="pt-BR" sz="800" dirty="0">
                <a:solidFill>
                  <a:srgbClr val="000000"/>
                </a:solidFill>
                <a:latin typeface="Calibri" panose="020F0502020204030204" pitchFamily="34" charset="0"/>
              </a:rPr>
              <a:t>QR G1.1-6-1-e</a:t>
            </a:r>
            <a:endParaRPr lang="en-ID" sz="800" dirty="0"/>
          </a:p>
        </p:txBody>
      </p:sp>
      <p:sp>
        <p:nvSpPr>
          <p:cNvPr id="3" name="TextBox 2">
            <a:extLst>
              <a:ext uri="{FF2B5EF4-FFF2-40B4-BE49-F238E27FC236}">
                <a16:creationId xmlns:a16="http://schemas.microsoft.com/office/drawing/2014/main" id="{2DD0B603-A52C-1368-FBC0-FA017871DBF6}"/>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77531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2</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215444"/>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8" name="Table 17">
            <a:extLst>
              <a:ext uri="{FF2B5EF4-FFF2-40B4-BE49-F238E27FC236}">
                <a16:creationId xmlns:a16="http://schemas.microsoft.com/office/drawing/2014/main" id="{5B8EDE70-2F90-1A79-E36B-8E567D674864}"/>
              </a:ext>
            </a:extLst>
          </p:cNvPr>
          <p:cNvGraphicFramePr>
            <a:graphicFrameLocks noGrp="1"/>
          </p:cNvGraphicFramePr>
          <p:nvPr>
            <p:extLst>
              <p:ext uri="{D42A27DB-BD31-4B8C-83A1-F6EECF244321}">
                <p14:modId xmlns:p14="http://schemas.microsoft.com/office/powerpoint/2010/main" val="3114604798"/>
              </p:ext>
            </p:extLst>
          </p:nvPr>
        </p:nvGraphicFramePr>
        <p:xfrm>
          <a:off x="499188" y="2297147"/>
          <a:ext cx="2988000" cy="68351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gridCol w="1494000">
                  <a:extLst>
                    <a:ext uri="{9D8B030D-6E8A-4147-A177-3AD203B41FA5}">
                      <a16:colId xmlns:a16="http://schemas.microsoft.com/office/drawing/2014/main" val="1691803254"/>
                    </a:ext>
                  </a:extLst>
                </a:gridCol>
              </a:tblGrid>
              <a:tr h="0">
                <a:tc>
                  <a:txBody>
                    <a:bodyPr/>
                    <a:lstStyle/>
                    <a:p>
                      <a:pPr algn="ctr"/>
                      <a:r>
                        <a:rPr lang="en-US" sz="800" b="1" dirty="0">
                          <a:solidFill>
                            <a:schemeClr val="bg1"/>
                          </a:solidFill>
                          <a:latin typeface="+mn-lt"/>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solidFill>
                  </a:tcPr>
                </a:tc>
                <a:tc>
                  <a:txBody>
                    <a:bodyPr/>
                    <a:lstStyle/>
                    <a:p>
                      <a:pPr algn="ctr"/>
                      <a:r>
                        <a:rPr lang="en-US" sz="800" b="1" dirty="0">
                          <a:solidFill>
                            <a:schemeClr val="bg1"/>
                          </a:solidFill>
                          <a:latin typeface="+mn-lt"/>
                        </a:rPr>
                        <a:t>Result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solidFill>
                  </a:tcPr>
                </a:tc>
                <a:extLst>
                  <a:ext uri="{0D108BD9-81ED-4DB2-BD59-A6C34878D82A}">
                    <a16:rowId xmlns:a16="http://schemas.microsoft.com/office/drawing/2014/main" val="162973588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15q13.3 deletion syndrome {BP4 to BP5}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&lt;&lt;15q13.3 deletion syndrome {BP4 to BP5} (loss)&gt;&gt;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15q13.3 deletion syndrome {BP4 to BP5}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&lt;&lt;15q13.3 deletion syndrome {BP4 to BP5} (gain)&gt;&gt;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&lt;&lt;15q14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15q25.2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&lt;&lt;15q25.2 deletion (proximal)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15q26-qter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&lt;&lt;15q26-qter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16p11.2-p12.2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&lt;&lt;16p11.2-p12.2 microduplication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16p12.2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&lt;&lt;16p12.2 deletion (proximal)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&lt;&lt;16p13.11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&lt;&lt;16p13.11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Polycystic kidney disease, infantile severe, with tuberous sclerosis (PKDTS)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&lt;&lt;Polycystic kidney disease, infantile severe, with tuberous sclerosis (PKDTS)&gt;&gt;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Rubinstein-</a:t>
                      </a:r>
                      <a:r>
                        <a:rPr lang="en-US" sz="650" b="0" dirty="0" err="1">
                          <a:solidFill>
                            <a:schemeClr val="tx1"/>
                          </a:solidFill>
                          <a:latin typeface="Calibri" panose="020F0502020204030204" pitchFamily="34" charset="0"/>
                          <a:cs typeface="Calibri" panose="020F0502020204030204" pitchFamily="34" charset="0"/>
                        </a:rPr>
                        <a:t>Taybi</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&lt;&lt;Rubinstein-Taybi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Alpha-thalassemia/intellectual disability syndrome, chromosome </a:t>
                      </a:r>
                      <a:r>
                        <a:rPr lang="en-US" sz="650" b="0">
                          <a:solidFill>
                            <a:schemeClr val="tx1"/>
                          </a:solidFill>
                          <a:latin typeface="Calibri" panose="020F0502020204030204" pitchFamily="34" charset="0"/>
                          <a:cs typeface="Calibri" panose="020F0502020204030204" pitchFamily="34" charset="0"/>
                        </a:rPr>
                        <a:t>16-related  </a:t>
                      </a:r>
                      <a:r>
                        <a:rPr lang="en-US" sz="650" b="0" dirty="0">
                          <a:solidFill>
                            <a:schemeClr val="tx1"/>
                          </a:solidFill>
                          <a:latin typeface="Calibri" panose="020F0502020204030204" pitchFamily="34" charset="0"/>
                          <a:cs typeface="Calibri" panose="020F0502020204030204" pitchFamily="34" charset="0"/>
                        </a:rPr>
                        <a:t>(ATR-16)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&lt;&lt;Alpha-thalassemia&gt;&gt;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&lt;&lt;16q22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Smith-</a:t>
                      </a:r>
                      <a:r>
                        <a:rPr lang="en-US" sz="650" b="0" dirty="0" err="1">
                          <a:solidFill>
                            <a:schemeClr val="tx1"/>
                          </a:solidFill>
                          <a:latin typeface="Calibri" panose="020F0502020204030204" pitchFamily="34" charset="0"/>
                          <a:cs typeface="Calibri" panose="020F0502020204030204" pitchFamily="34" charset="0"/>
                        </a:rPr>
                        <a:t>Magenis</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&lt;&lt;Smith-Magenis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Yuan-</a:t>
                      </a:r>
                      <a:r>
                        <a:rPr lang="en-US" sz="650" b="0" dirty="0" err="1">
                          <a:solidFill>
                            <a:schemeClr val="tx1"/>
                          </a:solidFill>
                          <a:latin typeface="Calibri" panose="020F0502020204030204" pitchFamily="34" charset="0"/>
                          <a:cs typeface="Calibri" panose="020F0502020204030204" pitchFamily="34" charset="0"/>
                        </a:rPr>
                        <a:t>Harel</a:t>
                      </a:r>
                      <a:r>
                        <a:rPr lang="en-US" sz="650" b="0" dirty="0">
                          <a:solidFill>
                            <a:schemeClr val="tx1"/>
                          </a:solidFill>
                          <a:latin typeface="Calibri" panose="020F0502020204030204" pitchFamily="34" charset="0"/>
                          <a:cs typeface="Calibri" panose="020F0502020204030204" pitchFamily="34" charset="0"/>
                        </a:rPr>
                        <a:t>-</a:t>
                      </a:r>
                      <a:r>
                        <a:rPr lang="en-US" sz="650" b="0" dirty="0" err="1">
                          <a:solidFill>
                            <a:schemeClr val="tx1"/>
                          </a:solidFill>
                          <a:latin typeface="Calibri" panose="020F0502020204030204" pitchFamily="34" charset="0"/>
                          <a:cs typeface="Calibri" panose="020F0502020204030204" pitchFamily="34" charset="0"/>
                        </a:rPr>
                        <a:t>Lupski</a:t>
                      </a:r>
                      <a:r>
                        <a:rPr lang="en-US" sz="650" b="0" dirty="0">
                          <a:solidFill>
                            <a:schemeClr val="tx1"/>
                          </a:solidFill>
                          <a:latin typeface="Calibri" panose="020F0502020204030204" pitchFamily="34" charset="0"/>
                          <a:cs typeface="Calibri" panose="020F0502020204030204" pitchFamily="34" charset="0"/>
                        </a:rPr>
                        <a:t> syndrome (YUHAL)</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&lt;&lt;Yuan-Harel-Lupski syndrome (YUHAL)&gt;&gt;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&lt;&lt;17p12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&lt;&lt;17p12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&lt;&lt;17p13.1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&lt;&lt;Miller-Dieker lissencephaly syndrome (MDLS) (loss)&gt;&gt;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&lt;&lt;Miller-Dieker lissencephaly syndrome (MDLS) (gain)&gt;&gt;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17p13.3 telomeric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&lt;&lt;17p13.3 telomeric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935438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&lt;&lt;17q12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86801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17q21.31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&lt;&lt;17q21.31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55994710"/>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17q23.1-q23.2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&lt;&lt;17q23.1-q23.2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3625793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Tetrasomy 18p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&lt;&lt;Tetrasomy 18p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590717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&lt;&lt;18p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21382625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18q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&lt;&lt;18q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4880507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&lt;&lt;19p13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034144248"/>
                  </a:ext>
                </a:extLst>
              </a:tr>
            </a:tbl>
          </a:graphicData>
        </a:graphic>
      </p:graphicFrame>
      <p:graphicFrame>
        <p:nvGraphicFramePr>
          <p:cNvPr id="19" name="Table 18">
            <a:extLst>
              <a:ext uri="{FF2B5EF4-FFF2-40B4-BE49-F238E27FC236}">
                <a16:creationId xmlns:a16="http://schemas.microsoft.com/office/drawing/2014/main" id="{1ED080B9-CC2C-055E-FE5A-4D1E1A9BF877}"/>
              </a:ext>
            </a:extLst>
          </p:cNvPr>
          <p:cNvGraphicFramePr>
            <a:graphicFrameLocks noGrp="1"/>
          </p:cNvGraphicFramePr>
          <p:nvPr>
            <p:extLst>
              <p:ext uri="{D42A27DB-BD31-4B8C-83A1-F6EECF244321}">
                <p14:modId xmlns:p14="http://schemas.microsoft.com/office/powerpoint/2010/main" val="1067725008"/>
              </p:ext>
            </p:extLst>
          </p:nvPr>
        </p:nvGraphicFramePr>
        <p:xfrm>
          <a:off x="3683346" y="2305263"/>
          <a:ext cx="2988000" cy="433578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gridCol w="1494000">
                  <a:extLst>
                    <a:ext uri="{9D8B030D-6E8A-4147-A177-3AD203B41FA5}">
                      <a16:colId xmlns:a16="http://schemas.microsoft.com/office/drawing/2014/main" val="2031203177"/>
                    </a:ext>
                  </a:extLst>
                </a:gridCol>
              </a:tblGrid>
              <a:tr h="0">
                <a:tc>
                  <a:txBody>
                    <a:bodyPr/>
                    <a:lstStyle/>
                    <a:p>
                      <a:pPr algn="ctr"/>
                      <a:r>
                        <a:rPr lang="en-US" sz="800" b="1" dirty="0">
                          <a:solidFill>
                            <a:schemeClr val="bg1"/>
                          </a:solidFill>
                          <a:latin typeface="+mn-lt"/>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solidFill>
                  </a:tcPr>
                </a:tc>
                <a:tc>
                  <a:txBody>
                    <a:bodyPr/>
                    <a:lstStyle/>
                    <a:p>
                      <a:pPr algn="ctr"/>
                      <a:r>
                        <a:rPr lang="en-US" sz="800" b="1" dirty="0">
                          <a:solidFill>
                            <a:schemeClr val="bg1"/>
                          </a:solidFill>
                          <a:latin typeface="+mn-lt"/>
                        </a:rPr>
                        <a:t>Result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solidFill>
                  </a:tcPr>
                </a:tc>
                <a:extLst>
                  <a:ext uri="{0D108BD9-81ED-4DB2-BD59-A6C34878D82A}">
                    <a16:rowId xmlns:a16="http://schemas.microsoft.com/office/drawing/2014/main" val="253872445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19q13.11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&lt;&lt;19q13.11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20p13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&lt;&lt;20p13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21q22.11-q22.12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&lt;&lt;21q22.11-q22.12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22q11.2 deletion syndrome (distal, D-E/F)</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&lt;&lt;22q11.2 deletion syndrome (distal, D-E/F)&gt;&gt;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22q11.2 deletion syndrome (LCR22 B/C-D)</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&lt;&lt;22q11.2 deletion syndrome (LCR22 B/C-D)&gt;&gt;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&lt;&lt;22q13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&lt;&lt;22q13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&lt;&lt;Xp11.22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Xp11.22-p11.23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&lt;&lt;Xp11.22-p11.23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&lt;&lt;Xp11.23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&lt;&lt;Xp11.3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&lt;&lt;Xp21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&lt;&lt;Xp21.2 microduplication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&lt;&lt;Xp22.31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&lt;&lt;Xq21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Xq22.3 telomeric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&lt;&lt;Xq22.3 telomeric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Xq27.3-q28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&lt;&lt;Xq27.3-q28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Xq28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&lt;&lt;Xq28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bl>
          </a:graphicData>
        </a:graphic>
      </p:graphicFrame>
      <p:sp>
        <p:nvSpPr>
          <p:cNvPr id="5" name="TextBox 4">
            <a:extLst>
              <a:ext uri="{FF2B5EF4-FFF2-40B4-BE49-F238E27FC236}">
                <a16:creationId xmlns:a16="http://schemas.microsoft.com/office/drawing/2014/main" id="{5B6446D6-2F7A-3F6C-48EA-C2106B038029}"/>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3" name="Rectangle 2">
            <a:extLst>
              <a:ext uri="{FF2B5EF4-FFF2-40B4-BE49-F238E27FC236}">
                <a16:creationId xmlns:a16="http://schemas.microsoft.com/office/drawing/2014/main" id="{C963D355-13CE-650E-017F-7B7CA8214976}"/>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383D65BD-8205-410F-6EAD-92C942E260E3}"/>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9C072F90-3196-2A37-F307-8B4B8FC29D9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95E55613-D86F-9231-8EE8-BAA21CE9A001}"/>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6" name="TextBox 15">
            <a:extLst>
              <a:ext uri="{FF2B5EF4-FFF2-40B4-BE49-F238E27FC236}">
                <a16:creationId xmlns:a16="http://schemas.microsoft.com/office/drawing/2014/main" id="{62B6D607-3870-949B-A61F-B1F4BF950F04}"/>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9D196080-12E9-E07A-8AFB-7F64DCD6E9DF}"/>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3572</a:t>
            </a:r>
          </a:p>
          <a:p>
            <a:pPr algn="ctr"/>
            <a:r>
              <a:rPr lang="pt-BR" sz="800" dirty="0">
                <a:solidFill>
                  <a:srgbClr val="000000"/>
                </a:solidFill>
                <a:latin typeface="Calibri" panose="020F0502020204030204" pitchFamily="34" charset="0"/>
              </a:rPr>
              <a:t>QR G1.1-6-1-e</a:t>
            </a:r>
            <a:endParaRPr lang="en-ID" sz="800" dirty="0"/>
          </a:p>
        </p:txBody>
      </p:sp>
      <p:sp>
        <p:nvSpPr>
          <p:cNvPr id="7" name="TextBox 6">
            <a:extLst>
              <a:ext uri="{FF2B5EF4-FFF2-40B4-BE49-F238E27FC236}">
                <a16:creationId xmlns:a16="http://schemas.microsoft.com/office/drawing/2014/main" id="{99C11FF6-89AA-B6F7-268F-DD5A0C8EB62A}"/>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1761256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13012</TotalTime>
  <Words>3408</Words>
  <Application>Microsoft Macintosh PowerPoint</Application>
  <PresentationFormat>A4 Paper (210x297 mm)</PresentationFormat>
  <Paragraphs>547</Paragraphs>
  <Slides>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127</cp:revision>
  <dcterms:created xsi:type="dcterms:W3CDTF">2024-06-13T04:30:46Z</dcterms:created>
  <dcterms:modified xsi:type="dcterms:W3CDTF">2026-01-05T03:06:39Z</dcterms:modified>
</cp:coreProperties>
</file>