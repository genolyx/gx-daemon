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
  </p:notesMasterIdLst>
  <p:sldIdLst>
    <p:sldId id="330" r:id="rId2"/>
    <p:sldId id="331" r:id="rId3"/>
    <p:sldId id="332" r:id="rId4"/>
    <p:sldId id="333" r:id="rId5"/>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laysia version" id="{FE771C7B-36E6-4832-B63F-9DF2C17B9980}">
          <p14:sldIdLst>
            <p14:sldId id="330"/>
            <p14:sldId id="331"/>
            <p14:sldId id="332"/>
            <p14:sldId id="333"/>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 id="{2AD7E67D-6C4E-A42D-7787-1BE1BACAA48C}" name="Evon Lee Bee Lay" initials="EB" userId="S::evon.lee@stemlife.com::92a3c5e0-263d-4d39-b45b-d2c2c51ac627" providerId="AD"/>
  <p188:author id="{2C3757E8-09BA-7C23-CF17-B5826D7C6949}" name="PT Cordlife Persada" initials="PP" userId="9bd9c189f0b1781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BF2F2"/>
    <a:srgbClr val="C42438"/>
    <a:srgbClr val="C02337"/>
    <a:srgbClr val="EFCDCD"/>
    <a:srgbClr val="E280A9"/>
    <a:srgbClr val="FDB9C1"/>
    <a:srgbClr val="C82439"/>
    <a:srgbClr val="00A6C8"/>
    <a:srgbClr val="FF5B5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36" autoAdjust="0"/>
  </p:normalViewPr>
  <p:slideViewPr>
    <p:cSldViewPr snapToGrid="0">
      <p:cViewPr varScale="1">
        <p:scale>
          <a:sx n="213" d="100"/>
          <a:sy n="213" d="100"/>
        </p:scale>
        <p:origin x="6408"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8/10/relationships/authors" Target="authors.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8/5/25</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For Low Risk case please write:</a:t>
            </a:r>
          </a:p>
          <a:p>
            <a:pPr marL="0" indent="0">
              <a:buNone/>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dirty="0">
                <a:solidFill>
                  <a:schemeClr val="tx1">
                    <a:lumMod val="75000"/>
                    <a:lumOff val="25000"/>
                  </a:schemeClr>
                </a:solidFill>
              </a:rPr>
              <a:t>NIPT is  a  screening test, not diagnostic, which evaluates genetic information in the maternal blood, a mixture of maternal and  placental  DNA.</a:t>
            </a:r>
            <a:endParaRPr lang="en-US" sz="800" i="0" dirty="0">
              <a:solidFill>
                <a:schemeClr val="tx1">
                  <a:lumMod val="75000"/>
                  <a:lumOff val="25000"/>
                </a:schemeClr>
              </a:solidFill>
            </a:endParaRPr>
          </a:p>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27191093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4256453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4</a:t>
            </a:fld>
            <a:endParaRPr lang="en-US"/>
          </a:p>
        </p:txBody>
      </p:sp>
    </p:spTree>
    <p:extLst>
      <p:ext uri="{BB962C8B-B14F-4D97-AF65-F5344CB8AC3E}">
        <p14:creationId xmlns:p14="http://schemas.microsoft.com/office/powerpoint/2010/main" val="535751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8/5/25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8/5/25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8/5/25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8/5/25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8/5/25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8/5/25</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ppv.geneticsupport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205713-3348-4385-2B4B-E68890BDD5BF}"/>
              </a:ext>
            </a:extLst>
          </p:cNvPr>
          <p:cNvSpPr/>
          <p:nvPr/>
        </p:nvSpPr>
        <p:spPr>
          <a:xfrm>
            <a:off x="430623" y="772625"/>
            <a:ext cx="1956394"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690747F1-4CEA-40FD-98C3-6C40BF950E8B}"/>
              </a:ext>
            </a:extLst>
          </p:cNvPr>
          <p:cNvSpPr/>
          <p:nvPr/>
        </p:nvSpPr>
        <p:spPr>
          <a:xfrm>
            <a:off x="2452579" y="772625"/>
            <a:ext cx="1956393" cy="954107"/>
          </a:xfrm>
          <a:prstGeom prst="rect">
            <a:avLst/>
          </a:prstGeom>
          <a:noFill/>
          <a:ln w="15875" cmpd="tri">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0" name="Rectangle 9">
            <a:extLst>
              <a:ext uri="{FF2B5EF4-FFF2-40B4-BE49-F238E27FC236}">
                <a16:creationId xmlns:a16="http://schemas.microsoft.com/office/drawing/2014/main" id="{94F0FCA8-40AD-49DE-872B-14A5F086A1B6}"/>
              </a:ext>
            </a:extLst>
          </p:cNvPr>
          <p:cNvSpPr/>
          <p:nvPr/>
        </p:nvSpPr>
        <p:spPr>
          <a:xfrm>
            <a:off x="4474534" y="772625"/>
            <a:ext cx="1956393" cy="954107"/>
          </a:xfrm>
          <a:prstGeom prst="rect">
            <a:avLst/>
          </a:prstGeom>
          <a:noFill/>
          <a:ln w="15875" cmpd="thickThin">
            <a:solidFill>
              <a:srgbClr val="C02337"/>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Fetal Fraction</a:t>
            </a:r>
          </a:p>
          <a:p>
            <a:r>
              <a:rPr lang="en-US" sz="1100" b="1" dirty="0">
                <a:latin typeface="Calibri" panose="020F0502020204030204" pitchFamily="34" charset="0"/>
                <a:cs typeface="Calibri" panose="020F0502020204030204" pitchFamily="34" charset="0"/>
              </a:rPr>
              <a:t>     </a:t>
            </a:r>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&lt;&lt;FF_YFF&gt;&gt;%</a:t>
            </a:r>
          </a:p>
          <a:p>
            <a:endParaRPr lang="en-US" sz="1100" b="1" dirty="0">
              <a:latin typeface="Calibri" panose="020F0502020204030204" pitchFamily="34" charset="0"/>
              <a:cs typeface="Calibri" panose="020F0502020204030204" pitchFamily="34" charset="0"/>
            </a:endParaRPr>
          </a:p>
          <a:p>
            <a:r>
              <a:rPr lang="en-US" sz="1100" b="1" dirty="0">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&lt;&lt;Gender&gt;&gt;</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656469384"/>
              </p:ext>
            </p:extLst>
          </p:nvPr>
        </p:nvGraphicFramePr>
        <p:xfrm>
          <a:off x="446345" y="3545404"/>
          <a:ext cx="5984582" cy="2118360"/>
        </p:xfrm>
        <a:graphic>
          <a:graphicData uri="http://schemas.openxmlformats.org/drawingml/2006/table">
            <a:tbl>
              <a:tblPr firstRow="1" bandRow="1">
                <a:noFill/>
                <a:tableStyleId>{EB9631B5-78F2-41C9-869B-9F39066F8104}</a:tableStyleId>
              </a:tblPr>
              <a:tblGrid>
                <a:gridCol w="1873522">
                  <a:extLst>
                    <a:ext uri="{9D8B030D-6E8A-4147-A177-3AD203B41FA5}">
                      <a16:colId xmlns:a16="http://schemas.microsoft.com/office/drawing/2014/main" val="539532219"/>
                    </a:ext>
                  </a:extLst>
                </a:gridCol>
                <a:gridCol w="1083733">
                  <a:extLst>
                    <a:ext uri="{9D8B030D-6E8A-4147-A177-3AD203B41FA5}">
                      <a16:colId xmlns:a16="http://schemas.microsoft.com/office/drawing/2014/main" val="3883297624"/>
                    </a:ext>
                  </a:extLst>
                </a:gridCol>
                <a:gridCol w="948267">
                  <a:extLst>
                    <a:ext uri="{9D8B030D-6E8A-4147-A177-3AD203B41FA5}">
                      <a16:colId xmlns:a16="http://schemas.microsoft.com/office/drawing/2014/main" val="1695220194"/>
                    </a:ext>
                  </a:extLst>
                </a:gridCol>
                <a:gridCol w="1066800">
                  <a:extLst>
                    <a:ext uri="{9D8B030D-6E8A-4147-A177-3AD203B41FA5}">
                      <a16:colId xmlns:a16="http://schemas.microsoft.com/office/drawing/2014/main" val="334132603"/>
                    </a:ext>
                  </a:extLst>
                </a:gridCol>
                <a:gridCol w="1012260">
                  <a:extLst>
                    <a:ext uri="{9D8B030D-6E8A-4147-A177-3AD203B41FA5}">
                      <a16:colId xmlns:a16="http://schemas.microsoft.com/office/drawing/2014/main" val="524729326"/>
                    </a:ext>
                  </a:extLst>
                </a:gridCol>
              </a:tblGrid>
              <a:tr h="243208">
                <a:tc>
                  <a:txBody>
                    <a:bodyPr/>
                    <a:lstStyle/>
                    <a:p>
                      <a:pPr algn="ctr"/>
                      <a:r>
                        <a:rPr lang="en-US" sz="1050" b="1" dirty="0">
                          <a:latin typeface="Calibri" panose="020F0502020204030204" pitchFamily="34" charset="0"/>
                          <a:cs typeface="Calibri" panose="020F0502020204030204" pitchFamily="34" charset="0"/>
                        </a:rPr>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latin typeface="Calibri" panose="020F0502020204030204" pitchFamily="34" charset="0"/>
                          <a:cs typeface="Calibri" panose="020F0502020204030204" pitchFamily="34" charset="0"/>
                        </a:rPr>
                        <a:t>Result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PPV/</a:t>
                      </a:r>
                      <a:r>
                        <a:rPr lang="en-US" sz="1050" b="1" dirty="0" err="1">
                          <a:latin typeface="Calibri" panose="020F0502020204030204" pitchFamily="34" charset="0"/>
                          <a:cs typeface="Calibri" panose="020F0502020204030204" pitchFamily="34" charset="0"/>
                        </a:rPr>
                        <a:t>NPV</a:t>
                      </a:r>
                      <a:r>
                        <a:rPr lang="en-US" sz="1050" b="1" baseline="50000" dirty="0" err="1">
                          <a:latin typeface="Calibri" panose="020F0502020204030204" pitchFamily="34" charset="0"/>
                          <a:cs typeface="Calibri" panose="020F0502020204030204" pitchFamily="34" charset="0"/>
                        </a:rPr>
                        <a:t>a</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Pre -test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b</a:t>
                      </a:r>
                      <a:r>
                        <a:rPr lang="en-US" sz="1050" b="1" dirty="0">
                          <a:latin typeface="Calibri" panose="020F0502020204030204" pitchFamily="34" charset="0"/>
                          <a:cs typeface="Calibri" panose="020F0502020204030204" pitchFamily="34" charset="0"/>
                        </a:rPr>
                        <a:t> </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Post-test</a:t>
                      </a:r>
                    </a:p>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b="1" dirty="0">
                          <a:latin typeface="Calibri" panose="020F0502020204030204" pitchFamily="34" charset="0"/>
                          <a:cs typeface="Calibri" panose="020F0502020204030204" pitchFamily="34" charset="0"/>
                        </a:rPr>
                        <a:t>Risk </a:t>
                      </a:r>
                      <a:r>
                        <a:rPr lang="en-US" sz="1050" b="1" dirty="0" err="1">
                          <a:latin typeface="Calibri" panose="020F0502020204030204" pitchFamily="34" charset="0"/>
                          <a:cs typeface="Calibri" panose="020F0502020204030204" pitchFamily="34" charset="0"/>
                        </a:rPr>
                        <a:t>Score</a:t>
                      </a:r>
                      <a:r>
                        <a:rPr lang="en-US" sz="1050" b="1" baseline="50000" dirty="0" err="1">
                          <a:latin typeface="Calibri" panose="020F0502020204030204" pitchFamily="34" charset="0"/>
                          <a:cs typeface="Calibri" panose="020F0502020204030204" pitchFamily="34" charset="0"/>
                        </a:rPr>
                        <a:t>c</a:t>
                      </a:r>
                      <a:endParaRPr lang="en-US" sz="1050" b="1" baseline="50000" dirty="0">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0">
                <a:tc>
                  <a:txBody>
                    <a:bodyPr/>
                    <a:lstStyle/>
                    <a:p>
                      <a:pPr algn="ctr"/>
                      <a:r>
                        <a:rPr lang="en-US" sz="1000" b="1" dirty="0">
                          <a:latin typeface="Calibri" panose="020F0502020204030204" pitchFamily="34" charset="0"/>
                          <a:cs typeface="Calibri" panose="020F0502020204030204" pitchFamily="34" charset="0"/>
                        </a:rPr>
                        <a:t>Trisomy 21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4706"/>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&lt;&lt;T21 Result&gt;&gt;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&lt;&lt;ST21_TT21&gt;&gt;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&lt;&lt;T21 Risk After&gt;&gt;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621165317"/>
                  </a:ext>
                </a:extLst>
              </a:tr>
              <a:tr h="0">
                <a:tc>
                  <a:txBody>
                    <a:bodyPr/>
                    <a:lstStyle/>
                    <a:p>
                      <a:pPr algn="ctr"/>
                      <a:r>
                        <a:rPr lang="en-US" sz="1000" b="1" dirty="0">
                          <a:latin typeface="Calibri" panose="020F0502020204030204" pitchFamily="34" charset="0"/>
                          <a:cs typeface="Calibri" panose="020F0502020204030204" pitchFamily="34" charset="0"/>
                        </a:rPr>
                        <a:t>Trisomy 18</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&lt;&lt;T18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0" dirty="0">
                          <a:solidFill>
                            <a:schemeClr val="tx1"/>
                          </a:solidFill>
                          <a:latin typeface="Calibri" panose="020F0502020204030204" pitchFamily="34" charset="0"/>
                          <a:cs typeface="Calibri" panose="020F0502020204030204" pitchFamily="34" charset="0"/>
                        </a:rPr>
                        <a:t>&lt;&lt;ST18_TT18&gt;&gt;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&lt;&lt;T18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20442383"/>
                  </a:ext>
                </a:extLst>
              </a:tr>
              <a:tr h="0">
                <a:tc>
                  <a:txBody>
                    <a:bodyPr/>
                    <a:lstStyle/>
                    <a:p>
                      <a:pPr algn="ctr"/>
                      <a:r>
                        <a:rPr lang="en-US" sz="1000" b="1" dirty="0">
                          <a:latin typeface="Calibri" panose="020F0502020204030204" pitchFamily="34" charset="0"/>
                          <a:cs typeface="Calibri" panose="020F0502020204030204" pitchFamily="34" charset="0"/>
                        </a:rPr>
                        <a:t>Trisomy 13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&lt;&lt;T13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dirty="0">
                          <a:latin typeface="Calibri" panose="020F0502020204030204" pitchFamily="34" charset="0"/>
                          <a:cs typeface="Calibri" panose="020F0502020204030204" pitchFamily="34" charset="0"/>
                        </a:rPr>
                        <a:t>&lt;&lt;ST13_TT13&gt;&gt;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&lt;&lt;T13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332318909"/>
                  </a:ext>
                </a:extLst>
              </a:tr>
              <a:tr h="0">
                <a:tc>
                  <a:txBody>
                    <a:bodyPr/>
                    <a:lstStyle/>
                    <a:p>
                      <a:pPr algn="ctr"/>
                      <a:r>
                        <a:rPr lang="en-US" sz="1000" b="1" dirty="0">
                          <a:latin typeface="Calibri" panose="020F0502020204030204" pitchFamily="34" charset="0"/>
                          <a:cs typeface="Calibri" panose="020F0502020204030204" pitchFamily="34" charset="0"/>
                        </a:rPr>
                        <a:t>XO (Turner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&lt;&lt;XO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&lt;&lt;XO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598480914"/>
                  </a:ext>
                </a:extLst>
              </a:tr>
              <a:tr h="0">
                <a:tc>
                  <a:txBody>
                    <a:bodyPr/>
                    <a:lstStyle/>
                    <a:p>
                      <a:pPr algn="ctr"/>
                      <a:r>
                        <a:rPr lang="en-US" sz="1000" b="1" dirty="0">
                          <a:latin typeface="Calibri" panose="020F0502020204030204" pitchFamily="34" charset="0"/>
                          <a:cs typeface="Calibri" panose="020F0502020204030204" pitchFamily="34" charset="0"/>
                        </a:rPr>
                        <a:t>XXX (Trisomy X)</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&lt;&lt;XXX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&lt;&lt;XXX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66551876"/>
                  </a:ext>
                </a:extLst>
              </a:tr>
              <a:tr h="0">
                <a:tc>
                  <a:txBody>
                    <a:bodyPr/>
                    <a:lstStyle/>
                    <a:p>
                      <a:pPr algn="ctr"/>
                      <a:r>
                        <a:rPr lang="en-US" sz="1000" b="1" dirty="0">
                          <a:latin typeface="Calibri" panose="020F0502020204030204" pitchFamily="34" charset="0"/>
                          <a:cs typeface="Calibri" panose="020F0502020204030204" pitchFamily="34" charset="0"/>
                        </a:rPr>
                        <a:t>XXY (Klinefelter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&lt;&lt;XXY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&lt;&lt;XXY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012288664"/>
                  </a:ext>
                </a:extLst>
              </a:tr>
              <a:tr h="0">
                <a:tc>
                  <a:txBody>
                    <a:bodyPr/>
                    <a:lstStyle/>
                    <a:p>
                      <a:pPr algn="ctr"/>
                      <a:r>
                        <a:rPr lang="en-US" sz="1000" b="1" dirty="0">
                          <a:latin typeface="Calibri" panose="020F0502020204030204" pitchFamily="34" charset="0"/>
                          <a:cs typeface="Calibri" panose="020F0502020204030204" pitchFamily="34" charset="0"/>
                        </a:rPr>
                        <a:t>XYY (Jacob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b="1" dirty="0">
                          <a:solidFill>
                            <a:schemeClr val="tx1"/>
                          </a:solidFill>
                          <a:latin typeface="Calibri" panose="020F0502020204030204" pitchFamily="34" charset="0"/>
                          <a:cs typeface="Calibri" panose="020F0502020204030204" pitchFamily="34" charset="0"/>
                        </a:rPr>
                        <a:t>&lt;&lt;XYY Result&gt;&gt;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0" dirty="0">
                          <a:latin typeface="Calibri" panose="020F0502020204030204" pitchFamily="34" charset="0"/>
                          <a:ea typeface="Arial"/>
                          <a:cs typeface="Calibri" panose="020F0502020204030204" pitchFamily="34" charset="0"/>
                          <a:sym typeface="Arial"/>
                        </a:rPr>
                        <a:t>&gt;99/99</a:t>
                      </a:r>
                      <a:endParaRPr lang="en-US" sz="900" dirty="0">
                        <a:latin typeface="Calibri" panose="020F0502020204030204" pitchFamily="34" charset="0"/>
                        <a:ea typeface="Arial"/>
                        <a:cs typeface="Calibri" panose="020F0502020204030204" pitchFamily="34" charset="0"/>
                        <a:sym typeface="Arial"/>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900" dirty="0">
                          <a:latin typeface="Calibri" panose="020F0502020204030204" pitchFamily="34" charset="0"/>
                          <a:cs typeface="Calibri" panose="020F0502020204030204" pitchFamily="34" charset="0"/>
                        </a:rPr>
                        <a:t>NA</a:t>
                      </a:r>
                      <a:endParaRPr lang="en-US" sz="900" b="1" dirty="0">
                        <a:solidFill>
                          <a:srgbClr val="C00000"/>
                        </a:solidFill>
                        <a:latin typeface="Calibri" panose="020F0502020204030204" pitchFamily="34" charset="0"/>
                        <a:cs typeface="Calibri" panose="020F050202020403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r>
                        <a:rPr lang="en-US" sz="800" b="0" dirty="0">
                          <a:solidFill>
                            <a:schemeClr val="tx1"/>
                          </a:solidFill>
                          <a:latin typeface="Calibri" panose="020F0502020204030204" pitchFamily="34" charset="0"/>
                          <a:cs typeface="Calibri" panose="020F0502020204030204" pitchFamily="34" charset="0"/>
                        </a:rPr>
                        <a:t>&lt;&lt;XYY Risk After&gt;&gt;</a:t>
                      </a: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3550806044"/>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4468" y="323762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56142"/>
            <a:ext cx="3681005" cy="0"/>
          </a:xfrm>
          <a:prstGeom prst="line">
            <a:avLst/>
          </a:prstGeom>
          <a:ln>
            <a:solidFill>
              <a:srgbClr val="C02337"/>
            </a:solidFill>
            <a:prstDash val="lgDash"/>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7389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3"/>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The pre-test risk score for aneuploidy is based on a published study involving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which considered maternal age, gestational age, and/or general population data.</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Post-test risk score value is calculated as a probability value obtained through the Gaussian distribution of the normal group and the abnormal group using the fetal DNA percentage (fetal fraction), chromosome read % (Unique Read %) value, and Z-score value. The post test risk score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FBB5B363-1468-01A7-7F2E-87830301A60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23" name="Rectangle 22">
            <a:extLst>
              <a:ext uri="{FF2B5EF4-FFF2-40B4-BE49-F238E27FC236}">
                <a16:creationId xmlns:a16="http://schemas.microsoft.com/office/drawing/2014/main" id="{FE10BDA8-6E71-A197-8560-945E2F9A196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25" name="Rectangle: Rounded Corners 24">
            <a:extLst>
              <a:ext uri="{FF2B5EF4-FFF2-40B4-BE49-F238E27FC236}">
                <a16:creationId xmlns:a16="http://schemas.microsoft.com/office/drawing/2014/main" id="{C255419B-7D9F-286C-F90D-5D028B5E060C}"/>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6ADF4B2D-E848-8007-B2AD-D3A9E5C1EC8B}"/>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9847590E-2383-A71D-DE54-A9343D91607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52A032D7-6E36-FFCF-B1EB-F399544D65F9}"/>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938018E-7C91-2C40-2F25-4B1D62893305}"/>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90E11F8C-6871-C190-CE89-B70C2A7765DB}"/>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3" name="TextBox 12">
            <a:extLst>
              <a:ext uri="{FF2B5EF4-FFF2-40B4-BE49-F238E27FC236}">
                <a16:creationId xmlns:a16="http://schemas.microsoft.com/office/drawing/2014/main" id="{1A418D20-98E6-069F-6218-7CC0DB844A90}"/>
              </a:ext>
            </a:extLst>
          </p:cNvPr>
          <p:cNvSpPr txBox="1"/>
          <p:nvPr/>
        </p:nvSpPr>
        <p:spPr>
          <a:xfrm>
            <a:off x="467796" y="1898712"/>
            <a:ext cx="3859287" cy="512769"/>
          </a:xfrm>
          <a:prstGeom prst="rect">
            <a:avLst/>
          </a:prstGeom>
          <a:noFill/>
        </p:spPr>
        <p:txBody>
          <a:bodyPr wrap="square" rtlCol="0">
            <a:spAutoFit/>
          </a:bodyPr>
          <a:lstStyle/>
          <a:p>
            <a:r>
              <a:rPr lang="en-US" sz="1400" b="1" dirty="0">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&lt;&lt;Interpretation&gt;&gt;</a:t>
            </a:r>
            <a:endParaRPr lang="en-US" sz="1100" dirty="0">
              <a:latin typeface="Calibri" panose="020F0502020204030204" pitchFamily="34" charset="0"/>
              <a:ea typeface="Calibri"/>
              <a:cs typeface="Calibri" panose="020F0502020204030204" pitchFamily="34" charset="0"/>
              <a:sym typeface="Calibri"/>
            </a:endParaRPr>
          </a:p>
        </p:txBody>
      </p:sp>
      <p:sp>
        <p:nvSpPr>
          <p:cNvPr id="16" name="TextBox 15">
            <a:extLst>
              <a:ext uri="{FF2B5EF4-FFF2-40B4-BE49-F238E27FC236}">
                <a16:creationId xmlns:a16="http://schemas.microsoft.com/office/drawing/2014/main" id="{D9D72EAA-BF64-9C64-E07A-48C5A07A5F95}"/>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5EB3B060-6E98-C33B-B3C0-9D777261312F}"/>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89774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RESULTS DETAILS</a:t>
            </a:r>
          </a:p>
        </p:txBody>
      </p:sp>
      <p:graphicFrame>
        <p:nvGraphicFramePr>
          <p:cNvPr id="2" name="Table 1">
            <a:extLst>
              <a:ext uri="{FF2B5EF4-FFF2-40B4-BE49-F238E27FC236}">
                <a16:creationId xmlns:a16="http://schemas.microsoft.com/office/drawing/2014/main" id="{7493B88F-465A-858F-2F66-B72843820E08}"/>
              </a:ext>
            </a:extLst>
          </p:cNvPr>
          <p:cNvGraphicFramePr>
            <a:graphicFrameLocks noGrp="1"/>
          </p:cNvGraphicFramePr>
          <p:nvPr>
            <p:extLst>
              <p:ext uri="{D42A27DB-BD31-4B8C-83A1-F6EECF244321}">
                <p14:modId xmlns:p14="http://schemas.microsoft.com/office/powerpoint/2010/main" val="1482750966"/>
              </p:ext>
            </p:extLst>
          </p:nvPr>
        </p:nvGraphicFramePr>
        <p:xfrm>
          <a:off x="464687" y="2286588"/>
          <a:ext cx="5984584" cy="2156298"/>
        </p:xfrm>
        <a:graphic>
          <a:graphicData uri="http://schemas.openxmlformats.org/drawingml/2006/table">
            <a:tbl>
              <a:tblPr firstRow="1" bandRow="1">
                <a:noFill/>
                <a:tableStyleId>{EB9631B5-78F2-41C9-869B-9F39066F8104}</a:tableStyleId>
              </a:tblPr>
              <a:tblGrid>
                <a:gridCol w="1874476">
                  <a:extLst>
                    <a:ext uri="{9D8B030D-6E8A-4147-A177-3AD203B41FA5}">
                      <a16:colId xmlns:a16="http://schemas.microsoft.com/office/drawing/2014/main" val="539532219"/>
                    </a:ext>
                  </a:extLst>
                </a:gridCol>
                <a:gridCol w="1018008">
                  <a:extLst>
                    <a:ext uri="{9D8B030D-6E8A-4147-A177-3AD203B41FA5}">
                      <a16:colId xmlns:a16="http://schemas.microsoft.com/office/drawing/2014/main" val="3883297624"/>
                    </a:ext>
                  </a:extLst>
                </a:gridCol>
                <a:gridCol w="208280">
                  <a:extLst>
                    <a:ext uri="{9D8B030D-6E8A-4147-A177-3AD203B41FA5}">
                      <a16:colId xmlns:a16="http://schemas.microsoft.com/office/drawing/2014/main" val="1102380160"/>
                    </a:ext>
                  </a:extLst>
                </a:gridCol>
                <a:gridCol w="1899684">
                  <a:extLst>
                    <a:ext uri="{9D8B030D-6E8A-4147-A177-3AD203B41FA5}">
                      <a16:colId xmlns:a16="http://schemas.microsoft.com/office/drawing/2014/main" val="1695220194"/>
                    </a:ext>
                  </a:extLst>
                </a:gridCol>
                <a:gridCol w="984136">
                  <a:extLst>
                    <a:ext uri="{9D8B030D-6E8A-4147-A177-3AD203B41FA5}">
                      <a16:colId xmlns:a16="http://schemas.microsoft.com/office/drawing/2014/main" val="340498656"/>
                    </a:ext>
                  </a:extLst>
                </a:gridCol>
              </a:tblGrid>
              <a:tr h="243208">
                <a:tc>
                  <a:txBody>
                    <a:bodyPr/>
                    <a:lstStyle/>
                    <a:p>
                      <a:pPr algn="ctr"/>
                      <a:r>
                        <a:rPr lang="en-US" sz="1050" b="1" dirty="0"/>
                        <a:t>Conditions</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endParaRPr lang="en-US" sz="1050" b="1" dirty="0"/>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b="1" dirty="0"/>
                        <a:t>Conditions</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tc>
                  <a:txBody>
                    <a:bodyPr/>
                    <a:lstStyle/>
                    <a:p>
                      <a:pPr algn="ctr"/>
                      <a:r>
                        <a:rPr lang="en-US" sz="1050" b="1" dirty="0"/>
                        <a:t>Result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1483159712"/>
                  </a:ext>
                </a:extLst>
              </a:tr>
              <a:tr h="410610">
                <a:tc>
                  <a:txBody>
                    <a:bodyPr/>
                    <a:lstStyle/>
                    <a:p>
                      <a:pPr algn="ctr"/>
                      <a:r>
                        <a:rPr lang="en-US" sz="900" b="1" dirty="0">
                          <a:latin typeface="Calibri" panose="020F0502020204030204" pitchFamily="34" charset="0"/>
                          <a:cs typeface="Calibri" panose="020F0502020204030204" pitchFamily="34" charset="0"/>
                        </a:rPr>
                        <a:t>1p36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&lt;&lt;MD1&gt;&gt;</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Jacobsen syndrome</a:t>
                      </a:r>
                    </a:p>
                    <a:p>
                      <a:pPr algn="ctr"/>
                      <a:r>
                        <a:rPr lang="en-US" sz="900" b="1" dirty="0">
                          <a:latin typeface="Calibri" panose="020F0502020204030204" pitchFamily="34" charset="0"/>
                          <a:cs typeface="Calibri" panose="020F0502020204030204" pitchFamily="34" charset="0"/>
                        </a:rPr>
                        <a:t>(11q23.3-q25)</a:t>
                      </a: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&lt;&lt;MD6&gt;&gt;</a:t>
                      </a:r>
                    </a:p>
                  </a:txBody>
                  <a:tcPr anchor="ctr">
                    <a:lnL w="635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069331958"/>
                  </a:ext>
                </a:extLst>
              </a:tr>
              <a:tr h="396948">
                <a:tc>
                  <a:txBody>
                    <a:bodyPr/>
                    <a:lstStyle/>
                    <a:p>
                      <a:pPr algn="ctr"/>
                      <a:r>
                        <a:rPr lang="en-US" sz="900" b="1" dirty="0">
                          <a:latin typeface="Calibri" panose="020F0502020204030204" pitchFamily="34" charset="0"/>
                          <a:cs typeface="Calibri" panose="020F0502020204030204" pitchFamily="34" charset="0"/>
                        </a:rPr>
                        <a:t>2q33.1 deletion syndrome</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&lt;&lt;MD2&gt;&gt;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Prader-Willi/Angelman syndrome (15q11.2-q13)</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&lt;&lt;MD7&gt;&gt;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463445317"/>
                  </a:ext>
                </a:extLst>
              </a:tr>
              <a:tr h="0">
                <a:tc>
                  <a:txBody>
                    <a:bodyPr/>
                    <a:lstStyle/>
                    <a:p>
                      <a:pPr algn="ctr"/>
                      <a:r>
                        <a:rPr lang="en-US" sz="900" b="1" dirty="0">
                          <a:latin typeface="Calibri" panose="020F0502020204030204" pitchFamily="34" charset="0"/>
                          <a:cs typeface="Calibri" panose="020F0502020204030204" pitchFamily="34" charset="0"/>
                        </a:rPr>
                        <a:t>Wolf-Hirschhorn syndrome </a:t>
                      </a:r>
                    </a:p>
                    <a:p>
                      <a:pPr algn="ctr"/>
                      <a:r>
                        <a:rPr lang="en-US" sz="900" b="1" dirty="0">
                          <a:latin typeface="Calibri" panose="020F0502020204030204" pitchFamily="34" charset="0"/>
                          <a:cs typeface="Calibri" panose="020F0502020204030204" pitchFamily="34" charset="0"/>
                        </a:rPr>
                        <a:t>(4p16.3)</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&lt;&lt;MD3&gt;&gt;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DiGeorge syndrome</a:t>
                      </a:r>
                    </a:p>
                    <a:p>
                      <a:pPr algn="ctr"/>
                      <a:r>
                        <a:rPr lang="en-US" sz="900" b="1" dirty="0">
                          <a:latin typeface="Calibri" panose="020F0502020204030204" pitchFamily="34" charset="0"/>
                          <a:cs typeface="Calibri" panose="020F0502020204030204" pitchFamily="34" charset="0"/>
                        </a:rPr>
                        <a:t>(22q11.2)</a:t>
                      </a: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&lt;&lt;MD8&gt;&gt;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2868477542"/>
                  </a:ext>
                </a:extLst>
              </a:tr>
              <a:tr h="0">
                <a:tc>
                  <a:txBody>
                    <a:bodyPr/>
                    <a:lstStyle/>
                    <a:p>
                      <a:pPr algn="ctr"/>
                      <a:r>
                        <a:rPr lang="en-US" sz="900" b="1" dirty="0">
                          <a:latin typeface="Calibri" panose="020F0502020204030204" pitchFamily="34" charset="0"/>
                          <a:cs typeface="Calibri" panose="020F0502020204030204" pitchFamily="34" charset="0"/>
                        </a:rPr>
                        <a:t>Cri Du Chat syndrome</a:t>
                      </a:r>
                    </a:p>
                    <a:p>
                      <a:pPr algn="ctr"/>
                      <a:r>
                        <a:rPr lang="en-US" sz="900" b="1" dirty="0">
                          <a:latin typeface="Calibri" panose="020F0502020204030204" pitchFamily="34" charset="0"/>
                          <a:cs typeface="Calibri" panose="020F0502020204030204" pitchFamily="34" charset="0"/>
                        </a:rPr>
                        <a:t>(5p-)</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&lt;&lt;MD4&gt;&gt;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900" b="1" dirty="0">
                          <a:latin typeface="Calibri" panose="020F0502020204030204" pitchFamily="34" charset="0"/>
                          <a:cs typeface="Calibri" panose="020F0502020204030204" pitchFamily="34" charset="0"/>
                        </a:rPr>
                        <a:t>Other microdeletions</a:t>
                      </a:r>
                      <a:endParaRPr lang="en-US" sz="900" b="1" baseline="50000" dirty="0">
                        <a:latin typeface="Calibri" panose="020F0502020204030204" pitchFamily="34" charset="0"/>
                        <a:cs typeface="Calibri" panose="020F0502020204030204" pitchFamily="34" charset="0"/>
                      </a:endParaRPr>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&lt;&lt;Other MD&gt;&gt;</a:t>
                      </a:r>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316924696"/>
                  </a:ext>
                </a:extLst>
              </a:tr>
              <a:tr h="0">
                <a:tc>
                  <a:txBody>
                    <a:bodyPr/>
                    <a:lstStyle/>
                    <a:p>
                      <a:pPr algn="ctr"/>
                      <a:r>
                        <a:rPr lang="en-US" sz="900" b="1" dirty="0">
                          <a:latin typeface="Calibri" panose="020F0502020204030204" pitchFamily="34" charset="0"/>
                          <a:cs typeface="Calibri" panose="020F0502020204030204" pitchFamily="34" charset="0"/>
                        </a:rPr>
                        <a:t>Williams-Beuren syndrome (7q11.23 deletion)</a:t>
                      </a: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900" b="1" dirty="0">
                          <a:latin typeface="Calibri" panose="020F0502020204030204" pitchFamily="34" charset="0"/>
                          <a:cs typeface="Calibri" panose="020F0502020204030204" pitchFamily="34" charset="0"/>
                        </a:rPr>
                        <a:t>&lt;&lt;MD5&gt;&gt;</a:t>
                      </a:r>
                    </a:p>
                  </a:txBody>
                  <a:tcPr anchor="ctr">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900" b="1" i="0" u="none" strike="noStrike" kern="1200" cap="none" spc="0" normalizeH="0" baseline="0" noProof="0" dirty="0">
                        <a:ln>
                          <a:noFill/>
                        </a:ln>
                        <a:solidFill>
                          <a:prstClr val="black"/>
                        </a:solidFill>
                        <a:effectLst/>
                        <a:uLnTx/>
                        <a:uFillTx/>
                        <a:latin typeface="Aptos" panose="02110004020202020204"/>
                        <a:ea typeface="+mn-ea"/>
                        <a:cs typeface="+mn-cs"/>
                      </a:endParaRPr>
                    </a:p>
                  </a:txBody>
                  <a:tcPr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900" b="1" dirty="0"/>
                    </a:p>
                  </a:txBody>
                  <a:tcPr anchor="ctr">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tc>
                  <a:txBody>
                    <a:bodyPr/>
                    <a:lstStyle/>
                    <a:p>
                      <a:pPr algn="ctr"/>
                      <a:endParaRPr lang="en-US" sz="900" b="1" dirty="0"/>
                    </a:p>
                  </a:txBody>
                  <a:tcPr anchor="ctr">
                    <a:lnL w="635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FCDCD">
                        <a:alpha val="25098"/>
                      </a:srgbClr>
                    </a:solidFill>
                  </a:tcPr>
                </a:tc>
                <a:extLst>
                  <a:ext uri="{0D108BD9-81ED-4DB2-BD59-A6C34878D82A}">
                    <a16:rowId xmlns:a16="http://schemas.microsoft.com/office/drawing/2014/main" val="1196116673"/>
                  </a:ext>
                </a:extLst>
              </a:tr>
            </a:tbl>
          </a:graphicData>
        </a:graphic>
      </p:graphicFrame>
      <p:sp>
        <p:nvSpPr>
          <p:cNvPr id="3" name="TextBox 2">
            <a:extLst>
              <a:ext uri="{FF2B5EF4-FFF2-40B4-BE49-F238E27FC236}">
                <a16:creationId xmlns:a16="http://schemas.microsoft.com/office/drawing/2014/main" id="{89C65888-2E26-5D65-3D1E-5F293A21906C}"/>
              </a:ext>
            </a:extLst>
          </p:cNvPr>
          <p:cNvSpPr txBox="1"/>
          <p:nvPr/>
        </p:nvSpPr>
        <p:spPr>
          <a:xfrm>
            <a:off x="436708" y="2045473"/>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Microdeletions</a:t>
            </a:r>
            <a:endParaRPr lang="en-US" sz="11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EF32742E-79C3-2E41-E269-1BCEA92A7D48}"/>
              </a:ext>
            </a:extLst>
          </p:cNvPr>
          <p:cNvSpPr txBox="1"/>
          <p:nvPr/>
        </p:nvSpPr>
        <p:spPr>
          <a:xfrm>
            <a:off x="430623" y="4467209"/>
            <a:ext cx="2681172"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Interpretation(s)</a:t>
            </a:r>
            <a:endParaRPr lang="en-US" sz="1100" dirty="0">
              <a:latin typeface="Calibri" panose="020F0502020204030204" pitchFamily="34" charset="0"/>
              <a:cs typeface="Calibri" panose="020F0502020204030204" pitchFamily="34" charset="0"/>
            </a:endParaRPr>
          </a:p>
        </p:txBody>
      </p:sp>
      <p:sp>
        <p:nvSpPr>
          <p:cNvPr id="9" name="Rectangle: Rounded Corners 8">
            <a:extLst>
              <a:ext uri="{FF2B5EF4-FFF2-40B4-BE49-F238E27FC236}">
                <a16:creationId xmlns:a16="http://schemas.microsoft.com/office/drawing/2014/main" id="{D52D37D9-91C3-B54A-893B-EF7DB5C047FA}"/>
              </a:ext>
            </a:extLst>
          </p:cNvPr>
          <p:cNvSpPr/>
          <p:nvPr/>
        </p:nvSpPr>
        <p:spPr>
          <a:xfrm>
            <a:off x="446345" y="4711884"/>
            <a:ext cx="5984582" cy="800297"/>
          </a:xfrm>
          <a:prstGeom prst="roundRect">
            <a:avLst/>
          </a:prstGeom>
          <a:noFill/>
          <a:ln>
            <a:solidFill>
              <a:srgbClr val="FBF2F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32169" y="5755744"/>
            <a:ext cx="5998758" cy="1338828"/>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Autosomal and Sex Chromosome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using cell free DNA analysis, validated for singleton pregnancies with gestational age of at least 10 weeks, as estimated by the last menstrual period. These results do not eliminate the possibility that the pregnancy may be associated with other chromosomal or sub-chromosomal abnormalities, birth defects, and/or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inaccurate test results may include, but are not limited to maternal, fetal and/or placental mosaicism, low fetal fraction, blood transfusion, transplant surgery and stem cell therapy. Especially, in particular fetal reduction including vanishing twin, fetal demise can result in false-negative or false-positive result. If a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30623" y="5512181"/>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32147" y="7175718"/>
            <a:ext cx="5998758" cy="1708160"/>
          </a:xfrm>
          <a:prstGeom prst="rect">
            <a:avLst/>
          </a:prstGeom>
          <a:noFill/>
        </p:spPr>
        <p:txBody>
          <a:bodyPr wrap="square">
            <a:spAutoFit/>
          </a:bodyPr>
          <a:lstStyle/>
          <a:p>
            <a:pPr algn="just"/>
            <a:r>
              <a:rPr lang="en-US" sz="900" b="1" dirty="0">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the regions of 1p36, 2q33.1, 4p16.3, 5p-, 7q11.23, 11q23, 15q11.2-q13, 22q11.2, and 108 syndromes (if applicable) and is available for singleton pregnancies with gestational age of at least 10 weeks, as estimated by the last menstrual period, crown-rump length, or another appropriate method. This is a screening test and may result in false-positive or false-negative results. Therefore, a negative results does not eliminate the possibility of the above-mentioned microdeletions/duplications syndromes. If a definitive diagnosis is desired, chorionic villus sampling or amniocentesis would be necessary, with consideration of prenatal microarray or region-specific DNA probes. In addition, chromosomal or sub-chromosomal findings greater than 3 Mb may be reported, which are rare and complex, insufficient validation may result in lower specificity. Low fetal fraction or short Copy Number Variation (CNV) size are technical limitation. Consultation with a physician(s) will be necessary for such findings.</a:t>
            </a:r>
          </a:p>
          <a:p>
            <a:pPr algn="just"/>
            <a:r>
              <a:rPr lang="en-US" sz="800" dirty="0">
                <a:latin typeface="Calibri" panose="020F0502020204030204" pitchFamily="34" charset="0"/>
                <a:cs typeface="Calibri" panose="020F0502020204030204" pitchFamily="34" charset="0"/>
              </a:rPr>
              <a:t>These results do not eliminate the possibility that the pregnancy may be associated with other chromosomal or sub-chromosomal abnormalities, birth defects, and/or other conditions. This test is not intended to identify pregnancies at risk for open neural tube defects. Furthermore, there is a small possibility that the test results may not reflect the chromosomal status of the fetus, but may instead reflect sub-chromosomal changes of the placenta (confined placental mosaicism), or of the mother. </a:t>
            </a:r>
          </a:p>
        </p:txBody>
      </p:sp>
      <p:sp>
        <p:nvSpPr>
          <p:cNvPr id="28" name="TextBox 27">
            <a:extLst>
              <a:ext uri="{FF2B5EF4-FFF2-40B4-BE49-F238E27FC236}">
                <a16:creationId xmlns:a16="http://schemas.microsoft.com/office/drawing/2014/main" id="{82AAE524-2EB2-C10E-0496-53D7DA01CBBE}"/>
              </a:ext>
            </a:extLst>
          </p:cNvPr>
          <p:cNvSpPr txBox="1"/>
          <p:nvPr/>
        </p:nvSpPr>
        <p:spPr>
          <a:xfrm>
            <a:off x="498897" y="4747308"/>
            <a:ext cx="5689600" cy="246221"/>
          </a:xfrm>
          <a:prstGeom prst="rect">
            <a:avLst/>
          </a:prstGeom>
          <a:noFill/>
        </p:spPr>
        <p:txBody>
          <a:bodyPr wrap="square">
            <a:spAutoFit/>
          </a:bodyPr>
          <a:lstStyle/>
          <a:p>
            <a:pPr marL="83820" lvl="0"/>
            <a:r>
              <a:rPr lang="en-US" sz="1000" dirty="0">
                <a:latin typeface="Calibri" panose="020F0502020204030204" pitchFamily="34" charset="0"/>
                <a:ea typeface="Calibri"/>
                <a:cs typeface="Calibri" panose="020F0502020204030204" pitchFamily="34" charset="0"/>
                <a:sym typeface="Calibri"/>
              </a:rPr>
              <a:t>&lt;&lt;MDI&gt;&gt;</a:t>
            </a:r>
          </a:p>
        </p:txBody>
      </p:sp>
      <p:pic>
        <p:nvPicPr>
          <p:cNvPr id="7" name="Picture 6">
            <a:extLst>
              <a:ext uri="{FF2B5EF4-FFF2-40B4-BE49-F238E27FC236}">
                <a16:creationId xmlns:a16="http://schemas.microsoft.com/office/drawing/2014/main" id="{D2AB43B1-400F-C6AE-46E6-024F7D22DD4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4D4033D1-63E4-B193-0F12-03824974799C}"/>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1BDFE2F2-D0D5-678E-1EEA-2799353566AE}"/>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25575850-A549-2669-E0A8-25A1A1DE5243}"/>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8" name="Rectangle 17">
            <a:extLst>
              <a:ext uri="{FF2B5EF4-FFF2-40B4-BE49-F238E27FC236}">
                <a16:creationId xmlns:a16="http://schemas.microsoft.com/office/drawing/2014/main" id="{80E7CDCA-F736-140A-AA86-32CC57BA663E}"/>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B91AF2B1-F8C4-D203-EEB2-8EB1126B3746}"/>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26" name="TextBox 25">
            <a:extLst>
              <a:ext uri="{FF2B5EF4-FFF2-40B4-BE49-F238E27FC236}">
                <a16:creationId xmlns:a16="http://schemas.microsoft.com/office/drawing/2014/main" id="{750605DF-1DE2-4973-0A49-19B87B8F5915}"/>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5" name="TextBox 4">
            <a:extLst>
              <a:ext uri="{FF2B5EF4-FFF2-40B4-BE49-F238E27FC236}">
                <a16:creationId xmlns:a16="http://schemas.microsoft.com/office/drawing/2014/main" id="{35EA3450-4577-9121-2D79-1729F27A591F}"/>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6" name="Rectangle: Rounded Corners 5">
            <a:extLst>
              <a:ext uri="{FF2B5EF4-FFF2-40B4-BE49-F238E27FC236}">
                <a16:creationId xmlns:a16="http://schemas.microsoft.com/office/drawing/2014/main" id="{FA7DDA8C-6425-8905-CFE2-79F8BEC1911A}"/>
              </a:ext>
            </a:extLst>
          </p:cNvPr>
          <p:cNvSpPr/>
          <p:nvPr/>
        </p:nvSpPr>
        <p:spPr>
          <a:xfrm>
            <a:off x="537325" y="9463972"/>
            <a:ext cx="5176538" cy="206556"/>
          </a:xfrm>
          <a:prstGeom prst="round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FA52F126-4C40-13F6-F745-BCC95116CCDF}"/>
              </a:ext>
            </a:extLst>
          </p:cNvPr>
          <p:cNvSpPr txBox="1"/>
          <p:nvPr/>
        </p:nvSpPr>
        <p:spPr>
          <a:xfrm>
            <a:off x="446345" y="9203303"/>
            <a:ext cx="1226618"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Results verified by:</a:t>
            </a:r>
          </a:p>
        </p:txBody>
      </p:sp>
      <p:sp>
        <p:nvSpPr>
          <p:cNvPr id="12" name="TextBox 11">
            <a:extLst>
              <a:ext uri="{FF2B5EF4-FFF2-40B4-BE49-F238E27FC236}">
                <a16:creationId xmlns:a16="http://schemas.microsoft.com/office/drawing/2014/main" id="{A2C0A2C8-E99E-A737-02DF-EC46D2EC8D46}"/>
              </a:ext>
            </a:extLst>
          </p:cNvPr>
          <p:cNvSpPr txBox="1"/>
          <p:nvPr/>
        </p:nvSpPr>
        <p:spPr>
          <a:xfrm>
            <a:off x="498897" y="9427924"/>
            <a:ext cx="3476086" cy="276999"/>
          </a:xfrm>
          <a:prstGeom prst="rect">
            <a:avLst/>
          </a:prstGeom>
          <a:noFill/>
        </p:spPr>
        <p:txBody>
          <a:bodyPr wrap="square" rtlCol="0">
            <a:spAutoFit/>
          </a:bodyPr>
          <a:lstStyle/>
          <a:p>
            <a:r>
              <a:rPr lang="en-US" sz="1200" dirty="0" err="1">
                <a:latin typeface="Calibri" panose="020F0502020204030204" pitchFamily="34" charset="0"/>
                <a:cs typeface="Calibri" panose="020F0502020204030204" pitchFamily="34" charset="0"/>
              </a:rPr>
              <a:t>Cordlife</a:t>
            </a:r>
            <a:r>
              <a:rPr lang="en-US" sz="1200" dirty="0">
                <a:latin typeface="Calibri" panose="020F0502020204030204" pitchFamily="34" charset="0"/>
                <a:cs typeface="Calibri" panose="020F0502020204030204" pitchFamily="34" charset="0"/>
              </a:rPr>
              <a:t> Laboratory Director : Dr. Tien Anh Ngo</a:t>
            </a:r>
            <a:endParaRPr lang="en-ID" sz="12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0573A9B-C589-64F5-8A1B-CDA5B3F23F52}"/>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6237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ABOUT STEMLIFE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is 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is 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noFill/>
          <a:ln>
            <a:solidFill>
              <a:srgbClr val="C4243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3898580598"/>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tc>
                  <a:txBody>
                    <a:bodyPr/>
                    <a:lstStyle/>
                    <a:p>
                      <a:pPr algn="ctr" rtl="0" fontAlgn="ctr"/>
                      <a:r>
                        <a:rPr lang="en-ID" sz="750" b="1" i="0" u="none" strike="noStrike" dirty="0">
                          <a:solidFill>
                            <a:srgbClr val="FFFFFF"/>
                          </a:solidFill>
                          <a:effectLs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280A9"/>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tc>
                  <a:txBody>
                    <a:bodyPr/>
                    <a:lstStyle/>
                    <a:p>
                      <a:pPr algn="ctr" fontAlgn="ctr"/>
                      <a:r>
                        <a:rPr lang="en-ID" sz="750" b="0" i="0" u="none" strike="noStrike" dirty="0">
                          <a:solidFill>
                            <a:srgbClr val="000000"/>
                          </a:solidFill>
                          <a:effectLs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FCDCD">
                        <a:alpha val="25098"/>
                      </a:srgbClr>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863607"/>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the performance of the workflow and algorithm have been validated by </a:t>
            </a:r>
            <a:r>
              <a:rPr lang="en-US" sz="900" dirty="0" err="1">
                <a:latin typeface="Calibri" panose="020F0502020204030204" pitchFamily="34" charset="0"/>
                <a:cs typeface="Calibri" panose="020F0502020204030204" pitchFamily="34" charset="0"/>
              </a:rPr>
              <a:t>StemLife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a:latin typeface="Calibri" panose="020F0502020204030204" pitchFamily="34" charset="0"/>
                <a:cs typeface="Calibri" panose="020F0502020204030204" pitchFamily="34" charset="0"/>
              </a:rPr>
              <a:t>StemLife NIPT is a screening test, not a diagnostic test. It evaluates genetic information in the maternal blood, which contains a mixture of maternal and placental DNA, to determine the likelihood of specific chromosome abnormalities. The test does NOT provide certainty whether a fetus is affected, and only screens for the conditions ordered by the healthcare provider. A low-risk result does not guarantee an unaffected fetus. The manner in which this information is used to guide patient care is the responsibility of the healthcare provider, including advising on the need for genetic counseling or diagnostic testing. Any test results should be interpreted in the context of all available clinical findings. The results of this test are not intended to be used as the sole means for management decisions. </a:t>
            </a:r>
            <a:r>
              <a:rPr lang="en-US" sz="900" b="0" dirty="0">
                <a:effectLst/>
                <a:highlight>
                  <a:srgbClr val="FFFFFF"/>
                </a:highlight>
                <a:latin typeface="Calibri" panose="020F0502020204030204" pitchFamily="34" charset="0"/>
                <a:cs typeface="Calibri" panose="020F0502020204030204" pitchFamily="34" charset="0"/>
              </a:rPr>
              <a:t>StemLife shall not be responsible and the client shall exempt StemLife from any loss or consequences resulting from the decision based on </a:t>
            </a:r>
            <a:r>
              <a:rPr lang="en-US" sz="900" dirty="0">
                <a:highlight>
                  <a:srgbClr val="FFFFFF"/>
                </a:highlight>
                <a:latin typeface="Calibri" panose="020F0502020204030204" pitchFamily="34" charset="0"/>
                <a:cs typeface="Calibri" panose="020F0502020204030204" pitchFamily="34" charset="0"/>
              </a:rPr>
              <a:t>StemLife </a:t>
            </a:r>
            <a:r>
              <a:rPr lang="en-US" sz="900" b="0" dirty="0">
                <a:effectLst/>
                <a:highlight>
                  <a:srgbClr val="FFFFFF"/>
                </a:highlight>
                <a:latin typeface="Calibri" panose="020F0502020204030204" pitchFamily="34" charset="0"/>
                <a:cs typeface="Calibri" panose="020F0502020204030204" pitchFamily="34" charset="0"/>
              </a:rPr>
              <a:t>NIPT test results.</a:t>
            </a:r>
            <a:endParaRPr lang="en-US" sz="900" dirty="0">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A8B266CD-523A-DF19-F1ED-0C3F8795F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1" name="Rectangle 10">
            <a:extLst>
              <a:ext uri="{FF2B5EF4-FFF2-40B4-BE49-F238E27FC236}">
                <a16:creationId xmlns:a16="http://schemas.microsoft.com/office/drawing/2014/main" id="{1983AF4F-FA92-064E-ED50-DAEC8FA7CC36}"/>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0E3BB315-D1D2-408D-C1E1-D9A2CCAABD1C}"/>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8" name="Rectangle 27">
            <a:extLst>
              <a:ext uri="{FF2B5EF4-FFF2-40B4-BE49-F238E27FC236}">
                <a16:creationId xmlns:a16="http://schemas.microsoft.com/office/drawing/2014/main" id="{20F2B3C9-E511-F1CD-B852-1E6CC89C271F}"/>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CC66D8A1-9F36-A215-AB24-0B1E69D29014}"/>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4" name="Rectangle 3">
            <a:extLst>
              <a:ext uri="{FF2B5EF4-FFF2-40B4-BE49-F238E27FC236}">
                <a16:creationId xmlns:a16="http://schemas.microsoft.com/office/drawing/2014/main" id="{10B267A8-CE86-B856-8ED5-B125373B1198}"/>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63D223E-BA7B-2F2F-15FB-B61F73130423}"/>
              </a:ext>
            </a:extLst>
          </p:cNvPr>
          <p:cNvSpPr txBox="1"/>
          <p:nvPr/>
        </p:nvSpPr>
        <p:spPr>
          <a:xfrm>
            <a:off x="5713863" y="922702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928CAE30-2977-0073-600B-8B2735E06313}"/>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10" name="TextBox 9">
            <a:extLst>
              <a:ext uri="{FF2B5EF4-FFF2-40B4-BE49-F238E27FC236}">
                <a16:creationId xmlns:a16="http://schemas.microsoft.com/office/drawing/2014/main" id="{AE8CCFD8-A503-0A23-C671-0A53B8ED3ABA}"/>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12" name="TextBox 11">
            <a:extLst>
              <a:ext uri="{FF2B5EF4-FFF2-40B4-BE49-F238E27FC236}">
                <a16:creationId xmlns:a16="http://schemas.microsoft.com/office/drawing/2014/main" id="{B007B2E5-F4D4-5A61-4CAB-31F15C32E34C}"/>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932862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1</a:t>
            </a:r>
          </a:p>
        </p:txBody>
      </p:sp>
      <p:sp>
        <p:nvSpPr>
          <p:cNvPr id="26" name="TextBox 25">
            <a:extLst>
              <a:ext uri="{FF2B5EF4-FFF2-40B4-BE49-F238E27FC236}">
                <a16:creationId xmlns:a16="http://schemas.microsoft.com/office/drawing/2014/main" id="{0C3FE09A-7043-B615-4C39-2E64D394CB1E}"/>
              </a:ext>
            </a:extLst>
          </p:cNvPr>
          <p:cNvSpPr txBox="1"/>
          <p:nvPr/>
        </p:nvSpPr>
        <p:spPr>
          <a:xfrm>
            <a:off x="427072" y="2041439"/>
            <a:ext cx="5996103" cy="261610"/>
          </a:xfrm>
          <a:prstGeom prst="rect">
            <a:avLst/>
          </a:prstGeom>
          <a:noFill/>
        </p:spPr>
        <p:txBody>
          <a:bodyPr wrap="square" rtlCol="0">
            <a:spAutoFit/>
          </a:bodyPr>
          <a:lstStyle/>
          <a:p>
            <a:pPr algn="just"/>
            <a:r>
              <a:rPr lang="en-US" sz="1100" b="1" dirty="0">
                <a:latin typeface="Calibri" panose="020F0502020204030204" pitchFamily="34" charset="0"/>
                <a:cs typeface="Calibri" panose="020F0502020204030204" pitchFamily="34" charset="0"/>
              </a:rPr>
              <a:t>Microdeletions/duplications syndromes</a:t>
            </a:r>
            <a:endParaRPr lang="en-US" sz="900" dirty="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AE237A4B-BF3F-A231-3F4F-A37D3C359050}"/>
              </a:ext>
            </a:extLst>
          </p:cNvPr>
          <p:cNvSpPr txBox="1"/>
          <p:nvPr/>
        </p:nvSpPr>
        <p:spPr>
          <a:xfrm>
            <a:off x="430623" y="1798467"/>
            <a:ext cx="3742660" cy="307777"/>
          </a:xfrm>
          <a:prstGeom prst="rect">
            <a:avLst/>
          </a:prstGeom>
          <a:noFill/>
        </p:spPr>
        <p:txBody>
          <a:bodyPr wrap="square">
            <a:spAutoFit/>
          </a:bodyPr>
          <a:lstStyle/>
          <a:p>
            <a:r>
              <a:rPr lang="en-US" sz="1400" b="1" dirty="0">
                <a:latin typeface="Calibri" panose="020F0502020204030204" pitchFamily="34" charset="0"/>
                <a:cs typeface="Calibri" panose="020F0502020204030204" pitchFamily="34" charset="0"/>
              </a:rPr>
              <a:t>APPENDIX</a:t>
            </a:r>
          </a:p>
        </p:txBody>
      </p:sp>
      <p:graphicFrame>
        <p:nvGraphicFramePr>
          <p:cNvPr id="15" name="Table 14">
            <a:extLst>
              <a:ext uri="{FF2B5EF4-FFF2-40B4-BE49-F238E27FC236}">
                <a16:creationId xmlns:a16="http://schemas.microsoft.com/office/drawing/2014/main" id="{D7560F51-55B8-6972-7A07-055C195AA506}"/>
              </a:ext>
            </a:extLst>
          </p:cNvPr>
          <p:cNvGraphicFramePr>
            <a:graphicFrameLocks noGrp="1"/>
          </p:cNvGraphicFramePr>
          <p:nvPr>
            <p:extLst>
              <p:ext uri="{D42A27DB-BD31-4B8C-83A1-F6EECF244321}">
                <p14:modId xmlns:p14="http://schemas.microsoft.com/office/powerpoint/2010/main" val="2616532473"/>
              </p:ext>
            </p:extLst>
          </p:nvPr>
        </p:nvGraphicFramePr>
        <p:xfrm>
          <a:off x="449872" y="2303049"/>
          <a:ext cx="1494000" cy="6797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79438700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1p32-p31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latin typeface="Calibri" panose="020F0502020204030204" pitchFamily="34" charset="0"/>
                          <a:cs typeface="Calibri" panose="020F0502020204030204" pitchFamily="34" charset="0"/>
                        </a:rPr>
                        <a:t>1q41-q42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algn="ctr"/>
                      <a:r>
                        <a:rPr lang="en-US" sz="650" b="0" dirty="0">
                          <a:latin typeface="Calibri" panose="020F0502020204030204" pitchFamily="34" charset="0"/>
                          <a:cs typeface="Calibri" panose="020F0502020204030204" pitchFamily="34" charset="0"/>
                        </a:rPr>
                        <a:t>1q43-q44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latin typeface="Calibri" panose="020F0502020204030204" pitchFamily="34" charset="0"/>
                          <a:cs typeface="Calibri" panose="020F0502020204030204" pitchFamily="34" charset="0"/>
                        </a:rPr>
                        <a:t>2p12-p11.2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latin typeface="Calibri" panose="020F0502020204030204" pitchFamily="34" charset="0"/>
                          <a:cs typeface="Calibri" panose="020F0502020204030204" pitchFamily="34" charset="0"/>
                        </a:rPr>
                        <a:t>2p15-p16.1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latin typeface="Calibri" panose="020F0502020204030204" pitchFamily="34" charset="0"/>
                          <a:cs typeface="Calibri" panose="020F0502020204030204" pitchFamily="34" charset="0"/>
                        </a:rPr>
                        <a:t>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latin typeface="Calibri" panose="020F0502020204030204" pitchFamily="34" charset="0"/>
                          <a:cs typeface="Calibri" panose="020F0502020204030204" pitchFamily="34" charset="0"/>
                        </a:rPr>
                        <a:t>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latin typeface="Calibri" panose="020F0502020204030204" pitchFamily="34" charset="0"/>
                          <a:cs typeface="Calibri" panose="020F0502020204030204" pitchFamily="34" charset="0"/>
                        </a:rPr>
                        <a:t>2q31.1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2q31.1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latin typeface="Calibri" panose="020F0502020204030204" pitchFamily="34" charset="0"/>
                          <a:cs typeface="Calibri" panose="020F0502020204030204" pitchFamily="34" charset="0"/>
                        </a:rPr>
                        <a:t>2q35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a:latin typeface="Calibri" panose="020F0502020204030204" pitchFamily="34" charset="0"/>
                          <a:cs typeface="Calibri" panose="020F0502020204030204" pitchFamily="34" charset="0"/>
                        </a:rPr>
                        <a:t>3p25.3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latin typeface="Calibri" panose="020F0502020204030204" pitchFamily="34" charset="0"/>
                          <a:cs typeface="Calibri" panose="020F0502020204030204" pitchFamily="34" charset="0"/>
                        </a:rPr>
                        <a:t>3pter-p25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latin typeface="Calibri" panose="020F0502020204030204" pitchFamily="34" charset="0"/>
                          <a:cs typeface="Calibri" panose="020F0502020204030204" pitchFamily="34" charset="0"/>
                        </a:rPr>
                        <a:t>3q13.31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latin typeface="Calibri" panose="020F0502020204030204" pitchFamily="34" charset="0"/>
                          <a:cs typeface="Calibri" panose="020F0502020204030204" pitchFamily="34" charset="0"/>
                        </a:rPr>
                        <a:t>Dandy-Walker syndrome (DWS)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latin typeface="Calibri" panose="020F0502020204030204" pitchFamily="34" charset="0"/>
                          <a:cs typeface="Calibri" panose="020F0502020204030204" pitchFamily="34" charset="0"/>
                        </a:rPr>
                        <a:t>3q26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latin typeface="Calibri" panose="020F0502020204030204" pitchFamily="34" charset="0"/>
                          <a:cs typeface="Calibri" panose="020F0502020204030204" pitchFamily="34" charset="0"/>
                        </a:rPr>
                        <a:t>3q29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a:latin typeface="Calibri" panose="020F0502020204030204" pitchFamily="34" charset="0"/>
                          <a:cs typeface="Calibri" panose="020F0502020204030204" pitchFamily="34" charset="0"/>
                        </a:rPr>
                        <a:t>4q21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err="1">
                          <a:latin typeface="Calibri" panose="020F0502020204030204" pitchFamily="34" charset="0"/>
                          <a:cs typeface="Calibri" panose="020F0502020204030204" pitchFamily="34" charset="0"/>
                        </a:rPr>
                        <a:t>Axenfeld</a:t>
                      </a:r>
                      <a:r>
                        <a:rPr lang="en-US" sz="650" b="0" dirty="0">
                          <a:latin typeface="Calibri" panose="020F0502020204030204" pitchFamily="34" charset="0"/>
                          <a:cs typeface="Calibri" panose="020F0502020204030204" pitchFamily="34" charset="0"/>
                        </a:rPr>
                        <a:t>-Rieger syndrome type 1 (RIEG1)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latin typeface="Calibri" panose="020F0502020204030204" pitchFamily="34" charset="0"/>
                          <a:cs typeface="Calibri" panose="020F0502020204030204" pitchFamily="34" charset="0"/>
                        </a:rPr>
                        <a:t>5p13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latin typeface="Calibri" panose="020F0502020204030204" pitchFamily="34" charset="0"/>
                          <a:cs typeface="Calibri" panose="020F0502020204030204" pitchFamily="34" charset="0"/>
                        </a:rPr>
                        <a:t>5q12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latin typeface="Calibri" panose="020F0502020204030204" pitchFamily="34" charset="0"/>
                          <a:cs typeface="Calibri" panose="020F0502020204030204" pitchFamily="34" charset="0"/>
                        </a:rPr>
                        <a:t>5q14.3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latin typeface="Calibri" panose="020F0502020204030204" pitchFamily="34" charset="0"/>
                          <a:cs typeface="Calibri" panose="020F0502020204030204" pitchFamily="34" charset="0"/>
                        </a:rPr>
                        <a:t>Sotos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latin typeface="Calibri" panose="020F0502020204030204" pitchFamily="34" charset="0"/>
                          <a:cs typeface="Calibri" panose="020F0502020204030204" pitchFamily="34" charset="0"/>
                        </a:rPr>
                        <a:t>6p22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latin typeface="Calibri" panose="020F0502020204030204" pitchFamily="34" charset="0"/>
                          <a:cs typeface="Calibri" panose="020F0502020204030204" pitchFamily="34" charset="0"/>
                        </a:rPr>
                        <a:t>6q11-q14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latin typeface="Calibri" panose="020F0502020204030204" pitchFamily="34" charset="0"/>
                          <a:cs typeface="Calibri" panose="020F0502020204030204" pitchFamily="34" charset="0"/>
                        </a:rPr>
                        <a:t>6q24-q25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latin typeface="Calibri" panose="020F0502020204030204" pitchFamily="34" charset="0"/>
                          <a:cs typeface="Calibri" panose="020F0502020204030204" pitchFamily="34" charset="0"/>
                        </a:rPr>
                        <a:t>Coffin-Siris syndrome 1 (CSS1)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7323870"/>
                  </a:ext>
                </a:extLst>
              </a:tr>
              <a:tr h="0">
                <a:tc>
                  <a:txBody>
                    <a:bodyPr/>
                    <a:lstStyle/>
                    <a:p>
                      <a:pPr algn="ctr"/>
                      <a:r>
                        <a:rPr lang="en-US" sz="650" b="0" dirty="0">
                          <a:latin typeface="Calibri" panose="020F0502020204030204" pitchFamily="34" charset="0"/>
                          <a:cs typeface="Calibri" panose="020F0502020204030204" pitchFamily="34" charset="0"/>
                        </a:rPr>
                        <a:t>Chordoma</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855090"/>
                  </a:ext>
                </a:extLst>
              </a:tr>
              <a:tr h="0">
                <a:tc>
                  <a:txBody>
                    <a:bodyPr/>
                    <a:lstStyle/>
                    <a:p>
                      <a:pPr algn="ctr"/>
                      <a:r>
                        <a:rPr lang="en-US" sz="650" b="0" dirty="0">
                          <a:latin typeface="Calibri" panose="020F0502020204030204" pitchFamily="34" charset="0"/>
                          <a:cs typeface="Calibri" panose="020F0502020204030204" pitchFamily="34" charset="0"/>
                        </a:rPr>
                        <a:t>Greig cephalopolysyndactyly syndrome (GCPS)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82668844"/>
                  </a:ext>
                </a:extLst>
              </a:tr>
              <a:tr h="0">
                <a:tc>
                  <a:txBody>
                    <a:bodyPr/>
                    <a:lstStyle/>
                    <a:p>
                      <a:pPr algn="ctr"/>
                      <a:r>
                        <a:rPr lang="en-US" sz="650" b="0" dirty="0">
                          <a:latin typeface="Calibri" panose="020F0502020204030204" pitchFamily="34" charset="0"/>
                          <a:cs typeface="Calibri" panose="020F0502020204030204" pitchFamily="34" charset="0"/>
                        </a:rPr>
                        <a:t>7p22.1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1191787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7q11.23 deletion (distal)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8279524"/>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Williams-Beuren syndrome (WBS, duplication)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379528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Currarino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000556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7q36.3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534733420"/>
                  </a:ext>
                </a:extLst>
              </a:tr>
            </a:tbl>
          </a:graphicData>
        </a:graphic>
      </p:graphicFrame>
      <p:graphicFrame>
        <p:nvGraphicFramePr>
          <p:cNvPr id="16" name="Table 15">
            <a:extLst>
              <a:ext uri="{FF2B5EF4-FFF2-40B4-BE49-F238E27FC236}">
                <a16:creationId xmlns:a16="http://schemas.microsoft.com/office/drawing/2014/main" id="{4E574D0D-0392-B0FF-4304-BFB4DE31579B}"/>
              </a:ext>
            </a:extLst>
          </p:cNvPr>
          <p:cNvGraphicFramePr>
            <a:graphicFrameLocks noGrp="1"/>
          </p:cNvGraphicFramePr>
          <p:nvPr>
            <p:extLst>
              <p:ext uri="{D42A27DB-BD31-4B8C-83A1-F6EECF244321}">
                <p14:modId xmlns:p14="http://schemas.microsoft.com/office/powerpoint/2010/main" val="801366622"/>
              </p:ext>
            </p:extLst>
          </p:nvPr>
        </p:nvGraphicFramePr>
        <p:xfrm>
          <a:off x="2055851" y="2303049"/>
          <a:ext cx="1494000" cy="65303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539532219"/>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1007425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8p11.2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48315971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8p23.1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3445317"/>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8q12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86847754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Nablus mask-like facial syndrome (NMLFS)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169246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Trichorhinophalangeal syndrome type 2 (TRPS2)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2675951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028687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5638251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9p24.3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720956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9q33.3q34.11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538049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Early infantile epileptic encephalopathy 4 (EIEE4)</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92497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Kleefstra</a:t>
                      </a:r>
                      <a:r>
                        <a:rPr lang="en-US" sz="650" b="0" dirty="0">
                          <a:solidFill>
                            <a:schemeClr val="tx1"/>
                          </a:solidFill>
                          <a:latin typeface="Calibri" panose="020F0502020204030204" pitchFamily="34" charset="0"/>
                          <a:cs typeface="Calibri" panose="020F0502020204030204" pitchFamily="34" charset="0"/>
                        </a:rPr>
                        <a:t> syndrome 1 (KLEFS1)</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39875433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10p11.21-p12.31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6321709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DiGeorge syndrome/ </a:t>
                      </a:r>
                      <a:r>
                        <a:rPr lang="en-US" sz="650" b="0" dirty="0" err="1">
                          <a:solidFill>
                            <a:schemeClr val="tx1"/>
                          </a:solidFill>
                          <a:latin typeface="Calibri" panose="020F0502020204030204" pitchFamily="34" charset="0"/>
                          <a:cs typeface="Calibri" panose="020F0502020204030204" pitchFamily="34" charset="0"/>
                        </a:rPr>
                        <a:t>velocardiofacial</a:t>
                      </a:r>
                      <a:r>
                        <a:rPr lang="en-US" sz="650" b="0" dirty="0">
                          <a:solidFill>
                            <a:schemeClr val="tx1"/>
                          </a:solidFill>
                          <a:latin typeface="Calibri" panose="020F0502020204030204" pitchFamily="34" charset="0"/>
                          <a:cs typeface="Calibri" panose="020F0502020204030204" pitchFamily="34" charset="0"/>
                        </a:rPr>
                        <a:t> syndrome complex 2 (DSG2)</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95648018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10q22.3-q23.2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1822516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Split-hand/foot malformation 3 (SHFM3)</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84893659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10q26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56227924"/>
                  </a:ext>
                </a:extLst>
              </a:tr>
              <a:tr h="0">
                <a:tc>
                  <a:txBody>
                    <a:bodyPr/>
                    <a:lstStyle/>
                    <a:p>
                      <a:pPr algn="ctr"/>
                      <a:r>
                        <a:rPr lang="en-US" sz="650" b="0" dirty="0" err="1">
                          <a:solidFill>
                            <a:schemeClr val="tx1"/>
                          </a:solidFill>
                          <a:latin typeface="Calibri" panose="020F0502020204030204" pitchFamily="34" charset="0"/>
                          <a:cs typeface="Calibri" panose="020F0502020204030204" pitchFamily="34" charset="0"/>
                        </a:rPr>
                        <a:t>Potocki</a:t>
                      </a:r>
                      <a:r>
                        <a:rPr lang="en-US" sz="650" b="0" dirty="0">
                          <a:solidFill>
                            <a:schemeClr val="tx1"/>
                          </a:solidFill>
                          <a:latin typeface="Calibri" panose="020F0502020204030204" pitchFamily="34" charset="0"/>
                          <a:cs typeface="Calibri" panose="020F0502020204030204" pitchFamily="34" charset="0"/>
                        </a:rPr>
                        <a:t>-Shaffer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215657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8779225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WAGRO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57716162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11q13.2-q13.4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555669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11q22.2-q22.3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6197740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11q23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711292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12p12.1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935438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886801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12q15q21.1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599471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13q14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21672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14q11-q22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69948542"/>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Frias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779541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14q24.1-q24.3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930510364"/>
                  </a:ext>
                </a:extLst>
              </a:tr>
            </a:tbl>
          </a:graphicData>
        </a:graphic>
      </p:graphicFrame>
      <p:graphicFrame>
        <p:nvGraphicFramePr>
          <p:cNvPr id="14" name="Table 13">
            <a:extLst>
              <a:ext uri="{FF2B5EF4-FFF2-40B4-BE49-F238E27FC236}">
                <a16:creationId xmlns:a16="http://schemas.microsoft.com/office/drawing/2014/main" id="{0C088642-F55A-08A6-266A-8D4A2F306AEE}"/>
              </a:ext>
            </a:extLst>
          </p:cNvPr>
          <p:cNvGraphicFramePr>
            <a:graphicFrameLocks noGrp="1"/>
          </p:cNvGraphicFramePr>
          <p:nvPr>
            <p:extLst>
              <p:ext uri="{D42A27DB-BD31-4B8C-83A1-F6EECF244321}">
                <p14:modId xmlns:p14="http://schemas.microsoft.com/office/powerpoint/2010/main" val="857830621"/>
              </p:ext>
            </p:extLst>
          </p:nvPr>
        </p:nvGraphicFramePr>
        <p:xfrm>
          <a:off x="3677663" y="2289597"/>
          <a:ext cx="1494000" cy="653796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4146296308"/>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24391814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15q13.3 deletion syndrome {BP4 to BP5}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04265420"/>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15q13.3 deletion syndrome {BP4 to BP5}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91712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15q14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8881807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15q25.2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9856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15q26-qter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70571150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16p11.2-p12.2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8598392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16p12.2 deletion (proximal)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07923653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1520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16p13.11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176220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Polycystic kidney disease, infantile severe, with tuberous sclerosis (PKDTS)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1270752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Rubinstein-</a:t>
                      </a:r>
                      <a:r>
                        <a:rPr lang="en-US" sz="650" b="0" dirty="0" err="1">
                          <a:solidFill>
                            <a:schemeClr val="tx1"/>
                          </a:solidFill>
                          <a:latin typeface="Calibri" panose="020F0502020204030204" pitchFamily="34" charset="0"/>
                          <a:cs typeface="Calibri" panose="020F0502020204030204" pitchFamily="34" charset="0"/>
                        </a:rPr>
                        <a:t>Taybi</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45614754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Alpha-thalassemia/intellectual disability syndrome, chromosome 16-related    (ATR-16)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40078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16q22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3662483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Smith-</a:t>
                      </a:r>
                      <a:r>
                        <a:rPr lang="en-US" sz="650" b="0" dirty="0" err="1">
                          <a:solidFill>
                            <a:schemeClr val="tx1"/>
                          </a:solidFill>
                          <a:latin typeface="Calibri" panose="020F0502020204030204" pitchFamily="34" charset="0"/>
                          <a:cs typeface="Calibri" panose="020F0502020204030204" pitchFamily="34" charset="0"/>
                        </a:rPr>
                        <a:t>Magenis</a:t>
                      </a:r>
                      <a:r>
                        <a:rPr lang="en-US" sz="650" b="0" dirty="0">
                          <a:solidFill>
                            <a:schemeClr val="tx1"/>
                          </a:solidFill>
                          <a:latin typeface="Calibri" panose="020F0502020204030204" pitchFamily="34" charset="0"/>
                          <a:cs typeface="Calibri" panose="020F0502020204030204" pitchFamily="34" charset="0"/>
                        </a:rPr>
                        <a:t>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074081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Yuan-</a:t>
                      </a:r>
                      <a:r>
                        <a:rPr lang="en-US" sz="650" b="0" dirty="0" err="1">
                          <a:solidFill>
                            <a:schemeClr val="tx1"/>
                          </a:solidFill>
                          <a:latin typeface="Calibri" panose="020F0502020204030204" pitchFamily="34" charset="0"/>
                          <a:cs typeface="Calibri" panose="020F0502020204030204" pitchFamily="34" charset="0"/>
                        </a:rPr>
                        <a:t>Harel</a:t>
                      </a:r>
                      <a:r>
                        <a:rPr lang="en-US" sz="650" b="0" dirty="0">
                          <a:solidFill>
                            <a:schemeClr val="tx1"/>
                          </a:solidFill>
                          <a:latin typeface="Calibri" panose="020F0502020204030204" pitchFamily="34" charset="0"/>
                          <a:cs typeface="Calibri" panose="020F0502020204030204" pitchFamily="34" charset="0"/>
                        </a:rPr>
                        <a:t>-</a:t>
                      </a:r>
                      <a:r>
                        <a:rPr lang="en-US" sz="650" b="0" dirty="0" err="1">
                          <a:solidFill>
                            <a:schemeClr val="tx1"/>
                          </a:solidFill>
                          <a:latin typeface="Calibri" panose="020F0502020204030204" pitchFamily="34" charset="0"/>
                          <a:cs typeface="Calibri" panose="020F0502020204030204" pitchFamily="34" charset="0"/>
                        </a:rPr>
                        <a:t>Lupski</a:t>
                      </a:r>
                      <a:r>
                        <a:rPr lang="en-US" sz="650" b="0" dirty="0">
                          <a:solidFill>
                            <a:schemeClr val="tx1"/>
                          </a:solidFill>
                          <a:latin typeface="Calibri" panose="020F0502020204030204" pitchFamily="34" charset="0"/>
                          <a:cs typeface="Calibri" panose="020F0502020204030204" pitchFamily="34" charset="0"/>
                        </a:rPr>
                        <a:t> syndrome (YUHAL)</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55861288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670618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37940584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50331364"/>
                  </a:ext>
                </a:extLst>
              </a:tr>
              <a:tr h="0">
                <a:tc>
                  <a:txBody>
                    <a:bodyPr/>
                    <a:lstStyle/>
                    <a:p>
                      <a:pPr algn="ct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(loss)</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588768049"/>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latin typeface="Calibri" panose="020F0502020204030204" pitchFamily="34" charset="0"/>
                          <a:cs typeface="Calibri" panose="020F0502020204030204" pitchFamily="34" charset="0"/>
                        </a:rPr>
                        <a:t>Miller-</a:t>
                      </a:r>
                      <a:r>
                        <a:rPr lang="en-US" sz="650" b="0" dirty="0" err="1">
                          <a:latin typeface="Calibri" panose="020F0502020204030204" pitchFamily="34" charset="0"/>
                          <a:cs typeface="Calibri" panose="020F0502020204030204" pitchFamily="34" charset="0"/>
                        </a:rPr>
                        <a:t>Dieker</a:t>
                      </a:r>
                      <a:r>
                        <a:rPr lang="en-US" sz="650" b="0" dirty="0">
                          <a:latin typeface="Calibri" panose="020F0502020204030204" pitchFamily="34" charset="0"/>
                          <a:cs typeface="Calibri" panose="020F0502020204030204" pitchFamily="34" charset="0"/>
                        </a:rPr>
                        <a:t> lissencephaly syndrome (MDLS) (gain)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652075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17p13.3 telomeric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112975206"/>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17q12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5662373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17q21.31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251986198"/>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17q23.1-q23.2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2672863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Tetrasomy 18p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469020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18p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3484525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18q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9754769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19p13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11042736"/>
                  </a:ext>
                </a:extLst>
              </a:tr>
            </a:tbl>
          </a:graphicData>
        </a:graphic>
      </p:graphicFrame>
      <p:graphicFrame>
        <p:nvGraphicFramePr>
          <p:cNvPr id="17" name="Table 16">
            <a:extLst>
              <a:ext uri="{FF2B5EF4-FFF2-40B4-BE49-F238E27FC236}">
                <a16:creationId xmlns:a16="http://schemas.microsoft.com/office/drawing/2014/main" id="{11523695-CCB6-CE92-18CB-C19558E1AF7C}"/>
              </a:ext>
            </a:extLst>
          </p:cNvPr>
          <p:cNvGraphicFramePr>
            <a:graphicFrameLocks noGrp="1"/>
          </p:cNvGraphicFramePr>
          <p:nvPr>
            <p:extLst>
              <p:ext uri="{D42A27DB-BD31-4B8C-83A1-F6EECF244321}">
                <p14:modId xmlns:p14="http://schemas.microsoft.com/office/powerpoint/2010/main" val="3433518921"/>
              </p:ext>
            </p:extLst>
          </p:nvPr>
        </p:nvGraphicFramePr>
        <p:xfrm>
          <a:off x="5280740" y="2278021"/>
          <a:ext cx="1494000" cy="4130040"/>
        </p:xfrm>
        <a:graphic>
          <a:graphicData uri="http://schemas.openxmlformats.org/drawingml/2006/table">
            <a:tbl>
              <a:tblPr firstRow="1" bandRow="1">
                <a:tableStyleId>{EB9631B5-78F2-41C9-869B-9F39066F8104}</a:tableStyleId>
              </a:tblPr>
              <a:tblGrid>
                <a:gridCol w="1494000">
                  <a:extLst>
                    <a:ext uri="{9D8B030D-6E8A-4147-A177-3AD203B41FA5}">
                      <a16:colId xmlns:a16="http://schemas.microsoft.com/office/drawing/2014/main" val="2922790161"/>
                    </a:ext>
                  </a:extLst>
                </a:gridCol>
              </a:tblGrid>
              <a:tr h="0">
                <a:tc>
                  <a:txBody>
                    <a:bodyPr/>
                    <a:lstStyle/>
                    <a:p>
                      <a:pPr algn="ctr"/>
                      <a:r>
                        <a:rPr lang="en-US" sz="800" b="1" dirty="0">
                          <a:solidFill>
                            <a:schemeClr val="bg1"/>
                          </a:solidFill>
                          <a:latin typeface="Calibri" panose="020F0502020204030204" pitchFamily="34" charset="0"/>
                          <a:cs typeface="Calibri" panose="020F0502020204030204" pitchFamily="34" charset="0"/>
                        </a:rPr>
                        <a:t>Condition</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280A9"/>
                    </a:solidFill>
                  </a:tcPr>
                </a:tc>
                <a:extLst>
                  <a:ext uri="{0D108BD9-81ED-4DB2-BD59-A6C34878D82A}">
                    <a16:rowId xmlns:a16="http://schemas.microsoft.com/office/drawing/2014/main" val="378598445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19q13.11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295230962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20p13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610066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21q22.11-q22.12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4291573014"/>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22q11.2 deletion syndrome (distal, D-E/F)</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2711275"/>
                  </a:ext>
                </a:extLst>
              </a:tr>
              <a:tr h="0">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650" b="0" dirty="0">
                          <a:solidFill>
                            <a:schemeClr val="tx1"/>
                          </a:solidFill>
                          <a:latin typeface="Calibri" panose="020F0502020204030204" pitchFamily="34" charset="0"/>
                          <a:cs typeface="Calibri" panose="020F0502020204030204" pitchFamily="34" charset="0"/>
                        </a:rPr>
                        <a:t>22q11.2 deletion syndrome (LCR22 B/C-D)</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74414553"/>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81457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22q13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20629477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51573655"/>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Xp11.22-p11.23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758761900"/>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Xp11.23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5863283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Xp11.3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69507797"/>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958079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Xp21.2 microduplication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883735959"/>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Xp22.31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2111246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Xq21 microdeletion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13479262"/>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Xq22.3 telomeric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24566251"/>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Xq27.3-q28 duplication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3930330418"/>
                  </a:ext>
                </a:extLst>
              </a:tr>
              <a:tr h="0">
                <a:tc>
                  <a:txBody>
                    <a:bodyPr/>
                    <a:lstStyle/>
                    <a:p>
                      <a:pPr algn="ctr"/>
                      <a:r>
                        <a:rPr lang="en-US" sz="650" b="0" dirty="0">
                          <a:solidFill>
                            <a:schemeClr val="tx1"/>
                          </a:solidFill>
                          <a:latin typeface="Calibri" panose="020F0502020204030204" pitchFamily="34" charset="0"/>
                          <a:cs typeface="Calibri" panose="020F0502020204030204" pitchFamily="34" charset="0"/>
                        </a:rPr>
                        <a:t>Xq28 deletion syndrome</a:t>
                      </a: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4365485"/>
                  </a:ext>
                </a:extLst>
              </a:tr>
              <a:tr h="0">
                <a:tc>
                  <a:txBody>
                    <a:bodyPr/>
                    <a:lstStyle/>
                    <a:p>
                      <a:pPr algn="ctr"/>
                      <a:endParaRPr lang="en-US" sz="6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FDB9C1">
                        <a:alpha val="50196"/>
                      </a:srgbClr>
                    </a:solidFill>
                  </a:tcPr>
                </a:tc>
                <a:extLst>
                  <a:ext uri="{0D108BD9-81ED-4DB2-BD59-A6C34878D82A}">
                    <a16:rowId xmlns:a16="http://schemas.microsoft.com/office/drawing/2014/main" val="1027956119"/>
                  </a:ext>
                </a:extLst>
              </a:tr>
            </a:tbl>
          </a:graphicData>
        </a:graphic>
      </p:graphicFrame>
      <p:pic>
        <p:nvPicPr>
          <p:cNvPr id="7" name="Picture 6">
            <a:extLst>
              <a:ext uri="{FF2B5EF4-FFF2-40B4-BE49-F238E27FC236}">
                <a16:creationId xmlns:a16="http://schemas.microsoft.com/office/drawing/2014/main" id="{A73CEACC-265A-CA7F-5CCF-902440DAC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246" y="-311894"/>
            <a:ext cx="1667941" cy="1447807"/>
          </a:xfrm>
          <a:prstGeom prst="rect">
            <a:avLst/>
          </a:prstGeom>
        </p:spPr>
      </p:pic>
      <p:sp>
        <p:nvSpPr>
          <p:cNvPr id="18" name="Rectangle 17">
            <a:extLst>
              <a:ext uri="{FF2B5EF4-FFF2-40B4-BE49-F238E27FC236}">
                <a16:creationId xmlns:a16="http://schemas.microsoft.com/office/drawing/2014/main" id="{A2078478-34DC-8549-917F-78AD86AF022B}"/>
              </a:ext>
            </a:extLst>
          </p:cNvPr>
          <p:cNvSpPr/>
          <p:nvPr/>
        </p:nvSpPr>
        <p:spPr>
          <a:xfrm>
            <a:off x="430623" y="772625"/>
            <a:ext cx="1956394"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23" name="Rectangle 22">
            <a:extLst>
              <a:ext uri="{FF2B5EF4-FFF2-40B4-BE49-F238E27FC236}">
                <a16:creationId xmlns:a16="http://schemas.microsoft.com/office/drawing/2014/main" id="{AE6E8258-AE62-7B86-0CDC-1E90D23116BB}"/>
              </a:ext>
            </a:extLst>
          </p:cNvPr>
          <p:cNvSpPr/>
          <p:nvPr/>
        </p:nvSpPr>
        <p:spPr>
          <a:xfrm>
            <a:off x="2452579" y="772625"/>
            <a:ext cx="1956393" cy="954107"/>
          </a:xfrm>
          <a:prstGeom prst="rect">
            <a:avLst/>
          </a:prstGeom>
          <a:noFill/>
          <a:ln w="15875" cmpd="tri">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4" name="Rectangle 23">
            <a:extLst>
              <a:ext uri="{FF2B5EF4-FFF2-40B4-BE49-F238E27FC236}">
                <a16:creationId xmlns:a16="http://schemas.microsoft.com/office/drawing/2014/main" id="{037BEAC5-6F54-A730-F1DD-0C20F239A7D5}"/>
              </a:ext>
            </a:extLst>
          </p:cNvPr>
          <p:cNvSpPr/>
          <p:nvPr/>
        </p:nvSpPr>
        <p:spPr>
          <a:xfrm>
            <a:off x="4474534" y="772625"/>
            <a:ext cx="1956393" cy="954107"/>
          </a:xfrm>
          <a:prstGeom prst="rect">
            <a:avLst/>
          </a:prstGeom>
          <a:noFill/>
          <a:ln w="15875" cmpd="thickThin">
            <a:solidFill>
              <a:srgbClr val="C0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0" name="Rectangle 29">
            <a:extLst>
              <a:ext uri="{FF2B5EF4-FFF2-40B4-BE49-F238E27FC236}">
                <a16:creationId xmlns:a16="http://schemas.microsoft.com/office/drawing/2014/main" id="{BE4D1A1F-5FEC-2168-4349-B5412B318E6C}"/>
              </a:ext>
            </a:extLst>
          </p:cNvPr>
          <p:cNvSpPr/>
          <p:nvPr/>
        </p:nvSpPr>
        <p:spPr>
          <a:xfrm>
            <a:off x="446345" y="9243237"/>
            <a:ext cx="5252706" cy="481157"/>
          </a:xfrm>
          <a:prstGeom prst="rect">
            <a:avLst/>
          </a:prstGeom>
          <a:noFill/>
          <a:ln>
            <a:solidFill>
              <a:srgbClr val="C0233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4C39B5C9-40A2-F4A8-D13C-82CEEF74956D}"/>
              </a:ext>
            </a:extLst>
          </p:cNvPr>
          <p:cNvSpPr txBox="1"/>
          <p:nvPr/>
        </p:nvSpPr>
        <p:spPr>
          <a:xfrm>
            <a:off x="3414595" y="9214885"/>
            <a:ext cx="2236398" cy="538609"/>
          </a:xfrm>
          <a:prstGeom prst="rect">
            <a:avLst/>
          </a:prstGeom>
          <a:noFill/>
        </p:spPr>
        <p:txBody>
          <a:bodyPr wrap="square" rtlCol="0">
            <a:spAutoFit/>
          </a:bodyPr>
          <a:lstStyle/>
          <a:p>
            <a:r>
              <a:rPr lang="en-US" sz="800" b="1" dirty="0">
                <a:latin typeface="Calibri" panose="020F0502020204030204" pitchFamily="34" charset="0"/>
                <a:cs typeface="Calibri" panose="020F0502020204030204" pitchFamily="34" charset="0"/>
              </a:rPr>
              <a:t>Laboratory:</a:t>
            </a:r>
          </a:p>
          <a:p>
            <a:r>
              <a:rPr lang="en-US" sz="700" dirty="0">
                <a:latin typeface="Calibri" panose="020F0502020204030204" pitchFamily="34" charset="0"/>
                <a:cs typeface="Calibri" panose="020F0502020204030204" pitchFamily="34" charset="0"/>
              </a:rPr>
              <a:t>Jl. </a:t>
            </a:r>
            <a:r>
              <a:rPr lang="en-US" sz="700" dirty="0" err="1">
                <a:latin typeface="Calibri" panose="020F0502020204030204" pitchFamily="34" charset="0"/>
                <a:cs typeface="Calibri" panose="020F0502020204030204" pitchFamily="34" charset="0"/>
              </a:rPr>
              <a:t>Bungur</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Besar</a:t>
            </a:r>
            <a:r>
              <a:rPr lang="en-US" sz="700" dirty="0">
                <a:latin typeface="Calibri" panose="020F0502020204030204" pitchFamily="34" charset="0"/>
                <a:cs typeface="Calibri" panose="020F0502020204030204" pitchFamily="34" charset="0"/>
              </a:rPr>
              <a:t> Raya No. 23, </a:t>
            </a:r>
            <a:r>
              <a:rPr lang="en-US" sz="700" dirty="0" err="1">
                <a:latin typeface="Calibri" panose="020F0502020204030204" pitchFamily="34" charset="0"/>
                <a:cs typeface="Calibri" panose="020F0502020204030204" pitchFamily="34" charset="0"/>
              </a:rPr>
              <a:t>Gunung</a:t>
            </a:r>
            <a:r>
              <a:rPr lang="en-US" sz="700" dirty="0">
                <a:latin typeface="Calibri" panose="020F0502020204030204" pitchFamily="34" charset="0"/>
                <a:cs typeface="Calibri" panose="020F0502020204030204" pitchFamily="34" charset="0"/>
              </a:rPr>
              <a:t> </a:t>
            </a:r>
            <a:r>
              <a:rPr lang="en-US" sz="700" dirty="0" err="1">
                <a:latin typeface="Calibri" panose="020F0502020204030204" pitchFamily="34" charset="0"/>
                <a:cs typeface="Calibri" panose="020F0502020204030204" pitchFamily="34" charset="0"/>
              </a:rPr>
              <a:t>Sahari</a:t>
            </a:r>
            <a:r>
              <a:rPr lang="en-US" sz="700" dirty="0">
                <a:latin typeface="Calibri" panose="020F0502020204030204" pitchFamily="34" charset="0"/>
                <a:cs typeface="Calibri" panose="020F0502020204030204" pitchFamily="34" charset="0"/>
              </a:rPr>
              <a:t> Selatan</a:t>
            </a:r>
          </a:p>
          <a:p>
            <a:r>
              <a:rPr lang="en-US" sz="700" dirty="0" err="1">
                <a:latin typeface="Calibri" panose="020F0502020204030204" pitchFamily="34" charset="0"/>
                <a:cs typeface="Calibri" panose="020F0502020204030204" pitchFamily="34" charset="0"/>
              </a:rPr>
              <a:t>Kemayoran</a:t>
            </a:r>
            <a:r>
              <a:rPr lang="en-US" sz="700" dirty="0">
                <a:latin typeface="Calibri" panose="020F0502020204030204" pitchFamily="34" charset="0"/>
                <a:cs typeface="Calibri" panose="020F0502020204030204" pitchFamily="34" charset="0"/>
              </a:rPr>
              <a:t>, Jakarta Pusat</a:t>
            </a:r>
          </a:p>
          <a:p>
            <a:r>
              <a:rPr lang="en-US" sz="700" dirty="0">
                <a:latin typeface="Calibri" panose="020F0502020204030204" pitchFamily="34" charset="0"/>
                <a:cs typeface="Calibri" panose="020F0502020204030204" pitchFamily="34" charset="0"/>
              </a:rPr>
              <a:t>Phone: 62-21-8086-4674</a:t>
            </a:r>
          </a:p>
        </p:txBody>
      </p:sp>
      <p:sp>
        <p:nvSpPr>
          <p:cNvPr id="35" name="TextBox 34">
            <a:extLst>
              <a:ext uri="{FF2B5EF4-FFF2-40B4-BE49-F238E27FC236}">
                <a16:creationId xmlns:a16="http://schemas.microsoft.com/office/drawing/2014/main" id="{46873707-8DEA-0E0B-DA8F-28DEC8FB14DB}"/>
              </a:ext>
            </a:extLst>
          </p:cNvPr>
          <p:cNvSpPr txBox="1"/>
          <p:nvPr/>
        </p:nvSpPr>
        <p:spPr>
          <a:xfrm>
            <a:off x="531522" y="9225055"/>
            <a:ext cx="3429000" cy="523220"/>
          </a:xfrm>
          <a:prstGeom prst="rect">
            <a:avLst/>
          </a:prstGeom>
          <a:noFill/>
        </p:spPr>
        <p:txBody>
          <a:bodyPr wrap="square">
            <a:spAutoFit/>
          </a:bodyPr>
          <a:lstStyle/>
          <a:p>
            <a:r>
              <a:rPr lang="en-ID" sz="700" b="1" dirty="0" err="1">
                <a:effectLst/>
                <a:latin typeface="Calibri" panose="020F0502020204030204" pitchFamily="34" charset="0"/>
                <a:cs typeface="Calibri" panose="020F0502020204030204" pitchFamily="34" charset="0"/>
              </a:rPr>
              <a:t>StemLife</a:t>
            </a:r>
            <a:r>
              <a:rPr lang="en-ID" sz="700" b="1" dirty="0">
                <a:effectLst/>
                <a:latin typeface="Calibri" panose="020F0502020204030204" pitchFamily="34" charset="0"/>
                <a:cs typeface="Calibri" panose="020F0502020204030204" pitchFamily="34" charset="0"/>
              </a:rPr>
              <a:t> Biotechnology </a:t>
            </a:r>
            <a:r>
              <a:rPr lang="en-ID" sz="700" b="1" dirty="0" err="1">
                <a:effectLst/>
                <a:latin typeface="Calibri" panose="020F0502020204030204" pitchFamily="34" charset="0"/>
                <a:cs typeface="Calibri" panose="020F0502020204030204" pitchFamily="34" charset="0"/>
              </a:rPr>
              <a:t>Sdn</a:t>
            </a:r>
            <a:r>
              <a:rPr lang="en-ID" sz="700" b="1" dirty="0">
                <a:effectLst/>
                <a:latin typeface="Calibri" panose="020F0502020204030204" pitchFamily="34" charset="0"/>
                <a:cs typeface="Calibri" panose="020F0502020204030204" pitchFamily="34" charset="0"/>
              </a:rPr>
              <a:t>. Bhd. </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B-8-15, Megan Avenue II</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12 Jalan Yap Kwan Seng</a:t>
            </a:r>
            <a:br>
              <a:rPr lang="en-ID" sz="700" dirty="0">
                <a:effectLst/>
                <a:latin typeface="Calibri" panose="020F0502020204030204" pitchFamily="34" charset="0"/>
                <a:cs typeface="Calibri" panose="020F0502020204030204" pitchFamily="34" charset="0"/>
              </a:rPr>
            </a:br>
            <a:r>
              <a:rPr lang="en-ID" sz="700" dirty="0">
                <a:effectLst/>
                <a:latin typeface="Calibri" panose="020F0502020204030204" pitchFamily="34" charset="0"/>
                <a:cs typeface="Calibri" panose="020F0502020204030204" pitchFamily="34" charset="0"/>
              </a:rPr>
              <a:t>50450 Kuala Lumpur, Malaysia</a:t>
            </a:r>
          </a:p>
        </p:txBody>
      </p:sp>
      <p:sp>
        <p:nvSpPr>
          <p:cNvPr id="2" name="Rectangle 1">
            <a:extLst>
              <a:ext uri="{FF2B5EF4-FFF2-40B4-BE49-F238E27FC236}">
                <a16:creationId xmlns:a16="http://schemas.microsoft.com/office/drawing/2014/main" id="{F66DC8AC-9EBA-9584-E47F-76980ADC7FF4}"/>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C02337"/>
                </a:solidFill>
                <a:effectLst/>
                <a:latin typeface="Calibri" panose="020F0502020204030204" pitchFamily="34" charset="0"/>
                <a:cs typeface="Calibri" panose="020F0502020204030204" pitchFamily="34" charset="0"/>
              </a:rPr>
              <a:t>NIPT </a:t>
            </a:r>
            <a:r>
              <a:rPr lang="en-US" sz="2000" cap="none" spc="0" dirty="0">
                <a:ln/>
                <a:solidFill>
                  <a:srgbClr val="C02337"/>
                </a:solidFill>
                <a:effectLst/>
                <a:latin typeface="Calibri" panose="020F0502020204030204" pitchFamily="34" charset="0"/>
                <a:cs typeface="Calibri" panose="020F0502020204030204" pitchFamily="34" charset="0"/>
              </a:rPr>
              <a:t>Test Report</a:t>
            </a:r>
            <a:endParaRPr lang="en-US" sz="3200" cap="none" spc="0" dirty="0">
              <a:ln/>
              <a:solidFill>
                <a:srgbClr val="C02337"/>
              </a:solidFill>
              <a:effectLst/>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DA66B46-15EA-E319-A636-4C8E080FBB89}"/>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3165 </a:t>
            </a:r>
          </a:p>
          <a:p>
            <a:pPr algn="ctr"/>
            <a:r>
              <a:rPr lang="pt-BR" sz="800" b="0" i="0" dirty="0">
                <a:solidFill>
                  <a:srgbClr val="000000"/>
                </a:solidFill>
                <a:effectLst/>
                <a:latin typeface="Calibri" panose="020F0502020204030204" pitchFamily="34" charset="0"/>
                <a:cs typeface="Calibri" panose="020F0502020204030204" pitchFamily="34" charset="0"/>
              </a:rPr>
              <a:t>QR G1.1-6-4-a</a:t>
            </a:r>
            <a:endParaRPr lang="en-ID" sz="800" dirty="0">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F7056F6F-7937-BEF1-24CB-5179B97083EC}"/>
              </a:ext>
            </a:extLst>
          </p:cNvPr>
          <p:cNvSpPr txBox="1"/>
          <p:nvPr/>
        </p:nvSpPr>
        <p:spPr>
          <a:xfrm>
            <a:off x="4470985" y="772625"/>
            <a:ext cx="1956391" cy="738664"/>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Test Requested: &lt;&lt;Test Requested&gt;&gt;</a:t>
            </a:r>
          </a:p>
        </p:txBody>
      </p:sp>
      <p:sp>
        <p:nvSpPr>
          <p:cNvPr id="6" name="TextBox 5">
            <a:extLst>
              <a:ext uri="{FF2B5EF4-FFF2-40B4-BE49-F238E27FC236}">
                <a16:creationId xmlns:a16="http://schemas.microsoft.com/office/drawing/2014/main" id="{235ED051-57C3-7109-2769-7D17FA639804}"/>
              </a:ext>
            </a:extLst>
          </p:cNvPr>
          <p:cNvSpPr txBox="1"/>
          <p:nvPr/>
        </p:nvSpPr>
        <p:spPr>
          <a:xfrm>
            <a:off x="2449030" y="771746"/>
            <a:ext cx="1956391" cy="73866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p:txBody>
      </p:sp>
      <p:sp>
        <p:nvSpPr>
          <p:cNvPr id="8" name="TextBox 7">
            <a:extLst>
              <a:ext uri="{FF2B5EF4-FFF2-40B4-BE49-F238E27FC236}">
                <a16:creationId xmlns:a16="http://schemas.microsoft.com/office/drawing/2014/main" id="{ADF668DA-8190-9E40-831D-1972ABBE755B}"/>
              </a:ext>
            </a:extLst>
          </p:cNvPr>
          <p:cNvSpPr txBox="1"/>
          <p:nvPr/>
        </p:nvSpPr>
        <p:spPr>
          <a:xfrm>
            <a:off x="434824" y="772625"/>
            <a:ext cx="1956393"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2457094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11231</TotalTime>
  <Words>2677</Words>
  <Application>Microsoft Macintosh PowerPoint</Application>
  <PresentationFormat>A4 Paper (210x297 mm)</PresentationFormat>
  <Paragraphs>412</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98</cp:revision>
  <dcterms:created xsi:type="dcterms:W3CDTF">2024-06-13T04:30:46Z</dcterms:created>
  <dcterms:modified xsi:type="dcterms:W3CDTF">2025-08-05T05:39:45Z</dcterms:modified>
</cp:coreProperties>
</file>