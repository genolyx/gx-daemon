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330" r:id="rId2"/>
    <p:sldId id="331" r:id="rId3"/>
    <p:sldId id="332" r:id="rId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laysia version" id="{FE771C7B-36E6-4832-B63F-9DF2C17B9980}">
          <p14:sldIdLst>
            <p14:sldId id="330"/>
            <p14:sldId id="331"/>
            <p14:sldId id="33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 id="{2AD7E67D-6C4E-A42D-7787-1BE1BACAA48C}" name="Evon Lee Bee Lay" initials="EB" userId="S::evon.lee@stemlife.com::92a3c5e0-263d-4d39-b45b-d2c2c51ac627" providerId="AD"/>
  <p188:author id="{2C3757E8-09BA-7C23-CF17-B5826D7C6949}" name="PT Cordlife Persada" initials="PP" userId="9bd9c189f0b1781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BF2F2"/>
    <a:srgbClr val="C42438"/>
    <a:srgbClr val="C02337"/>
    <a:srgbClr val="EFCDCD"/>
    <a:srgbClr val="E280A9"/>
    <a:srgbClr val="FDB9C1"/>
    <a:srgbClr val="C82439"/>
    <a:srgbClr val="00A6C8"/>
    <a:srgbClr val="FF5B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983" autoAdjust="0"/>
    <p:restoredTop sz="90855" autoAdjust="0"/>
  </p:normalViewPr>
  <p:slideViewPr>
    <p:cSldViewPr snapToGrid="0">
      <p:cViewPr varScale="1">
        <p:scale>
          <a:sx n="150" d="100"/>
          <a:sy n="150" d="100"/>
        </p:scale>
        <p:origin x="486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8/5/25</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2719109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2</a:t>
            </a:fld>
            <a:endParaRPr lang="en-US"/>
          </a:p>
        </p:txBody>
      </p:sp>
    </p:spTree>
    <p:extLst>
      <p:ext uri="{BB962C8B-B14F-4D97-AF65-F5344CB8AC3E}">
        <p14:creationId xmlns:p14="http://schemas.microsoft.com/office/powerpoint/2010/main" val="342564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8/5/25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8/5/25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8/5/25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8/5/25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pv.geneticsupport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Fetal Fraction</a:t>
            </a:r>
          </a:p>
          <a:p>
            <a:r>
              <a:rPr lang="en-US" sz="1100" b="1" dirty="0">
                <a:latin typeface="Calibri" panose="020F0502020204030204" pitchFamily="34" charset="0"/>
                <a:cs typeface="Calibri" panose="020F0502020204030204" pitchFamily="34" charset="0"/>
              </a:rPr>
              <a:t>     </a:t>
            </a:r>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p>
          <a:p>
            <a:endParaRPr lang="en-US" sz="1100" b="1" dirty="0">
              <a:latin typeface="Calibri" panose="020F0502020204030204" pitchFamily="34" charset="0"/>
              <a:cs typeface="Calibri" panose="020F0502020204030204" pitchFamily="34" charset="0"/>
            </a:endParaRPr>
          </a:p>
          <a:p>
            <a:r>
              <a:rPr lang="en-US" sz="1100" b="1" dirty="0">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3893419811"/>
              </p:ext>
            </p:extLst>
          </p:nvPr>
        </p:nvGraphicFramePr>
        <p:xfrm>
          <a:off x="446345" y="3545404"/>
          <a:ext cx="5984582" cy="1143000"/>
        </p:xfrm>
        <a:graphic>
          <a:graphicData uri="http://schemas.openxmlformats.org/drawingml/2006/table">
            <a:tbl>
              <a:tblPr firstRow="1" bandRow="1">
                <a:noFill/>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Pre -test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Post-test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0">
                <a:tc>
                  <a:txBody>
                    <a:bodyPr/>
                    <a:lstStyle/>
                    <a:p>
                      <a:pPr algn="ctr"/>
                      <a:r>
                        <a:rPr lang="en-US" sz="10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470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621165317"/>
                  </a:ext>
                </a:extLst>
              </a:tr>
              <a:tr h="0">
                <a:tc>
                  <a:txBody>
                    <a:bodyPr/>
                    <a:lstStyle/>
                    <a:p>
                      <a:pPr algn="ctr"/>
                      <a:r>
                        <a:rPr lang="en-US" sz="10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20442383"/>
                  </a:ext>
                </a:extLst>
              </a:tr>
              <a:tr h="0">
                <a:tc>
                  <a:txBody>
                    <a:bodyPr/>
                    <a:lstStyle/>
                    <a:p>
                      <a:pPr algn="ctr"/>
                      <a:r>
                        <a:rPr lang="en-US" sz="10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332318909"/>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4468" y="323762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56142"/>
            <a:ext cx="3681005" cy="0"/>
          </a:xfrm>
          <a:prstGeom prst="line">
            <a:avLst/>
          </a:prstGeom>
          <a:ln>
            <a:solidFill>
              <a:srgbClr val="C02337"/>
            </a:solidFill>
            <a:prstDash val="lgDash"/>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7389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3"/>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The pre-test risk score for aneuploidy is based on a published study involving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which considered maternal age, gestational age, and/or general population data.</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Post-test risk score value is calculated as a probability value obtained through the Gaussian distribution of the normal group and the abnormal group using the fetal DNA percentage (fetal fraction), chromosome read % (Unique Read %) value, and Z-score value. The post test risk score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FBB5B363-1468-01A7-7F2E-87830301A6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23" name="Rectangle 22">
            <a:extLst>
              <a:ext uri="{FF2B5EF4-FFF2-40B4-BE49-F238E27FC236}">
                <a16:creationId xmlns:a16="http://schemas.microsoft.com/office/drawing/2014/main" id="{FE10BDA8-6E71-A197-8560-945E2F9A196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25" name="Rectangle: Rounded Corners 24">
            <a:extLst>
              <a:ext uri="{FF2B5EF4-FFF2-40B4-BE49-F238E27FC236}">
                <a16:creationId xmlns:a16="http://schemas.microsoft.com/office/drawing/2014/main" id="{C255419B-7D9F-286C-F90D-5D028B5E060C}"/>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6ADF4B2D-E848-8007-B2AD-D3A9E5C1EC8B}"/>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9847590E-2383-A71D-DE54-A9343D91607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52A032D7-6E36-FFCF-B1EB-F399544D65F9}"/>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7938018E-7C91-2C40-2F25-4B1D62893305}"/>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8" name="TextBox 7">
            <a:extLst>
              <a:ext uri="{FF2B5EF4-FFF2-40B4-BE49-F238E27FC236}">
                <a16:creationId xmlns:a16="http://schemas.microsoft.com/office/drawing/2014/main" id="{90E11F8C-6871-C190-CE89-B70C2A7765DB}"/>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3" name="TextBox 12">
            <a:extLst>
              <a:ext uri="{FF2B5EF4-FFF2-40B4-BE49-F238E27FC236}">
                <a16:creationId xmlns:a16="http://schemas.microsoft.com/office/drawing/2014/main" id="{1A418D20-98E6-069F-6218-7CC0DB844A90}"/>
              </a:ext>
            </a:extLst>
          </p:cNvPr>
          <p:cNvSpPr txBox="1"/>
          <p:nvPr/>
        </p:nvSpPr>
        <p:spPr>
          <a:xfrm>
            <a:off x="467796" y="1898712"/>
            <a:ext cx="3859287" cy="512769"/>
          </a:xfrm>
          <a:prstGeom prst="rect">
            <a:avLst/>
          </a:prstGeom>
          <a:noFill/>
        </p:spPr>
        <p:txBody>
          <a:bodyPr wrap="square" rtlCol="0">
            <a:spAutoFit/>
          </a:bodyPr>
          <a:lstStyle/>
          <a:p>
            <a:r>
              <a:rPr lang="en-US" sz="1400" b="1" dirty="0">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sp>
        <p:nvSpPr>
          <p:cNvPr id="16" name="TextBox 15">
            <a:extLst>
              <a:ext uri="{FF2B5EF4-FFF2-40B4-BE49-F238E27FC236}">
                <a16:creationId xmlns:a16="http://schemas.microsoft.com/office/drawing/2014/main" id="{7012FC15-1B7A-A096-A7A9-C8B5F7D9A70D}"/>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FE4140BB-0853-78AA-9031-31ABB1E92959}"/>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97748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3784781718"/>
              </p:ext>
            </p:extLst>
          </p:nvPr>
        </p:nvGraphicFramePr>
        <p:xfrm>
          <a:off x="464687" y="2286588"/>
          <a:ext cx="5984584" cy="1790538"/>
        </p:xfrm>
        <a:graphic>
          <a:graphicData uri="http://schemas.openxmlformats.org/drawingml/2006/table">
            <a:tbl>
              <a:tblPr firstRow="1" bandRow="1">
                <a:noFill/>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endParaRPr lang="en-US" sz="105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Williams-Beuren syndrome (7q11.23 deletion)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dirty="0">
                          <a:latin typeface="Calibri" panose="020F0502020204030204" pitchFamily="34" charset="0"/>
                          <a:cs typeface="Calibri" panose="020F0502020204030204" pitchFamily="34" charset="0"/>
                        </a:rPr>
                        <a:t>(11q23.3-q25)</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Prader-Willi/Angelman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316924696"/>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4"/>
            <a:ext cx="5984582" cy="800297"/>
          </a:xfrm>
          <a:prstGeom prst="roundRect">
            <a:avLst/>
          </a:prstGeom>
          <a:noFill/>
          <a:ln>
            <a:solidFill>
              <a:srgbClr val="FB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Autosomal and Sex Chromosome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using cell free DNA analysis, validated for singleton pregnancies with gestational age of at least 10 weeks, as estimated by the last menstrual period. These results do not eliminate the possibility that the pregnancy may be associated with other chromosomal or sub-chromosomal abnormalities, birth defects, and/or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inaccurate test results may include, but are not limited to maternal, fetal and/or placental mosaicism, low fetal fraction, blood transfusion, transplant surgery and stem cell therapy. Especially, in particular fetal reduction including vanishing twin, fetal demise can result in false-negative or false-positive result. If a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the regions of 1p36, 2q33.1, 4p16.3, 5p-, 7q11.23, 11q23, 15q11.2-q13, 22q11.2, and 108 syndromes (if applicable) and is available for singleton pregnancies with gestational age of at least 10 weeks, as estimated by the last menstrual period, crown-rump length, or another appropriate method. This is a screening test and may result in false-positive or false-negative results. Therefore, a negative results does not eliminate the possibility of the above-mentioned microdeletions/duplications syndromes. If a definitive diagnosis is desired, chorionic villus sampling or amniocentesis would be necessary, with consideration of prenatal microarray or region-specific DNA probes. In addition, chromosomal or sub-chromosomal findings greater than 3 Mb may be reported, which are rare and complex, insufficient validation may result in lower specificity. Low fetal fraction or short Copy Number Variation (CNV) size are technical limitation. Consultation with a physician(s) will be necessary for such findings.</a:t>
            </a:r>
          </a:p>
          <a:p>
            <a:pPr algn="just"/>
            <a:r>
              <a:rPr lang="en-US" sz="800" dirty="0">
                <a:latin typeface="Calibri" panose="020F0502020204030204" pitchFamily="34" charset="0"/>
                <a:cs typeface="Calibri" panose="020F0502020204030204" pitchFamily="34" charset="0"/>
              </a:rPr>
              <a:t>These results do not eliminate the possibility that the pregnancy may be associated with other chromosomal or sub-chromosomal abnormalities, birth defects, and/or other conditions. This test is not intended to identify pregnancies at risk for open neural tube defects. Furthermore, there is a small possibility that the test results may not reflect the chromosomal status of the fetus, but may instead reflect sub-chromosomal changes of the placenta (confined placental mosaicism), or of the mother. </a:t>
            </a:r>
          </a:p>
        </p:txBody>
      </p:sp>
      <p:sp>
        <p:nvSpPr>
          <p:cNvPr id="28" name="TextBox 27">
            <a:extLst>
              <a:ext uri="{FF2B5EF4-FFF2-40B4-BE49-F238E27FC236}">
                <a16:creationId xmlns:a16="http://schemas.microsoft.com/office/drawing/2014/main" id="{82AAE524-2EB2-C10E-0496-53D7DA01CBBE}"/>
              </a:ext>
            </a:extLst>
          </p:cNvPr>
          <p:cNvSpPr txBox="1"/>
          <p:nvPr/>
        </p:nvSpPr>
        <p:spPr>
          <a:xfrm>
            <a:off x="498897" y="4747308"/>
            <a:ext cx="5689600" cy="246221"/>
          </a:xfrm>
          <a:prstGeom prst="rect">
            <a:avLst/>
          </a:prstGeom>
          <a:noFill/>
        </p:spPr>
        <p:txBody>
          <a:bodyPr wrap="square">
            <a:spAutoFit/>
          </a:bodyPr>
          <a:lstStyle/>
          <a:p>
            <a:pPr marL="83820" lvl="0"/>
            <a:r>
              <a:rPr lang="en-US" sz="1000" dirty="0">
                <a:latin typeface="Calibri" panose="020F0502020204030204" pitchFamily="34" charset="0"/>
                <a:ea typeface="Calibri"/>
                <a:cs typeface="Calibri" panose="020F0502020204030204" pitchFamily="34" charset="0"/>
                <a:sym typeface="Calibri"/>
              </a:rPr>
              <a:t>&lt;&lt;MDI&gt;&gt;</a:t>
            </a:r>
          </a:p>
        </p:txBody>
      </p:sp>
      <p:pic>
        <p:nvPicPr>
          <p:cNvPr id="7" name="Picture 6">
            <a:extLst>
              <a:ext uri="{FF2B5EF4-FFF2-40B4-BE49-F238E27FC236}">
                <a16:creationId xmlns:a16="http://schemas.microsoft.com/office/drawing/2014/main" id="{D2AB43B1-400F-C6AE-46E6-024F7D22D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4D4033D1-63E4-B193-0F12-03824974799C}"/>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1BDFE2F2-D0D5-678E-1EEA-2799353566AE}"/>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25575850-A549-2669-E0A8-25A1A1DE5243}"/>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80E7CDCA-F736-140A-AA86-32CC57BA663E}"/>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B91AF2B1-F8C4-D203-EEB2-8EB1126B3746}"/>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26" name="TextBox 25">
            <a:extLst>
              <a:ext uri="{FF2B5EF4-FFF2-40B4-BE49-F238E27FC236}">
                <a16:creationId xmlns:a16="http://schemas.microsoft.com/office/drawing/2014/main" id="{750605DF-1DE2-4973-0A49-19B87B8F5915}"/>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5" name="TextBox 4">
            <a:extLst>
              <a:ext uri="{FF2B5EF4-FFF2-40B4-BE49-F238E27FC236}">
                <a16:creationId xmlns:a16="http://schemas.microsoft.com/office/drawing/2014/main" id="{35EA3450-4577-9121-2D79-1729F27A591F}"/>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6" name="Rectangle: Rounded Corners 5">
            <a:extLst>
              <a:ext uri="{FF2B5EF4-FFF2-40B4-BE49-F238E27FC236}">
                <a16:creationId xmlns:a16="http://schemas.microsoft.com/office/drawing/2014/main" id="{FA7DDA8C-6425-8905-CFE2-79F8BEC1911A}"/>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FA52F126-4C40-13F6-F745-BCC95116CCD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A2C0A2C8-E99E-A737-02DF-EC46D2EC8D46}"/>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46FCC738-CCA2-9B93-BCFF-4DFD52C90396}"/>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62376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ABOUT STEMLIFE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is 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is 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noFill/>
          <a:ln>
            <a:solidFill>
              <a:srgbClr val="C42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3898580598"/>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20" name="TextBox 19">
            <a:extLst>
              <a:ext uri="{FF2B5EF4-FFF2-40B4-BE49-F238E27FC236}">
                <a16:creationId xmlns:a16="http://schemas.microsoft.com/office/drawing/2014/main" id="{16A7A226-4281-5A45-C110-38218C55B026}"/>
              </a:ext>
            </a:extLst>
          </p:cNvPr>
          <p:cNvSpPr txBox="1"/>
          <p:nvPr/>
        </p:nvSpPr>
        <p:spPr>
          <a:xfrm>
            <a:off x="3414595" y="9214885"/>
            <a:ext cx="2236398" cy="538609"/>
          </a:xfrm>
          <a:prstGeom prst="rect">
            <a:avLst/>
          </a:prstGeom>
          <a:noFill/>
        </p:spPr>
        <p:txBody>
          <a:bodyPr wrap="square" rtlCol="0">
            <a:spAutoFit/>
          </a:bodyPr>
          <a:lstStyle/>
          <a:p>
            <a:r>
              <a:rPr lang="en-US" sz="800" b="1" dirty="0">
                <a:latin typeface="Calibri" panose="020F0502020204030204" pitchFamily="34" charset="0"/>
                <a:cs typeface="Calibri" panose="020F0502020204030204" pitchFamily="34" charset="0"/>
              </a:rPr>
              <a:t>Laboratory:</a:t>
            </a:r>
          </a:p>
          <a:p>
            <a:r>
              <a:rPr lang="en-US" sz="700" dirty="0">
                <a:latin typeface="Calibri" panose="020F0502020204030204" pitchFamily="34" charset="0"/>
                <a:cs typeface="Calibri" panose="020F0502020204030204" pitchFamily="34" charset="0"/>
              </a:rPr>
              <a:t>Jl. </a:t>
            </a:r>
            <a:r>
              <a:rPr lang="en-US" sz="700" dirty="0" err="1">
                <a:latin typeface="Calibri" panose="020F0502020204030204" pitchFamily="34" charset="0"/>
                <a:cs typeface="Calibri" panose="020F0502020204030204" pitchFamily="34" charset="0"/>
              </a:rPr>
              <a:t>Bungur</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Besar</a:t>
            </a:r>
            <a:r>
              <a:rPr lang="en-US" sz="700" dirty="0">
                <a:latin typeface="Calibri" panose="020F0502020204030204" pitchFamily="34" charset="0"/>
                <a:cs typeface="Calibri" panose="020F0502020204030204" pitchFamily="34" charset="0"/>
              </a:rPr>
              <a:t> Raya No. 23, </a:t>
            </a:r>
            <a:r>
              <a:rPr lang="en-US" sz="700" dirty="0" err="1">
                <a:latin typeface="Calibri" panose="020F0502020204030204" pitchFamily="34" charset="0"/>
                <a:cs typeface="Calibri" panose="020F0502020204030204" pitchFamily="34" charset="0"/>
              </a:rPr>
              <a:t>Gunung</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Sahari</a:t>
            </a:r>
            <a:r>
              <a:rPr lang="en-US" sz="700" dirty="0">
                <a:latin typeface="Calibri" panose="020F0502020204030204" pitchFamily="34" charset="0"/>
                <a:cs typeface="Calibri" panose="020F0502020204030204" pitchFamily="34" charset="0"/>
              </a:rPr>
              <a:t> Selatan</a:t>
            </a:r>
          </a:p>
          <a:p>
            <a:r>
              <a:rPr lang="en-US" sz="700" dirty="0" err="1">
                <a:latin typeface="Calibri" panose="020F0502020204030204" pitchFamily="34" charset="0"/>
                <a:cs typeface="Calibri" panose="020F0502020204030204" pitchFamily="34" charset="0"/>
              </a:rPr>
              <a:t>Kemayoran</a:t>
            </a:r>
            <a:r>
              <a:rPr lang="en-US" sz="700" dirty="0">
                <a:latin typeface="Calibri" panose="020F0502020204030204" pitchFamily="34" charset="0"/>
                <a:cs typeface="Calibri" panose="020F0502020204030204" pitchFamily="34" charset="0"/>
              </a:rPr>
              <a:t>, Jakarta Pusat</a:t>
            </a:r>
          </a:p>
          <a:p>
            <a:r>
              <a:rPr lang="en-US" sz="700" dirty="0">
                <a:latin typeface="Calibri" panose="020F0502020204030204" pitchFamily="34" charset="0"/>
                <a:cs typeface="Calibri" panose="020F0502020204030204" pitchFamily="34" charset="0"/>
              </a:rPr>
              <a:t>Phone: 62-21-8086-4674</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863607"/>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the performance of the workflow and algorithm have been validated by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a:latin typeface="Calibri" panose="020F0502020204030204" pitchFamily="34" charset="0"/>
                <a:cs typeface="Calibri" panose="020F0502020204030204" pitchFamily="34" charset="0"/>
              </a:rPr>
              <a:t>StemLife NIPT is a screening test, not a diagnostic test. It evaluates genetic information in the maternal blood, which contains a mixture of maternal and placental DNA, to determine the likelihood of specific chromosome abnormalities. The test does NOT provide certainty whether a fetus is affected, and only screens for the conditions ordered by the healthcare provider. A low-risk result does not guarantee an unaffected fetus. The manner in which this information is used to guide patient care is the responsibility of the healthcare provider, including advising on the need for genetic counseling or diagnostic testing. Any test results should be interpreted in the context of all available clinical findings. The results of this test are not intended to be used as the sole means for management decisions. </a:t>
            </a:r>
            <a:r>
              <a:rPr lang="en-US" sz="900" b="0" dirty="0">
                <a:effectLst/>
                <a:highlight>
                  <a:srgbClr val="FFFFFF"/>
                </a:highlight>
                <a:latin typeface="Calibri" panose="020F0502020204030204" pitchFamily="34" charset="0"/>
                <a:cs typeface="Calibri" panose="020F0502020204030204" pitchFamily="34" charset="0"/>
              </a:rPr>
              <a:t>StemLife shall not be responsible and the client shall exempt StemLife from any loss or consequences resulting from the decision based on </a:t>
            </a:r>
            <a:r>
              <a:rPr lang="en-US" sz="900" dirty="0">
                <a:highlight>
                  <a:srgbClr val="FFFFFF"/>
                </a:highlight>
                <a:latin typeface="Calibri" panose="020F0502020204030204" pitchFamily="34" charset="0"/>
                <a:cs typeface="Calibri" panose="020F0502020204030204" pitchFamily="34" charset="0"/>
              </a:rPr>
              <a:t>StemLife </a:t>
            </a:r>
            <a:r>
              <a:rPr lang="en-US" sz="900" b="0" dirty="0">
                <a:effectLst/>
                <a:highlight>
                  <a:srgbClr val="FFFFFF"/>
                </a:highlight>
                <a:latin typeface="Calibri" panose="020F0502020204030204" pitchFamily="34" charset="0"/>
                <a:cs typeface="Calibri" panose="020F0502020204030204" pitchFamily="34" charset="0"/>
              </a:rPr>
              <a:t>NIPT test results.</a:t>
            </a:r>
            <a:endParaRPr lang="en-US" sz="900"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A8B266CD-523A-DF19-F1ED-0C3F8795FF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1983AF4F-FA92-064E-ED50-DAEC8FA7CC36}"/>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0E3BB315-D1D2-408D-C1E1-D9A2CCAABD1C}"/>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20F2B3C9-E511-F1CD-B852-1E6CC89C271F}"/>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CC66D8A1-9F36-A215-AB24-0B1E69D29014}"/>
              </a:ext>
            </a:extLst>
          </p:cNvPr>
          <p:cNvSpPr txBox="1"/>
          <p:nvPr/>
        </p:nvSpPr>
        <p:spPr>
          <a:xfrm>
            <a:off x="531522" y="9225055"/>
            <a:ext cx="3429000" cy="523220"/>
          </a:xfrm>
          <a:prstGeom prst="rect">
            <a:avLst/>
          </a:prstGeom>
          <a:noFill/>
        </p:spPr>
        <p:txBody>
          <a:bodyPr wrap="square">
            <a:spAutoFit/>
          </a:bodyPr>
          <a:lstStyle/>
          <a:p>
            <a:r>
              <a:rPr lang="en-ID" sz="700" b="1" dirty="0" err="1">
                <a:effectLst/>
                <a:latin typeface="Calibri" panose="020F0502020204030204" pitchFamily="34" charset="0"/>
                <a:cs typeface="Calibri" panose="020F0502020204030204" pitchFamily="34" charset="0"/>
              </a:rPr>
              <a:t>StemLife</a:t>
            </a:r>
            <a:r>
              <a:rPr lang="en-ID" sz="700" b="1" dirty="0">
                <a:effectLst/>
                <a:latin typeface="Calibri" panose="020F0502020204030204" pitchFamily="34" charset="0"/>
                <a:cs typeface="Calibri" panose="020F0502020204030204" pitchFamily="34" charset="0"/>
              </a:rPr>
              <a:t> Biotechnology </a:t>
            </a:r>
            <a:r>
              <a:rPr lang="en-ID" sz="700" b="1" dirty="0" err="1">
                <a:effectLst/>
                <a:latin typeface="Calibri" panose="020F0502020204030204" pitchFamily="34" charset="0"/>
                <a:cs typeface="Calibri" panose="020F0502020204030204" pitchFamily="34" charset="0"/>
              </a:rPr>
              <a:t>Sdn</a:t>
            </a:r>
            <a:r>
              <a:rPr lang="en-ID" sz="700" b="1" dirty="0">
                <a:effectLst/>
                <a:latin typeface="Calibri" panose="020F0502020204030204" pitchFamily="34" charset="0"/>
                <a:cs typeface="Calibri" panose="020F0502020204030204" pitchFamily="34" charset="0"/>
              </a:rPr>
              <a:t>. Bhd. </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B-8-15, Megan Avenue II</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12 Jalan Yap Kwan Seng</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50450 Kuala Lumpur, Malaysia</a:t>
            </a:r>
          </a:p>
        </p:txBody>
      </p:sp>
      <p:sp>
        <p:nvSpPr>
          <p:cNvPr id="4" name="Rectangle 3">
            <a:extLst>
              <a:ext uri="{FF2B5EF4-FFF2-40B4-BE49-F238E27FC236}">
                <a16:creationId xmlns:a16="http://schemas.microsoft.com/office/drawing/2014/main" id="{10B267A8-CE86-B856-8ED5-B125373B1198}"/>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63D223E-BA7B-2F2F-15FB-B61F73130423}"/>
              </a:ext>
            </a:extLst>
          </p:cNvPr>
          <p:cNvSpPr txBox="1"/>
          <p:nvPr/>
        </p:nvSpPr>
        <p:spPr>
          <a:xfrm>
            <a:off x="5713863" y="922702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28CAE30-2977-0073-600B-8B2735E06313}"/>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0" name="TextBox 9">
            <a:extLst>
              <a:ext uri="{FF2B5EF4-FFF2-40B4-BE49-F238E27FC236}">
                <a16:creationId xmlns:a16="http://schemas.microsoft.com/office/drawing/2014/main" id="{AE8CCFD8-A503-0A23-C671-0A53B8ED3ABA}"/>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2" name="TextBox 11">
            <a:extLst>
              <a:ext uri="{FF2B5EF4-FFF2-40B4-BE49-F238E27FC236}">
                <a16:creationId xmlns:a16="http://schemas.microsoft.com/office/drawing/2014/main" id="{B3635F87-D4DD-DFB3-28CF-8EA43FC56C8A}"/>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3286271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11232</TotalTime>
  <Words>1955</Words>
  <Application>Microsoft Macintosh PowerPoint</Application>
  <PresentationFormat>A4 Paper (210x297 mm)</PresentationFormat>
  <Paragraphs>245</Paragraphs>
  <Slides>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Calibri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99</cp:revision>
  <dcterms:created xsi:type="dcterms:W3CDTF">2024-06-13T04:30:46Z</dcterms:created>
  <dcterms:modified xsi:type="dcterms:W3CDTF">2025-08-05T05:41:00Z</dcterms:modified>
</cp:coreProperties>
</file>