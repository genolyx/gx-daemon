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91" r:id="rId2"/>
    <p:sldId id="292" r:id="rId3"/>
    <p:sldId id="293" r:id="rId4"/>
    <p:sldId id="294" r:id="rId5"/>
    <p:sldId id="295" r:id="rId6"/>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798" autoAdjust="0"/>
  </p:normalViewPr>
  <p:slideViewPr>
    <p:cSldViewPr snapToGrid="0">
      <p:cViewPr varScale="1">
        <p:scale>
          <a:sx n="166" d="100"/>
          <a:sy n="166" d="100"/>
        </p:scale>
        <p:origin x="698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2239716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521941810"/>
              </p:ext>
            </p:extLst>
          </p:nvPr>
        </p:nvGraphicFramePr>
        <p:xfrm>
          <a:off x="446345" y="3545404"/>
          <a:ext cx="5984582" cy="19583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5" name="TextBox 34">
            <a:extLst>
              <a:ext uri="{FF2B5EF4-FFF2-40B4-BE49-F238E27FC236}">
                <a16:creationId xmlns:a16="http://schemas.microsoft.com/office/drawing/2014/main" id="{476D5DF8-31BD-0656-F975-E52D740346D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F20CD6CF-E309-DACF-2804-325B000A6258}"/>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FC1E32AF-13C2-5C2F-BB93-341475F8A8F1}"/>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Tree>
    <p:extLst>
      <p:ext uri="{BB962C8B-B14F-4D97-AF65-F5344CB8AC3E}">
        <p14:creationId xmlns:p14="http://schemas.microsoft.com/office/powerpoint/2010/main" val="3896802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1929021709"/>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a:latin typeface="Calibri" panose="020F0502020204030204" pitchFamily="34" charset="0"/>
                <a:ea typeface="Calibri"/>
                <a:cs typeface="Calibri" panose="020F0502020204030204" pitchFamily="34" charset="0"/>
                <a:sym typeface="Calibri"/>
              </a:rPr>
              <a:t>&lt;&lt;MDI&gt;&gt;</a:t>
            </a:r>
            <a:endParaRPr lang="en-US" sz="900" dirty="0">
              <a:latin typeface="Calibri" panose="020F0502020204030204" pitchFamily="34" charset="0"/>
              <a:ea typeface="Calibri"/>
              <a:cs typeface="Calibri" panose="020F0502020204030204" pitchFamily="34" charset="0"/>
              <a:sym typeface="Calibri"/>
            </a:endParaRP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BE2EE0-1DC1-3EFE-98A7-C8F885D08453}"/>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63E7546A-B421-1B8F-D25A-2065AFB33FB1}"/>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5" name="TextBox 4">
            <a:extLst>
              <a:ext uri="{FF2B5EF4-FFF2-40B4-BE49-F238E27FC236}">
                <a16:creationId xmlns:a16="http://schemas.microsoft.com/office/drawing/2014/main" id="{DB696B14-849F-76EC-4CB7-A280F13127F8}"/>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4610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7C57744F-5110-770B-63DD-F07B2D58A166}"/>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5" name="TextBox 4">
            <a:extLst>
              <a:ext uri="{FF2B5EF4-FFF2-40B4-BE49-F238E27FC236}">
                <a16:creationId xmlns:a16="http://schemas.microsoft.com/office/drawing/2014/main" id="{97E94028-8969-F990-C1BD-B5A48B925DC7}"/>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93604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2</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306041587"/>
              </p:ext>
            </p:extLst>
          </p:nvPr>
        </p:nvGraphicFramePr>
        <p:xfrm>
          <a:off x="449872" y="2303049"/>
          <a:ext cx="2988000" cy="70942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988446624"/>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&lt;&lt;1p32-p31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&lt;&lt;1q41-q42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latin typeface="Calibri" panose="020F0502020204030204" pitchFamily="34" charset="0"/>
                          <a:cs typeface="Calibri" panose="020F0502020204030204" pitchFamily="34" charset="0"/>
                        </a:rPr>
                        <a:t>&lt;&lt;1q43-q44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&lt;&lt;2p12-p11.2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latin typeface="Calibri" panose="020F0502020204030204" pitchFamily="34" charset="0"/>
                          <a:cs typeface="Calibri" panose="020F0502020204030204" pitchFamily="34" charset="0"/>
                        </a:rPr>
                        <a:t>&lt;&lt;2p15-p16.1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&lt;&lt;2q13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&lt;&lt;2q13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&lt;&lt;2q31.1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&lt;&lt;2q31.1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&lt;&lt;2q35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&lt;&lt;3p25.3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&lt;&lt;3pter-p25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&lt;&lt;3q13.31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&lt;&lt;Dandy-Walker syndrome (DWS)&gt;&gt;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&lt;&lt;3q26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&lt;&lt;3q29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&lt;&lt;4q21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&lt;&lt;Axenfeld-Rieger syndrome type 1 (RIEG1)&gt;&gt;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&lt;&lt;5p13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&lt;&lt;5q12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&lt;&lt;5q14.3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&lt;&lt;Sotos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&lt;&lt;6p22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&lt;&lt;6q11-q14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&lt;&lt;6q24-q25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&lt;&lt;Coffin-Siris syndrome 1 (CSS1)&gt;&gt;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&lt;&lt;Chordoma&gt;&gt;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&lt;&lt;Greig cephalopolysyndactyly syndrome (GCPS)&gt;&gt;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&lt;&lt;7p22.1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&lt;&lt;7q11.23 deletion (distal)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r>
                        <a:rPr lang="en-US" sz="650" b="0">
                          <a:solidFill>
                            <a:schemeClr val="tx1"/>
                          </a:solidFill>
                          <a:latin typeface="Calibri" panose="020F0502020204030204" pitchFamily="34" charset="0"/>
                          <a:cs typeface="Calibri" panose="020F0502020204030204" pitchFamily="34" charset="0"/>
                        </a:rPr>
                        <a:t>(WBS, duplication)</a:t>
                      </a: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&lt;&lt;Williams-Beuren syndrome (WBS, duplication)&gt;&gt;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&lt;&lt;Currarino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&lt;&lt;7q36.3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663559537"/>
              </p:ext>
            </p:extLst>
          </p:nvPr>
        </p:nvGraphicFramePr>
        <p:xfrm>
          <a:off x="3624208" y="2303049"/>
          <a:ext cx="2988000" cy="67284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442633547"/>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&lt;&lt;8p11.2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&lt;&lt;8p23.1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&lt;&lt;8q12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&lt;&lt;Nablus mask-like facial syndrome (NMLFS)&gt;&gt;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&lt;&lt;Trichorhinophalangeal syndrome type 2 (TRPS2)&gt;&gt;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&lt;&lt;9p13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&lt;&lt;9p24.3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&lt;&lt;9q33.3q34.11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&lt;&lt;Early infantile epileptic encephalopathy 4 (EIEE4)&gt;&gt;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&lt;&lt;Kleefstra syndrome 1 (KLEFS1)&gt;&gt;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&lt;&lt;10p11.21-p12.31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&lt;&lt;DiGeorge (DSG2)&gt;&gt;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&lt;&lt;10q22.3-q23.2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&lt;&lt;Split-hand/foot malformation 3 (SHFM3)&gt;&gt;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&lt;&lt;10q26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&lt;&lt;Potocki-Shaffer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&lt;&lt;WAGR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&lt;&lt;WAGRO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&lt;&lt;11q13.2-q13.4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&lt;&lt;11q22.2-q22.3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&lt;&lt;11q23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&lt;&lt;12p12.1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&lt;&lt;12q14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&lt;&lt;12q15q21.1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&lt;&lt;13q14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&lt;&lt;14q11-q22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&lt;&lt;Frias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&lt;&lt;14q24.1-q24.3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0510364"/>
                  </a:ext>
                </a:extLst>
              </a:tr>
            </a:tbl>
          </a:graphicData>
        </a:graphic>
      </p:graphicFrame>
      <p:sp>
        <p:nvSpPr>
          <p:cNvPr id="5" name="TextBox 4">
            <a:extLst>
              <a:ext uri="{FF2B5EF4-FFF2-40B4-BE49-F238E27FC236}">
                <a16:creationId xmlns:a16="http://schemas.microsoft.com/office/drawing/2014/main" id="{10C92CBA-7626-367C-8C94-4171AEFD885D}"/>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5515CD08-94EF-E556-6F1E-7AE8D89E58A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21EF4A7E-F207-ADB3-D11F-4153EE3E1171}"/>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F62C0D68-911E-B22B-2178-5B58D39EC7CF}"/>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700C3E-043C-94FD-6212-92BF90931EC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8" name="TextBox 17">
            <a:extLst>
              <a:ext uri="{FF2B5EF4-FFF2-40B4-BE49-F238E27FC236}">
                <a16:creationId xmlns:a16="http://schemas.microsoft.com/office/drawing/2014/main" id="{AFFFF080-BECA-4ED0-6787-EAC4BDE8F31B}"/>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FF9D795F-AC3A-78CE-8B33-300E1F29EC0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2DD0B603-A52C-1368-FBC0-FA017871DBF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77531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2</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8" name="Table 17">
            <a:extLst>
              <a:ext uri="{FF2B5EF4-FFF2-40B4-BE49-F238E27FC236}">
                <a16:creationId xmlns:a16="http://schemas.microsoft.com/office/drawing/2014/main" id="{5B8EDE70-2F90-1A79-E36B-8E567D674864}"/>
              </a:ext>
            </a:extLst>
          </p:cNvPr>
          <p:cNvGraphicFramePr>
            <a:graphicFrameLocks noGrp="1"/>
          </p:cNvGraphicFramePr>
          <p:nvPr>
            <p:extLst>
              <p:ext uri="{D42A27DB-BD31-4B8C-83A1-F6EECF244321}">
                <p14:modId xmlns:p14="http://schemas.microsoft.com/office/powerpoint/2010/main" val="3114604798"/>
              </p:ext>
            </p:extLst>
          </p:nvPr>
        </p:nvGraphicFramePr>
        <p:xfrm>
          <a:off x="499188" y="2297147"/>
          <a:ext cx="2988000" cy="68351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691803254"/>
                    </a:ext>
                  </a:extLst>
                </a:gridCol>
              </a:tblGrid>
              <a:tr h="0">
                <a:tc>
                  <a:txBody>
                    <a:bodyPr/>
                    <a:lstStyle/>
                    <a:p>
                      <a:pPr algn="ctr"/>
                      <a:r>
                        <a:rPr lang="en-US" sz="800" b="1" dirty="0">
                          <a:solidFill>
                            <a:schemeClr val="bg1"/>
                          </a:solidFill>
                          <a:latin typeface="+mn-lt"/>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tc>
                  <a:txBody>
                    <a:bodyPr/>
                    <a:lstStyle/>
                    <a:p>
                      <a:pPr algn="ctr"/>
                      <a:r>
                        <a:rPr lang="en-US" sz="800" b="1" dirty="0">
                          <a:solidFill>
                            <a:schemeClr val="bg1"/>
                          </a:solidFill>
                          <a:latin typeface="+mn-lt"/>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16297358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&lt;&lt;15q13.3 deletion syndrome {BP4 to BP5} (loss)&gt;&gt;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&lt;&lt;15q13.3 deletion syndrome {BP4 to BP5} (gain)&gt;&gt;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&lt;&lt;15q14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&lt;&lt;15q25.2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&lt;&lt;15q26-qter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&lt;&lt;16p11.2-p12.2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&lt;&lt;16p12.2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&lt;&lt;16p13.11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&lt;&lt;16p13.11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&lt;&lt;Polycystic kidney disease, infantile severe, with tuberous sclerosis (PKDTS)&gt;&gt;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&lt;&lt;Rubinstein-Taybi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a:t>
                      </a:r>
                      <a:r>
                        <a:rPr lang="en-US" sz="650" b="0">
                          <a:solidFill>
                            <a:schemeClr val="tx1"/>
                          </a:solidFill>
                          <a:latin typeface="Calibri" panose="020F0502020204030204" pitchFamily="34" charset="0"/>
                          <a:cs typeface="Calibri" panose="020F0502020204030204" pitchFamily="34" charset="0"/>
                        </a:rPr>
                        <a:t>16-related  </a:t>
                      </a:r>
                      <a:r>
                        <a:rPr lang="en-US" sz="650" b="0" dirty="0">
                          <a:solidFill>
                            <a:schemeClr val="tx1"/>
                          </a:solidFill>
                          <a:latin typeface="Calibri" panose="020F0502020204030204" pitchFamily="34" charset="0"/>
                          <a:cs typeface="Calibri" panose="020F0502020204030204" pitchFamily="34" charset="0"/>
                        </a:rPr>
                        <a:t>(ATR-16)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&lt;&lt;Alpha-thalassemia&gt;&gt;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&lt;&lt;16q22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&lt;&lt;Smith-Magenis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&lt;&lt;Yuan-Harel-Lupski syndrome (YUHAL)&gt;&gt;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&lt;&lt;17p12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&lt;&lt;Miller-Dieker lissencephaly syndrome (MDLS) (loss)&gt;&gt;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&lt;&lt;Miller-Dieker lissencephaly syndrome (MDLS) (gain)&gt;&gt;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&lt;&lt;17p13.3 telomeric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&lt;&lt;17q12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&lt;&lt;17q21.31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&lt;&lt;17q23.1-q23.2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625793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&lt;&lt;Tetrasomy 18p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90717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&lt;&lt;18p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2138262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&lt;&lt;18q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88050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&lt;&lt;19p13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34144248"/>
                  </a:ext>
                </a:extLst>
              </a:tr>
            </a:tbl>
          </a:graphicData>
        </a:graphic>
      </p:graphicFrame>
      <p:graphicFrame>
        <p:nvGraphicFramePr>
          <p:cNvPr id="19" name="Table 18">
            <a:extLst>
              <a:ext uri="{FF2B5EF4-FFF2-40B4-BE49-F238E27FC236}">
                <a16:creationId xmlns:a16="http://schemas.microsoft.com/office/drawing/2014/main" id="{1ED080B9-CC2C-055E-FE5A-4D1E1A9BF877}"/>
              </a:ext>
            </a:extLst>
          </p:cNvPr>
          <p:cNvGraphicFramePr>
            <a:graphicFrameLocks noGrp="1"/>
          </p:cNvGraphicFramePr>
          <p:nvPr>
            <p:extLst>
              <p:ext uri="{D42A27DB-BD31-4B8C-83A1-F6EECF244321}">
                <p14:modId xmlns:p14="http://schemas.microsoft.com/office/powerpoint/2010/main" val="1067725008"/>
              </p:ext>
            </p:extLst>
          </p:nvPr>
        </p:nvGraphicFramePr>
        <p:xfrm>
          <a:off x="3683346" y="2305263"/>
          <a:ext cx="2988000" cy="433578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2031203177"/>
                    </a:ext>
                  </a:extLst>
                </a:gridCol>
              </a:tblGrid>
              <a:tr h="0">
                <a:tc>
                  <a:txBody>
                    <a:bodyPr/>
                    <a:lstStyle/>
                    <a:p>
                      <a:pPr algn="ctr"/>
                      <a:r>
                        <a:rPr lang="en-US" sz="800" b="1" dirty="0">
                          <a:solidFill>
                            <a:schemeClr val="bg1"/>
                          </a:solidFill>
                          <a:latin typeface="+mn-lt"/>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tc>
                  <a:txBody>
                    <a:bodyPr/>
                    <a:lstStyle/>
                    <a:p>
                      <a:pPr algn="ctr"/>
                      <a:r>
                        <a:rPr lang="en-US" sz="800" b="1" dirty="0">
                          <a:solidFill>
                            <a:schemeClr val="bg1"/>
                          </a:solidFill>
                          <a:latin typeface="+mn-lt"/>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25387244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&lt;&lt;19q13.11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&lt;&lt;20p13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&lt;&lt;21q22.11-q22.12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&lt;&lt;22q11.2 deletion syndrome (distal, D-E/F)&gt;&gt;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&lt;&lt;22q11.2 deletion syndrome (LCR22 B/C-D)&gt;&gt;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&lt;&lt;Xp11.22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&lt;&lt;Xp11.22-p11.23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&lt;&lt;Xp21.2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&lt;&lt;Xp22.31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&lt;&lt;Xq22.3 telomeric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&lt;&lt;Xq27.3-q28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&lt;&lt;Xq28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bl>
          </a:graphicData>
        </a:graphic>
      </p:graphicFrame>
      <p:sp>
        <p:nvSpPr>
          <p:cNvPr id="5" name="TextBox 4">
            <a:extLst>
              <a:ext uri="{FF2B5EF4-FFF2-40B4-BE49-F238E27FC236}">
                <a16:creationId xmlns:a16="http://schemas.microsoft.com/office/drawing/2014/main" id="{5B6446D6-2F7A-3F6C-48EA-C2106B038029}"/>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Rectangle 2">
            <a:extLst>
              <a:ext uri="{FF2B5EF4-FFF2-40B4-BE49-F238E27FC236}">
                <a16:creationId xmlns:a16="http://schemas.microsoft.com/office/drawing/2014/main" id="{C963D355-13CE-650E-017F-7B7CA8214976}"/>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383D65BD-8205-410F-6EAD-92C942E260E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9C072F90-3196-2A37-F307-8B4B8FC29D9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95E55613-D86F-9231-8EE8-BAA21CE9A00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2B6D607-3870-949B-A61F-B1F4BF950F04}"/>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D196080-12E9-E07A-8AFB-7F64DCD6E9D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7" name="TextBox 6">
            <a:extLst>
              <a:ext uri="{FF2B5EF4-FFF2-40B4-BE49-F238E27FC236}">
                <a16:creationId xmlns:a16="http://schemas.microsoft.com/office/drawing/2014/main" id="{99C11FF6-89AA-B6F7-268F-DD5A0C8EB62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176125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13007</TotalTime>
  <Words>3410</Words>
  <Application>Microsoft Macintosh PowerPoint</Application>
  <PresentationFormat>A4 Paper (210x297 mm)</PresentationFormat>
  <Paragraphs>548</Paragraphs>
  <Slides>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123</cp:revision>
  <dcterms:created xsi:type="dcterms:W3CDTF">2024-06-13T04:30:46Z</dcterms:created>
  <dcterms:modified xsi:type="dcterms:W3CDTF">2025-08-05T05:35:42Z</dcterms:modified>
</cp:coreProperties>
</file>