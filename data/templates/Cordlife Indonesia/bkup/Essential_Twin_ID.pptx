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337" r:id="rId2"/>
    <p:sldId id="335" r:id="rId3"/>
    <p:sldId id="339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0E6E229-C8AF-48D0-00DD-7C10297B2569}" name="Lab Manager" initials="LM" userId="d14a33ac0ceee803" providerId="Windows Live"/>
  <p188:author id="{CB6C2E59-5052-A676-A62D-8EC3A2F35C0D}" name="Lab Exec02" initials="LE" userId="2570120b052f3b7b" providerId="Windows Live"/>
  <p188:author id="{C3F37261-C495-8902-B2E6-D7FCA57F3785}" name="Meri Virtin" initials="MV" userId="05a2d77c8c74f754" providerId="Windows Live"/>
  <p188:author id="{4A23E062-0C49-A1F7-BE07-CACFFB8CC98F}" name="Dwi Astuti Handayani" initials="DAH" userId="Dwi Astuti Handayani" providerId="None"/>
  <p188:author id="{F97F367D-8195-4952-2436-DB42D502EDB7}" name="Dwi" initials="D" userId="S::dwi.astuti@cordlife.com::7129da7c-f5bb-45a1-9e5d-0cc5ac43401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9ED5"/>
    <a:srgbClr val="00A6C8"/>
    <a:srgbClr val="099049"/>
    <a:srgbClr val="009A43"/>
    <a:srgbClr val="E5F6F9"/>
    <a:srgbClr val="1975C0"/>
    <a:srgbClr val="5E2E8C"/>
    <a:srgbClr val="632C8F"/>
    <a:srgbClr val="1973BA"/>
    <a:srgbClr val="2AA9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0821" autoAdjust="0"/>
  </p:normalViewPr>
  <p:slideViewPr>
    <p:cSldViewPr snapToGrid="0">
      <p:cViewPr varScale="1">
        <p:scale>
          <a:sx n="175" d="100"/>
          <a:sy n="175" d="100"/>
        </p:scale>
        <p:origin x="529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09E9B-57B9-4CBC-9B6F-C0875E2CCF71}" type="datetimeFigureOut">
              <a:rPr lang="en-US" smtClean="0"/>
              <a:t>8/5/25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20B0AA-EC77-4154-9376-38D730BDF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19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17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04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08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9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86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38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0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22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1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31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93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4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66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48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16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pv.geneticsupportfoundation.org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205713-3348-4385-2B4B-E68890BDD5BF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EAC964-8DC4-42EA-AD49-EBBBAB298209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747F1-4CEA-40FD-98C3-6C40BF950E8B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F0FCA8-40AD-49DE-872B-14A5F086A1B6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E6FB33D-4B4C-56BE-5DC6-6C14A78D3ADB}"/>
              </a:ext>
            </a:extLst>
          </p:cNvPr>
          <p:cNvSpPr txBox="1"/>
          <p:nvPr/>
        </p:nvSpPr>
        <p:spPr>
          <a:xfrm>
            <a:off x="452696" y="1911472"/>
            <a:ext cx="3859287" cy="711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INTERPRETASI (</a:t>
            </a:r>
            <a:r>
              <a:rPr lang="en-US" sz="14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12700" marR="5080" lvl="0">
              <a:lnSpc>
                <a:spcPct val="122200"/>
              </a:lnSpc>
              <a:spcBef>
                <a:spcPts val="95"/>
              </a:spcBef>
            </a:pPr>
            <a:r>
              <a:rPr lang="en-US" sz="1100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&lt;&lt;Interpretation&gt;&gt;</a:t>
            </a:r>
            <a:endParaRPr lang="en-US" sz="1100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algn="just"/>
            <a:endParaRPr lang="en-US" sz="1200" dirty="0"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264A46-8BCE-0626-AF69-52E456E30DDC}"/>
              </a:ext>
            </a:extLst>
          </p:cNvPr>
          <p:cNvSpPr txBox="1"/>
          <p:nvPr/>
        </p:nvSpPr>
        <p:spPr>
          <a:xfrm>
            <a:off x="4441862" y="1975938"/>
            <a:ext cx="1969793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&lt;&lt;FF_YFF&gt;&gt;%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Jenis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Kelamin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&lt;&lt;Gender&gt;&gt;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E681959-5FC1-8178-5CA3-CB804C551E76}"/>
              </a:ext>
            </a:extLst>
          </p:cNvPr>
          <p:cNvSpPr/>
          <p:nvPr/>
        </p:nvSpPr>
        <p:spPr>
          <a:xfrm>
            <a:off x="4408972" y="1899689"/>
            <a:ext cx="2021955" cy="1236883"/>
          </a:xfrm>
          <a:prstGeom prst="roundRect">
            <a:avLst/>
          </a:prstGeom>
          <a:noFill/>
          <a:ln w="76200" cmpd="tri">
            <a:solidFill>
              <a:srgbClr val="2AA9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C25077C-3F86-82CD-EEBC-1345FC094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090440"/>
              </p:ext>
            </p:extLst>
          </p:nvPr>
        </p:nvGraphicFramePr>
        <p:xfrm>
          <a:off x="446345" y="3545404"/>
          <a:ext cx="5984582" cy="104394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873522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083733">
                  <a:extLst>
                    <a:ext uri="{9D8B030D-6E8A-4147-A177-3AD203B41FA5}">
                      <a16:colId xmlns:a16="http://schemas.microsoft.com/office/drawing/2014/main" val="3883297624"/>
                    </a:ext>
                  </a:extLst>
                </a:gridCol>
                <a:gridCol w="948267">
                  <a:extLst>
                    <a:ext uri="{9D8B030D-6E8A-4147-A177-3AD203B41FA5}">
                      <a16:colId xmlns:a16="http://schemas.microsoft.com/office/drawing/2014/main" val="169522019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34132603"/>
                    </a:ext>
                  </a:extLst>
                </a:gridCol>
                <a:gridCol w="1012260">
                  <a:extLst>
                    <a:ext uri="{9D8B030D-6E8A-4147-A177-3AD203B41FA5}">
                      <a16:colId xmlns:a16="http://schemas.microsoft.com/office/drawing/2014/main" val="524729326"/>
                    </a:ext>
                  </a:extLst>
                </a:gridCol>
              </a:tblGrid>
              <a:tr h="243208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NPP/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NPN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endParaRPr lang="en-US" sz="105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Skor 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Risiko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7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sebelum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Skor 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Risiko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en-US" sz="105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7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setelah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&lt;&lt;T21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&lt;&lt;ST21_TT21&gt;&gt;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&lt;&lt;T21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16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&lt;&lt;T18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&lt;&lt;ST18_TT18&gt;&gt;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&lt;&lt;T18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442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&lt;&lt;T13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&lt;&lt;ST13_TT13&gt;&gt;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&lt;&lt;T13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31890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46345" y="3232822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RINCIAN HASIL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FD5668-A2A3-535F-995B-C8E0C0ABE794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1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9D14529-C7C6-BEDC-6A17-B75DBD3A2218}"/>
              </a:ext>
            </a:extLst>
          </p:cNvPr>
          <p:cNvCxnSpPr>
            <a:cxnSpLocks/>
          </p:cNvCxnSpPr>
          <p:nvPr/>
        </p:nvCxnSpPr>
        <p:spPr>
          <a:xfrm>
            <a:off x="533400" y="2594922"/>
            <a:ext cx="3681005" cy="0"/>
          </a:xfrm>
          <a:prstGeom prst="line">
            <a:avLst/>
          </a:prstGeom>
          <a:ln>
            <a:solidFill>
              <a:srgbClr val="1975C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4845B88-6304-C188-11BF-EC9C14685CB0}"/>
              </a:ext>
            </a:extLst>
          </p:cNvPr>
          <p:cNvSpPr txBox="1"/>
          <p:nvPr/>
        </p:nvSpPr>
        <p:spPr>
          <a:xfrm>
            <a:off x="446345" y="9202369"/>
            <a:ext cx="13516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1000" b="1" dirty="0" err="1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diverifikasi</a:t>
            </a:r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oleh: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D7F0E2-04DD-6B22-ABD8-6956309937FF}"/>
              </a:ext>
            </a:extLst>
          </p:cNvPr>
          <p:cNvSpPr txBox="1"/>
          <p:nvPr/>
        </p:nvSpPr>
        <p:spPr>
          <a:xfrm>
            <a:off x="412897" y="6665518"/>
            <a:ext cx="599875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NPP dan NPN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dihitung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https://ppv.geneticsupportfoundation.org/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data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sensitivitas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Skor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sebelum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dilaporkan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publikasi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studi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terhadap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17.885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wanita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(Dar, et al. Am J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Obstet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Gynecol. 2014 Nov; 211(5): 527.e1-527.e17)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populasi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umum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/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Nilai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skor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dihitung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diperoleh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distribusi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kelompok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normal dan abnormal Gaussian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persentase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chromosome read % (Unique Read %)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Z-score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Skor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NPP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aktual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serta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ultrasonografi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riwayat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pribadi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keluarga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disertakan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penilaian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/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425E74-126B-618D-3860-13906278BBB1}"/>
              </a:ext>
            </a:extLst>
          </p:cNvPr>
          <p:cNvSpPr/>
          <p:nvPr/>
        </p:nvSpPr>
        <p:spPr>
          <a:xfrm>
            <a:off x="430623" y="1899689"/>
            <a:ext cx="3875010" cy="1236883"/>
          </a:xfrm>
          <a:prstGeom prst="roundRect">
            <a:avLst/>
          </a:prstGeom>
          <a:noFill/>
          <a:ln w="76200" cmpd="tri">
            <a:solidFill>
              <a:srgbClr val="2AA9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FACED1-6AC2-2602-5A69-7520452AAE52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56B20D6-42AA-FAAA-B8DB-FC1082E5765C}"/>
              </a:ext>
            </a:extLst>
          </p:cNvPr>
          <p:cNvSpPr/>
          <p:nvPr/>
        </p:nvSpPr>
        <p:spPr>
          <a:xfrm>
            <a:off x="501650" y="9449524"/>
            <a:ext cx="5214966" cy="261179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275569-4B51-0C50-4A6E-8BB71CABF2DF}"/>
              </a:ext>
            </a:extLst>
          </p:cNvPr>
          <p:cNvSpPr txBox="1"/>
          <p:nvPr/>
        </p:nvSpPr>
        <p:spPr>
          <a:xfrm>
            <a:off x="498897" y="9427924"/>
            <a:ext cx="3476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Direktur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: Dr. Tien Anh Ngo</a:t>
            </a:r>
            <a:endParaRPr lang="en-ID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B1A3F-5B1C-279F-F63D-33A6B360CBE7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0E370B-C1A0-EED9-4712-ECCAFCB60399}"/>
              </a:ext>
            </a:extLst>
          </p:cNvPr>
          <p:cNvSpPr txBox="1"/>
          <p:nvPr/>
        </p:nvSpPr>
        <p:spPr>
          <a:xfrm>
            <a:off x="498898" y="2594922"/>
            <a:ext cx="371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berlaku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hanya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panel yang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dipilih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NIPT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menilai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merupakan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campuran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Konseling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perlu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disarankan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evaluasi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lanjut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jika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berisiko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678649-34B8-9341-0A33-4BFA8E91A3DC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DCR No.: 3383</a:t>
            </a:r>
          </a:p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QR G1.1-6-3-</a:t>
            </a:r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endParaRPr lang="en-ID" sz="800" dirty="0"/>
          </a:p>
        </p:txBody>
      </p:sp>
    </p:spTree>
    <p:extLst>
      <p:ext uri="{BB962C8B-B14F-4D97-AF65-F5344CB8AC3E}">
        <p14:creationId xmlns:p14="http://schemas.microsoft.com/office/powerpoint/2010/main" val="505895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666A867-4455-152D-1CC5-E07801B192A2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2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CE8A61-CAF4-1672-1AA6-B712F7B4EDA4}"/>
              </a:ext>
            </a:extLst>
          </p:cNvPr>
          <p:cNvSpPr txBox="1"/>
          <p:nvPr/>
        </p:nvSpPr>
        <p:spPr>
          <a:xfrm>
            <a:off x="432169" y="2107226"/>
            <a:ext cx="599875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Autosomal dan </a:t>
            </a:r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Seks</a:t>
            </a:r>
            <a:endParaRPr lang="en-US" sz="900" b="1" dirty="0">
              <a:solidFill>
                <a:srgbClr val="5E2E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didesain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analisis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bebas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divalidasi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paling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10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minggu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diperkirakan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periode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menstruasi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terakhir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sedang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dijalani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lain,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bawaan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kondisi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ditujukan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mengidentifikasi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defek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tabung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saraf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terbuka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kecil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perubahan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confined placental mosaicism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mosaikisme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berpotensi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ketidakakuratan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antaranya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terbatas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mosaikisme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dan/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transfusi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operasi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transplantasi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terapi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punca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Terutama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pengurangan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jumlah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seperti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vanishing fetus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kematian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palsu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Jika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menginginkan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diagnosis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definitif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maka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chorionic villus sampling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amniosentesis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413E1D-0DC0-0BFF-A4D7-A5163CBFCA5B}"/>
              </a:ext>
            </a:extLst>
          </p:cNvPr>
          <p:cNvSpPr txBox="1"/>
          <p:nvPr/>
        </p:nvSpPr>
        <p:spPr>
          <a:xfrm>
            <a:off x="430623" y="1878333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KETERBATASAN PEMERIKSAAN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D14A75-A2B9-0827-6C3B-317B8E8C6411}"/>
              </a:ext>
            </a:extLst>
          </p:cNvPr>
          <p:cNvSpPr txBox="1"/>
          <p:nvPr/>
        </p:nvSpPr>
        <p:spPr>
          <a:xfrm>
            <a:off x="446345" y="9202369"/>
            <a:ext cx="13516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1000" b="1" dirty="0" err="1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diverifikasi</a:t>
            </a:r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oleh: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BDD3D3-E185-AAF7-C476-ED95527FCC7D}"/>
              </a:ext>
            </a:extLst>
          </p:cNvPr>
          <p:cNvSpPr/>
          <p:nvPr/>
        </p:nvSpPr>
        <p:spPr>
          <a:xfrm>
            <a:off x="501650" y="9449524"/>
            <a:ext cx="5214966" cy="261179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F96A22-0D09-0985-EFB5-3652E6030941}"/>
              </a:ext>
            </a:extLst>
          </p:cNvPr>
          <p:cNvSpPr txBox="1"/>
          <p:nvPr/>
        </p:nvSpPr>
        <p:spPr>
          <a:xfrm>
            <a:off x="498897" y="9427924"/>
            <a:ext cx="3476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Direktur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: Dr. Tien Anh Ngo</a:t>
            </a:r>
            <a:endParaRPr lang="en-ID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06CFBF3-4FFF-B10F-96BA-D4F96DA7FA0E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AFB79BE-F8BA-DCA6-C589-2EDFF46C914A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F66A346-702F-262F-10B1-03E550FF1E56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CDDCEE-B6DB-063C-6013-864C6ADA4BF6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2EA5C3-12CE-E2E3-87D9-B8AB11DE9E79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DC08C1-F6C4-D10A-8342-B61D20A34205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DCR No.: 3383</a:t>
            </a:r>
          </a:p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QR G1.1-6-3-</a:t>
            </a:r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endParaRPr lang="en-ID" sz="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105EA-8140-5236-4ECA-AEA7104980BE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1515203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30623" y="1743535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TENTANG CORDLIFE NIPT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754FAC-03F1-BCC7-92A9-9BBA783CFE39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3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73C67E-DF8C-C2DA-0A2D-B06FBC379BE1}"/>
              </a:ext>
            </a:extLst>
          </p:cNvPr>
          <p:cNvSpPr txBox="1"/>
          <p:nvPr/>
        </p:nvSpPr>
        <p:spPr>
          <a:xfrm>
            <a:off x="430623" y="201675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Definisi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702B0D-E9ED-91A1-3997-E42203777706}"/>
              </a:ext>
            </a:extLst>
          </p:cNvPr>
          <p:cNvSpPr txBox="1"/>
          <p:nvPr/>
        </p:nvSpPr>
        <p:spPr>
          <a:xfrm>
            <a:off x="3444723" y="2216684"/>
            <a:ext cx="29862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Nilai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Prediksi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(NPP)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benar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Nilai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Prediksi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(NPN)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benar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diperiksakan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B23869-0372-6D8D-187B-E0E46E51B6AD}"/>
              </a:ext>
            </a:extLst>
          </p:cNvPr>
          <p:cNvSpPr txBox="1"/>
          <p:nvPr/>
        </p:nvSpPr>
        <p:spPr>
          <a:xfrm>
            <a:off x="430623" y="2226464"/>
            <a:ext cx="29826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Sensitivitas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proporsi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kasus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sebenarnya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teridentifikasi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proporsi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kasus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tanpa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teridentifikasi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6CC831-1D0D-CAC5-759D-5FFAAE033D14}"/>
              </a:ext>
            </a:extLst>
          </p:cNvPr>
          <p:cNvSpPr txBox="1"/>
          <p:nvPr/>
        </p:nvSpPr>
        <p:spPr>
          <a:xfrm>
            <a:off x="430622" y="574101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D1364F-2D63-4BE1-C34A-665BA6715115}"/>
              </a:ext>
            </a:extLst>
          </p:cNvPr>
          <p:cNvSpPr txBox="1"/>
          <p:nvPr/>
        </p:nvSpPr>
        <p:spPr>
          <a:xfrm>
            <a:off x="435930" y="5931957"/>
            <a:ext cx="5998758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non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invasif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massively parallel sequencing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terhadap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potongan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bebas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sampel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Alur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kerja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terdiri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persiapan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sampel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otomatis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persiapan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library,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dan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next generation whole genome sequencing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Kemampuan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alur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kerja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maupun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algoritme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divalidasi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Penafian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mengevaluasi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merupakan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campuran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menentukan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spesifik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TIDAK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memberitahukan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secara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pasti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apakah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menguji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kondisi-kondisi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diminta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penyedia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layanan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kesehatan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menjamin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tanpa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Bagaimana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memandu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perawatan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tanggung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jawab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penyedia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layanan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kesehatan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termasuk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memberikan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saran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konseling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harus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dibaca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kaitannya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klinis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dimaksudkan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mengambil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keputusan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tata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laksana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bertanggung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jawab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harus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membebaskan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kehilangan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efek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timbul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keputusan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F77E85-5567-A504-E77C-AA92EE25C50C}"/>
              </a:ext>
            </a:extLst>
          </p:cNvPr>
          <p:cNvSpPr txBox="1"/>
          <p:nvPr/>
        </p:nvSpPr>
        <p:spPr>
          <a:xfrm>
            <a:off x="446345" y="328866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Gambaran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Umum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B2ACAE-EF50-D385-0298-964884111D5F}"/>
              </a:ext>
            </a:extLst>
          </p:cNvPr>
          <p:cNvSpPr/>
          <p:nvPr/>
        </p:nvSpPr>
        <p:spPr>
          <a:xfrm>
            <a:off x="446345" y="9243237"/>
            <a:ext cx="5252706" cy="481157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07D28F-DB88-1628-45AB-4764BF435B7A}"/>
              </a:ext>
            </a:extLst>
          </p:cNvPr>
          <p:cNvSpPr txBox="1"/>
          <p:nvPr/>
        </p:nvSpPr>
        <p:spPr>
          <a:xfrm>
            <a:off x="398720" y="9214510"/>
            <a:ext cx="27221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Ltd.</a:t>
            </a:r>
          </a:p>
          <a:p>
            <a:endParaRPr lang="en-US" sz="7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4284C9A-CFC3-294F-CA8F-1E7CDC1831A7}"/>
              </a:ext>
            </a:extLst>
          </p:cNvPr>
          <p:cNvGraphicFramePr>
            <a:graphicFrameLocks noGrp="1"/>
          </p:cNvGraphicFramePr>
          <p:nvPr/>
        </p:nvGraphicFramePr>
        <p:xfrm>
          <a:off x="515895" y="3565125"/>
          <a:ext cx="5915028" cy="2127485"/>
        </p:xfrm>
        <a:graphic>
          <a:graphicData uri="http://schemas.openxmlformats.org/drawingml/2006/table">
            <a:tbl>
              <a:tblPr/>
              <a:tblGrid>
                <a:gridCol w="696955">
                  <a:extLst>
                    <a:ext uri="{9D8B030D-6E8A-4147-A177-3AD203B41FA5}">
                      <a16:colId xmlns:a16="http://schemas.microsoft.com/office/drawing/2014/main" val="828020576"/>
                    </a:ext>
                  </a:extLst>
                </a:gridCol>
                <a:gridCol w="520845">
                  <a:extLst>
                    <a:ext uri="{9D8B030D-6E8A-4147-A177-3AD203B41FA5}">
                      <a16:colId xmlns:a16="http://schemas.microsoft.com/office/drawing/2014/main" val="3384034683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456906497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3477495698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1057236272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3265217624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1644197022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454983325"/>
                    </a:ext>
                  </a:extLst>
                </a:gridCol>
                <a:gridCol w="521914">
                  <a:extLst>
                    <a:ext uri="{9D8B030D-6E8A-4147-A177-3AD203B41FA5}">
                      <a16:colId xmlns:a16="http://schemas.microsoft.com/office/drawing/2014/main" val="1396855724"/>
                    </a:ext>
                  </a:extLst>
                </a:gridCol>
                <a:gridCol w="521914">
                  <a:extLst>
                    <a:ext uri="{9D8B030D-6E8A-4147-A177-3AD203B41FA5}">
                      <a16:colId xmlns:a16="http://schemas.microsoft.com/office/drawing/2014/main" val="3134404346"/>
                    </a:ext>
                  </a:extLst>
                </a:gridCol>
              </a:tblGrid>
              <a:tr h="3241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Aneuploidi</a:t>
                      </a:r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Kromosom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Sensitivitas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Spesifisitas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NPP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NPN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033463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T21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92.59 - 100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92.59 - 100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797979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T18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83.89 - 100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83.89 - 100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648907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T13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75.75 - 100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75.75 - 100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491429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XO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86.2 - 100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99.95%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99.83 - 99.99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92.31%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75.86 - 97.86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652948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XXY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56.55 - 100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56.55 - 100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530270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43.85 - 100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43.85 - 100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875215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XYY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34.24 - 100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34.24 - 100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4356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D47E540-83E1-6A8E-E9E6-7965BB5F9A07}"/>
              </a:ext>
            </a:extLst>
          </p:cNvPr>
          <p:cNvSpPr txBox="1"/>
          <p:nvPr/>
        </p:nvSpPr>
        <p:spPr>
          <a:xfrm>
            <a:off x="427072" y="8028772"/>
            <a:ext cx="5996103" cy="1115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50" b="1" dirty="0" err="1">
                <a:latin typeface="Calibri" panose="020F0502020204030204" pitchFamily="34" charset="0"/>
                <a:cs typeface="Calibri" panose="020F0502020204030204" pitchFamily="34" charset="0"/>
              </a:rPr>
              <a:t>Referensi</a:t>
            </a:r>
            <a:r>
              <a:rPr lang="en-US" sz="105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104140" marR="10795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YM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Dennis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Lo,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RWK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Chiu,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diagnosis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chromosomal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aneuploidies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by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maternal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plasma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nucleic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acid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analysis;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Clinical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chemistry,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2008.</a:t>
            </a:r>
          </a:p>
          <a:p>
            <a:pPr marL="104140" marR="10795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Bianchi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OW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DNA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sequencing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versus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standard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screening.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Engl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J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2014;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370:799-808.</a:t>
            </a:r>
          </a:p>
          <a:p>
            <a:pPr marL="104140" marR="10795" lvl="0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Anthony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for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2016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update: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position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statement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the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American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College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Medical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Genetics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Genomics.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2016;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13:1056-65.</a:t>
            </a:r>
          </a:p>
          <a:p>
            <a:pPr marL="108585" marR="8255" lvl="0" indent="-95885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Chen,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Validation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DNA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fraction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estimation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its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application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testing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for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detection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multiple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pregnancies.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Diagnosis,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2019.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39(13):1273-1282.</a:t>
            </a:r>
            <a:endParaRPr lang="en-US" sz="800" dirty="0">
              <a:solidFill>
                <a:srgbClr val="000000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A98AB8-B916-DFB9-FB91-9644089BECF7}"/>
              </a:ext>
            </a:extLst>
          </p:cNvPr>
          <p:cNvSpPr txBox="1"/>
          <p:nvPr/>
        </p:nvSpPr>
        <p:spPr>
          <a:xfrm>
            <a:off x="2557354" y="9214885"/>
            <a:ext cx="324337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PT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Persada</a:t>
            </a:r>
            <a:endParaRPr lang="en-US" sz="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Jl.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Bungur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Raya No. 23,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Gunung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Sahari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Selatan</a:t>
            </a:r>
          </a:p>
          <a:p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Kemayoran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Jakarta Pusat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Telp: 62-21-8086-4674    Email: info@id.cordlife.com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98A2FB-92A6-45BD-98E6-9588D702B3F9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A71075-6AF2-E007-0FEC-1E9D054CA883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21AB12-850E-A599-3FDA-623CED6A497D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3E19D1-FAC2-A0F9-D238-96B9814FD66D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CFE06C-7F2C-2483-7A31-6BF9C98C692D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C07801-9AAB-370B-A786-C703A428D223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DCR No.: 3383</a:t>
            </a:r>
          </a:p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QR G1.1-6-3-</a:t>
            </a:r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endParaRPr lang="en-ID" sz="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CADFB7-CAFF-95BE-39F0-EF65EEB27B01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571042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13002</TotalTime>
  <Words>1537</Words>
  <Application>Microsoft Macintosh PowerPoint</Application>
  <PresentationFormat>A4 Paper (210x297 mm)</PresentationFormat>
  <Paragraphs>214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Dwi</dc:creator>
  <cp:lastModifiedBy>sam martin</cp:lastModifiedBy>
  <cp:revision>123</cp:revision>
  <dcterms:created xsi:type="dcterms:W3CDTF">2024-06-13T04:30:46Z</dcterms:created>
  <dcterms:modified xsi:type="dcterms:W3CDTF">2025-08-05T05:37:20Z</dcterms:modified>
</cp:coreProperties>
</file>