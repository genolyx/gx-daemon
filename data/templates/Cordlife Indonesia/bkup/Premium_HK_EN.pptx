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6"/>
  </p:notesMasterIdLst>
  <p:sldIdLst>
    <p:sldId id="340" r:id="rId2"/>
    <p:sldId id="341" r:id="rId3"/>
    <p:sldId id="342" r:id="rId4"/>
    <p:sldId id="343" r:id="rId5"/>
  </p:sldIdLst>
  <p:sldSz cx="6858000" cy="9906000" type="A4"/>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Hong Kong" id="{E9ACCF87-03BC-4AB8-AB7F-163DDA8A2C49}">
          <p14:sldIdLst/>
        </p14:section>
        <p14:section name="Hong Kong version" id="{1BC3D3C4-929D-40D4-A52A-066B8F9AF03F}">
          <p14:sldIdLst>
            <p14:sldId id="340"/>
            <p14:sldId id="341"/>
            <p14:sldId id="342"/>
            <p14:sldId id="343"/>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3F37261-C495-8902-B2E6-D7FCA57F3785}" name="Meri Virtin" initials="MV" userId="05a2d77c8c74f754" providerId="Windows Live"/>
  <p188:author id="{4A23E062-0C49-A1F7-BE07-CACFFB8CC98F}" name="Dwi Astuti Handayani" initials="DAH" userId="Dwi Astuti Handayani" providerId="None"/>
  <p188:author id="{F97F367D-8195-4952-2436-DB42D502EDB7}" name="Dwi" initials="D" userId="S::dwi.astuti@cordlife.com::7129da7c-f5bb-45a1-9e5d-0cc5ac43401b"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F9ED5"/>
    <a:srgbClr val="00A6C8"/>
    <a:srgbClr val="099049"/>
    <a:srgbClr val="009A43"/>
    <a:srgbClr val="E5F6F9"/>
    <a:srgbClr val="1975C0"/>
    <a:srgbClr val="5E2E8C"/>
    <a:srgbClr val="632C8F"/>
    <a:srgbClr val="1973BA"/>
    <a:srgbClr val="2AA9D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6082" autoAdjust="0"/>
    <p:restoredTop sz="90842" autoAdjust="0"/>
  </p:normalViewPr>
  <p:slideViewPr>
    <p:cSldViewPr snapToGrid="0">
      <p:cViewPr varScale="1">
        <p:scale>
          <a:sx n="185" d="100"/>
          <a:sy n="185" d="100"/>
        </p:scale>
        <p:origin x="4264"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11" Type="http://schemas.microsoft.com/office/2018/10/relationships/authors" Target="authors.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BE09E9B-57B9-4CBC-9B6F-C0875E2CCF71}" type="datetimeFigureOut">
              <a:rPr lang="en-US" smtClean="0"/>
              <a:t>8/5/25</a:t>
            </a:fld>
            <a:endParaRPr lang="en-US"/>
          </a:p>
        </p:txBody>
      </p:sp>
      <p:sp>
        <p:nvSpPr>
          <p:cNvPr id="4" name="Slide Image Placeholder 3"/>
          <p:cNvSpPr>
            <a:spLocks noGrp="1" noRot="1" noChangeAspect="1"/>
          </p:cNvSpPr>
          <p:nvPr>
            <p:ph type="sldImg" idx="2"/>
          </p:nvPr>
        </p:nvSpPr>
        <p:spPr>
          <a:xfrm>
            <a:off x="2360613" y="1143000"/>
            <a:ext cx="2136775"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A20B0AA-EC77-4154-9376-38D730BDF5EA}" type="slidenum">
              <a:rPr lang="en-US" smtClean="0"/>
              <a:t>‹#›</a:t>
            </a:fld>
            <a:endParaRPr lang="en-US"/>
          </a:p>
        </p:txBody>
      </p:sp>
    </p:spTree>
    <p:extLst>
      <p:ext uri="{BB962C8B-B14F-4D97-AF65-F5344CB8AC3E}">
        <p14:creationId xmlns:p14="http://schemas.microsoft.com/office/powerpoint/2010/main" val="34267197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en-US" dirty="0"/>
              <a:t>For Low Risk case please write:</a:t>
            </a:r>
          </a:p>
          <a:p>
            <a:pPr marL="0" indent="0">
              <a:buNone/>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i="0" dirty="0">
                <a:solidFill>
                  <a:schemeClr val="tx1">
                    <a:lumMod val="75000"/>
                    <a:lumOff val="25000"/>
                  </a:schemeClr>
                </a:solidFill>
              </a:rPr>
              <a:t>NIPT is  a  screening test, not diagnostic, which evaluates genetic information in the maternal blood, a mixture of maternal and  placental  DNA.</a:t>
            </a:r>
            <a:endParaRPr lang="en-US" sz="800" i="0" dirty="0">
              <a:solidFill>
                <a:schemeClr val="tx1">
                  <a:lumMod val="75000"/>
                  <a:lumOff val="25000"/>
                </a:schemeClr>
              </a:solidFill>
            </a:endParaRPr>
          </a:p>
          <a:p>
            <a:pPr marL="0" indent="0">
              <a:buNone/>
            </a:pPr>
            <a:endParaRPr lang="en-US" dirty="0"/>
          </a:p>
        </p:txBody>
      </p:sp>
      <p:sp>
        <p:nvSpPr>
          <p:cNvPr id="4" name="Slide Number Placeholder 3"/>
          <p:cNvSpPr>
            <a:spLocks noGrp="1"/>
          </p:cNvSpPr>
          <p:nvPr>
            <p:ph type="sldNum" sz="quarter" idx="5"/>
          </p:nvPr>
        </p:nvSpPr>
        <p:spPr/>
        <p:txBody>
          <a:bodyPr/>
          <a:lstStyle/>
          <a:p>
            <a:fld id="{BA20B0AA-EC77-4154-9376-38D730BDF5EA}" type="slidenum">
              <a:rPr lang="en-US" smtClean="0"/>
              <a:t>1</a:t>
            </a:fld>
            <a:endParaRPr lang="en-US"/>
          </a:p>
        </p:txBody>
      </p:sp>
    </p:spTree>
    <p:extLst>
      <p:ext uri="{BB962C8B-B14F-4D97-AF65-F5344CB8AC3E}">
        <p14:creationId xmlns:p14="http://schemas.microsoft.com/office/powerpoint/2010/main" val="2627029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14350" y="1621191"/>
            <a:ext cx="5829300" cy="3448756"/>
          </a:xfrm>
        </p:spPr>
        <p:txBody>
          <a:bodyPr anchor="b"/>
          <a:lstStyle>
            <a:lvl1pPr algn="ctr">
              <a:defRPr sz="4500"/>
            </a:lvl1pPr>
          </a:lstStyle>
          <a:p>
            <a:r>
              <a:rPr lang="en-US"/>
              <a:t>Click to edit Master title style</a:t>
            </a:r>
            <a:endParaRPr lang="en-US" dirty="0"/>
          </a:p>
        </p:txBody>
      </p:sp>
      <p:sp>
        <p:nvSpPr>
          <p:cNvPr id="3" name="Subtitle 2"/>
          <p:cNvSpPr>
            <a:spLocks noGrp="1"/>
          </p:cNvSpPr>
          <p:nvPr>
            <p:ph type="subTitle" idx="1"/>
          </p:nvPr>
        </p:nvSpPr>
        <p:spPr>
          <a:xfrm>
            <a:off x="857250" y="5202944"/>
            <a:ext cx="5143500" cy="2391656"/>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AF875B-3630-45B7-8F1C-7ABA6E502FCC}" type="datetimeFigureOut">
              <a:rPr lang="en-US" smtClean="0"/>
              <a:t>8/5/25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17531903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AF875B-3630-45B7-8F1C-7ABA6E502FCC}" type="datetimeFigureOut">
              <a:rPr lang="en-US" smtClean="0"/>
              <a:t>8/5/25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34933862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67916" y="2469624"/>
            <a:ext cx="5915025" cy="4120620"/>
          </a:xfrm>
        </p:spPr>
        <p:txBody>
          <a:bodyPr anchor="b"/>
          <a:lstStyle>
            <a:lvl1pPr>
              <a:defRPr sz="4500"/>
            </a:lvl1pPr>
          </a:lstStyle>
          <a:p>
            <a:r>
              <a:rPr lang="en-US"/>
              <a:t>Click to edit Master title style</a:t>
            </a:r>
            <a:endParaRPr lang="en-US" dirty="0"/>
          </a:p>
        </p:txBody>
      </p:sp>
      <p:sp>
        <p:nvSpPr>
          <p:cNvPr id="3" name="Text Placeholder 2"/>
          <p:cNvSpPr>
            <a:spLocks noGrp="1"/>
          </p:cNvSpPr>
          <p:nvPr>
            <p:ph type="body" idx="1"/>
          </p:nvPr>
        </p:nvSpPr>
        <p:spPr>
          <a:xfrm>
            <a:off x="467916" y="6629226"/>
            <a:ext cx="5915025" cy="2166937"/>
          </a:xfrm>
        </p:spPr>
        <p:txBody>
          <a:bodyPr/>
          <a:lstStyle>
            <a:lvl1pPr marL="0" indent="0">
              <a:buNone/>
              <a:defRPr sz="1800">
                <a:solidFill>
                  <a:schemeClr val="tx1">
                    <a:tint val="82000"/>
                  </a:schemeClr>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AF875B-3630-45B7-8F1C-7ABA6E502FCC}" type="datetimeFigureOut">
              <a:rPr lang="en-US" smtClean="0"/>
              <a:t>8/5/25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5277389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71488" y="2637014"/>
            <a:ext cx="2914650" cy="62852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471863" y="2637014"/>
            <a:ext cx="2914650" cy="62852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AF875B-3630-45B7-8F1C-7ABA6E502FCC}" type="datetimeFigureOut">
              <a:rPr lang="en-US" smtClean="0"/>
              <a:t>8/5/25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1621109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72381" y="527405"/>
            <a:ext cx="5915025" cy="1914702"/>
          </a:xfrm>
        </p:spPr>
        <p:txBody>
          <a:bodyPr/>
          <a:lstStyle/>
          <a:p>
            <a:r>
              <a:rPr lang="en-US"/>
              <a:t>Click to edit Master title style</a:t>
            </a:r>
            <a:endParaRPr lang="en-US" dirty="0"/>
          </a:p>
        </p:txBody>
      </p:sp>
      <p:sp>
        <p:nvSpPr>
          <p:cNvPr id="3" name="Text Placeholder 2"/>
          <p:cNvSpPr>
            <a:spLocks noGrp="1"/>
          </p:cNvSpPr>
          <p:nvPr>
            <p:ph type="body" idx="1"/>
          </p:nvPr>
        </p:nvSpPr>
        <p:spPr>
          <a:xfrm>
            <a:off x="472381" y="2428347"/>
            <a:ext cx="2901255"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72381" y="3618442"/>
            <a:ext cx="2901255" cy="53221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471863" y="2428347"/>
            <a:ext cx="2915543"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3471863" y="3618442"/>
            <a:ext cx="2915543" cy="53221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AF875B-3630-45B7-8F1C-7ABA6E502FCC}" type="datetimeFigureOut">
              <a:rPr lang="en-US" smtClean="0"/>
              <a:t>8/5/25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19514225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AF875B-3630-45B7-8F1C-7ABA6E502FCC}" type="datetimeFigureOut">
              <a:rPr lang="en-US" smtClean="0"/>
              <a:t>8/5/25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23301194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AF875B-3630-45B7-8F1C-7ABA6E502FCC}" type="datetimeFigureOut">
              <a:rPr lang="en-US" smtClean="0"/>
              <a:t>8/5/25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540C759-50FA-4561-BC40-732FB404009C}" type="slidenum">
              <a:rPr lang="en-US" smtClean="0"/>
              <a:t>‹#›</a:t>
            </a:fld>
            <a:endParaRPr lang="en-US" dirty="0"/>
          </a:p>
        </p:txBody>
      </p:sp>
    </p:spTree>
    <p:extLst>
      <p:ext uri="{BB962C8B-B14F-4D97-AF65-F5344CB8AC3E}">
        <p14:creationId xmlns:p14="http://schemas.microsoft.com/office/powerpoint/2010/main" val="36883317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en-US"/>
              <a:t>Click to edit Master title style</a:t>
            </a:r>
            <a:endParaRPr lang="en-US" dirty="0"/>
          </a:p>
        </p:txBody>
      </p:sp>
      <p:sp>
        <p:nvSpPr>
          <p:cNvPr id="3" name="Content Placeholder 2"/>
          <p:cNvSpPr>
            <a:spLocks noGrp="1"/>
          </p:cNvSpPr>
          <p:nvPr>
            <p:ph idx="1"/>
          </p:nvPr>
        </p:nvSpPr>
        <p:spPr>
          <a:xfrm>
            <a:off x="2915543" y="1426283"/>
            <a:ext cx="3471863" cy="7039681"/>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B6AF875B-3630-45B7-8F1C-7ABA6E502FCC}" type="datetimeFigureOut">
              <a:rPr lang="en-US" smtClean="0"/>
              <a:t>8/5/25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22279373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2915543" y="1426283"/>
            <a:ext cx="3471863" cy="7039681"/>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B6AF875B-3630-45B7-8F1C-7ABA6E502FCC}" type="datetimeFigureOut">
              <a:rPr lang="en-US" smtClean="0"/>
              <a:t>8/5/25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1246849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AF875B-3630-45B7-8F1C-7ABA6E502FCC}" type="datetimeFigureOut">
              <a:rPr lang="en-US" smtClean="0"/>
              <a:t>8/5/25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20508664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7" y="527403"/>
            <a:ext cx="1478756" cy="8394877"/>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471488" y="527403"/>
            <a:ext cx="4350544" cy="839487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AF875B-3630-45B7-8F1C-7ABA6E502FCC}" type="datetimeFigureOut">
              <a:rPr lang="en-US" smtClean="0"/>
              <a:t>8/5/25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34416481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1488" y="527405"/>
            <a:ext cx="5915025" cy="191470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471488" y="2637014"/>
            <a:ext cx="5915025" cy="628526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471488" y="9181397"/>
            <a:ext cx="1543050" cy="527403"/>
          </a:xfrm>
          <a:prstGeom prst="rect">
            <a:avLst/>
          </a:prstGeom>
        </p:spPr>
        <p:txBody>
          <a:bodyPr vert="horz" lIns="91440" tIns="45720" rIns="91440" bIns="45720" rtlCol="0" anchor="ctr"/>
          <a:lstStyle>
            <a:lvl1pPr algn="l">
              <a:defRPr sz="900">
                <a:solidFill>
                  <a:schemeClr val="tx1">
                    <a:tint val="82000"/>
                  </a:schemeClr>
                </a:solidFill>
              </a:defRPr>
            </a:lvl1pPr>
          </a:lstStyle>
          <a:p>
            <a:fld id="{B6AF875B-3630-45B7-8F1C-7ABA6E502FCC}" type="datetimeFigureOut">
              <a:rPr lang="en-US" smtClean="0"/>
              <a:t>8/5/25</a:t>
            </a:fld>
            <a:endParaRPr lang="en-US"/>
          </a:p>
        </p:txBody>
      </p:sp>
      <p:sp>
        <p:nvSpPr>
          <p:cNvPr id="5" name="Footer Placeholder 4"/>
          <p:cNvSpPr>
            <a:spLocks noGrp="1"/>
          </p:cNvSpPr>
          <p:nvPr>
            <p:ph type="ftr" sz="quarter" idx="3"/>
          </p:nvPr>
        </p:nvSpPr>
        <p:spPr>
          <a:xfrm>
            <a:off x="2271713" y="9181397"/>
            <a:ext cx="2314575" cy="527403"/>
          </a:xfrm>
          <a:prstGeom prst="rect">
            <a:avLst/>
          </a:prstGeom>
        </p:spPr>
        <p:txBody>
          <a:bodyPr vert="horz" lIns="91440" tIns="45720" rIns="91440" bIns="45720" rtlCol="0" anchor="ctr"/>
          <a:lstStyle>
            <a:lvl1pPr algn="ctr">
              <a:defRPr sz="9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4843463" y="9181397"/>
            <a:ext cx="1543050" cy="527403"/>
          </a:xfrm>
          <a:prstGeom prst="rect">
            <a:avLst/>
          </a:prstGeom>
        </p:spPr>
        <p:txBody>
          <a:bodyPr vert="horz" lIns="91440" tIns="45720" rIns="91440" bIns="45720" rtlCol="0" anchor="ctr"/>
          <a:lstStyle>
            <a:lvl1pPr algn="r">
              <a:defRPr sz="900">
                <a:solidFill>
                  <a:schemeClr val="tx1">
                    <a:tint val="82000"/>
                  </a:schemeClr>
                </a:solidFill>
              </a:defRPr>
            </a:lvl1pPr>
          </a:lstStyle>
          <a:p>
            <a:fld id="{D540C759-50FA-4561-BC40-732FB404009C}" type="slidenum">
              <a:rPr lang="en-US" smtClean="0"/>
              <a:t>‹#›</a:t>
            </a:fld>
            <a:endParaRPr lang="en-US"/>
          </a:p>
        </p:txBody>
      </p:sp>
    </p:spTree>
    <p:extLst>
      <p:ext uri="{BB962C8B-B14F-4D97-AF65-F5344CB8AC3E}">
        <p14:creationId xmlns:p14="http://schemas.microsoft.com/office/powerpoint/2010/main" val="208541612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ppv.geneticsupportfoundation.org/" TargetMode="External"/><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A205713-3348-4385-2B4B-E68890BDD5BF}"/>
              </a:ext>
            </a:extLst>
          </p:cNvPr>
          <p:cNvSpPr/>
          <p:nvPr/>
        </p:nvSpPr>
        <p:spPr>
          <a:xfrm>
            <a:off x="430623" y="772625"/>
            <a:ext cx="1956394"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6" name="Rectangle 5">
            <a:extLst>
              <a:ext uri="{FF2B5EF4-FFF2-40B4-BE49-F238E27FC236}">
                <a16:creationId xmlns:a16="http://schemas.microsoft.com/office/drawing/2014/main" id="{690747F1-4CEA-40FD-98C3-6C40BF950E8B}"/>
              </a:ext>
            </a:extLst>
          </p:cNvPr>
          <p:cNvSpPr/>
          <p:nvPr/>
        </p:nvSpPr>
        <p:spPr>
          <a:xfrm>
            <a:off x="2452579" y="772625"/>
            <a:ext cx="1956393"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10" name="Rectangle 9">
            <a:extLst>
              <a:ext uri="{FF2B5EF4-FFF2-40B4-BE49-F238E27FC236}">
                <a16:creationId xmlns:a16="http://schemas.microsoft.com/office/drawing/2014/main" id="{94F0FCA8-40AD-49DE-872B-14A5F086A1B6}"/>
              </a:ext>
            </a:extLst>
          </p:cNvPr>
          <p:cNvSpPr/>
          <p:nvPr/>
        </p:nvSpPr>
        <p:spPr>
          <a:xfrm>
            <a:off x="4474534" y="772625"/>
            <a:ext cx="1956393" cy="954107"/>
          </a:xfrm>
          <a:prstGeom prst="rect">
            <a:avLst/>
          </a:prstGeom>
          <a:noFill/>
          <a:ln w="15875" cmpd="thickThin">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12" name="Rectangle 11">
            <a:extLst>
              <a:ext uri="{FF2B5EF4-FFF2-40B4-BE49-F238E27FC236}">
                <a16:creationId xmlns:a16="http://schemas.microsoft.com/office/drawing/2014/main" id="{7CA9F03C-C0C8-69FC-D232-9360D2FE9B59}"/>
              </a:ext>
            </a:extLst>
          </p:cNvPr>
          <p:cNvSpPr/>
          <p:nvPr/>
        </p:nvSpPr>
        <p:spPr>
          <a:xfrm>
            <a:off x="4214805" y="181606"/>
            <a:ext cx="2259657" cy="584775"/>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en-US" sz="3200" b="1" cap="none" spc="0" dirty="0">
                <a:ln/>
                <a:solidFill>
                  <a:srgbClr val="01A3C9"/>
                </a:solidFill>
                <a:effectLst/>
                <a:latin typeface="Calibri" panose="020F0502020204030204" pitchFamily="34" charset="0"/>
                <a:cs typeface="Calibri" panose="020F0502020204030204" pitchFamily="34" charset="0"/>
              </a:rPr>
              <a:t>NIPT </a:t>
            </a:r>
            <a:r>
              <a:rPr lang="en-US" sz="2000" cap="none" spc="0" dirty="0">
                <a:ln/>
                <a:solidFill>
                  <a:srgbClr val="01A3C9"/>
                </a:solidFill>
                <a:effectLst/>
                <a:latin typeface="Calibri" panose="020F0502020204030204" pitchFamily="34" charset="0"/>
                <a:cs typeface="Calibri" panose="020F0502020204030204" pitchFamily="34" charset="0"/>
              </a:rPr>
              <a:t>Test Report</a:t>
            </a:r>
            <a:endParaRPr lang="en-US" sz="3200" cap="none" spc="0" dirty="0">
              <a:ln/>
              <a:solidFill>
                <a:srgbClr val="01A3C9"/>
              </a:solidFill>
              <a:effectLst/>
              <a:latin typeface="Calibri" panose="020F0502020204030204" pitchFamily="34" charset="0"/>
              <a:cs typeface="Calibri" panose="020F0502020204030204" pitchFamily="34" charset="0"/>
            </a:endParaRPr>
          </a:p>
        </p:txBody>
      </p:sp>
      <p:sp>
        <p:nvSpPr>
          <p:cNvPr id="17" name="TextBox 16">
            <a:extLst>
              <a:ext uri="{FF2B5EF4-FFF2-40B4-BE49-F238E27FC236}">
                <a16:creationId xmlns:a16="http://schemas.microsoft.com/office/drawing/2014/main" id="{26264A46-8BCE-0626-AF69-52E456E30DDC}"/>
              </a:ext>
            </a:extLst>
          </p:cNvPr>
          <p:cNvSpPr txBox="1"/>
          <p:nvPr/>
        </p:nvSpPr>
        <p:spPr>
          <a:xfrm>
            <a:off x="4441862" y="1975938"/>
            <a:ext cx="1969793" cy="1092607"/>
          </a:xfrm>
          <a:prstGeom prst="rect">
            <a:avLst/>
          </a:prstGeom>
          <a:noFill/>
        </p:spPr>
        <p:txBody>
          <a:bodyPr wrap="square" rtlCol="0">
            <a:spAutoFit/>
          </a:bodyPr>
          <a:lstStyle/>
          <a:p>
            <a:r>
              <a:rPr lang="en-US" sz="1100" b="1" dirty="0">
                <a:solidFill>
                  <a:srgbClr val="256D9D"/>
                </a:solidFill>
                <a:latin typeface="Calibri" panose="020F0502020204030204" pitchFamily="34" charset="0"/>
                <a:cs typeface="Calibri" panose="020F0502020204030204" pitchFamily="34" charset="0"/>
              </a:rPr>
              <a:t>Fetal Fraction</a:t>
            </a:r>
          </a:p>
          <a:p>
            <a:r>
              <a:rPr lang="en-US" sz="1100" b="1" dirty="0">
                <a:solidFill>
                  <a:srgbClr val="256D9D"/>
                </a:solidFill>
                <a:latin typeface="Calibri" panose="020F0502020204030204" pitchFamily="34" charset="0"/>
                <a:cs typeface="Calibri" panose="020F0502020204030204" pitchFamily="34" charset="0"/>
              </a:rPr>
              <a:t>     </a:t>
            </a:r>
            <a:r>
              <a:rPr lang="en-US" sz="1600" dirty="0">
                <a:latin typeface="Calibri" panose="020F0502020204030204" pitchFamily="34" charset="0"/>
                <a:cs typeface="Calibri" panose="020F0502020204030204" pitchFamily="34" charset="0"/>
              </a:rPr>
              <a:t>&lt;&lt;FF_YFF&gt;&gt;%</a:t>
            </a:r>
            <a:endParaRPr lang="en-US" sz="1100" dirty="0">
              <a:latin typeface="Calibri" panose="020F0502020204030204" pitchFamily="34" charset="0"/>
              <a:cs typeface="Calibri" panose="020F0502020204030204" pitchFamily="34" charset="0"/>
            </a:endParaRPr>
          </a:p>
          <a:p>
            <a:endParaRPr lang="en-US" sz="1100" b="1" dirty="0">
              <a:solidFill>
                <a:srgbClr val="256D9D"/>
              </a:solidFill>
              <a:latin typeface="Calibri" panose="020F0502020204030204" pitchFamily="34" charset="0"/>
              <a:cs typeface="Calibri" panose="020F0502020204030204" pitchFamily="34" charset="0"/>
            </a:endParaRPr>
          </a:p>
          <a:p>
            <a:r>
              <a:rPr lang="en-US" sz="1100" b="1" dirty="0">
                <a:solidFill>
                  <a:srgbClr val="256D9D"/>
                </a:solidFill>
                <a:latin typeface="Calibri" panose="020F0502020204030204" pitchFamily="34" charset="0"/>
                <a:cs typeface="Calibri" panose="020F0502020204030204" pitchFamily="34" charset="0"/>
              </a:rPr>
              <a:t>Fetal Sex</a:t>
            </a:r>
          </a:p>
          <a:p>
            <a:r>
              <a:rPr lang="en-US" sz="1100" b="1" dirty="0">
                <a:solidFill>
                  <a:srgbClr val="256D9D"/>
                </a:solidFill>
                <a:latin typeface="Calibri" panose="020F0502020204030204" pitchFamily="34" charset="0"/>
                <a:cs typeface="Calibri" panose="020F0502020204030204" pitchFamily="34" charset="0"/>
              </a:rPr>
              <a:t>      </a:t>
            </a:r>
            <a:r>
              <a:rPr lang="en-US" sz="1600" dirty="0">
                <a:latin typeface="Calibri" panose="020F0502020204030204" pitchFamily="34" charset="0"/>
                <a:cs typeface="Calibri" panose="020F0502020204030204" pitchFamily="34" charset="0"/>
              </a:rPr>
              <a:t>&lt;&lt;Gender&gt;&gt;</a:t>
            </a:r>
            <a:endParaRPr lang="en-US" sz="1100" dirty="0">
              <a:latin typeface="Calibri" panose="020F0502020204030204" pitchFamily="34" charset="0"/>
              <a:cs typeface="Calibri" panose="020F0502020204030204" pitchFamily="34" charset="0"/>
            </a:endParaRPr>
          </a:p>
        </p:txBody>
      </p:sp>
      <p:sp>
        <p:nvSpPr>
          <p:cNvPr id="18" name="Rectangle: Rounded Corners 17">
            <a:extLst>
              <a:ext uri="{FF2B5EF4-FFF2-40B4-BE49-F238E27FC236}">
                <a16:creationId xmlns:a16="http://schemas.microsoft.com/office/drawing/2014/main" id="{052ED01F-71C8-3FFC-8482-23945FF8C082}"/>
              </a:ext>
            </a:extLst>
          </p:cNvPr>
          <p:cNvSpPr/>
          <p:nvPr/>
        </p:nvSpPr>
        <p:spPr>
          <a:xfrm>
            <a:off x="430623" y="1899689"/>
            <a:ext cx="3875010" cy="1236883"/>
          </a:xfrm>
          <a:prstGeom prst="roundRect">
            <a:avLst/>
          </a:prstGeom>
          <a:noFill/>
          <a:ln w="76200" cmpd="tri">
            <a:solidFill>
              <a:srgbClr val="2AA9D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19" name="Rectangle: Rounded Corners 18">
            <a:extLst>
              <a:ext uri="{FF2B5EF4-FFF2-40B4-BE49-F238E27FC236}">
                <a16:creationId xmlns:a16="http://schemas.microsoft.com/office/drawing/2014/main" id="{3E681959-5FC1-8178-5CA3-CB804C551E76}"/>
              </a:ext>
            </a:extLst>
          </p:cNvPr>
          <p:cNvSpPr/>
          <p:nvPr/>
        </p:nvSpPr>
        <p:spPr>
          <a:xfrm>
            <a:off x="4408972" y="1899689"/>
            <a:ext cx="2021955" cy="1236883"/>
          </a:xfrm>
          <a:prstGeom prst="roundRect">
            <a:avLst/>
          </a:prstGeom>
          <a:noFill/>
          <a:ln w="76200" cmpd="tri">
            <a:solidFill>
              <a:srgbClr val="2AA9D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a:latin typeface="Calibri" panose="020F0502020204030204" pitchFamily="34" charset="0"/>
              <a:cs typeface="Calibri" panose="020F0502020204030204" pitchFamily="34" charset="0"/>
            </a:endParaRPr>
          </a:p>
        </p:txBody>
      </p:sp>
      <p:graphicFrame>
        <p:nvGraphicFramePr>
          <p:cNvPr id="20" name="Table 19">
            <a:extLst>
              <a:ext uri="{FF2B5EF4-FFF2-40B4-BE49-F238E27FC236}">
                <a16:creationId xmlns:a16="http://schemas.microsoft.com/office/drawing/2014/main" id="{FC25077C-3F86-82CD-EEBC-1345FC094F1E}"/>
              </a:ext>
            </a:extLst>
          </p:cNvPr>
          <p:cNvGraphicFramePr>
            <a:graphicFrameLocks noGrp="1"/>
          </p:cNvGraphicFramePr>
          <p:nvPr>
            <p:extLst>
              <p:ext uri="{D42A27DB-BD31-4B8C-83A1-F6EECF244321}">
                <p14:modId xmlns:p14="http://schemas.microsoft.com/office/powerpoint/2010/main" val="3382690573"/>
              </p:ext>
            </p:extLst>
          </p:nvPr>
        </p:nvGraphicFramePr>
        <p:xfrm>
          <a:off x="446345" y="3545404"/>
          <a:ext cx="5984582" cy="3131820"/>
        </p:xfrm>
        <a:graphic>
          <a:graphicData uri="http://schemas.openxmlformats.org/drawingml/2006/table">
            <a:tbl>
              <a:tblPr firstRow="1" bandRow="1">
                <a:tableStyleId>{EB9631B5-78F2-41C9-869B-9F39066F8104}</a:tableStyleId>
              </a:tblPr>
              <a:tblGrid>
                <a:gridCol w="1873522">
                  <a:extLst>
                    <a:ext uri="{9D8B030D-6E8A-4147-A177-3AD203B41FA5}">
                      <a16:colId xmlns:a16="http://schemas.microsoft.com/office/drawing/2014/main" val="539532219"/>
                    </a:ext>
                  </a:extLst>
                </a:gridCol>
                <a:gridCol w="1083733">
                  <a:extLst>
                    <a:ext uri="{9D8B030D-6E8A-4147-A177-3AD203B41FA5}">
                      <a16:colId xmlns:a16="http://schemas.microsoft.com/office/drawing/2014/main" val="3883297624"/>
                    </a:ext>
                  </a:extLst>
                </a:gridCol>
                <a:gridCol w="948267">
                  <a:extLst>
                    <a:ext uri="{9D8B030D-6E8A-4147-A177-3AD203B41FA5}">
                      <a16:colId xmlns:a16="http://schemas.microsoft.com/office/drawing/2014/main" val="1695220194"/>
                    </a:ext>
                  </a:extLst>
                </a:gridCol>
                <a:gridCol w="1066800">
                  <a:extLst>
                    <a:ext uri="{9D8B030D-6E8A-4147-A177-3AD203B41FA5}">
                      <a16:colId xmlns:a16="http://schemas.microsoft.com/office/drawing/2014/main" val="334132603"/>
                    </a:ext>
                  </a:extLst>
                </a:gridCol>
                <a:gridCol w="1012260">
                  <a:extLst>
                    <a:ext uri="{9D8B030D-6E8A-4147-A177-3AD203B41FA5}">
                      <a16:colId xmlns:a16="http://schemas.microsoft.com/office/drawing/2014/main" val="524729326"/>
                    </a:ext>
                  </a:extLst>
                </a:gridCol>
              </a:tblGrid>
              <a:tr h="243208">
                <a:tc>
                  <a:txBody>
                    <a:bodyPr/>
                    <a:lstStyle/>
                    <a:p>
                      <a:pPr algn="ctr"/>
                      <a:r>
                        <a:rPr lang="en-US" sz="1050" b="1" dirty="0">
                          <a:latin typeface="Calibri" panose="020F0502020204030204" pitchFamily="34" charset="0"/>
                          <a:cs typeface="Calibri" panose="020F0502020204030204" pitchFamily="34" charset="0"/>
                        </a:rPr>
                        <a:t>Conditions</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2AA9DB"/>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050" b="1" dirty="0">
                          <a:latin typeface="Calibri" panose="020F0502020204030204" pitchFamily="34" charset="0"/>
                          <a:cs typeface="Calibri" panose="020F0502020204030204" pitchFamily="34" charset="0"/>
                        </a:rPr>
                        <a:t>Result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2AA9DB"/>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050" b="1" dirty="0">
                          <a:latin typeface="Calibri" panose="020F0502020204030204" pitchFamily="34" charset="0"/>
                          <a:cs typeface="Calibri" panose="020F0502020204030204" pitchFamily="34" charset="0"/>
                        </a:rPr>
                        <a:t>PPV/</a:t>
                      </a:r>
                      <a:r>
                        <a:rPr lang="en-US" sz="1050" b="1" dirty="0" err="1">
                          <a:latin typeface="Calibri" panose="020F0502020204030204" pitchFamily="34" charset="0"/>
                          <a:cs typeface="Calibri" panose="020F0502020204030204" pitchFamily="34" charset="0"/>
                        </a:rPr>
                        <a:t>NPV</a:t>
                      </a:r>
                      <a:r>
                        <a:rPr lang="en-US" sz="1050" b="1" baseline="50000" dirty="0" err="1">
                          <a:latin typeface="Calibri" panose="020F0502020204030204" pitchFamily="34" charset="0"/>
                          <a:cs typeface="Calibri" panose="020F0502020204030204" pitchFamily="34" charset="0"/>
                        </a:rPr>
                        <a:t>a</a:t>
                      </a:r>
                      <a:endParaRPr lang="en-US" sz="1050" b="1" baseline="50000" dirty="0">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2AA9DB"/>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050" b="1" dirty="0">
                          <a:latin typeface="Calibri" panose="020F0502020204030204" pitchFamily="34" charset="0"/>
                          <a:cs typeface="Calibri" panose="020F0502020204030204" pitchFamily="34" charset="0"/>
                        </a:rPr>
                        <a:t>Risk </a:t>
                      </a:r>
                      <a:r>
                        <a:rPr lang="en-US" sz="1050" b="1" dirty="0" err="1">
                          <a:latin typeface="Calibri" panose="020F0502020204030204" pitchFamily="34" charset="0"/>
                          <a:cs typeface="Calibri" panose="020F0502020204030204" pitchFamily="34" charset="0"/>
                        </a:rPr>
                        <a:t>Score</a:t>
                      </a:r>
                      <a:r>
                        <a:rPr lang="en-US" sz="1050" b="1" baseline="50000" dirty="0" err="1">
                          <a:latin typeface="Calibri" panose="020F0502020204030204" pitchFamily="34" charset="0"/>
                          <a:cs typeface="Calibri" panose="020F0502020204030204" pitchFamily="34" charset="0"/>
                        </a:rPr>
                        <a:t>b</a:t>
                      </a:r>
                      <a:r>
                        <a:rPr lang="en-US" sz="1050" b="1" dirty="0">
                          <a:latin typeface="Calibri" panose="020F0502020204030204" pitchFamily="34" charset="0"/>
                          <a:cs typeface="Calibri" panose="020F0502020204030204" pitchFamily="34" charset="0"/>
                        </a:rPr>
                        <a:t> </a:t>
                      </a:r>
                      <a:r>
                        <a:rPr lang="en-US" sz="700" b="1" dirty="0">
                          <a:latin typeface="Calibri" panose="020F0502020204030204" pitchFamily="34" charset="0"/>
                          <a:cs typeface="Calibri" panose="020F0502020204030204" pitchFamily="34" charset="0"/>
                        </a:rPr>
                        <a:t>(before)</a:t>
                      </a:r>
                      <a:endParaRPr lang="en-US" sz="1050" b="1" dirty="0">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2AA9DB"/>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050" b="1" dirty="0">
                          <a:latin typeface="Calibri" panose="020F0502020204030204" pitchFamily="34" charset="0"/>
                          <a:cs typeface="Calibri" panose="020F0502020204030204" pitchFamily="34" charset="0"/>
                        </a:rPr>
                        <a:t>Risk </a:t>
                      </a:r>
                      <a:r>
                        <a:rPr lang="en-US" sz="1050" b="1" dirty="0" err="1">
                          <a:latin typeface="Calibri" panose="020F0502020204030204" pitchFamily="34" charset="0"/>
                          <a:cs typeface="Calibri" panose="020F0502020204030204" pitchFamily="34" charset="0"/>
                        </a:rPr>
                        <a:t>Score</a:t>
                      </a:r>
                      <a:r>
                        <a:rPr lang="en-US" sz="1050" b="1" baseline="50000" dirty="0" err="1">
                          <a:latin typeface="Calibri" panose="020F0502020204030204" pitchFamily="34" charset="0"/>
                          <a:cs typeface="Calibri" panose="020F0502020204030204" pitchFamily="34" charset="0"/>
                        </a:rPr>
                        <a:t>c</a:t>
                      </a:r>
                      <a:endParaRPr lang="en-US" sz="1050" b="1" baseline="50000" dirty="0">
                        <a:latin typeface="Calibri" panose="020F0502020204030204" pitchFamily="34" charset="0"/>
                        <a:cs typeface="Calibri" panose="020F050202020403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r>
                        <a:rPr lang="en-US" sz="700" b="1" dirty="0">
                          <a:latin typeface="Calibri" panose="020F0502020204030204" pitchFamily="34" charset="0"/>
                          <a:cs typeface="Calibri" panose="020F0502020204030204" pitchFamily="34" charset="0"/>
                        </a:rPr>
                        <a:t>(after)</a:t>
                      </a:r>
                      <a:endParaRPr lang="en-US" sz="900" b="1" dirty="0">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2AA9DB"/>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83159712"/>
                  </a:ext>
                </a:extLst>
              </a:tr>
              <a:tr h="0">
                <a:tc>
                  <a:txBody>
                    <a:bodyPr/>
                    <a:lstStyle/>
                    <a:p>
                      <a:pPr algn="ctr"/>
                      <a:r>
                        <a:rPr lang="en-US" sz="1000" b="1" dirty="0">
                          <a:latin typeface="Calibri" panose="020F0502020204030204" pitchFamily="34" charset="0"/>
                          <a:cs typeface="Calibri" panose="020F0502020204030204" pitchFamily="34" charset="0"/>
                        </a:rPr>
                        <a:t>Trisomy 21</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AA9DB"/>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&lt;&lt;T21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AA9DB"/>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AA9DB"/>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0" dirty="0">
                          <a:solidFill>
                            <a:schemeClr val="tx1"/>
                          </a:solidFill>
                          <a:latin typeface="Calibri" panose="020F0502020204030204" pitchFamily="34" charset="0"/>
                          <a:cs typeface="Calibri" panose="020F0502020204030204" pitchFamily="34" charset="0"/>
                        </a:rPr>
                        <a:t>&lt;&lt;ST21_TT21&gt;&gt;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AA9DB"/>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&lt;&lt;T21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AA9DB"/>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1621165317"/>
                  </a:ext>
                </a:extLst>
              </a:tr>
              <a:tr h="0">
                <a:tc>
                  <a:txBody>
                    <a:bodyPr/>
                    <a:lstStyle/>
                    <a:p>
                      <a:pPr algn="ctr"/>
                      <a:r>
                        <a:rPr lang="en-US" sz="1000" b="1" dirty="0">
                          <a:latin typeface="Calibri" panose="020F0502020204030204" pitchFamily="34" charset="0"/>
                          <a:cs typeface="Calibri" panose="020F0502020204030204" pitchFamily="34" charset="0"/>
                        </a:rPr>
                        <a:t>Trisomy 18</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&lt;&lt;T18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0" dirty="0">
                          <a:solidFill>
                            <a:schemeClr val="tx1"/>
                          </a:solidFill>
                          <a:latin typeface="Calibri" panose="020F0502020204030204" pitchFamily="34" charset="0"/>
                          <a:cs typeface="Calibri" panose="020F0502020204030204" pitchFamily="34" charset="0"/>
                        </a:rPr>
                        <a:t>&lt;&lt;ST18_TT18&gt;&gt;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&lt;&lt;T18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3020442383"/>
                  </a:ext>
                </a:extLst>
              </a:tr>
              <a:tr h="0">
                <a:tc>
                  <a:txBody>
                    <a:bodyPr/>
                    <a:lstStyle/>
                    <a:p>
                      <a:pPr algn="ctr"/>
                      <a:r>
                        <a:rPr lang="en-US" sz="1000" b="1" dirty="0">
                          <a:latin typeface="Calibri" panose="020F0502020204030204" pitchFamily="34" charset="0"/>
                          <a:cs typeface="Calibri" panose="020F0502020204030204" pitchFamily="34" charset="0"/>
                        </a:rPr>
                        <a:t>Trisomy 13</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&lt;&lt;T13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dirty="0">
                          <a:latin typeface="Calibri" panose="020F0502020204030204" pitchFamily="34" charset="0"/>
                          <a:cs typeface="Calibri" panose="020F0502020204030204" pitchFamily="34" charset="0"/>
                        </a:rPr>
                        <a:t>&lt;&lt;ST13_TT13&gt;&gt;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&lt;&lt;T13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2332318909"/>
                  </a:ext>
                </a:extLst>
              </a:tr>
              <a:tr h="0">
                <a:tc>
                  <a:txBody>
                    <a:bodyPr/>
                    <a:lstStyle/>
                    <a:p>
                      <a:pPr algn="ctr"/>
                      <a:r>
                        <a:rPr lang="en-US" sz="1000" b="1" dirty="0">
                          <a:latin typeface="Calibri" panose="020F0502020204030204" pitchFamily="34" charset="0"/>
                          <a:cs typeface="Calibri" panose="020F0502020204030204" pitchFamily="34" charset="0"/>
                        </a:rPr>
                        <a:t>Trisomy 9</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&lt;&lt;T9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0" dirty="0">
                          <a:solidFill>
                            <a:schemeClr val="tx1"/>
                          </a:solidFill>
                          <a:latin typeface="Calibri" panose="020F0502020204030204" pitchFamily="34" charset="0"/>
                          <a:cs typeface="Calibri" panose="020F0502020204030204" pitchFamily="34" charset="0"/>
                        </a:rPr>
                        <a:t>NA</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&lt;&lt;T9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3979932079"/>
                  </a:ext>
                </a:extLst>
              </a:tr>
              <a:tr h="0">
                <a:tc>
                  <a:txBody>
                    <a:bodyPr/>
                    <a:lstStyle/>
                    <a:p>
                      <a:pPr algn="ctr"/>
                      <a:r>
                        <a:rPr lang="en-US" sz="1000" b="1" dirty="0">
                          <a:latin typeface="Calibri" panose="020F0502020204030204" pitchFamily="34" charset="0"/>
                          <a:cs typeface="Calibri" panose="020F0502020204030204" pitchFamily="34" charset="0"/>
                        </a:rPr>
                        <a:t>Trisomy 16</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&lt;&lt;T16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dirty="0">
                          <a:latin typeface="Calibri" panose="020F0502020204030204" pitchFamily="34" charset="0"/>
                          <a:cs typeface="Calibri" panose="020F0502020204030204" pitchFamily="34" charset="0"/>
                        </a:rPr>
                        <a:t>NA</a:t>
                      </a:r>
                      <a:endParaRPr lang="en-US" sz="900" b="1" dirty="0">
                        <a:solidFill>
                          <a:srgbClr val="C00000"/>
                        </a:solidFill>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&lt;&lt;T16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2730202693"/>
                  </a:ext>
                </a:extLst>
              </a:tr>
              <a:tr h="0">
                <a:tc>
                  <a:txBody>
                    <a:bodyPr/>
                    <a:lstStyle/>
                    <a:p>
                      <a:pPr algn="ctr"/>
                      <a:r>
                        <a:rPr lang="en-US" sz="1000" b="1" dirty="0">
                          <a:latin typeface="Calibri" panose="020F0502020204030204" pitchFamily="34" charset="0"/>
                          <a:cs typeface="Calibri" panose="020F0502020204030204" pitchFamily="34" charset="0"/>
                        </a:rPr>
                        <a:t>Trisomy 22</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&lt;&lt;T22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dirty="0">
                          <a:latin typeface="Calibri" panose="020F0502020204030204" pitchFamily="34" charset="0"/>
                          <a:cs typeface="Calibri" panose="020F0502020204030204" pitchFamily="34" charset="0"/>
                        </a:rPr>
                        <a:t>NA</a:t>
                      </a:r>
                      <a:endParaRPr lang="en-US" sz="900" b="1" dirty="0">
                        <a:solidFill>
                          <a:srgbClr val="C00000"/>
                        </a:solidFill>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&lt;&lt;T22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3014447478"/>
                  </a:ext>
                </a:extLst>
              </a:tr>
              <a:tr h="0">
                <a:tc>
                  <a:txBody>
                    <a:bodyPr/>
                    <a:lstStyle/>
                    <a:p>
                      <a:pPr algn="ctr"/>
                      <a:r>
                        <a:rPr lang="en-US" sz="1000" b="1" dirty="0">
                          <a:latin typeface="Calibri" panose="020F0502020204030204" pitchFamily="34" charset="0"/>
                          <a:cs typeface="Calibri" panose="020F0502020204030204" pitchFamily="34" charset="0"/>
                        </a:rPr>
                        <a:t>XO (Turner Syndrome)</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&lt;&lt;XO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dirty="0">
                          <a:latin typeface="Calibri" panose="020F0502020204030204" pitchFamily="34" charset="0"/>
                          <a:cs typeface="Calibri" panose="020F0502020204030204" pitchFamily="34" charset="0"/>
                        </a:rPr>
                        <a:t>NA</a:t>
                      </a:r>
                      <a:endParaRPr lang="en-US" sz="900" b="1" dirty="0">
                        <a:solidFill>
                          <a:srgbClr val="C00000"/>
                        </a:solidFill>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&lt;&lt;XO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2598480914"/>
                  </a:ext>
                </a:extLst>
              </a:tr>
              <a:tr h="0">
                <a:tc>
                  <a:txBody>
                    <a:bodyPr/>
                    <a:lstStyle/>
                    <a:p>
                      <a:pPr algn="ctr"/>
                      <a:r>
                        <a:rPr lang="en-US" sz="1000" b="1" dirty="0">
                          <a:latin typeface="Calibri" panose="020F0502020204030204" pitchFamily="34" charset="0"/>
                          <a:cs typeface="Calibri" panose="020F0502020204030204" pitchFamily="34" charset="0"/>
                        </a:rPr>
                        <a:t>XXX (Trisomy X)</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&lt;&lt;XXX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dirty="0">
                          <a:latin typeface="Calibri" panose="020F0502020204030204" pitchFamily="34" charset="0"/>
                          <a:cs typeface="Calibri" panose="020F0502020204030204" pitchFamily="34" charset="0"/>
                        </a:rPr>
                        <a:t>NA</a:t>
                      </a:r>
                      <a:endParaRPr lang="en-US" sz="900" b="1" dirty="0">
                        <a:solidFill>
                          <a:srgbClr val="C00000"/>
                        </a:solidFill>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&lt;&lt;XXX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366551876"/>
                  </a:ext>
                </a:extLst>
              </a:tr>
              <a:tr h="0">
                <a:tc>
                  <a:txBody>
                    <a:bodyPr/>
                    <a:lstStyle/>
                    <a:p>
                      <a:pPr algn="ctr"/>
                      <a:r>
                        <a:rPr lang="en-US" sz="1000" b="1" dirty="0">
                          <a:latin typeface="Calibri" panose="020F0502020204030204" pitchFamily="34" charset="0"/>
                          <a:cs typeface="Calibri" panose="020F0502020204030204" pitchFamily="34" charset="0"/>
                        </a:rPr>
                        <a:t>XXY (Klinefelter Syndrome)</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&lt;&lt;XXY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dirty="0">
                          <a:latin typeface="Calibri" panose="020F0502020204030204" pitchFamily="34" charset="0"/>
                          <a:cs typeface="Calibri" panose="020F0502020204030204" pitchFamily="34" charset="0"/>
                        </a:rPr>
                        <a:t>NA</a:t>
                      </a:r>
                      <a:endParaRPr lang="en-US" sz="900" b="1" dirty="0">
                        <a:solidFill>
                          <a:srgbClr val="C00000"/>
                        </a:solidFill>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&lt;&lt;XXY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3012288664"/>
                  </a:ext>
                </a:extLst>
              </a:tr>
              <a:tr h="0">
                <a:tc>
                  <a:txBody>
                    <a:bodyPr/>
                    <a:lstStyle/>
                    <a:p>
                      <a:pPr algn="ctr"/>
                      <a:r>
                        <a:rPr lang="en-US" sz="1000" b="1" dirty="0">
                          <a:latin typeface="Calibri" panose="020F0502020204030204" pitchFamily="34" charset="0"/>
                          <a:cs typeface="Calibri" panose="020F0502020204030204" pitchFamily="34" charset="0"/>
                        </a:rPr>
                        <a:t>XYY (Jacob Syndrome)</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&lt;&lt;XYY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dirty="0">
                          <a:latin typeface="Calibri" panose="020F0502020204030204" pitchFamily="34" charset="0"/>
                          <a:cs typeface="Calibri" panose="020F0502020204030204" pitchFamily="34" charset="0"/>
                        </a:rPr>
                        <a:t>NA</a:t>
                      </a:r>
                      <a:endParaRPr lang="en-US" sz="900" b="1" dirty="0">
                        <a:solidFill>
                          <a:srgbClr val="C00000"/>
                        </a:solidFill>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&lt;&lt;XYY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3550806044"/>
                  </a:ext>
                </a:extLst>
              </a:tr>
              <a:tr h="0">
                <a:tc>
                  <a:txBody>
                    <a:bodyPr/>
                    <a:lstStyle/>
                    <a:p>
                      <a:pPr algn="ctr"/>
                      <a:r>
                        <a:rPr lang="en-US" sz="1000" b="1" dirty="0">
                          <a:latin typeface="Calibri" panose="020F0502020204030204" pitchFamily="34" charset="0"/>
                          <a:cs typeface="Calibri" panose="020F0502020204030204" pitchFamily="34" charset="0"/>
                        </a:rPr>
                        <a:t>All other autosomal trisomy</a:t>
                      </a:r>
                      <a:endParaRPr lang="en-US" sz="1000" b="1" baseline="50000" dirty="0">
                        <a:latin typeface="Calibri" panose="020F0502020204030204" pitchFamily="34" charset="0"/>
                        <a:cs typeface="Calibri" panose="020F0502020204030204" pitchFamily="34" charset="0"/>
                      </a:endParaRP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&lt;&lt;Other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dirty="0">
                          <a:latin typeface="Calibri" panose="020F0502020204030204" pitchFamily="34" charset="0"/>
                          <a:cs typeface="Calibri" panose="020F0502020204030204" pitchFamily="34" charset="0"/>
                        </a:rPr>
                        <a:t>NA</a:t>
                      </a:r>
                      <a:endParaRPr lang="en-US" sz="900" b="1" dirty="0">
                        <a:solidFill>
                          <a:srgbClr val="C00000"/>
                        </a:solidFill>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&lt;&lt;Other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3608254715"/>
                  </a:ext>
                </a:extLst>
              </a:tr>
            </a:tbl>
          </a:graphicData>
        </a:graphic>
      </p:graphicFrame>
      <p:sp>
        <p:nvSpPr>
          <p:cNvPr id="22" name="TextBox 21">
            <a:extLst>
              <a:ext uri="{FF2B5EF4-FFF2-40B4-BE49-F238E27FC236}">
                <a16:creationId xmlns:a16="http://schemas.microsoft.com/office/drawing/2014/main" id="{5D2A34DF-A85D-AFAC-37DA-EDB3DA2BCD69}"/>
              </a:ext>
            </a:extLst>
          </p:cNvPr>
          <p:cNvSpPr txBox="1"/>
          <p:nvPr/>
        </p:nvSpPr>
        <p:spPr>
          <a:xfrm>
            <a:off x="446345" y="3232822"/>
            <a:ext cx="3742660" cy="307777"/>
          </a:xfrm>
          <a:prstGeom prst="rect">
            <a:avLst/>
          </a:prstGeom>
          <a:noFill/>
        </p:spPr>
        <p:txBody>
          <a:bodyPr wrap="square">
            <a:spAutoFit/>
          </a:bodyPr>
          <a:lstStyle/>
          <a:p>
            <a:r>
              <a:rPr lang="en-US" sz="1400" b="1" dirty="0">
                <a:solidFill>
                  <a:srgbClr val="256D9D"/>
                </a:solidFill>
                <a:latin typeface="Calibri" panose="020F0502020204030204" pitchFamily="34" charset="0"/>
                <a:cs typeface="Calibri" panose="020F0502020204030204" pitchFamily="34" charset="0"/>
              </a:rPr>
              <a:t>RESULTS DETAILS</a:t>
            </a:r>
          </a:p>
        </p:txBody>
      </p:sp>
      <p:sp>
        <p:nvSpPr>
          <p:cNvPr id="24" name="TextBox 23">
            <a:extLst>
              <a:ext uri="{FF2B5EF4-FFF2-40B4-BE49-F238E27FC236}">
                <a16:creationId xmlns:a16="http://schemas.microsoft.com/office/drawing/2014/main" id="{42FD5668-A2A3-535F-995B-C8E0C0ABE794}"/>
              </a:ext>
            </a:extLst>
          </p:cNvPr>
          <p:cNvSpPr txBox="1"/>
          <p:nvPr/>
        </p:nvSpPr>
        <p:spPr>
          <a:xfrm>
            <a:off x="5770169" y="9510229"/>
            <a:ext cx="660758" cy="215444"/>
          </a:xfrm>
          <a:prstGeom prst="rect">
            <a:avLst/>
          </a:prstGeom>
          <a:noFill/>
        </p:spPr>
        <p:txBody>
          <a:bodyPr wrap="none" rtlCol="0">
            <a:spAutoFit/>
          </a:bodyPr>
          <a:lstStyle/>
          <a:p>
            <a:r>
              <a:rPr lang="en-US" sz="800" i="1" dirty="0">
                <a:solidFill>
                  <a:schemeClr val="tx1">
                    <a:lumMod val="50000"/>
                    <a:lumOff val="50000"/>
                  </a:schemeClr>
                </a:solidFill>
                <a:latin typeface="Calibri" panose="020F0502020204030204" pitchFamily="34" charset="0"/>
                <a:cs typeface="Calibri" panose="020F0502020204030204" pitchFamily="34" charset="0"/>
              </a:rPr>
              <a:t>Page 1 of 3</a:t>
            </a:r>
          </a:p>
        </p:txBody>
      </p:sp>
      <p:cxnSp>
        <p:nvCxnSpPr>
          <p:cNvPr id="3" name="Straight Connector 2">
            <a:extLst>
              <a:ext uri="{FF2B5EF4-FFF2-40B4-BE49-F238E27FC236}">
                <a16:creationId xmlns:a16="http://schemas.microsoft.com/office/drawing/2014/main" id="{89D14529-C7C6-BEDC-6A17-B75DBD3A2218}"/>
              </a:ext>
            </a:extLst>
          </p:cNvPr>
          <p:cNvCxnSpPr>
            <a:cxnSpLocks/>
          </p:cNvCxnSpPr>
          <p:nvPr/>
        </p:nvCxnSpPr>
        <p:spPr>
          <a:xfrm>
            <a:off x="527050" y="2674221"/>
            <a:ext cx="3681005" cy="0"/>
          </a:xfrm>
          <a:prstGeom prst="line">
            <a:avLst/>
          </a:prstGeom>
          <a:ln>
            <a:solidFill>
              <a:srgbClr val="1975C0"/>
            </a:solidFill>
            <a:prstDash val="lgDash"/>
          </a:ln>
        </p:spPr>
        <p:style>
          <a:lnRef idx="2">
            <a:schemeClr val="accent1"/>
          </a:lnRef>
          <a:fillRef idx="0">
            <a:schemeClr val="accent1"/>
          </a:fillRef>
          <a:effectRef idx="1">
            <a:schemeClr val="accent1"/>
          </a:effectRef>
          <a:fontRef idx="minor">
            <a:schemeClr val="tx1"/>
          </a:fontRef>
        </p:style>
      </p:cxnSp>
      <p:sp>
        <p:nvSpPr>
          <p:cNvPr id="14" name="TextBox 13">
            <a:extLst>
              <a:ext uri="{FF2B5EF4-FFF2-40B4-BE49-F238E27FC236}">
                <a16:creationId xmlns:a16="http://schemas.microsoft.com/office/drawing/2014/main" id="{F5D7F0E2-04DD-6B22-ABD8-6956309937FF}"/>
              </a:ext>
            </a:extLst>
          </p:cNvPr>
          <p:cNvSpPr txBox="1"/>
          <p:nvPr/>
        </p:nvSpPr>
        <p:spPr>
          <a:xfrm>
            <a:off x="412897" y="6665518"/>
            <a:ext cx="5998758" cy="1600438"/>
          </a:xfrm>
          <a:prstGeom prst="rect">
            <a:avLst/>
          </a:prstGeom>
          <a:noFill/>
        </p:spPr>
        <p:txBody>
          <a:bodyPr wrap="square">
            <a:spAutoFit/>
          </a:bodyPr>
          <a:lstStyle/>
          <a:p>
            <a:pPr algn="just"/>
            <a:r>
              <a:rPr lang="en-US" sz="900" baseline="30000" dirty="0">
                <a:latin typeface="Calibri" panose="020F0502020204030204" pitchFamily="34" charset="0"/>
                <a:cs typeface="Calibri" panose="020F0502020204030204" pitchFamily="34" charset="0"/>
              </a:rPr>
              <a:t>a</a:t>
            </a:r>
            <a:r>
              <a:rPr lang="en-US" sz="900" dirty="0">
                <a:latin typeface="Calibri" panose="020F0502020204030204" pitchFamily="34" charset="0"/>
                <a:cs typeface="Calibri" panose="020F0502020204030204" pitchFamily="34" charset="0"/>
              </a:rPr>
              <a:t> All probabilities, PPVs, and NPVs are calculated on </a:t>
            </a:r>
            <a:r>
              <a:rPr lang="en-US" sz="900" dirty="0">
                <a:latin typeface="Calibri" panose="020F0502020204030204" pitchFamily="34" charset="0"/>
                <a:cs typeface="Calibri" panose="020F0502020204030204" pitchFamily="34" charset="0"/>
                <a:hlinkClick r:id="rId3"/>
              </a:rPr>
              <a:t>https://ppv.geneticsupportfoundation.org/</a:t>
            </a:r>
            <a:r>
              <a:rPr lang="en-US" sz="900" dirty="0">
                <a:latin typeface="Calibri" panose="020F0502020204030204" pitchFamily="34" charset="0"/>
                <a:cs typeface="Calibri" panose="020F0502020204030204" pitchFamily="34" charset="0"/>
              </a:rPr>
              <a:t> based on maternal age and </a:t>
            </a:r>
            <a:r>
              <a:rPr lang="en-US" sz="900" dirty="0" err="1">
                <a:latin typeface="Calibri" panose="020F0502020204030204" pitchFamily="34" charset="0"/>
                <a:cs typeface="Calibri" panose="020F0502020204030204" pitchFamily="34" charset="0"/>
              </a:rPr>
              <a:t>Cordlife</a:t>
            </a:r>
            <a:r>
              <a:rPr lang="en-US" sz="900" dirty="0">
                <a:latin typeface="Calibri" panose="020F0502020204030204" pitchFamily="34" charset="0"/>
                <a:cs typeface="Calibri" panose="020F0502020204030204" pitchFamily="34" charset="0"/>
              </a:rPr>
              <a:t> NIPT sensitivity/specificity data.</a:t>
            </a:r>
          </a:p>
          <a:p>
            <a:pPr algn="just"/>
            <a:endParaRPr lang="en-US" sz="800" dirty="0">
              <a:latin typeface="Calibri" panose="020F0502020204030204" pitchFamily="34" charset="0"/>
              <a:cs typeface="Calibri" panose="020F0502020204030204" pitchFamily="34" charset="0"/>
            </a:endParaRPr>
          </a:p>
          <a:p>
            <a:pPr algn="just"/>
            <a:r>
              <a:rPr lang="en-US" sz="900" baseline="30000" dirty="0">
                <a:latin typeface="Calibri" panose="020F0502020204030204" pitchFamily="34" charset="0"/>
                <a:cs typeface="Calibri" panose="020F0502020204030204" pitchFamily="34" charset="0"/>
              </a:rPr>
              <a:t>b</a:t>
            </a:r>
            <a:r>
              <a:rPr lang="en-US" sz="900" dirty="0">
                <a:latin typeface="Calibri" panose="020F0502020204030204" pitchFamily="34" charset="0"/>
                <a:cs typeface="Calibri" panose="020F0502020204030204" pitchFamily="34" charset="0"/>
              </a:rPr>
              <a:t> Risk score (before) for aneuploidy was reported in published study of 17,885 women (Dar, et al. Am J </a:t>
            </a:r>
            <a:r>
              <a:rPr lang="en-US" sz="900" dirty="0" err="1">
                <a:latin typeface="Calibri" panose="020F0502020204030204" pitchFamily="34" charset="0"/>
                <a:cs typeface="Calibri" panose="020F0502020204030204" pitchFamily="34" charset="0"/>
              </a:rPr>
              <a:t>Obstet</a:t>
            </a:r>
            <a:r>
              <a:rPr lang="en-US" sz="900" dirty="0">
                <a:latin typeface="Calibri" panose="020F0502020204030204" pitchFamily="34" charset="0"/>
                <a:cs typeface="Calibri" panose="020F0502020204030204" pitchFamily="34" charset="0"/>
              </a:rPr>
              <a:t> Gynecol. 2014 Nov; 211(5): 527.e1-527.e17) based on maternal age, gestational age, and/or general population.</a:t>
            </a:r>
          </a:p>
          <a:p>
            <a:pPr algn="just"/>
            <a:endParaRPr lang="en-US" sz="900" dirty="0">
              <a:latin typeface="Calibri" panose="020F0502020204030204" pitchFamily="34" charset="0"/>
              <a:cs typeface="Calibri" panose="020F0502020204030204" pitchFamily="34" charset="0"/>
            </a:endParaRPr>
          </a:p>
          <a:p>
            <a:pPr algn="just"/>
            <a:r>
              <a:rPr lang="en-US" sz="900" baseline="30000" dirty="0">
                <a:latin typeface="Calibri" panose="020F0502020204030204" pitchFamily="34" charset="0"/>
                <a:cs typeface="Calibri" panose="020F0502020204030204" pitchFamily="34" charset="0"/>
              </a:rPr>
              <a:t>c</a:t>
            </a:r>
            <a:r>
              <a:rPr lang="en-US" sz="900" dirty="0">
                <a:latin typeface="Calibri" panose="020F0502020204030204" pitchFamily="34" charset="0"/>
                <a:cs typeface="Calibri" panose="020F0502020204030204" pitchFamily="34" charset="0"/>
              </a:rPr>
              <a:t> Risk score (after) value is calculated as a probability value obtained through the Gaussian distribution of the normal group and the abnormal group using the fetal DNA percentage (fetal fraction), chromosome read % (Unique Read %) value, and Z-score value. The risk score (after) may not reflect the actual PPV of this patient, and other test results, ultrasound findings, and personal/family history are not included in the risk assessment.</a:t>
            </a:r>
          </a:p>
          <a:p>
            <a:pPr algn="just"/>
            <a:endParaRPr lang="en-US" sz="900" dirty="0">
              <a:latin typeface="Calibri" panose="020F0502020204030204" pitchFamily="34" charset="0"/>
              <a:cs typeface="Calibri" panose="020F0502020204030204" pitchFamily="34" charset="0"/>
            </a:endParaRPr>
          </a:p>
        </p:txBody>
      </p:sp>
      <p:pic>
        <p:nvPicPr>
          <p:cNvPr id="21" name="Picture 20">
            <a:extLst>
              <a:ext uri="{FF2B5EF4-FFF2-40B4-BE49-F238E27FC236}">
                <a16:creationId xmlns:a16="http://schemas.microsoft.com/office/drawing/2014/main" id="{0377AA96-D5DD-60DA-BB6F-97D671D82BF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27050" y="45194"/>
            <a:ext cx="1413626" cy="652977"/>
          </a:xfrm>
          <a:prstGeom prst="rect">
            <a:avLst/>
          </a:prstGeom>
        </p:spPr>
      </p:pic>
      <p:sp>
        <p:nvSpPr>
          <p:cNvPr id="9" name="TextBox 8">
            <a:extLst>
              <a:ext uri="{FF2B5EF4-FFF2-40B4-BE49-F238E27FC236}">
                <a16:creationId xmlns:a16="http://schemas.microsoft.com/office/drawing/2014/main" id="{219DD452-4A7F-1546-4110-88F211464B80}"/>
              </a:ext>
            </a:extLst>
          </p:cNvPr>
          <p:cNvSpPr txBox="1"/>
          <p:nvPr/>
        </p:nvSpPr>
        <p:spPr>
          <a:xfrm>
            <a:off x="5713863" y="9220678"/>
            <a:ext cx="857250" cy="338554"/>
          </a:xfrm>
          <a:prstGeom prst="rect">
            <a:avLst/>
          </a:prstGeom>
          <a:noFill/>
        </p:spPr>
        <p:txBody>
          <a:bodyPr wrap="square" rtlCol="0">
            <a:spAutoFit/>
          </a:bodyPr>
          <a:lstStyle/>
          <a:p>
            <a:pPr algn="ctr"/>
            <a:r>
              <a:rPr lang="pt-BR" sz="800" b="0" i="0" dirty="0">
                <a:solidFill>
                  <a:srgbClr val="000000"/>
                </a:solidFill>
                <a:effectLst/>
                <a:latin typeface="Calibri" panose="020F0502020204030204" pitchFamily="34" charset="0"/>
                <a:cs typeface="Calibri" panose="020F0502020204030204" pitchFamily="34" charset="0"/>
              </a:rPr>
              <a:t>DCR No.: 3166 </a:t>
            </a:r>
          </a:p>
          <a:p>
            <a:pPr algn="ctr"/>
            <a:r>
              <a:rPr lang="pt-BR" sz="800" b="0" i="0" dirty="0">
                <a:solidFill>
                  <a:srgbClr val="000000"/>
                </a:solidFill>
                <a:effectLst/>
                <a:latin typeface="Calibri" panose="020F0502020204030204" pitchFamily="34" charset="0"/>
                <a:cs typeface="Calibri" panose="020F0502020204030204" pitchFamily="34" charset="0"/>
              </a:rPr>
              <a:t>QR G1.1-6-5-a</a:t>
            </a:r>
            <a:endParaRPr lang="en-ID" sz="800" dirty="0">
              <a:latin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68012B77-FB6A-D207-5D5B-1AA20CE3049D}"/>
              </a:ext>
            </a:extLst>
          </p:cNvPr>
          <p:cNvSpPr txBox="1"/>
          <p:nvPr/>
        </p:nvSpPr>
        <p:spPr>
          <a:xfrm>
            <a:off x="446345" y="9203303"/>
            <a:ext cx="1165704" cy="246221"/>
          </a:xfrm>
          <a:prstGeom prst="rect">
            <a:avLst/>
          </a:prstGeom>
          <a:noFill/>
        </p:spPr>
        <p:txBody>
          <a:bodyPr wrap="none" rtlCol="0">
            <a:spAutoFit/>
          </a:bodyPr>
          <a:lstStyle/>
          <a:p>
            <a:r>
              <a:rPr lang="en-US" sz="1000" b="1" dirty="0">
                <a:solidFill>
                  <a:srgbClr val="1975C0"/>
                </a:solidFill>
                <a:latin typeface="Calibri" panose="020F0502020204030204" pitchFamily="34" charset="0"/>
                <a:cs typeface="Calibri" panose="020F0502020204030204" pitchFamily="34" charset="0"/>
              </a:rPr>
              <a:t>Result verified by:</a:t>
            </a:r>
          </a:p>
        </p:txBody>
      </p:sp>
      <p:sp>
        <p:nvSpPr>
          <p:cNvPr id="27" name="Rectangle: Rounded Corners 26">
            <a:extLst>
              <a:ext uri="{FF2B5EF4-FFF2-40B4-BE49-F238E27FC236}">
                <a16:creationId xmlns:a16="http://schemas.microsoft.com/office/drawing/2014/main" id="{54A9A9BA-2CD0-FD62-010D-DECF988F6010}"/>
              </a:ext>
            </a:extLst>
          </p:cNvPr>
          <p:cNvSpPr/>
          <p:nvPr/>
        </p:nvSpPr>
        <p:spPr>
          <a:xfrm>
            <a:off x="501650" y="9449524"/>
            <a:ext cx="5214966" cy="261179"/>
          </a:xfrm>
          <a:prstGeom prst="roundRect">
            <a:avLst/>
          </a:prstGeom>
          <a:noFill/>
          <a:ln>
            <a:solidFill>
              <a:srgbClr val="E5F6F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30" name="TextBox 29">
            <a:extLst>
              <a:ext uri="{FF2B5EF4-FFF2-40B4-BE49-F238E27FC236}">
                <a16:creationId xmlns:a16="http://schemas.microsoft.com/office/drawing/2014/main" id="{6ADD0727-D545-C7F4-634E-BCE2A3DA86FE}"/>
              </a:ext>
            </a:extLst>
          </p:cNvPr>
          <p:cNvSpPr txBox="1"/>
          <p:nvPr/>
        </p:nvSpPr>
        <p:spPr>
          <a:xfrm>
            <a:off x="498897" y="9427924"/>
            <a:ext cx="3476086" cy="276999"/>
          </a:xfrm>
          <a:prstGeom prst="rect">
            <a:avLst/>
          </a:prstGeom>
          <a:noFill/>
        </p:spPr>
        <p:txBody>
          <a:bodyPr wrap="square" rtlCol="0">
            <a:spAutoFit/>
          </a:bodyPr>
          <a:lstStyle/>
          <a:p>
            <a:r>
              <a:rPr lang="en-US" sz="1200" dirty="0" err="1">
                <a:latin typeface="Calibri" panose="020F0502020204030204" pitchFamily="34" charset="0"/>
                <a:cs typeface="Calibri" panose="020F0502020204030204" pitchFamily="34" charset="0"/>
              </a:rPr>
              <a:t>Cordlife</a:t>
            </a:r>
            <a:r>
              <a:rPr lang="en-US" sz="1200" dirty="0">
                <a:latin typeface="Calibri" panose="020F0502020204030204" pitchFamily="34" charset="0"/>
                <a:cs typeface="Calibri" panose="020F0502020204030204" pitchFamily="34" charset="0"/>
              </a:rPr>
              <a:t> Laboratory Director : Dr. Tien Anh Ngo</a:t>
            </a:r>
            <a:endParaRPr lang="en-ID" sz="1200" dirty="0">
              <a:latin typeface="Calibri" panose="020F0502020204030204" pitchFamily="34" charset="0"/>
              <a:cs typeface="Calibri" panose="020F0502020204030204" pitchFamily="34" charset="0"/>
            </a:endParaRPr>
          </a:p>
        </p:txBody>
      </p:sp>
      <p:sp>
        <p:nvSpPr>
          <p:cNvPr id="8" name="TextBox 7">
            <a:extLst>
              <a:ext uri="{FF2B5EF4-FFF2-40B4-BE49-F238E27FC236}">
                <a16:creationId xmlns:a16="http://schemas.microsoft.com/office/drawing/2014/main" id="{B3F3595C-4A9A-C62A-E7AD-D66543DAE6BA}"/>
              </a:ext>
            </a:extLst>
          </p:cNvPr>
          <p:cNvSpPr txBox="1"/>
          <p:nvPr/>
        </p:nvSpPr>
        <p:spPr>
          <a:xfrm>
            <a:off x="2452581" y="772625"/>
            <a:ext cx="1964140"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Pregnancy Information</a:t>
            </a:r>
          </a:p>
          <a:p>
            <a:r>
              <a:rPr lang="en-US" sz="700" dirty="0">
                <a:latin typeface="Calibri" panose="020F0502020204030204" pitchFamily="34" charset="0"/>
                <a:cs typeface="Calibri" panose="020F0502020204030204" pitchFamily="34" charset="0"/>
              </a:rPr>
              <a:t>Gestational Age: </a:t>
            </a:r>
            <a:r>
              <a:rPr lang="en-US" sz="700" dirty="0">
                <a:solidFill>
                  <a:schemeClr val="dk1"/>
                </a:solidFill>
                <a:latin typeface="Calibri" panose="020F0502020204030204" pitchFamily="34" charset="0"/>
                <a:ea typeface="Calibri"/>
                <a:cs typeface="Calibri" panose="020F0502020204030204" pitchFamily="34" charset="0"/>
                <a:sym typeface="Calibri"/>
              </a:rPr>
              <a:t>&lt;&lt;W&gt;&gt; Weeks &lt;&lt;D&gt;&gt; Days</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Pregnancy Type:  &lt;&lt;Pregnancy Type&gt;&gt;</a:t>
            </a:r>
          </a:p>
          <a:p>
            <a:r>
              <a:rPr lang="en-US" sz="700" b="1" dirty="0">
                <a:latin typeface="Calibri" panose="020F0502020204030204" pitchFamily="34" charset="0"/>
                <a:cs typeface="Calibri" panose="020F0502020204030204" pitchFamily="34" charset="0"/>
              </a:rPr>
              <a:t>Doctor Information</a:t>
            </a:r>
          </a:p>
          <a:p>
            <a:r>
              <a:rPr lang="en-US" sz="700" dirty="0">
                <a:latin typeface="Calibri" panose="020F0502020204030204" pitchFamily="34" charset="0"/>
                <a:cs typeface="Calibri" panose="020F0502020204030204" pitchFamily="34" charset="0"/>
              </a:rPr>
              <a:t>Physician: &lt;&lt;Doctor&gt;&gt;</a:t>
            </a:r>
          </a:p>
          <a:p>
            <a:r>
              <a:rPr lang="en-US" sz="700" dirty="0">
                <a:latin typeface="Calibri" panose="020F0502020204030204" pitchFamily="34" charset="0"/>
                <a:cs typeface="Calibri" panose="020F0502020204030204" pitchFamily="34" charset="0"/>
              </a:rPr>
              <a:t>Hospital/Clinic: &lt;&lt;Hospital&gt;&gt;</a:t>
            </a:r>
          </a:p>
          <a:p>
            <a:endParaRPr lang="en-US" sz="800" dirty="0">
              <a:latin typeface="Calibri" panose="020F0502020204030204" pitchFamily="34" charset="0"/>
              <a:cs typeface="Calibri" panose="020F0502020204030204" pitchFamily="34" charset="0"/>
            </a:endParaRPr>
          </a:p>
        </p:txBody>
      </p:sp>
      <p:sp>
        <p:nvSpPr>
          <p:cNvPr id="11" name="TextBox 10">
            <a:extLst>
              <a:ext uri="{FF2B5EF4-FFF2-40B4-BE49-F238E27FC236}">
                <a16:creationId xmlns:a16="http://schemas.microsoft.com/office/drawing/2014/main" id="{EE1A0DB3-54C9-76C6-E49F-73A51AF4DA5B}"/>
              </a:ext>
            </a:extLst>
          </p:cNvPr>
          <p:cNvSpPr txBox="1"/>
          <p:nvPr/>
        </p:nvSpPr>
        <p:spPr>
          <a:xfrm>
            <a:off x="4466785" y="766381"/>
            <a:ext cx="1956391" cy="738664"/>
          </a:xfrm>
          <a:prstGeom prst="rect">
            <a:avLst/>
          </a:prstGeom>
          <a:noFill/>
          <a:ln cmpd="tri">
            <a:noFill/>
          </a:ln>
        </p:spPr>
        <p:txBody>
          <a:bodyPr wrap="square" rtlCol="0">
            <a:spAutoFit/>
          </a:bodyPr>
          <a:lstStyle/>
          <a:p>
            <a:r>
              <a:rPr lang="en-US" sz="700" b="1" dirty="0">
                <a:latin typeface="Calibri" panose="020F0502020204030204" pitchFamily="34" charset="0"/>
                <a:cs typeface="Calibri" panose="020F0502020204030204" pitchFamily="34" charset="0"/>
              </a:rPr>
              <a:t>Test Information</a:t>
            </a:r>
          </a:p>
          <a:p>
            <a:r>
              <a:rPr lang="en-US" sz="700" dirty="0">
                <a:latin typeface="Calibri" panose="020F0502020204030204" pitchFamily="34" charset="0"/>
                <a:cs typeface="Calibri" panose="020F0502020204030204" pitchFamily="34" charset="0"/>
              </a:rPr>
              <a:t>Sample Type: Blood</a:t>
            </a:r>
          </a:p>
          <a:p>
            <a:r>
              <a:rPr lang="en-US" sz="700" dirty="0">
                <a:latin typeface="Calibri" panose="020F0502020204030204" pitchFamily="34" charset="0"/>
                <a:cs typeface="Calibri" panose="020F0502020204030204" pitchFamily="34" charset="0"/>
              </a:rPr>
              <a:t>Collection Date: &lt;&lt;Collection Date&gt;&gt;</a:t>
            </a:r>
          </a:p>
          <a:p>
            <a:r>
              <a:rPr lang="en-US" sz="700" dirty="0">
                <a:latin typeface="Calibri" panose="020F0502020204030204" pitchFamily="34" charset="0"/>
                <a:cs typeface="Calibri" panose="020F0502020204030204" pitchFamily="34" charset="0"/>
              </a:rPr>
              <a:t>Receipt Date: &lt;&lt;Receipt Date&gt;&gt;</a:t>
            </a:r>
          </a:p>
          <a:p>
            <a:r>
              <a:rPr lang="en-US" sz="700" dirty="0">
                <a:latin typeface="Calibri" panose="020F0502020204030204" pitchFamily="34" charset="0"/>
                <a:cs typeface="Calibri" panose="020F0502020204030204" pitchFamily="34" charset="0"/>
              </a:rPr>
              <a:t>Report Date: &lt;&lt;Report Date&gt;&gt;</a:t>
            </a:r>
          </a:p>
          <a:p>
            <a:r>
              <a:rPr lang="en-US" sz="700" dirty="0">
                <a:latin typeface="Calibri" panose="020F0502020204030204" pitchFamily="34" charset="0"/>
                <a:cs typeface="Calibri" panose="020F0502020204030204" pitchFamily="34" charset="0"/>
              </a:rPr>
              <a:t>Test Requested: &lt;&lt;Test Requested&gt;&gt;</a:t>
            </a:r>
          </a:p>
        </p:txBody>
      </p:sp>
      <p:sp>
        <p:nvSpPr>
          <p:cNvPr id="13" name="TextBox 12">
            <a:extLst>
              <a:ext uri="{FF2B5EF4-FFF2-40B4-BE49-F238E27FC236}">
                <a16:creationId xmlns:a16="http://schemas.microsoft.com/office/drawing/2014/main" id="{A5AB032F-4C0E-7E75-E9EB-9C8F5C79C7B7}"/>
              </a:ext>
            </a:extLst>
          </p:cNvPr>
          <p:cNvSpPr txBox="1"/>
          <p:nvPr/>
        </p:nvSpPr>
        <p:spPr>
          <a:xfrm>
            <a:off x="467796" y="1898712"/>
            <a:ext cx="3859287" cy="512769"/>
          </a:xfrm>
          <a:prstGeom prst="rect">
            <a:avLst/>
          </a:prstGeom>
          <a:noFill/>
        </p:spPr>
        <p:txBody>
          <a:bodyPr wrap="square" rtlCol="0">
            <a:spAutoFit/>
          </a:bodyPr>
          <a:lstStyle/>
          <a:p>
            <a:r>
              <a:rPr lang="en-US" sz="1400" b="1" dirty="0">
                <a:solidFill>
                  <a:srgbClr val="256D9D"/>
                </a:solidFill>
                <a:latin typeface="Calibri" panose="020F0502020204030204" pitchFamily="34" charset="0"/>
                <a:cs typeface="Calibri" panose="020F0502020204030204" pitchFamily="34" charset="0"/>
              </a:rPr>
              <a:t>INTERPRETATION (for Aneuploidies)</a:t>
            </a:r>
          </a:p>
          <a:p>
            <a:pPr marL="12700" marR="5080" lvl="0">
              <a:lnSpc>
                <a:spcPct val="122200"/>
              </a:lnSpc>
              <a:spcBef>
                <a:spcPts val="95"/>
              </a:spcBef>
            </a:pPr>
            <a:r>
              <a:rPr lang="en-US" sz="1100" b="1" dirty="0">
                <a:latin typeface="Calibri" panose="020F0502020204030204" pitchFamily="34" charset="0"/>
                <a:ea typeface="Calibri"/>
                <a:cs typeface="Calibri" panose="020F0502020204030204" pitchFamily="34" charset="0"/>
                <a:sym typeface="Calibri"/>
              </a:rPr>
              <a:t>&lt;&lt;Interpretation&gt;&gt;</a:t>
            </a:r>
            <a:endParaRPr lang="en-US" sz="1100" dirty="0">
              <a:latin typeface="Calibri" panose="020F0502020204030204" pitchFamily="34" charset="0"/>
              <a:ea typeface="Calibri"/>
              <a:cs typeface="Calibri" panose="020F0502020204030204" pitchFamily="34" charset="0"/>
              <a:sym typeface="Calibri"/>
            </a:endParaRPr>
          </a:p>
        </p:txBody>
      </p:sp>
      <p:sp>
        <p:nvSpPr>
          <p:cNvPr id="2" name="TextBox 1">
            <a:extLst>
              <a:ext uri="{FF2B5EF4-FFF2-40B4-BE49-F238E27FC236}">
                <a16:creationId xmlns:a16="http://schemas.microsoft.com/office/drawing/2014/main" id="{C8BC30C5-EA81-F007-E1FE-B926BB2EE264}"/>
              </a:ext>
            </a:extLst>
          </p:cNvPr>
          <p:cNvSpPr txBox="1"/>
          <p:nvPr/>
        </p:nvSpPr>
        <p:spPr>
          <a:xfrm>
            <a:off x="434824" y="2651201"/>
            <a:ext cx="3859286" cy="415498"/>
          </a:xfrm>
          <a:prstGeom prst="rect">
            <a:avLst/>
          </a:prstGeom>
          <a:noFill/>
        </p:spPr>
        <p:txBody>
          <a:bodyPr wrap="square" rtlCol="0">
            <a:spAutoFit/>
          </a:bodyPr>
          <a:lstStyle/>
          <a:p>
            <a:pPr algn="just">
              <a:spcBef>
                <a:spcPts val="600"/>
              </a:spcBef>
            </a:pPr>
            <a:r>
              <a:rPr lang="en-US" sz="700" i="1" dirty="0">
                <a:solidFill>
                  <a:schemeClr val="tx1">
                    <a:lumMod val="75000"/>
                    <a:lumOff val="25000"/>
                  </a:schemeClr>
                </a:solidFill>
                <a:latin typeface="Calibri" panose="020F0502020204030204" pitchFamily="34" charset="0"/>
                <a:cs typeface="Calibri" panose="020F0502020204030204" pitchFamily="34" charset="0"/>
              </a:rPr>
              <a:t>The result is applicable only for the selected panels. NIPT is  a  screening test, not diagnostic, which evaluates genetic information in the maternal blood, a mixture of maternal and placental DNA. Genetic counseling and diagnostic testing should be offered to further evaluate high risk findings.</a:t>
            </a:r>
            <a:endParaRPr lang="en-US" sz="600" i="1" dirty="0">
              <a:solidFill>
                <a:schemeClr val="tx1">
                  <a:lumMod val="75000"/>
                  <a:lumOff val="25000"/>
                </a:schemeClr>
              </a:solidFill>
              <a:latin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6EDAC3B4-F4F2-03DC-F8BA-35C748F33CAC}"/>
              </a:ext>
            </a:extLst>
          </p:cNvPr>
          <p:cNvSpPr txBox="1"/>
          <p:nvPr/>
        </p:nvSpPr>
        <p:spPr>
          <a:xfrm>
            <a:off x="434824" y="772625"/>
            <a:ext cx="1956393"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Patient Information</a:t>
            </a:r>
          </a:p>
          <a:p>
            <a:r>
              <a:rPr lang="en-US" sz="700" dirty="0">
                <a:latin typeface="Calibri" panose="020F0502020204030204" pitchFamily="34" charset="0"/>
                <a:cs typeface="Calibri" panose="020F0502020204030204" pitchFamily="34" charset="0"/>
              </a:rPr>
              <a:t>Lab ID: &lt;&lt;Sample Number&gt;&gt;</a:t>
            </a:r>
          </a:p>
          <a:p>
            <a:r>
              <a:rPr lang="en-US" sz="700" dirty="0">
                <a:latin typeface="Calibri" panose="020F0502020204030204" pitchFamily="34" charset="0"/>
                <a:cs typeface="Calibri" panose="020F0502020204030204" pitchFamily="34" charset="0"/>
              </a:rPr>
              <a:t>Patient Name: &lt;&lt;Patient Name&gt;&gt;</a:t>
            </a:r>
          </a:p>
          <a:p>
            <a:r>
              <a:rPr lang="en-US" sz="700" dirty="0">
                <a:latin typeface="Calibri" panose="020F0502020204030204" pitchFamily="34" charset="0"/>
                <a:cs typeface="Calibri" panose="020F0502020204030204" pitchFamily="34" charset="0"/>
              </a:rPr>
              <a:t>Date of Birth: &lt;&lt;DOB&gt;&gt; (&lt;&lt;A&gt;&gt;)</a:t>
            </a:r>
          </a:p>
          <a:p>
            <a:r>
              <a:rPr lang="en-US" sz="700" dirty="0">
                <a:latin typeface="Calibri" panose="020F0502020204030204" pitchFamily="34" charset="0"/>
                <a:cs typeface="Calibri" panose="020F0502020204030204" pitchFamily="34" charset="0"/>
              </a:rPr>
              <a:t>Maternal Weight/Height: </a:t>
            </a:r>
            <a:r>
              <a:rPr lang="en-US" sz="700" dirty="0">
                <a:solidFill>
                  <a:srgbClr val="000000"/>
                </a:solidFill>
                <a:latin typeface="Calibri" panose="020F0502020204030204" pitchFamily="34" charset="0"/>
                <a:ea typeface="Calibri"/>
                <a:cs typeface="Calibri" panose="020F0502020204030204" pitchFamily="34" charset="0"/>
                <a:sym typeface="Calibri"/>
              </a:rPr>
              <a:t>&lt;&lt;kg&gt;&gt;kg / &lt;&lt;cm&gt;&gt;cm </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Indication: </a:t>
            </a:r>
            <a:r>
              <a:rPr lang="en-US" sz="700" dirty="0">
                <a:solidFill>
                  <a:srgbClr val="000000"/>
                </a:solidFill>
                <a:latin typeface="Calibri" panose="020F0502020204030204" pitchFamily="34" charset="0"/>
                <a:ea typeface="Calibri"/>
                <a:cs typeface="Calibri" panose="020F0502020204030204" pitchFamily="34" charset="0"/>
                <a:sym typeface="Calibri"/>
              </a:rPr>
              <a:t>&lt;&lt;Indication&gt;&gt;</a:t>
            </a:r>
            <a:endParaRPr lang="en-US" sz="700" dirty="0">
              <a:latin typeface="Calibri" panose="020F0502020204030204" pitchFamily="34" charset="0"/>
              <a:cs typeface="Calibri" panose="020F0502020204030204" pitchFamily="34" charset="0"/>
            </a:endParaRPr>
          </a:p>
          <a:p>
            <a:endParaRPr lang="en-US" sz="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8020041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A205713-3348-4385-2B4B-E68890BDD5BF}"/>
              </a:ext>
            </a:extLst>
          </p:cNvPr>
          <p:cNvSpPr/>
          <p:nvPr/>
        </p:nvSpPr>
        <p:spPr>
          <a:xfrm>
            <a:off x="430623" y="772625"/>
            <a:ext cx="1956394"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6" name="Rectangle 5">
            <a:extLst>
              <a:ext uri="{FF2B5EF4-FFF2-40B4-BE49-F238E27FC236}">
                <a16:creationId xmlns:a16="http://schemas.microsoft.com/office/drawing/2014/main" id="{690747F1-4CEA-40FD-98C3-6C40BF950E8B}"/>
              </a:ext>
            </a:extLst>
          </p:cNvPr>
          <p:cNvSpPr/>
          <p:nvPr/>
        </p:nvSpPr>
        <p:spPr>
          <a:xfrm>
            <a:off x="2452579" y="772625"/>
            <a:ext cx="1956393"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10" name="Rectangle 9">
            <a:extLst>
              <a:ext uri="{FF2B5EF4-FFF2-40B4-BE49-F238E27FC236}">
                <a16:creationId xmlns:a16="http://schemas.microsoft.com/office/drawing/2014/main" id="{94F0FCA8-40AD-49DE-872B-14A5F086A1B6}"/>
              </a:ext>
            </a:extLst>
          </p:cNvPr>
          <p:cNvSpPr/>
          <p:nvPr/>
        </p:nvSpPr>
        <p:spPr>
          <a:xfrm>
            <a:off x="4474534" y="772625"/>
            <a:ext cx="1956393" cy="954107"/>
          </a:xfrm>
          <a:prstGeom prst="rect">
            <a:avLst/>
          </a:prstGeom>
          <a:noFill/>
          <a:ln w="15875" cmpd="thickThin">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12" name="Rectangle 11">
            <a:extLst>
              <a:ext uri="{FF2B5EF4-FFF2-40B4-BE49-F238E27FC236}">
                <a16:creationId xmlns:a16="http://schemas.microsoft.com/office/drawing/2014/main" id="{7CA9F03C-C0C8-69FC-D232-9360D2FE9B59}"/>
              </a:ext>
            </a:extLst>
          </p:cNvPr>
          <p:cNvSpPr/>
          <p:nvPr/>
        </p:nvSpPr>
        <p:spPr>
          <a:xfrm>
            <a:off x="4214805" y="181606"/>
            <a:ext cx="2259657" cy="584775"/>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en-US" sz="3200" b="1" cap="none" spc="0" dirty="0">
                <a:ln/>
                <a:solidFill>
                  <a:srgbClr val="01A3C9"/>
                </a:solidFill>
                <a:effectLst/>
                <a:latin typeface="Calibri" panose="020F0502020204030204" pitchFamily="34" charset="0"/>
                <a:cs typeface="Calibri" panose="020F0502020204030204" pitchFamily="34" charset="0"/>
              </a:rPr>
              <a:t>NIPT </a:t>
            </a:r>
            <a:r>
              <a:rPr lang="en-US" sz="2000" cap="none" spc="0" dirty="0">
                <a:ln/>
                <a:solidFill>
                  <a:srgbClr val="01A3C9"/>
                </a:solidFill>
                <a:effectLst/>
                <a:latin typeface="Calibri" panose="020F0502020204030204" pitchFamily="34" charset="0"/>
                <a:cs typeface="Calibri" panose="020F0502020204030204" pitchFamily="34" charset="0"/>
              </a:rPr>
              <a:t>Test Report</a:t>
            </a:r>
            <a:endParaRPr lang="en-US" sz="3200" cap="none" spc="0" dirty="0">
              <a:ln/>
              <a:solidFill>
                <a:srgbClr val="01A3C9"/>
              </a:solidFill>
              <a:effectLst/>
              <a:latin typeface="Calibri" panose="020F0502020204030204" pitchFamily="34" charset="0"/>
              <a:cs typeface="Calibri" panose="020F0502020204030204" pitchFamily="34" charset="0"/>
            </a:endParaRPr>
          </a:p>
        </p:txBody>
      </p:sp>
      <p:sp>
        <p:nvSpPr>
          <p:cNvPr id="22" name="TextBox 21">
            <a:extLst>
              <a:ext uri="{FF2B5EF4-FFF2-40B4-BE49-F238E27FC236}">
                <a16:creationId xmlns:a16="http://schemas.microsoft.com/office/drawing/2014/main" id="{5D2A34DF-A85D-AFAC-37DA-EDB3DA2BCD69}"/>
              </a:ext>
            </a:extLst>
          </p:cNvPr>
          <p:cNvSpPr txBox="1"/>
          <p:nvPr/>
        </p:nvSpPr>
        <p:spPr>
          <a:xfrm>
            <a:off x="430623" y="1798467"/>
            <a:ext cx="3742660" cy="307777"/>
          </a:xfrm>
          <a:prstGeom prst="rect">
            <a:avLst/>
          </a:prstGeom>
          <a:noFill/>
        </p:spPr>
        <p:txBody>
          <a:bodyPr wrap="square">
            <a:spAutoFit/>
          </a:bodyPr>
          <a:lstStyle/>
          <a:p>
            <a:r>
              <a:rPr lang="en-US" sz="1400" b="1" dirty="0">
                <a:solidFill>
                  <a:srgbClr val="256D9D"/>
                </a:solidFill>
                <a:latin typeface="Calibri" panose="020F0502020204030204" pitchFamily="34" charset="0"/>
                <a:cs typeface="Calibri" panose="020F0502020204030204" pitchFamily="34" charset="0"/>
              </a:rPr>
              <a:t>RESULTS DETAILS</a:t>
            </a:r>
          </a:p>
        </p:txBody>
      </p:sp>
      <p:graphicFrame>
        <p:nvGraphicFramePr>
          <p:cNvPr id="2" name="Table 1">
            <a:extLst>
              <a:ext uri="{FF2B5EF4-FFF2-40B4-BE49-F238E27FC236}">
                <a16:creationId xmlns:a16="http://schemas.microsoft.com/office/drawing/2014/main" id="{7493B88F-465A-858F-2F66-B72843820E08}"/>
              </a:ext>
            </a:extLst>
          </p:cNvPr>
          <p:cNvGraphicFramePr>
            <a:graphicFrameLocks noGrp="1"/>
          </p:cNvGraphicFramePr>
          <p:nvPr>
            <p:extLst>
              <p:ext uri="{D42A27DB-BD31-4B8C-83A1-F6EECF244321}">
                <p14:modId xmlns:p14="http://schemas.microsoft.com/office/powerpoint/2010/main" val="592894743"/>
              </p:ext>
            </p:extLst>
          </p:nvPr>
        </p:nvGraphicFramePr>
        <p:xfrm>
          <a:off x="464687" y="2286588"/>
          <a:ext cx="5984584" cy="2156298"/>
        </p:xfrm>
        <a:graphic>
          <a:graphicData uri="http://schemas.openxmlformats.org/drawingml/2006/table">
            <a:tbl>
              <a:tblPr firstRow="1" bandRow="1">
                <a:tableStyleId>{EB9631B5-78F2-41C9-869B-9F39066F8104}</a:tableStyleId>
              </a:tblPr>
              <a:tblGrid>
                <a:gridCol w="1874476">
                  <a:extLst>
                    <a:ext uri="{9D8B030D-6E8A-4147-A177-3AD203B41FA5}">
                      <a16:colId xmlns:a16="http://schemas.microsoft.com/office/drawing/2014/main" val="539532219"/>
                    </a:ext>
                  </a:extLst>
                </a:gridCol>
                <a:gridCol w="1018008">
                  <a:extLst>
                    <a:ext uri="{9D8B030D-6E8A-4147-A177-3AD203B41FA5}">
                      <a16:colId xmlns:a16="http://schemas.microsoft.com/office/drawing/2014/main" val="3883297624"/>
                    </a:ext>
                  </a:extLst>
                </a:gridCol>
                <a:gridCol w="208280">
                  <a:extLst>
                    <a:ext uri="{9D8B030D-6E8A-4147-A177-3AD203B41FA5}">
                      <a16:colId xmlns:a16="http://schemas.microsoft.com/office/drawing/2014/main" val="1102380160"/>
                    </a:ext>
                  </a:extLst>
                </a:gridCol>
                <a:gridCol w="1899684">
                  <a:extLst>
                    <a:ext uri="{9D8B030D-6E8A-4147-A177-3AD203B41FA5}">
                      <a16:colId xmlns:a16="http://schemas.microsoft.com/office/drawing/2014/main" val="1695220194"/>
                    </a:ext>
                  </a:extLst>
                </a:gridCol>
                <a:gridCol w="984136">
                  <a:extLst>
                    <a:ext uri="{9D8B030D-6E8A-4147-A177-3AD203B41FA5}">
                      <a16:colId xmlns:a16="http://schemas.microsoft.com/office/drawing/2014/main" val="340498656"/>
                    </a:ext>
                  </a:extLst>
                </a:gridCol>
              </a:tblGrid>
              <a:tr h="243208">
                <a:tc>
                  <a:txBody>
                    <a:bodyPr/>
                    <a:lstStyle/>
                    <a:p>
                      <a:pPr algn="ctr"/>
                      <a:r>
                        <a:rPr lang="en-US" sz="1050" b="1" dirty="0">
                          <a:latin typeface="Calibri" panose="020F0502020204030204" pitchFamily="34" charset="0"/>
                          <a:cs typeface="Calibri" panose="020F0502020204030204" pitchFamily="34" charset="0"/>
                        </a:rPr>
                        <a:t>Conditions</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2AA9DB"/>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050" b="1" dirty="0">
                          <a:latin typeface="Calibri" panose="020F0502020204030204" pitchFamily="34" charset="0"/>
                          <a:cs typeface="Calibri" panose="020F0502020204030204" pitchFamily="34" charset="0"/>
                        </a:rPr>
                        <a:t>Result</a:t>
                      </a:r>
                    </a:p>
                  </a:txBody>
                  <a:tcPr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2AA9DB"/>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050" b="1" dirty="0">
                        <a:latin typeface="Calibri" panose="020F0502020204030204" pitchFamily="34" charset="0"/>
                        <a:cs typeface="Calibri" panose="020F0502020204030204" pitchFamily="34" charset="0"/>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050" b="1" dirty="0">
                          <a:latin typeface="Calibri" panose="020F0502020204030204" pitchFamily="34" charset="0"/>
                          <a:cs typeface="Calibri" panose="020F0502020204030204" pitchFamily="34" charset="0"/>
                        </a:rPr>
                        <a:t>Conditions</a:t>
                      </a:r>
                    </a:p>
                  </a:txBody>
                  <a:tcPr anchor="ctr">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2AA9DB"/>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050" b="1" dirty="0">
                          <a:latin typeface="Calibri" panose="020F0502020204030204" pitchFamily="34" charset="0"/>
                          <a:cs typeface="Calibri" panose="020F0502020204030204" pitchFamily="34" charset="0"/>
                        </a:rPr>
                        <a:t>Result</a:t>
                      </a:r>
                    </a:p>
                  </a:txBody>
                  <a:tcPr anchor="ctr">
                    <a:lnL w="635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2AA9DB"/>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83159712"/>
                  </a:ext>
                </a:extLst>
              </a:tr>
              <a:tr h="410610">
                <a:tc>
                  <a:txBody>
                    <a:bodyPr/>
                    <a:lstStyle/>
                    <a:p>
                      <a:pPr algn="ctr"/>
                      <a:r>
                        <a:rPr lang="en-US" sz="900" b="1" dirty="0">
                          <a:latin typeface="Calibri" panose="020F0502020204030204" pitchFamily="34" charset="0"/>
                          <a:cs typeface="Calibri" panose="020F0502020204030204" pitchFamily="34" charset="0"/>
                        </a:rPr>
                        <a:t>1p36 deletion syndrome</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AA9DB"/>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&lt;&lt;MD1&gt;&gt;</a:t>
                      </a:r>
                    </a:p>
                  </a:txBody>
                  <a:tcPr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2AA9DB"/>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900" b="1" dirty="0">
                          <a:latin typeface="Calibri" panose="020F0502020204030204" pitchFamily="34" charset="0"/>
                          <a:cs typeface="Calibri" panose="020F0502020204030204" pitchFamily="34" charset="0"/>
                        </a:rPr>
                        <a:t>Jacobsen syndrome</a:t>
                      </a:r>
                    </a:p>
                    <a:p>
                      <a:pPr algn="ctr"/>
                      <a:r>
                        <a:rPr lang="en-US" sz="900" b="1" dirty="0">
                          <a:latin typeface="Calibri" panose="020F0502020204030204" pitchFamily="34" charset="0"/>
                          <a:cs typeface="Calibri" panose="020F0502020204030204" pitchFamily="34" charset="0"/>
                        </a:rPr>
                        <a:t>(11q23.3-q25)</a:t>
                      </a:r>
                    </a:p>
                  </a:txBody>
                  <a:tcPr anchor="ctr">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AA9DB"/>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&lt;&lt;MD6&gt;&gt;</a:t>
                      </a:r>
                    </a:p>
                  </a:txBody>
                  <a:tcPr anchor="ctr">
                    <a:lnL w="635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rgbClr val="2AA9DB"/>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2069331958"/>
                  </a:ext>
                </a:extLst>
              </a:tr>
              <a:tr h="396948">
                <a:tc>
                  <a:txBody>
                    <a:bodyPr/>
                    <a:lstStyle/>
                    <a:p>
                      <a:pPr algn="ctr"/>
                      <a:r>
                        <a:rPr lang="en-US" sz="900" b="1" dirty="0">
                          <a:latin typeface="Calibri" panose="020F0502020204030204" pitchFamily="34" charset="0"/>
                          <a:cs typeface="Calibri" panose="020F0502020204030204" pitchFamily="34" charset="0"/>
                        </a:rPr>
                        <a:t>2q33.1 deletion syndrome</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&lt;&lt;MD2&gt;&gt;</a:t>
                      </a:r>
                    </a:p>
                  </a:txBody>
                  <a:tcPr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900" b="1" dirty="0">
                          <a:latin typeface="Calibri" panose="020F0502020204030204" pitchFamily="34" charset="0"/>
                          <a:cs typeface="Calibri" panose="020F0502020204030204" pitchFamily="34" charset="0"/>
                        </a:rPr>
                        <a:t>Prader-</a:t>
                      </a:r>
                      <a:r>
                        <a:rPr lang="en-US" sz="900" b="1" dirty="0" err="1">
                          <a:latin typeface="Calibri" panose="020F0502020204030204" pitchFamily="34" charset="0"/>
                          <a:cs typeface="Calibri" panose="020F0502020204030204" pitchFamily="34" charset="0"/>
                        </a:rPr>
                        <a:t>willi</a:t>
                      </a:r>
                      <a:r>
                        <a:rPr lang="en-US" sz="900" b="1" dirty="0">
                          <a:latin typeface="Calibri" panose="020F0502020204030204" pitchFamily="34" charset="0"/>
                          <a:cs typeface="Calibri" panose="020F0502020204030204" pitchFamily="34" charset="0"/>
                        </a:rPr>
                        <a:t>/Angelman syndrome (15q11.2-q13)</a:t>
                      </a:r>
                    </a:p>
                  </a:txBody>
                  <a:tcPr anchor="ctr">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&lt;&lt;MD7&gt;&gt;</a:t>
                      </a:r>
                    </a:p>
                  </a:txBody>
                  <a:tcPr anchor="ctr">
                    <a:lnL w="635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2463445317"/>
                  </a:ext>
                </a:extLst>
              </a:tr>
              <a:tr h="0">
                <a:tc>
                  <a:txBody>
                    <a:bodyPr/>
                    <a:lstStyle/>
                    <a:p>
                      <a:pPr algn="ctr"/>
                      <a:r>
                        <a:rPr lang="en-US" sz="900" b="1" dirty="0">
                          <a:latin typeface="Calibri" panose="020F0502020204030204" pitchFamily="34" charset="0"/>
                          <a:cs typeface="Calibri" panose="020F0502020204030204" pitchFamily="34" charset="0"/>
                        </a:rPr>
                        <a:t>Wolf-Hirschhorn syndrome </a:t>
                      </a:r>
                    </a:p>
                    <a:p>
                      <a:pPr algn="ctr"/>
                      <a:r>
                        <a:rPr lang="en-US" sz="900" b="1" dirty="0">
                          <a:latin typeface="Calibri" panose="020F0502020204030204" pitchFamily="34" charset="0"/>
                          <a:cs typeface="Calibri" panose="020F0502020204030204" pitchFamily="34" charset="0"/>
                        </a:rPr>
                        <a:t>(4p16.3)</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&lt;&lt;MD3&gt;&gt;</a:t>
                      </a:r>
                    </a:p>
                  </a:txBody>
                  <a:tcPr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900" b="1" dirty="0">
                          <a:latin typeface="Calibri" panose="020F0502020204030204" pitchFamily="34" charset="0"/>
                          <a:cs typeface="Calibri" panose="020F0502020204030204" pitchFamily="34" charset="0"/>
                        </a:rPr>
                        <a:t>DiGeorge syndrome</a:t>
                      </a:r>
                    </a:p>
                    <a:p>
                      <a:pPr algn="ctr"/>
                      <a:r>
                        <a:rPr lang="en-US" sz="900" b="1" dirty="0">
                          <a:latin typeface="Calibri" panose="020F0502020204030204" pitchFamily="34" charset="0"/>
                          <a:cs typeface="Calibri" panose="020F0502020204030204" pitchFamily="34" charset="0"/>
                        </a:rPr>
                        <a:t>(22q11.2)</a:t>
                      </a:r>
                    </a:p>
                  </a:txBody>
                  <a:tcPr anchor="ctr">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&lt;&lt;MD8&gt;&gt;</a:t>
                      </a:r>
                    </a:p>
                  </a:txBody>
                  <a:tcPr anchor="ctr">
                    <a:lnL w="635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2868477542"/>
                  </a:ext>
                </a:extLst>
              </a:tr>
              <a:tr h="0">
                <a:tc>
                  <a:txBody>
                    <a:bodyPr/>
                    <a:lstStyle/>
                    <a:p>
                      <a:pPr algn="ctr"/>
                      <a:r>
                        <a:rPr lang="en-US" sz="900" b="1" dirty="0">
                          <a:latin typeface="Calibri" panose="020F0502020204030204" pitchFamily="34" charset="0"/>
                          <a:cs typeface="Calibri" panose="020F0502020204030204" pitchFamily="34" charset="0"/>
                        </a:rPr>
                        <a:t>Cri Du Chat syndrome</a:t>
                      </a:r>
                    </a:p>
                    <a:p>
                      <a:pPr algn="ctr"/>
                      <a:r>
                        <a:rPr lang="en-US" sz="900" b="1" dirty="0">
                          <a:latin typeface="Calibri" panose="020F0502020204030204" pitchFamily="34" charset="0"/>
                          <a:cs typeface="Calibri" panose="020F0502020204030204" pitchFamily="34" charset="0"/>
                        </a:rPr>
                        <a:t>(5p-)</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&lt;&lt;MD4&gt;&gt;</a:t>
                      </a:r>
                    </a:p>
                  </a:txBody>
                  <a:tcPr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900" b="1" dirty="0">
                          <a:latin typeface="Calibri" panose="020F0502020204030204" pitchFamily="34" charset="0"/>
                          <a:cs typeface="Calibri" panose="020F0502020204030204" pitchFamily="34" charset="0"/>
                        </a:rPr>
                        <a:t>Other microdeletions</a:t>
                      </a:r>
                      <a:endParaRPr lang="en-US" sz="900" b="1" baseline="50000" dirty="0">
                        <a:latin typeface="Calibri" panose="020F0502020204030204" pitchFamily="34" charset="0"/>
                        <a:cs typeface="Calibri" panose="020F0502020204030204" pitchFamily="34" charset="0"/>
                      </a:endParaRPr>
                    </a:p>
                  </a:txBody>
                  <a:tcPr anchor="ctr">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&lt;&lt;Other MD&gt;&gt;</a:t>
                      </a:r>
                    </a:p>
                  </a:txBody>
                  <a:tcPr anchor="ctr">
                    <a:lnL w="635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1316924696"/>
                  </a:ext>
                </a:extLst>
              </a:tr>
              <a:tr h="0">
                <a:tc>
                  <a:txBody>
                    <a:bodyPr/>
                    <a:lstStyle/>
                    <a:p>
                      <a:pPr algn="ctr"/>
                      <a:r>
                        <a:rPr lang="en-US" sz="900" b="1" dirty="0">
                          <a:latin typeface="Calibri" panose="020F0502020204030204" pitchFamily="34" charset="0"/>
                          <a:cs typeface="Calibri" panose="020F0502020204030204" pitchFamily="34" charset="0"/>
                        </a:rPr>
                        <a:t>Williams-Beuren syndrome (7q11.23 deletion)</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&lt;&lt;MD5&gt;&gt;</a:t>
                      </a:r>
                    </a:p>
                  </a:txBody>
                  <a:tcPr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sz="900" b="1" dirty="0">
                        <a:latin typeface="Calibri" panose="020F0502020204030204" pitchFamily="34" charset="0"/>
                        <a:cs typeface="Calibri" panose="020F0502020204030204" pitchFamily="34" charset="0"/>
                      </a:endParaRPr>
                    </a:p>
                  </a:txBody>
                  <a:tcPr anchor="ctr">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endParaRPr lang="en-US" sz="900" b="1" dirty="0">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1196116673"/>
                  </a:ext>
                </a:extLst>
              </a:tr>
            </a:tbl>
          </a:graphicData>
        </a:graphic>
      </p:graphicFrame>
      <p:sp>
        <p:nvSpPr>
          <p:cNvPr id="3" name="TextBox 2">
            <a:extLst>
              <a:ext uri="{FF2B5EF4-FFF2-40B4-BE49-F238E27FC236}">
                <a16:creationId xmlns:a16="http://schemas.microsoft.com/office/drawing/2014/main" id="{89C65888-2E26-5D65-3D1E-5F293A21906C}"/>
              </a:ext>
            </a:extLst>
          </p:cNvPr>
          <p:cNvSpPr txBox="1"/>
          <p:nvPr/>
        </p:nvSpPr>
        <p:spPr>
          <a:xfrm>
            <a:off x="436708" y="2045473"/>
            <a:ext cx="2681172" cy="261610"/>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Microdeletions</a:t>
            </a:r>
            <a:endParaRPr lang="en-US" sz="1100" dirty="0">
              <a:latin typeface="Calibri" panose="020F0502020204030204" pitchFamily="34" charset="0"/>
              <a:cs typeface="Calibri" panose="020F0502020204030204" pitchFamily="34" charset="0"/>
            </a:endParaRPr>
          </a:p>
        </p:txBody>
      </p:sp>
      <p:sp>
        <p:nvSpPr>
          <p:cNvPr id="8" name="TextBox 7">
            <a:extLst>
              <a:ext uri="{FF2B5EF4-FFF2-40B4-BE49-F238E27FC236}">
                <a16:creationId xmlns:a16="http://schemas.microsoft.com/office/drawing/2014/main" id="{EF32742E-79C3-2E41-E269-1BCEA92A7D48}"/>
              </a:ext>
            </a:extLst>
          </p:cNvPr>
          <p:cNvSpPr txBox="1"/>
          <p:nvPr/>
        </p:nvSpPr>
        <p:spPr>
          <a:xfrm>
            <a:off x="430623" y="4467209"/>
            <a:ext cx="2681172" cy="261610"/>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Interpretation(s)</a:t>
            </a:r>
            <a:endParaRPr lang="en-US" sz="1100" dirty="0">
              <a:latin typeface="Calibri" panose="020F0502020204030204" pitchFamily="34" charset="0"/>
              <a:cs typeface="Calibri" panose="020F0502020204030204" pitchFamily="34" charset="0"/>
            </a:endParaRPr>
          </a:p>
        </p:txBody>
      </p:sp>
      <p:sp>
        <p:nvSpPr>
          <p:cNvPr id="9" name="Rectangle: Rounded Corners 8">
            <a:extLst>
              <a:ext uri="{FF2B5EF4-FFF2-40B4-BE49-F238E27FC236}">
                <a16:creationId xmlns:a16="http://schemas.microsoft.com/office/drawing/2014/main" id="{D52D37D9-91C3-B54A-893B-EF7DB5C047FA}"/>
              </a:ext>
            </a:extLst>
          </p:cNvPr>
          <p:cNvSpPr/>
          <p:nvPr/>
        </p:nvSpPr>
        <p:spPr>
          <a:xfrm>
            <a:off x="446345" y="4711883"/>
            <a:ext cx="5984582" cy="800297"/>
          </a:xfrm>
          <a:prstGeom prst="roundRect">
            <a:avLst/>
          </a:prstGeom>
          <a:noFill/>
          <a:ln>
            <a:solidFill>
              <a:srgbClr val="E5F6F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13" name="TextBox 12">
            <a:extLst>
              <a:ext uri="{FF2B5EF4-FFF2-40B4-BE49-F238E27FC236}">
                <a16:creationId xmlns:a16="http://schemas.microsoft.com/office/drawing/2014/main" id="{E666A867-4455-152D-1CC5-E07801B192A2}"/>
              </a:ext>
            </a:extLst>
          </p:cNvPr>
          <p:cNvSpPr txBox="1"/>
          <p:nvPr/>
        </p:nvSpPr>
        <p:spPr>
          <a:xfrm>
            <a:off x="5770169" y="9510229"/>
            <a:ext cx="660758" cy="215444"/>
          </a:xfrm>
          <a:prstGeom prst="rect">
            <a:avLst/>
          </a:prstGeom>
          <a:noFill/>
        </p:spPr>
        <p:txBody>
          <a:bodyPr wrap="none" rtlCol="0">
            <a:spAutoFit/>
          </a:bodyPr>
          <a:lstStyle/>
          <a:p>
            <a:r>
              <a:rPr lang="en-US" sz="800" i="1" dirty="0">
                <a:solidFill>
                  <a:schemeClr val="tx1">
                    <a:lumMod val="50000"/>
                    <a:lumOff val="50000"/>
                  </a:schemeClr>
                </a:solidFill>
                <a:latin typeface="Calibri" panose="020F0502020204030204" pitchFamily="34" charset="0"/>
                <a:cs typeface="Calibri" panose="020F0502020204030204" pitchFamily="34" charset="0"/>
              </a:rPr>
              <a:t>Page 2 of 3</a:t>
            </a:r>
          </a:p>
        </p:txBody>
      </p:sp>
      <p:sp>
        <p:nvSpPr>
          <p:cNvPr id="21" name="TextBox 20">
            <a:extLst>
              <a:ext uri="{FF2B5EF4-FFF2-40B4-BE49-F238E27FC236}">
                <a16:creationId xmlns:a16="http://schemas.microsoft.com/office/drawing/2014/main" id="{61CE8A61-CAF4-1672-1AA6-B712F7B4EDA4}"/>
              </a:ext>
            </a:extLst>
          </p:cNvPr>
          <p:cNvSpPr txBox="1"/>
          <p:nvPr/>
        </p:nvSpPr>
        <p:spPr>
          <a:xfrm>
            <a:off x="432169" y="5755744"/>
            <a:ext cx="5998758" cy="1338828"/>
          </a:xfrm>
          <a:prstGeom prst="rect">
            <a:avLst/>
          </a:prstGeom>
          <a:noFill/>
        </p:spPr>
        <p:txBody>
          <a:bodyPr wrap="square">
            <a:spAutoFit/>
          </a:bodyPr>
          <a:lstStyle/>
          <a:p>
            <a:pPr algn="just"/>
            <a:r>
              <a:rPr lang="en-US" sz="900" b="1" dirty="0">
                <a:solidFill>
                  <a:srgbClr val="5E2E8C"/>
                </a:solidFill>
                <a:latin typeface="Calibri" panose="020F0502020204030204" pitchFamily="34" charset="0"/>
                <a:cs typeface="Calibri" panose="020F0502020204030204" pitchFamily="34" charset="0"/>
              </a:rPr>
              <a:t>Autosomal and Sex Chromosomes Aneuploidies</a:t>
            </a:r>
          </a:p>
          <a:p>
            <a:pPr algn="just"/>
            <a:r>
              <a:rPr lang="en-US" sz="800" dirty="0">
                <a:latin typeface="Calibri" panose="020F0502020204030204" pitchFamily="34" charset="0"/>
                <a:cs typeface="Calibri" panose="020F0502020204030204" pitchFamily="34" charset="0"/>
              </a:rPr>
              <a:t>This test is designed to screen for fetal chromosome aneuploidies from cell free DNA analysis and is validated for singleton pregnancies with gestational age of at least 10 weeks, as estimated by last menstrual period. These results do not eliminate the possibility that this pregnancy may be associated with other chromosomal or sub-chromosomal abnormalities, birth defects, and other conditions. This test is not intended to identify pregnancies at risk for open neural tube defects. A negative test result does not eliminate the possibility of chromosomal abnormalities. There is a small possibility that the test results might not reflect the chromosomes of the fetus but may reflect chromosomal changes of the placenta (confined placental mosaicism) or of the mother (chromosomal mosaicism). Potential sources of an inaccurate test result may include but are not limited to maternal, fetal and/or placental mosaicism, low fetal fraction, blood transfusion, transplant surgery and stem cell therapy. Especially, fetal deduction including vanishing fetus, fetal demise can result in false negative result or false positive result. If definitive diagnosis is desired, chorionic villus sampling or amniocentesis would be necessary.</a:t>
            </a:r>
          </a:p>
        </p:txBody>
      </p:sp>
      <p:sp>
        <p:nvSpPr>
          <p:cNvPr id="24" name="TextBox 23">
            <a:extLst>
              <a:ext uri="{FF2B5EF4-FFF2-40B4-BE49-F238E27FC236}">
                <a16:creationId xmlns:a16="http://schemas.microsoft.com/office/drawing/2014/main" id="{4E413E1D-0DC0-0BFF-A4D7-A5163CBFCA5B}"/>
              </a:ext>
            </a:extLst>
          </p:cNvPr>
          <p:cNvSpPr txBox="1"/>
          <p:nvPr/>
        </p:nvSpPr>
        <p:spPr>
          <a:xfrm>
            <a:off x="430623" y="5512181"/>
            <a:ext cx="3742660" cy="307777"/>
          </a:xfrm>
          <a:prstGeom prst="rect">
            <a:avLst/>
          </a:prstGeom>
          <a:noFill/>
        </p:spPr>
        <p:txBody>
          <a:bodyPr wrap="square">
            <a:spAutoFit/>
          </a:bodyPr>
          <a:lstStyle/>
          <a:p>
            <a:r>
              <a:rPr lang="en-US" sz="1400" b="1" dirty="0">
                <a:solidFill>
                  <a:srgbClr val="256D9D"/>
                </a:solidFill>
                <a:latin typeface="Calibri" panose="020F0502020204030204" pitchFamily="34" charset="0"/>
                <a:cs typeface="Calibri" panose="020F0502020204030204" pitchFamily="34" charset="0"/>
              </a:rPr>
              <a:t>LIMITATION OF TEST</a:t>
            </a:r>
          </a:p>
        </p:txBody>
      </p:sp>
      <p:sp>
        <p:nvSpPr>
          <p:cNvPr id="25" name="TextBox 24">
            <a:extLst>
              <a:ext uri="{FF2B5EF4-FFF2-40B4-BE49-F238E27FC236}">
                <a16:creationId xmlns:a16="http://schemas.microsoft.com/office/drawing/2014/main" id="{E0FD2CC2-99B0-C2E8-4831-98D2B1CD2419}"/>
              </a:ext>
            </a:extLst>
          </p:cNvPr>
          <p:cNvSpPr txBox="1"/>
          <p:nvPr/>
        </p:nvSpPr>
        <p:spPr>
          <a:xfrm>
            <a:off x="432147" y="7175718"/>
            <a:ext cx="5998758" cy="1708160"/>
          </a:xfrm>
          <a:prstGeom prst="rect">
            <a:avLst/>
          </a:prstGeom>
          <a:noFill/>
        </p:spPr>
        <p:txBody>
          <a:bodyPr wrap="square">
            <a:spAutoFit/>
          </a:bodyPr>
          <a:lstStyle/>
          <a:p>
            <a:pPr algn="just"/>
            <a:r>
              <a:rPr lang="en-US" sz="900" b="1" dirty="0">
                <a:solidFill>
                  <a:srgbClr val="5E2E8C"/>
                </a:solidFill>
                <a:latin typeface="Calibri" panose="020F0502020204030204" pitchFamily="34" charset="0"/>
                <a:cs typeface="Calibri" panose="020F0502020204030204" pitchFamily="34" charset="0"/>
              </a:rPr>
              <a:t>Microdeletions</a:t>
            </a:r>
          </a:p>
          <a:p>
            <a:pPr algn="just"/>
            <a:r>
              <a:rPr lang="en-US" sz="800" dirty="0">
                <a:latin typeface="Calibri" panose="020F0502020204030204" pitchFamily="34" charset="0"/>
                <a:cs typeface="Calibri" panose="020F0502020204030204" pitchFamily="34" charset="0"/>
              </a:rPr>
              <a:t>This test is designed to screen for sub-chromosomal deletions in regions 1p36, 2q33.1, 4p16.3, 5p-, 7q11.23, 11q23, 15q11.2-q13, 22q11.2, 108 syndromes (If applicable) and is available for singleton pregnancies with gestational age of at least 10 weeks, as estimated by last menstrual period, crown rump length, or other appropriate method. This is a screening test and can result in false positive or false negative results. Therefore, negative results do not eliminate the possibility of the above-mentioned microdeletions/duplications syndromes. If definitive diagnosis is desired, chorionic sampling or amniocentesis would be necessary, with consideration of prenatal microarray or region- specific DNA probes. In addition, chromosomal and sub-chromosomal findings greater than 3 Mb may be reported, which are rare and complex, insufficient validation may result in lower specificity. Low fetal fraction or short CNV size is a technical limitation. Consultation on the advice of a physician(s) will be necessary for such findings.</a:t>
            </a:r>
          </a:p>
          <a:p>
            <a:pPr algn="just"/>
            <a:r>
              <a:rPr lang="en-US" sz="800" dirty="0">
                <a:latin typeface="Calibri" panose="020F0502020204030204" pitchFamily="34" charset="0"/>
                <a:cs typeface="Calibri" panose="020F0502020204030204" pitchFamily="34" charset="0"/>
              </a:rPr>
              <a:t>These results do not eliminate the possibility that this pregnancy may be associated with other chromosomal or sub-chromosomal abnormalities, birth defects, and other conditions. This test is not intended to identify pregnancies at risk for open neural tube. In addition, there is a small possibility that the test results might not reflect the chromosome status of the fetus, but may reflect sub-chromosomal changes of the placenta (confined placental mosaicism), or of the mother. </a:t>
            </a:r>
          </a:p>
        </p:txBody>
      </p:sp>
      <p:pic>
        <p:nvPicPr>
          <p:cNvPr id="18" name="Picture 17">
            <a:extLst>
              <a:ext uri="{FF2B5EF4-FFF2-40B4-BE49-F238E27FC236}">
                <a16:creationId xmlns:a16="http://schemas.microsoft.com/office/drawing/2014/main" id="{E18D27C2-D3DD-5020-619F-EF12EC57E13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7050" y="45194"/>
            <a:ext cx="1413626" cy="652977"/>
          </a:xfrm>
          <a:prstGeom prst="rect">
            <a:avLst/>
          </a:prstGeom>
        </p:spPr>
      </p:pic>
      <p:sp>
        <p:nvSpPr>
          <p:cNvPr id="28" name="TextBox 27">
            <a:extLst>
              <a:ext uri="{FF2B5EF4-FFF2-40B4-BE49-F238E27FC236}">
                <a16:creationId xmlns:a16="http://schemas.microsoft.com/office/drawing/2014/main" id="{EBCC1B0D-6385-50F0-3E27-888C3C8BD828}"/>
              </a:ext>
            </a:extLst>
          </p:cNvPr>
          <p:cNvSpPr txBox="1"/>
          <p:nvPr/>
        </p:nvSpPr>
        <p:spPr>
          <a:xfrm>
            <a:off x="5713863" y="9220678"/>
            <a:ext cx="857250" cy="338554"/>
          </a:xfrm>
          <a:prstGeom prst="rect">
            <a:avLst/>
          </a:prstGeom>
          <a:noFill/>
        </p:spPr>
        <p:txBody>
          <a:bodyPr wrap="square" rtlCol="0">
            <a:spAutoFit/>
          </a:bodyPr>
          <a:lstStyle/>
          <a:p>
            <a:pPr algn="ctr"/>
            <a:r>
              <a:rPr lang="pt-BR" sz="800" b="0" i="0" dirty="0">
                <a:solidFill>
                  <a:srgbClr val="000000"/>
                </a:solidFill>
                <a:effectLst/>
                <a:latin typeface="Calibri" panose="020F0502020204030204" pitchFamily="34" charset="0"/>
                <a:cs typeface="Calibri" panose="020F0502020204030204" pitchFamily="34" charset="0"/>
              </a:rPr>
              <a:t>DCR No.: 3166 </a:t>
            </a:r>
          </a:p>
          <a:p>
            <a:pPr algn="ctr"/>
            <a:r>
              <a:rPr lang="pt-BR" sz="800" b="0" i="0" dirty="0">
                <a:solidFill>
                  <a:srgbClr val="000000"/>
                </a:solidFill>
                <a:effectLst/>
                <a:latin typeface="Calibri" panose="020F0502020204030204" pitchFamily="34" charset="0"/>
                <a:cs typeface="Calibri" panose="020F0502020204030204" pitchFamily="34" charset="0"/>
              </a:rPr>
              <a:t>QR G1.1-6-5-a</a:t>
            </a:r>
            <a:endParaRPr lang="en-ID" sz="800" dirty="0">
              <a:latin typeface="Calibri" panose="020F0502020204030204" pitchFamily="34" charset="0"/>
              <a:cs typeface="Calibri" panose="020F0502020204030204" pitchFamily="34" charset="0"/>
            </a:endParaRPr>
          </a:p>
        </p:txBody>
      </p:sp>
      <p:sp>
        <p:nvSpPr>
          <p:cNvPr id="11" name="TextBox 10">
            <a:extLst>
              <a:ext uri="{FF2B5EF4-FFF2-40B4-BE49-F238E27FC236}">
                <a16:creationId xmlns:a16="http://schemas.microsoft.com/office/drawing/2014/main" id="{A560F6E5-72BC-6AB6-31A1-9A190496C162}"/>
              </a:ext>
            </a:extLst>
          </p:cNvPr>
          <p:cNvSpPr txBox="1"/>
          <p:nvPr/>
        </p:nvSpPr>
        <p:spPr>
          <a:xfrm>
            <a:off x="446345" y="9203303"/>
            <a:ext cx="1148071" cy="246221"/>
          </a:xfrm>
          <a:prstGeom prst="rect">
            <a:avLst/>
          </a:prstGeom>
          <a:noFill/>
        </p:spPr>
        <p:txBody>
          <a:bodyPr wrap="none" rtlCol="0">
            <a:spAutoFit/>
          </a:bodyPr>
          <a:lstStyle/>
          <a:p>
            <a:r>
              <a:rPr lang="en-US" sz="1000" b="1" dirty="0">
                <a:solidFill>
                  <a:srgbClr val="1975C0"/>
                </a:solidFill>
                <a:latin typeface="Calibri" panose="020F0502020204030204" pitchFamily="34" charset="0"/>
                <a:cs typeface="Calibri" panose="020F0502020204030204" pitchFamily="34" charset="0"/>
              </a:rPr>
              <a:t>Result verified by:</a:t>
            </a:r>
          </a:p>
        </p:txBody>
      </p:sp>
      <p:sp>
        <p:nvSpPr>
          <p:cNvPr id="14" name="Rectangle: Rounded Corners 13">
            <a:extLst>
              <a:ext uri="{FF2B5EF4-FFF2-40B4-BE49-F238E27FC236}">
                <a16:creationId xmlns:a16="http://schemas.microsoft.com/office/drawing/2014/main" id="{1DE05240-10CC-3980-503B-4C07AF93046D}"/>
              </a:ext>
            </a:extLst>
          </p:cNvPr>
          <p:cNvSpPr/>
          <p:nvPr/>
        </p:nvSpPr>
        <p:spPr>
          <a:xfrm>
            <a:off x="501650" y="9449524"/>
            <a:ext cx="5214966" cy="261179"/>
          </a:xfrm>
          <a:prstGeom prst="roundRect">
            <a:avLst/>
          </a:prstGeom>
          <a:noFill/>
          <a:ln>
            <a:solidFill>
              <a:srgbClr val="E5F6F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32" name="TextBox 31">
            <a:extLst>
              <a:ext uri="{FF2B5EF4-FFF2-40B4-BE49-F238E27FC236}">
                <a16:creationId xmlns:a16="http://schemas.microsoft.com/office/drawing/2014/main" id="{4EE5B8A2-B21D-7996-66D4-2465F77EE26A}"/>
              </a:ext>
            </a:extLst>
          </p:cNvPr>
          <p:cNvSpPr txBox="1"/>
          <p:nvPr/>
        </p:nvSpPr>
        <p:spPr>
          <a:xfrm>
            <a:off x="498897" y="9427924"/>
            <a:ext cx="3476086" cy="276999"/>
          </a:xfrm>
          <a:prstGeom prst="rect">
            <a:avLst/>
          </a:prstGeom>
          <a:noFill/>
        </p:spPr>
        <p:txBody>
          <a:bodyPr wrap="square" rtlCol="0">
            <a:spAutoFit/>
          </a:bodyPr>
          <a:lstStyle/>
          <a:p>
            <a:r>
              <a:rPr lang="en-US" sz="1200" dirty="0" err="1">
                <a:latin typeface="Calibri" panose="020F0502020204030204" pitchFamily="34" charset="0"/>
                <a:cs typeface="Calibri" panose="020F0502020204030204" pitchFamily="34" charset="0"/>
              </a:rPr>
              <a:t>Cordlife</a:t>
            </a:r>
            <a:r>
              <a:rPr lang="en-US" sz="1200" dirty="0">
                <a:latin typeface="Calibri" panose="020F0502020204030204" pitchFamily="34" charset="0"/>
                <a:cs typeface="Calibri" panose="020F0502020204030204" pitchFamily="34" charset="0"/>
              </a:rPr>
              <a:t> Laboratory Director : Dr. Tien Anh Ngo</a:t>
            </a:r>
            <a:endParaRPr lang="en-ID" sz="1200" dirty="0">
              <a:latin typeface="Calibri" panose="020F0502020204030204" pitchFamily="34" charset="0"/>
              <a:cs typeface="Calibri" panose="020F0502020204030204" pitchFamily="34" charset="0"/>
            </a:endParaRPr>
          </a:p>
        </p:txBody>
      </p:sp>
      <p:sp>
        <p:nvSpPr>
          <p:cNvPr id="16" name="TextBox 15">
            <a:extLst>
              <a:ext uri="{FF2B5EF4-FFF2-40B4-BE49-F238E27FC236}">
                <a16:creationId xmlns:a16="http://schemas.microsoft.com/office/drawing/2014/main" id="{810CDD7C-B043-462A-D6D2-80BFC239CAA3}"/>
              </a:ext>
            </a:extLst>
          </p:cNvPr>
          <p:cNvSpPr txBox="1"/>
          <p:nvPr/>
        </p:nvSpPr>
        <p:spPr>
          <a:xfrm>
            <a:off x="2452581" y="772625"/>
            <a:ext cx="1964140"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Pregnancy Information</a:t>
            </a:r>
          </a:p>
          <a:p>
            <a:r>
              <a:rPr lang="en-US" sz="700" dirty="0">
                <a:latin typeface="Calibri" panose="020F0502020204030204" pitchFamily="34" charset="0"/>
                <a:cs typeface="Calibri" panose="020F0502020204030204" pitchFamily="34" charset="0"/>
              </a:rPr>
              <a:t>Gestational Age: </a:t>
            </a:r>
            <a:r>
              <a:rPr lang="en-US" sz="700" dirty="0">
                <a:solidFill>
                  <a:schemeClr val="dk1"/>
                </a:solidFill>
                <a:latin typeface="Calibri" panose="020F0502020204030204" pitchFamily="34" charset="0"/>
                <a:ea typeface="Calibri"/>
                <a:cs typeface="Calibri" panose="020F0502020204030204" pitchFamily="34" charset="0"/>
                <a:sym typeface="Calibri"/>
              </a:rPr>
              <a:t>&lt;&lt;W&gt;&gt; Weeks &lt;&lt;D&gt;&gt; Days</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Pregnancy Type:  &lt;&lt;Pregnancy Type&gt;&gt;</a:t>
            </a:r>
          </a:p>
          <a:p>
            <a:r>
              <a:rPr lang="en-US" sz="700" b="1" dirty="0">
                <a:latin typeface="Calibri" panose="020F0502020204030204" pitchFamily="34" charset="0"/>
                <a:cs typeface="Calibri" panose="020F0502020204030204" pitchFamily="34" charset="0"/>
              </a:rPr>
              <a:t>Doctor Information</a:t>
            </a:r>
          </a:p>
          <a:p>
            <a:r>
              <a:rPr lang="en-US" sz="700" dirty="0">
                <a:latin typeface="Calibri" panose="020F0502020204030204" pitchFamily="34" charset="0"/>
                <a:cs typeface="Calibri" panose="020F0502020204030204" pitchFamily="34" charset="0"/>
              </a:rPr>
              <a:t>Physician: &lt;&lt;Doctor&gt;&gt;</a:t>
            </a:r>
          </a:p>
          <a:p>
            <a:r>
              <a:rPr lang="en-US" sz="700" dirty="0">
                <a:latin typeface="Calibri" panose="020F0502020204030204" pitchFamily="34" charset="0"/>
                <a:cs typeface="Calibri" panose="020F0502020204030204" pitchFamily="34" charset="0"/>
              </a:rPr>
              <a:t>Hospital/Clinic: &lt;&lt;Hospital&gt;&gt;</a:t>
            </a:r>
          </a:p>
          <a:p>
            <a:endParaRPr lang="en-US" sz="800" dirty="0">
              <a:latin typeface="Calibri" panose="020F0502020204030204" pitchFamily="34" charset="0"/>
              <a:cs typeface="Calibri" panose="020F0502020204030204" pitchFamily="34" charset="0"/>
            </a:endParaRPr>
          </a:p>
        </p:txBody>
      </p:sp>
      <p:sp>
        <p:nvSpPr>
          <p:cNvPr id="17" name="TextBox 16">
            <a:extLst>
              <a:ext uri="{FF2B5EF4-FFF2-40B4-BE49-F238E27FC236}">
                <a16:creationId xmlns:a16="http://schemas.microsoft.com/office/drawing/2014/main" id="{7FDBCD2E-5443-A177-D902-C1E3B55FCD8E}"/>
              </a:ext>
            </a:extLst>
          </p:cNvPr>
          <p:cNvSpPr txBox="1"/>
          <p:nvPr/>
        </p:nvSpPr>
        <p:spPr>
          <a:xfrm>
            <a:off x="4466785" y="766381"/>
            <a:ext cx="1956391" cy="738664"/>
          </a:xfrm>
          <a:prstGeom prst="rect">
            <a:avLst/>
          </a:prstGeom>
          <a:noFill/>
          <a:ln cmpd="tri">
            <a:noFill/>
          </a:ln>
        </p:spPr>
        <p:txBody>
          <a:bodyPr wrap="square" rtlCol="0">
            <a:spAutoFit/>
          </a:bodyPr>
          <a:lstStyle/>
          <a:p>
            <a:r>
              <a:rPr lang="en-US" sz="700" b="1" dirty="0">
                <a:latin typeface="Calibri" panose="020F0502020204030204" pitchFamily="34" charset="0"/>
                <a:cs typeface="Calibri" panose="020F0502020204030204" pitchFamily="34" charset="0"/>
              </a:rPr>
              <a:t>Test Information</a:t>
            </a:r>
          </a:p>
          <a:p>
            <a:r>
              <a:rPr lang="en-US" sz="700" dirty="0">
                <a:latin typeface="Calibri" panose="020F0502020204030204" pitchFamily="34" charset="0"/>
                <a:cs typeface="Calibri" panose="020F0502020204030204" pitchFamily="34" charset="0"/>
              </a:rPr>
              <a:t>Sample Type: Blood</a:t>
            </a:r>
          </a:p>
          <a:p>
            <a:r>
              <a:rPr lang="en-US" sz="700" dirty="0">
                <a:latin typeface="Calibri" panose="020F0502020204030204" pitchFamily="34" charset="0"/>
                <a:cs typeface="Calibri" panose="020F0502020204030204" pitchFamily="34" charset="0"/>
              </a:rPr>
              <a:t>Collection Date: &lt;&lt;Collection Date&gt;&gt;</a:t>
            </a:r>
          </a:p>
          <a:p>
            <a:r>
              <a:rPr lang="en-US" sz="700" dirty="0">
                <a:latin typeface="Calibri" panose="020F0502020204030204" pitchFamily="34" charset="0"/>
                <a:cs typeface="Calibri" panose="020F0502020204030204" pitchFamily="34" charset="0"/>
              </a:rPr>
              <a:t>Receipt Date: &lt;&lt;Receipt Date&gt;&gt;</a:t>
            </a:r>
          </a:p>
          <a:p>
            <a:r>
              <a:rPr lang="en-US" sz="700" dirty="0">
                <a:latin typeface="Calibri" panose="020F0502020204030204" pitchFamily="34" charset="0"/>
                <a:cs typeface="Calibri" panose="020F0502020204030204" pitchFamily="34" charset="0"/>
              </a:rPr>
              <a:t>Report Date: &lt;&lt;Report Date&gt;&gt;</a:t>
            </a:r>
          </a:p>
          <a:p>
            <a:r>
              <a:rPr lang="en-US" sz="700" dirty="0">
                <a:latin typeface="Calibri" panose="020F0502020204030204" pitchFamily="34" charset="0"/>
                <a:cs typeface="Calibri" panose="020F0502020204030204" pitchFamily="34" charset="0"/>
              </a:rPr>
              <a:t>Test Requested: &lt;&lt;Test Requested&gt;&gt;</a:t>
            </a:r>
          </a:p>
        </p:txBody>
      </p:sp>
      <p:sp>
        <p:nvSpPr>
          <p:cNvPr id="20" name="TextBox 19">
            <a:extLst>
              <a:ext uri="{FF2B5EF4-FFF2-40B4-BE49-F238E27FC236}">
                <a16:creationId xmlns:a16="http://schemas.microsoft.com/office/drawing/2014/main" id="{5744D646-7AC7-D741-A059-E349A9CE3002}"/>
              </a:ext>
            </a:extLst>
          </p:cNvPr>
          <p:cNvSpPr txBox="1"/>
          <p:nvPr/>
        </p:nvSpPr>
        <p:spPr>
          <a:xfrm>
            <a:off x="498897" y="4737128"/>
            <a:ext cx="5846298" cy="230832"/>
          </a:xfrm>
          <a:prstGeom prst="rect">
            <a:avLst/>
          </a:prstGeom>
          <a:noFill/>
        </p:spPr>
        <p:txBody>
          <a:bodyPr wrap="square">
            <a:spAutoFit/>
          </a:bodyPr>
          <a:lstStyle/>
          <a:p>
            <a:pPr marL="83820" lvl="0"/>
            <a:r>
              <a:rPr lang="en-US" sz="900" dirty="0">
                <a:latin typeface="Calibri" panose="020F0502020204030204" pitchFamily="34" charset="0"/>
                <a:ea typeface="Calibri"/>
                <a:cs typeface="Calibri" panose="020F0502020204030204" pitchFamily="34" charset="0"/>
                <a:sym typeface="Calibri"/>
              </a:rPr>
              <a:t>&lt;&lt;MDI&gt;&gt;</a:t>
            </a:r>
          </a:p>
        </p:txBody>
      </p:sp>
      <p:sp>
        <p:nvSpPr>
          <p:cNvPr id="5" name="TextBox 4">
            <a:extLst>
              <a:ext uri="{FF2B5EF4-FFF2-40B4-BE49-F238E27FC236}">
                <a16:creationId xmlns:a16="http://schemas.microsoft.com/office/drawing/2014/main" id="{9B2BE4A4-F602-FCEA-F31F-1DB237744521}"/>
              </a:ext>
            </a:extLst>
          </p:cNvPr>
          <p:cNvSpPr txBox="1"/>
          <p:nvPr/>
        </p:nvSpPr>
        <p:spPr>
          <a:xfrm>
            <a:off x="434824" y="772625"/>
            <a:ext cx="1956393"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Patient Information</a:t>
            </a:r>
          </a:p>
          <a:p>
            <a:r>
              <a:rPr lang="en-US" sz="700" dirty="0">
                <a:latin typeface="Calibri" panose="020F0502020204030204" pitchFamily="34" charset="0"/>
                <a:cs typeface="Calibri" panose="020F0502020204030204" pitchFamily="34" charset="0"/>
              </a:rPr>
              <a:t>Lab ID: &lt;&lt;Sample Number&gt;&gt;</a:t>
            </a:r>
          </a:p>
          <a:p>
            <a:r>
              <a:rPr lang="en-US" sz="700" dirty="0">
                <a:latin typeface="Calibri" panose="020F0502020204030204" pitchFamily="34" charset="0"/>
                <a:cs typeface="Calibri" panose="020F0502020204030204" pitchFamily="34" charset="0"/>
              </a:rPr>
              <a:t>Patient Name: &lt;&lt;Patient Name&gt;&gt;</a:t>
            </a:r>
          </a:p>
          <a:p>
            <a:r>
              <a:rPr lang="en-US" sz="700" dirty="0">
                <a:latin typeface="Calibri" panose="020F0502020204030204" pitchFamily="34" charset="0"/>
                <a:cs typeface="Calibri" panose="020F0502020204030204" pitchFamily="34" charset="0"/>
              </a:rPr>
              <a:t>Date of Birth: &lt;&lt;DOB&gt;&gt; (&lt;&lt;A&gt;&gt;)</a:t>
            </a:r>
          </a:p>
          <a:p>
            <a:r>
              <a:rPr lang="en-US" sz="700" dirty="0">
                <a:latin typeface="Calibri" panose="020F0502020204030204" pitchFamily="34" charset="0"/>
                <a:cs typeface="Calibri" panose="020F0502020204030204" pitchFamily="34" charset="0"/>
              </a:rPr>
              <a:t>Maternal Weight/Height: </a:t>
            </a:r>
            <a:r>
              <a:rPr lang="en-US" sz="700" dirty="0">
                <a:solidFill>
                  <a:srgbClr val="000000"/>
                </a:solidFill>
                <a:latin typeface="Calibri" panose="020F0502020204030204" pitchFamily="34" charset="0"/>
                <a:ea typeface="Calibri"/>
                <a:cs typeface="Calibri" panose="020F0502020204030204" pitchFamily="34" charset="0"/>
                <a:sym typeface="Calibri"/>
              </a:rPr>
              <a:t>&lt;&lt;kg&gt;&gt;kg / &lt;&lt;cm&gt;&gt;cm </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Indication: </a:t>
            </a:r>
            <a:r>
              <a:rPr lang="en-US" sz="700" dirty="0">
                <a:solidFill>
                  <a:srgbClr val="000000"/>
                </a:solidFill>
                <a:latin typeface="Calibri" panose="020F0502020204030204" pitchFamily="34" charset="0"/>
                <a:ea typeface="Calibri"/>
                <a:cs typeface="Calibri" panose="020F0502020204030204" pitchFamily="34" charset="0"/>
                <a:sym typeface="Calibri"/>
              </a:rPr>
              <a:t>&lt;&lt;Indication&gt;&gt;</a:t>
            </a:r>
            <a:endParaRPr lang="en-US" sz="700" dirty="0">
              <a:latin typeface="Calibri" panose="020F0502020204030204" pitchFamily="34" charset="0"/>
              <a:cs typeface="Calibri" panose="020F0502020204030204" pitchFamily="34" charset="0"/>
            </a:endParaRPr>
          </a:p>
          <a:p>
            <a:endParaRPr lang="en-US" sz="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977797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A205713-3348-4385-2B4B-E68890BDD5BF}"/>
              </a:ext>
            </a:extLst>
          </p:cNvPr>
          <p:cNvSpPr/>
          <p:nvPr/>
        </p:nvSpPr>
        <p:spPr>
          <a:xfrm>
            <a:off x="430623" y="772625"/>
            <a:ext cx="1956394"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6" name="Rectangle 5">
            <a:extLst>
              <a:ext uri="{FF2B5EF4-FFF2-40B4-BE49-F238E27FC236}">
                <a16:creationId xmlns:a16="http://schemas.microsoft.com/office/drawing/2014/main" id="{690747F1-4CEA-40FD-98C3-6C40BF950E8B}"/>
              </a:ext>
            </a:extLst>
          </p:cNvPr>
          <p:cNvSpPr/>
          <p:nvPr/>
        </p:nvSpPr>
        <p:spPr>
          <a:xfrm>
            <a:off x="2452579" y="772625"/>
            <a:ext cx="1956393"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10" name="Rectangle 9">
            <a:extLst>
              <a:ext uri="{FF2B5EF4-FFF2-40B4-BE49-F238E27FC236}">
                <a16:creationId xmlns:a16="http://schemas.microsoft.com/office/drawing/2014/main" id="{94F0FCA8-40AD-49DE-872B-14A5F086A1B6}"/>
              </a:ext>
            </a:extLst>
          </p:cNvPr>
          <p:cNvSpPr/>
          <p:nvPr/>
        </p:nvSpPr>
        <p:spPr>
          <a:xfrm>
            <a:off x="4474534" y="772625"/>
            <a:ext cx="1956393" cy="954107"/>
          </a:xfrm>
          <a:prstGeom prst="rect">
            <a:avLst/>
          </a:prstGeom>
          <a:noFill/>
          <a:ln w="15875" cmpd="thickThin">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12" name="Rectangle 11">
            <a:extLst>
              <a:ext uri="{FF2B5EF4-FFF2-40B4-BE49-F238E27FC236}">
                <a16:creationId xmlns:a16="http://schemas.microsoft.com/office/drawing/2014/main" id="{7CA9F03C-C0C8-69FC-D232-9360D2FE9B59}"/>
              </a:ext>
            </a:extLst>
          </p:cNvPr>
          <p:cNvSpPr/>
          <p:nvPr/>
        </p:nvSpPr>
        <p:spPr>
          <a:xfrm>
            <a:off x="4214805" y="181606"/>
            <a:ext cx="2259657" cy="584775"/>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en-US" sz="3200" b="1" cap="none" spc="0" dirty="0">
                <a:ln/>
                <a:solidFill>
                  <a:srgbClr val="01A3C9"/>
                </a:solidFill>
                <a:effectLst/>
                <a:latin typeface="Calibri" panose="020F0502020204030204" pitchFamily="34" charset="0"/>
                <a:cs typeface="Calibri" panose="020F0502020204030204" pitchFamily="34" charset="0"/>
              </a:rPr>
              <a:t>NIPT </a:t>
            </a:r>
            <a:r>
              <a:rPr lang="en-US" sz="2000" cap="none" spc="0" dirty="0">
                <a:ln/>
                <a:solidFill>
                  <a:srgbClr val="01A3C9"/>
                </a:solidFill>
                <a:effectLst/>
                <a:latin typeface="Calibri" panose="020F0502020204030204" pitchFamily="34" charset="0"/>
                <a:cs typeface="Calibri" panose="020F0502020204030204" pitchFamily="34" charset="0"/>
              </a:rPr>
              <a:t>Test Report</a:t>
            </a:r>
            <a:endParaRPr lang="en-US" sz="3200" cap="none" spc="0" dirty="0">
              <a:ln/>
              <a:solidFill>
                <a:srgbClr val="01A3C9"/>
              </a:solidFill>
              <a:effectLst/>
              <a:latin typeface="Calibri" panose="020F0502020204030204" pitchFamily="34" charset="0"/>
              <a:cs typeface="Calibri" panose="020F0502020204030204" pitchFamily="34" charset="0"/>
            </a:endParaRPr>
          </a:p>
        </p:txBody>
      </p:sp>
      <p:sp>
        <p:nvSpPr>
          <p:cNvPr id="22" name="TextBox 21">
            <a:extLst>
              <a:ext uri="{FF2B5EF4-FFF2-40B4-BE49-F238E27FC236}">
                <a16:creationId xmlns:a16="http://schemas.microsoft.com/office/drawing/2014/main" id="{5D2A34DF-A85D-AFAC-37DA-EDB3DA2BCD69}"/>
              </a:ext>
            </a:extLst>
          </p:cNvPr>
          <p:cNvSpPr txBox="1"/>
          <p:nvPr/>
        </p:nvSpPr>
        <p:spPr>
          <a:xfrm>
            <a:off x="430623" y="1798467"/>
            <a:ext cx="3742660" cy="307777"/>
          </a:xfrm>
          <a:prstGeom prst="rect">
            <a:avLst/>
          </a:prstGeom>
          <a:noFill/>
        </p:spPr>
        <p:txBody>
          <a:bodyPr wrap="square">
            <a:spAutoFit/>
          </a:bodyPr>
          <a:lstStyle/>
          <a:p>
            <a:r>
              <a:rPr lang="en-US" sz="1400" b="1" dirty="0">
                <a:solidFill>
                  <a:srgbClr val="256D9D"/>
                </a:solidFill>
                <a:latin typeface="Calibri" panose="020F0502020204030204" pitchFamily="34" charset="0"/>
                <a:cs typeface="Calibri" panose="020F0502020204030204" pitchFamily="34" charset="0"/>
              </a:rPr>
              <a:t>ABOUT CORDLIFE NIPT</a:t>
            </a:r>
          </a:p>
        </p:txBody>
      </p:sp>
      <p:sp>
        <p:nvSpPr>
          <p:cNvPr id="13" name="TextBox 12">
            <a:extLst>
              <a:ext uri="{FF2B5EF4-FFF2-40B4-BE49-F238E27FC236}">
                <a16:creationId xmlns:a16="http://schemas.microsoft.com/office/drawing/2014/main" id="{37754FAC-03F1-BCC7-92A9-9BBA783CFE39}"/>
              </a:ext>
            </a:extLst>
          </p:cNvPr>
          <p:cNvSpPr txBox="1"/>
          <p:nvPr/>
        </p:nvSpPr>
        <p:spPr>
          <a:xfrm>
            <a:off x="5770169" y="9510229"/>
            <a:ext cx="660758" cy="215444"/>
          </a:xfrm>
          <a:prstGeom prst="rect">
            <a:avLst/>
          </a:prstGeom>
          <a:noFill/>
        </p:spPr>
        <p:txBody>
          <a:bodyPr wrap="none" rtlCol="0">
            <a:spAutoFit/>
          </a:bodyPr>
          <a:lstStyle/>
          <a:p>
            <a:r>
              <a:rPr lang="en-US" sz="800" i="1" dirty="0">
                <a:solidFill>
                  <a:schemeClr val="tx1">
                    <a:lumMod val="50000"/>
                    <a:lumOff val="50000"/>
                  </a:schemeClr>
                </a:solidFill>
                <a:latin typeface="Calibri" panose="020F0502020204030204" pitchFamily="34" charset="0"/>
                <a:cs typeface="Calibri" panose="020F0502020204030204" pitchFamily="34" charset="0"/>
              </a:rPr>
              <a:t>Page 3 of 3</a:t>
            </a:r>
          </a:p>
        </p:txBody>
      </p:sp>
      <p:sp>
        <p:nvSpPr>
          <p:cNvPr id="16" name="TextBox 15">
            <a:extLst>
              <a:ext uri="{FF2B5EF4-FFF2-40B4-BE49-F238E27FC236}">
                <a16:creationId xmlns:a16="http://schemas.microsoft.com/office/drawing/2014/main" id="{DC73C67E-DF8C-C2DA-0A2D-B06FBC379BE1}"/>
              </a:ext>
            </a:extLst>
          </p:cNvPr>
          <p:cNvSpPr txBox="1"/>
          <p:nvPr/>
        </p:nvSpPr>
        <p:spPr>
          <a:xfrm>
            <a:off x="430623" y="2071689"/>
            <a:ext cx="2998378" cy="261610"/>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Definition(s)</a:t>
            </a:r>
            <a:endParaRPr lang="en-US" sz="1000" dirty="0">
              <a:latin typeface="Calibri" panose="020F0502020204030204" pitchFamily="34" charset="0"/>
              <a:cs typeface="Calibri" panose="020F0502020204030204" pitchFamily="34" charset="0"/>
            </a:endParaRPr>
          </a:p>
        </p:txBody>
      </p:sp>
      <p:sp>
        <p:nvSpPr>
          <p:cNvPr id="18" name="TextBox 17">
            <a:extLst>
              <a:ext uri="{FF2B5EF4-FFF2-40B4-BE49-F238E27FC236}">
                <a16:creationId xmlns:a16="http://schemas.microsoft.com/office/drawing/2014/main" id="{1D702B0D-E9ED-91A1-3997-E42203777706}"/>
              </a:ext>
            </a:extLst>
          </p:cNvPr>
          <p:cNvSpPr txBox="1"/>
          <p:nvPr/>
        </p:nvSpPr>
        <p:spPr>
          <a:xfrm>
            <a:off x="3444723" y="2281396"/>
            <a:ext cx="2986200" cy="1046440"/>
          </a:xfrm>
          <a:prstGeom prst="rect">
            <a:avLst/>
          </a:prstGeom>
          <a:noFill/>
        </p:spPr>
        <p:txBody>
          <a:bodyPr wrap="square">
            <a:spAutoFit/>
          </a:bodyPr>
          <a:lstStyle/>
          <a:p>
            <a:pPr algn="just"/>
            <a:r>
              <a:rPr lang="en-US" sz="900" b="1" dirty="0">
                <a:solidFill>
                  <a:srgbClr val="099049"/>
                </a:solidFill>
                <a:latin typeface="Calibri" panose="020F0502020204030204" pitchFamily="34" charset="0"/>
                <a:cs typeface="Calibri" panose="020F0502020204030204" pitchFamily="34" charset="0"/>
              </a:rPr>
              <a:t>Positive Predictive Value (PPV) </a:t>
            </a:r>
            <a:r>
              <a:rPr lang="en-US" sz="900" dirty="0">
                <a:latin typeface="Calibri" panose="020F0502020204030204" pitchFamily="34" charset="0"/>
                <a:cs typeface="Calibri" panose="020F0502020204030204" pitchFamily="34" charset="0"/>
              </a:rPr>
              <a:t>the probability that a fetus is actually affected given that the test result indicates high risk.</a:t>
            </a:r>
          </a:p>
          <a:p>
            <a:pPr algn="just"/>
            <a:endParaRPr lang="en-US" sz="800" dirty="0">
              <a:latin typeface="Calibri" panose="020F0502020204030204" pitchFamily="34" charset="0"/>
              <a:cs typeface="Calibri" panose="020F0502020204030204" pitchFamily="34" charset="0"/>
            </a:endParaRPr>
          </a:p>
          <a:p>
            <a:pPr algn="just"/>
            <a:r>
              <a:rPr lang="en-US" sz="900" b="1" dirty="0">
                <a:solidFill>
                  <a:srgbClr val="099049"/>
                </a:solidFill>
                <a:latin typeface="Calibri" panose="020F0502020204030204" pitchFamily="34" charset="0"/>
                <a:cs typeface="Calibri" panose="020F0502020204030204" pitchFamily="34" charset="0"/>
              </a:rPr>
              <a:t>Negative Predictive Value (NPV) </a:t>
            </a:r>
            <a:r>
              <a:rPr lang="en-US" sz="900" dirty="0">
                <a:latin typeface="Calibri" panose="020F0502020204030204" pitchFamily="34" charset="0"/>
                <a:cs typeface="Calibri" panose="020F0502020204030204" pitchFamily="34" charset="0"/>
              </a:rPr>
              <a:t>the probability that a fetus is truly unaffected given that the test result indicates low risk.</a:t>
            </a:r>
          </a:p>
        </p:txBody>
      </p:sp>
      <p:sp>
        <p:nvSpPr>
          <p:cNvPr id="21" name="TextBox 20">
            <a:extLst>
              <a:ext uri="{FF2B5EF4-FFF2-40B4-BE49-F238E27FC236}">
                <a16:creationId xmlns:a16="http://schemas.microsoft.com/office/drawing/2014/main" id="{07B23869-0372-6D8D-187B-E0E46E51B6AD}"/>
              </a:ext>
            </a:extLst>
          </p:cNvPr>
          <p:cNvSpPr txBox="1"/>
          <p:nvPr/>
        </p:nvSpPr>
        <p:spPr>
          <a:xfrm>
            <a:off x="430623" y="2281396"/>
            <a:ext cx="2982656" cy="769441"/>
          </a:xfrm>
          <a:prstGeom prst="rect">
            <a:avLst/>
          </a:prstGeom>
          <a:noFill/>
        </p:spPr>
        <p:txBody>
          <a:bodyPr wrap="square">
            <a:spAutoFit/>
          </a:bodyPr>
          <a:lstStyle/>
          <a:p>
            <a:pPr algn="just"/>
            <a:r>
              <a:rPr lang="en-US" sz="900" b="1" dirty="0">
                <a:solidFill>
                  <a:srgbClr val="099049"/>
                </a:solidFill>
                <a:latin typeface="Calibri" panose="020F0502020204030204" pitchFamily="34" charset="0"/>
                <a:cs typeface="Calibri" panose="020F0502020204030204" pitchFamily="34" charset="0"/>
              </a:rPr>
              <a:t>Sensitivity</a:t>
            </a:r>
            <a:r>
              <a:rPr lang="en-US" sz="900" dirty="0">
                <a:latin typeface="Calibri" panose="020F0502020204030204" pitchFamily="34" charset="0"/>
                <a:cs typeface="Calibri" panose="020F0502020204030204" pitchFamily="34" charset="0"/>
              </a:rPr>
              <a:t> is  the proportion of true high-risk cases that are correctly identified as high risk by the test.</a:t>
            </a:r>
          </a:p>
          <a:p>
            <a:pPr algn="just"/>
            <a:endParaRPr lang="en-US" sz="800" dirty="0">
              <a:latin typeface="Calibri" panose="020F0502020204030204" pitchFamily="34" charset="0"/>
              <a:cs typeface="Calibri" panose="020F0502020204030204" pitchFamily="34" charset="0"/>
            </a:endParaRPr>
          </a:p>
          <a:p>
            <a:pPr algn="just"/>
            <a:r>
              <a:rPr lang="en-US" sz="900" b="1" dirty="0">
                <a:solidFill>
                  <a:srgbClr val="099049"/>
                </a:solidFill>
                <a:latin typeface="Calibri" panose="020F0502020204030204" pitchFamily="34" charset="0"/>
                <a:cs typeface="Calibri" panose="020F0502020204030204" pitchFamily="34" charset="0"/>
              </a:rPr>
              <a:t>Specificity</a:t>
            </a:r>
            <a:r>
              <a:rPr lang="en-US" sz="900" dirty="0">
                <a:latin typeface="Calibri" panose="020F0502020204030204" pitchFamily="34" charset="0"/>
                <a:cs typeface="Calibri" panose="020F0502020204030204" pitchFamily="34" charset="0"/>
              </a:rPr>
              <a:t> is the proportion of true unaffected cases that are correctly identified as low risk by the test.</a:t>
            </a:r>
          </a:p>
        </p:txBody>
      </p:sp>
      <p:sp>
        <p:nvSpPr>
          <p:cNvPr id="24" name="TextBox 23">
            <a:extLst>
              <a:ext uri="{FF2B5EF4-FFF2-40B4-BE49-F238E27FC236}">
                <a16:creationId xmlns:a16="http://schemas.microsoft.com/office/drawing/2014/main" id="{916CC831-1D0D-CAC5-759D-5FFAAE033D14}"/>
              </a:ext>
            </a:extLst>
          </p:cNvPr>
          <p:cNvSpPr txBox="1"/>
          <p:nvPr/>
        </p:nvSpPr>
        <p:spPr>
          <a:xfrm>
            <a:off x="430622" y="5711816"/>
            <a:ext cx="2998378" cy="261610"/>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Test Information</a:t>
            </a:r>
            <a:endParaRPr lang="en-US" sz="1000" dirty="0">
              <a:latin typeface="Calibri" panose="020F0502020204030204" pitchFamily="34" charset="0"/>
              <a:cs typeface="Calibri" panose="020F0502020204030204" pitchFamily="34" charset="0"/>
            </a:endParaRPr>
          </a:p>
        </p:txBody>
      </p:sp>
      <p:sp>
        <p:nvSpPr>
          <p:cNvPr id="8" name="TextBox 7">
            <a:extLst>
              <a:ext uri="{FF2B5EF4-FFF2-40B4-BE49-F238E27FC236}">
                <a16:creationId xmlns:a16="http://schemas.microsoft.com/office/drawing/2014/main" id="{D9F77E85-5567-A504-E77C-AA92EE25C50C}"/>
              </a:ext>
            </a:extLst>
          </p:cNvPr>
          <p:cNvSpPr txBox="1"/>
          <p:nvPr/>
        </p:nvSpPr>
        <p:spPr>
          <a:xfrm>
            <a:off x="446345" y="3344934"/>
            <a:ext cx="2998378" cy="261610"/>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General Test Performance</a:t>
            </a:r>
            <a:endParaRPr lang="en-US" sz="1000" dirty="0">
              <a:latin typeface="Calibri" panose="020F0502020204030204" pitchFamily="34" charset="0"/>
              <a:cs typeface="Calibri" panose="020F0502020204030204" pitchFamily="34" charset="0"/>
            </a:endParaRPr>
          </a:p>
        </p:txBody>
      </p:sp>
      <p:sp>
        <p:nvSpPr>
          <p:cNvPr id="14" name="Rectangle 13">
            <a:extLst>
              <a:ext uri="{FF2B5EF4-FFF2-40B4-BE49-F238E27FC236}">
                <a16:creationId xmlns:a16="http://schemas.microsoft.com/office/drawing/2014/main" id="{4DB2ACAE-EF50-D385-0298-964884111D5F}"/>
              </a:ext>
            </a:extLst>
          </p:cNvPr>
          <p:cNvSpPr/>
          <p:nvPr/>
        </p:nvSpPr>
        <p:spPr>
          <a:xfrm>
            <a:off x="446345" y="9243237"/>
            <a:ext cx="5252706" cy="481157"/>
          </a:xfrm>
          <a:prstGeom prst="rect">
            <a:avLst/>
          </a:prstGeom>
          <a:solidFill>
            <a:srgbClr val="00A6C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cs typeface="Calibri" panose="020F0502020204030204" pitchFamily="34" charset="0"/>
            </a:endParaRPr>
          </a:p>
        </p:txBody>
      </p:sp>
      <p:graphicFrame>
        <p:nvGraphicFramePr>
          <p:cNvPr id="19" name="Table 18">
            <a:extLst>
              <a:ext uri="{FF2B5EF4-FFF2-40B4-BE49-F238E27FC236}">
                <a16:creationId xmlns:a16="http://schemas.microsoft.com/office/drawing/2014/main" id="{6885B12A-027D-0C71-3252-790EFAEB1E17}"/>
              </a:ext>
            </a:extLst>
          </p:cNvPr>
          <p:cNvGraphicFramePr>
            <a:graphicFrameLocks noGrp="1"/>
          </p:cNvGraphicFramePr>
          <p:nvPr>
            <p:extLst>
              <p:ext uri="{D42A27DB-BD31-4B8C-83A1-F6EECF244321}">
                <p14:modId xmlns:p14="http://schemas.microsoft.com/office/powerpoint/2010/main" val="560179484"/>
              </p:ext>
            </p:extLst>
          </p:nvPr>
        </p:nvGraphicFramePr>
        <p:xfrm>
          <a:off x="515895" y="3598367"/>
          <a:ext cx="5915028" cy="2127485"/>
        </p:xfrm>
        <a:graphic>
          <a:graphicData uri="http://schemas.openxmlformats.org/drawingml/2006/table">
            <a:tbl>
              <a:tblPr/>
              <a:tblGrid>
                <a:gridCol w="696955">
                  <a:extLst>
                    <a:ext uri="{9D8B030D-6E8A-4147-A177-3AD203B41FA5}">
                      <a16:colId xmlns:a16="http://schemas.microsoft.com/office/drawing/2014/main" val="828020576"/>
                    </a:ext>
                  </a:extLst>
                </a:gridCol>
                <a:gridCol w="520845">
                  <a:extLst>
                    <a:ext uri="{9D8B030D-6E8A-4147-A177-3AD203B41FA5}">
                      <a16:colId xmlns:a16="http://schemas.microsoft.com/office/drawing/2014/main" val="3384034683"/>
                    </a:ext>
                  </a:extLst>
                </a:gridCol>
                <a:gridCol w="608900">
                  <a:extLst>
                    <a:ext uri="{9D8B030D-6E8A-4147-A177-3AD203B41FA5}">
                      <a16:colId xmlns:a16="http://schemas.microsoft.com/office/drawing/2014/main" val="456906497"/>
                    </a:ext>
                  </a:extLst>
                </a:gridCol>
                <a:gridCol w="608900">
                  <a:extLst>
                    <a:ext uri="{9D8B030D-6E8A-4147-A177-3AD203B41FA5}">
                      <a16:colId xmlns:a16="http://schemas.microsoft.com/office/drawing/2014/main" val="3477495698"/>
                    </a:ext>
                  </a:extLst>
                </a:gridCol>
                <a:gridCol w="608900">
                  <a:extLst>
                    <a:ext uri="{9D8B030D-6E8A-4147-A177-3AD203B41FA5}">
                      <a16:colId xmlns:a16="http://schemas.microsoft.com/office/drawing/2014/main" val="1057236272"/>
                    </a:ext>
                  </a:extLst>
                </a:gridCol>
                <a:gridCol w="608900">
                  <a:extLst>
                    <a:ext uri="{9D8B030D-6E8A-4147-A177-3AD203B41FA5}">
                      <a16:colId xmlns:a16="http://schemas.microsoft.com/office/drawing/2014/main" val="3265217624"/>
                    </a:ext>
                  </a:extLst>
                </a:gridCol>
                <a:gridCol w="608900">
                  <a:extLst>
                    <a:ext uri="{9D8B030D-6E8A-4147-A177-3AD203B41FA5}">
                      <a16:colId xmlns:a16="http://schemas.microsoft.com/office/drawing/2014/main" val="1644197022"/>
                    </a:ext>
                  </a:extLst>
                </a:gridCol>
                <a:gridCol w="608900">
                  <a:extLst>
                    <a:ext uri="{9D8B030D-6E8A-4147-A177-3AD203B41FA5}">
                      <a16:colId xmlns:a16="http://schemas.microsoft.com/office/drawing/2014/main" val="454983325"/>
                    </a:ext>
                  </a:extLst>
                </a:gridCol>
                <a:gridCol w="521914">
                  <a:extLst>
                    <a:ext uri="{9D8B030D-6E8A-4147-A177-3AD203B41FA5}">
                      <a16:colId xmlns:a16="http://schemas.microsoft.com/office/drawing/2014/main" val="1396855724"/>
                    </a:ext>
                  </a:extLst>
                </a:gridCol>
                <a:gridCol w="521914">
                  <a:extLst>
                    <a:ext uri="{9D8B030D-6E8A-4147-A177-3AD203B41FA5}">
                      <a16:colId xmlns:a16="http://schemas.microsoft.com/office/drawing/2014/main" val="3134404346"/>
                    </a:ext>
                  </a:extLst>
                </a:gridCol>
              </a:tblGrid>
              <a:tr h="324110">
                <a:tc>
                  <a:txBody>
                    <a:bodyPr/>
                    <a:lstStyle/>
                    <a:p>
                      <a:pPr algn="ctr" rtl="0" fontAlgn="ctr"/>
                      <a:r>
                        <a:rPr lang="en-ID" sz="750" b="1" i="0" u="none" strike="noStrike" dirty="0">
                          <a:solidFill>
                            <a:srgbClr val="FFFFFF"/>
                          </a:solidFill>
                          <a:effectLst/>
                          <a:highlight>
                            <a:srgbClr val="0F9ED5"/>
                          </a:highlight>
                          <a:latin typeface="Calibri" panose="020F0502020204030204" pitchFamily="34" charset="0"/>
                          <a:cs typeface="Calibri" panose="020F0502020204030204" pitchFamily="34" charset="0"/>
                        </a:rPr>
                        <a:t>Chromosome Aneuploidies</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dirty="0">
                          <a:solidFill>
                            <a:srgbClr val="FFFFFF"/>
                          </a:solidFill>
                          <a:effectLst/>
                          <a:highlight>
                            <a:srgbClr val="0F9ED5"/>
                          </a:highlight>
                          <a:latin typeface="Calibri" panose="020F0502020204030204" pitchFamily="34" charset="0"/>
                          <a:cs typeface="Calibri" panose="020F0502020204030204" pitchFamily="34" charset="0"/>
                        </a:rPr>
                        <a:t>N</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dirty="0">
                          <a:solidFill>
                            <a:srgbClr val="FFFFFF"/>
                          </a:solidFill>
                          <a:effectLst/>
                          <a:highlight>
                            <a:srgbClr val="0F9ED5"/>
                          </a:highlight>
                          <a:latin typeface="Calibri" panose="020F0502020204030204" pitchFamily="34" charset="0"/>
                          <a:cs typeface="Calibri" panose="020F0502020204030204" pitchFamily="34" charset="0"/>
                        </a:rPr>
                        <a:t>Sensitivity</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a:solidFill>
                            <a:srgbClr val="FFFFFF"/>
                          </a:solidFill>
                          <a:effectLst/>
                          <a:highlight>
                            <a:srgbClr val="0F9ED5"/>
                          </a:highlight>
                          <a:latin typeface="Calibri" panose="020F0502020204030204" pitchFamily="34" charset="0"/>
                          <a:cs typeface="Calibri" panose="020F0502020204030204" pitchFamily="34" charset="0"/>
                        </a:rPr>
                        <a:t>95% CI</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dirty="0">
                          <a:solidFill>
                            <a:srgbClr val="FFFFFF"/>
                          </a:solidFill>
                          <a:effectLst/>
                          <a:highlight>
                            <a:srgbClr val="0F9ED5"/>
                          </a:highlight>
                          <a:latin typeface="Calibri" panose="020F0502020204030204" pitchFamily="34" charset="0"/>
                          <a:cs typeface="Calibri" panose="020F0502020204030204" pitchFamily="34" charset="0"/>
                        </a:rPr>
                        <a:t>Specificity</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a:solidFill>
                            <a:srgbClr val="FFFFFF"/>
                          </a:solidFill>
                          <a:effectLst/>
                          <a:highlight>
                            <a:srgbClr val="0F9ED5"/>
                          </a:highlight>
                          <a:latin typeface="Calibri" panose="020F0502020204030204" pitchFamily="34" charset="0"/>
                          <a:cs typeface="Calibri" panose="020F0502020204030204" pitchFamily="34" charset="0"/>
                        </a:rPr>
                        <a:t>95% CI</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a:solidFill>
                            <a:srgbClr val="FFFFFF"/>
                          </a:solidFill>
                          <a:effectLst/>
                          <a:highlight>
                            <a:srgbClr val="0F9ED5"/>
                          </a:highlight>
                          <a:latin typeface="Calibri" panose="020F0502020204030204" pitchFamily="34" charset="0"/>
                          <a:cs typeface="Calibri" panose="020F0502020204030204" pitchFamily="34" charset="0"/>
                        </a:rPr>
                        <a:t>PPV</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a:solidFill>
                            <a:srgbClr val="FFFFFF"/>
                          </a:solidFill>
                          <a:effectLst/>
                          <a:highlight>
                            <a:srgbClr val="0F9ED5"/>
                          </a:highlight>
                          <a:latin typeface="Calibri" panose="020F0502020204030204" pitchFamily="34" charset="0"/>
                          <a:cs typeface="Calibri" panose="020F0502020204030204" pitchFamily="34" charset="0"/>
                        </a:rPr>
                        <a:t>95% CI</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a:solidFill>
                            <a:srgbClr val="FFFFFF"/>
                          </a:solidFill>
                          <a:effectLst/>
                          <a:highlight>
                            <a:srgbClr val="0F9ED5"/>
                          </a:highlight>
                          <a:latin typeface="Calibri" panose="020F0502020204030204" pitchFamily="34" charset="0"/>
                          <a:cs typeface="Calibri" panose="020F0502020204030204" pitchFamily="34" charset="0"/>
                        </a:rPr>
                        <a:t>NPV</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a:solidFill>
                            <a:srgbClr val="FFFFFF"/>
                          </a:solidFill>
                          <a:effectLst/>
                          <a:highlight>
                            <a:srgbClr val="0F9ED5"/>
                          </a:highlight>
                          <a:latin typeface="Calibri" panose="020F0502020204030204" pitchFamily="34" charset="0"/>
                          <a:cs typeface="Calibri" panose="020F0502020204030204" pitchFamily="34" charset="0"/>
                        </a:rPr>
                        <a:t>95% CI</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extLst>
                  <a:ext uri="{0D108BD9-81ED-4DB2-BD59-A6C34878D82A}">
                    <a16:rowId xmlns:a16="http://schemas.microsoft.com/office/drawing/2014/main" val="3187033463"/>
                  </a:ext>
                </a:extLst>
              </a:tr>
              <a:tr h="257625">
                <a:tc>
                  <a:txBody>
                    <a:bodyPr/>
                    <a:lstStyle/>
                    <a:p>
                      <a:pPr algn="ctr" rtl="0"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T21</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92.59 - 100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92.59 - 100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extLst>
                  <a:ext uri="{0D108BD9-81ED-4DB2-BD59-A6C34878D82A}">
                    <a16:rowId xmlns:a16="http://schemas.microsoft.com/office/drawing/2014/main" val="2929797979"/>
                  </a:ext>
                </a:extLst>
              </a:tr>
              <a:tr h="257625">
                <a:tc>
                  <a:txBody>
                    <a:bodyPr/>
                    <a:lstStyle/>
                    <a:p>
                      <a:pPr algn="ctr" rtl="0"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T18</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83.89 - 100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83.89 - 100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extLst>
                  <a:ext uri="{0D108BD9-81ED-4DB2-BD59-A6C34878D82A}">
                    <a16:rowId xmlns:a16="http://schemas.microsoft.com/office/drawing/2014/main" val="1583648907"/>
                  </a:ext>
                </a:extLst>
              </a:tr>
              <a:tr h="257625">
                <a:tc>
                  <a:txBody>
                    <a:bodyPr/>
                    <a:lstStyle/>
                    <a:p>
                      <a:pPr algn="ctr" rtl="0"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T13</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75.75 - 100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75.75 - 100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extLst>
                  <a:ext uri="{0D108BD9-81ED-4DB2-BD59-A6C34878D82A}">
                    <a16:rowId xmlns:a16="http://schemas.microsoft.com/office/drawing/2014/main" val="467491429"/>
                  </a:ext>
                </a:extLst>
              </a:tr>
              <a:tr h="257625">
                <a:tc>
                  <a:txBody>
                    <a:bodyPr/>
                    <a:lstStyle/>
                    <a:p>
                      <a:pPr algn="ctr" rtl="0"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XO</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86.2 - 100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99.95%</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99.83 - 99.99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92.31%</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75.86 - 97.86</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extLst>
                  <a:ext uri="{0D108BD9-81ED-4DB2-BD59-A6C34878D82A}">
                    <a16:rowId xmlns:a16="http://schemas.microsoft.com/office/drawing/2014/main" val="1141652948"/>
                  </a:ext>
                </a:extLst>
              </a:tr>
              <a:tr h="257625">
                <a:tc>
                  <a:txBody>
                    <a:bodyPr/>
                    <a:lstStyle/>
                    <a:p>
                      <a:pPr algn="ctr" rtl="0"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XXY</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56.55 - 100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56.55 - 100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extLst>
                  <a:ext uri="{0D108BD9-81ED-4DB2-BD59-A6C34878D82A}">
                    <a16:rowId xmlns:a16="http://schemas.microsoft.com/office/drawing/2014/main" val="3983530270"/>
                  </a:ext>
                </a:extLst>
              </a:tr>
              <a:tr h="257625">
                <a:tc>
                  <a:txBody>
                    <a:bodyPr/>
                    <a:lstStyle/>
                    <a:p>
                      <a:pPr algn="ctr" rtl="0"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XXX</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43.85 - 100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43.85 - 100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extLst>
                  <a:ext uri="{0D108BD9-81ED-4DB2-BD59-A6C34878D82A}">
                    <a16:rowId xmlns:a16="http://schemas.microsoft.com/office/drawing/2014/main" val="3689875215"/>
                  </a:ext>
                </a:extLst>
              </a:tr>
              <a:tr h="257625">
                <a:tc>
                  <a:txBody>
                    <a:bodyPr/>
                    <a:lstStyle/>
                    <a:p>
                      <a:pPr algn="ctr" rtl="0"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XYY</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34.24 - 100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34.24 - 100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extLst>
                  <a:ext uri="{0D108BD9-81ED-4DB2-BD59-A6C34878D82A}">
                    <a16:rowId xmlns:a16="http://schemas.microsoft.com/office/drawing/2014/main" val="456435667"/>
                  </a:ext>
                </a:extLst>
              </a:tr>
            </a:tbl>
          </a:graphicData>
        </a:graphic>
      </p:graphicFrame>
      <p:sp>
        <p:nvSpPr>
          <p:cNvPr id="5" name="TextBox 4">
            <a:extLst>
              <a:ext uri="{FF2B5EF4-FFF2-40B4-BE49-F238E27FC236}">
                <a16:creationId xmlns:a16="http://schemas.microsoft.com/office/drawing/2014/main" id="{83BDE22F-18DA-6614-035F-9062356BF7B7}"/>
              </a:ext>
            </a:extLst>
          </p:cNvPr>
          <p:cNvSpPr txBox="1"/>
          <p:nvPr/>
        </p:nvSpPr>
        <p:spPr>
          <a:xfrm>
            <a:off x="427072" y="7894705"/>
            <a:ext cx="5996103" cy="1115690"/>
          </a:xfrm>
          <a:prstGeom prst="rect">
            <a:avLst/>
          </a:prstGeom>
          <a:noFill/>
        </p:spPr>
        <p:txBody>
          <a:bodyPr wrap="square" rtlCol="0">
            <a:spAutoFit/>
          </a:bodyPr>
          <a:lstStyle/>
          <a:p>
            <a:pPr algn="just"/>
            <a:r>
              <a:rPr lang="en-US" sz="1050" b="1" dirty="0">
                <a:latin typeface="Calibri" panose="020F0502020204030204" pitchFamily="34" charset="0"/>
                <a:cs typeface="Calibri" panose="020F0502020204030204" pitchFamily="34" charset="0"/>
              </a:rPr>
              <a:t>References:</a:t>
            </a:r>
          </a:p>
          <a:p>
            <a:pPr marL="104140" marR="10795" indent="-91440">
              <a:buClr>
                <a:srgbClr val="000000"/>
              </a:buClr>
              <a:buSzPts val="650"/>
              <a:buFont typeface="Arial"/>
              <a:buAutoNum type="arabicPeriod"/>
            </a:pPr>
            <a:r>
              <a:rPr lang="en-US" sz="800" dirty="0">
                <a:solidFill>
                  <a:srgbClr val="000000"/>
                </a:solidFill>
                <a:latin typeface="Calibri" panose="020F0502020204030204" pitchFamily="34" charset="0"/>
                <a:ea typeface="Arial"/>
                <a:cs typeface="Calibri" panose="020F0502020204030204" pitchFamily="34" charset="0"/>
                <a:sym typeface="Arial"/>
              </a:rPr>
              <a:t>YM</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Dennis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Lo,</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RWK</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Chiu,</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Noninvasive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diagnosis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of</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fetal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chromosomal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aneuploidies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by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maternal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plasma</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nucleic</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acid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analysis;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Clinical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chemistry,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2008.</a:t>
            </a:r>
          </a:p>
          <a:p>
            <a:pPr marL="104140" marR="10795" indent="-91440">
              <a:buClr>
                <a:srgbClr val="000000"/>
              </a:buClr>
              <a:buSzPts val="650"/>
              <a:buFont typeface="Arial"/>
              <a:buAutoNum type="arabicPeriod"/>
            </a:pPr>
            <a:r>
              <a:rPr lang="en-US" sz="800" dirty="0">
                <a:solidFill>
                  <a:srgbClr val="000000"/>
                </a:solidFill>
                <a:latin typeface="Calibri" panose="020F0502020204030204" pitchFamily="34" charset="0"/>
                <a:ea typeface="Arial"/>
                <a:cs typeface="Calibri" panose="020F0502020204030204" pitchFamily="34" charset="0"/>
                <a:sym typeface="Arial"/>
              </a:rPr>
              <a:t>Bianchi</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OW</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DNA</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sequencing</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versus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standard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aneuploidy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screening.</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Engl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J</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Med.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2014;</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370:799-808.</a:t>
            </a:r>
          </a:p>
          <a:p>
            <a:pPr marL="104140" marR="10795" lvl="0" indent="-91440">
              <a:buClr>
                <a:srgbClr val="000000"/>
              </a:buClr>
              <a:buSzPts val="650"/>
              <a:buFont typeface="Arial"/>
              <a:buAutoNum type="arabicPeriod"/>
            </a:pPr>
            <a:r>
              <a:rPr lang="en-US" sz="800" dirty="0">
                <a:solidFill>
                  <a:srgbClr val="000000"/>
                </a:solidFill>
                <a:latin typeface="Calibri" panose="020F0502020204030204" pitchFamily="34" charset="0"/>
                <a:ea typeface="Arial"/>
                <a:cs typeface="Calibri" panose="020F0502020204030204" pitchFamily="34" charset="0"/>
                <a:sym typeface="Arial"/>
              </a:rPr>
              <a:t>Anthony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R</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Noninvasive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screening</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for</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fetal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aneuploidy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2016</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update: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position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statement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of</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the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American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College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of</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Medical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Genetics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Genomics.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Genet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Med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2016;</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13:1056-65.</a:t>
            </a:r>
          </a:p>
          <a:p>
            <a:pPr marL="108585" marR="8255" lvl="0" indent="-95885">
              <a:buClr>
                <a:srgbClr val="000000"/>
              </a:buClr>
              <a:buSzPts val="650"/>
              <a:buFont typeface="Arial"/>
              <a:buAutoNum type="arabicPeriod"/>
            </a:pPr>
            <a:r>
              <a:rPr lang="en-US" sz="800" dirty="0">
                <a:solidFill>
                  <a:srgbClr val="000000"/>
                </a:solidFill>
                <a:latin typeface="Calibri" panose="020F0502020204030204" pitchFamily="34" charset="0"/>
                <a:ea typeface="Arial"/>
                <a:cs typeface="Calibri" panose="020F0502020204030204" pitchFamily="34" charset="0"/>
                <a:sym typeface="Arial"/>
              </a:rPr>
              <a:t>Chen,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Validation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of</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fetal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DNA</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fraction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estimation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its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application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in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noninvasive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testing</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for</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aneuploidy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detection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in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multiple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pregnancies.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Diagnosis,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2019.</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a:solidFill>
                  <a:srgbClr val="000000"/>
                </a:solidFill>
                <a:latin typeface="Calibri" panose="020F0502020204030204" pitchFamily="34" charset="0"/>
                <a:ea typeface="Arial"/>
                <a:cs typeface="Calibri" panose="020F0502020204030204" pitchFamily="34" charset="0"/>
                <a:sym typeface="Arial"/>
              </a:rPr>
              <a:t>39(13):1273-1282.</a:t>
            </a:r>
            <a:endParaRPr lang="en-US" sz="800" dirty="0">
              <a:solidFill>
                <a:srgbClr val="000000"/>
              </a:solidFill>
              <a:latin typeface="Calibri" panose="020F0502020204030204" pitchFamily="34" charset="0"/>
              <a:ea typeface="Arial"/>
              <a:cs typeface="Calibri" panose="020F0502020204030204" pitchFamily="34" charset="0"/>
              <a:sym typeface="Arial"/>
            </a:endParaRPr>
          </a:p>
        </p:txBody>
      </p:sp>
      <p:sp>
        <p:nvSpPr>
          <p:cNvPr id="3" name="TextBox 2">
            <a:extLst>
              <a:ext uri="{FF2B5EF4-FFF2-40B4-BE49-F238E27FC236}">
                <a16:creationId xmlns:a16="http://schemas.microsoft.com/office/drawing/2014/main" id="{A9B1BF20-B6AD-E17C-FC3C-9A25A83A2E14}"/>
              </a:ext>
            </a:extLst>
          </p:cNvPr>
          <p:cNvSpPr txBox="1"/>
          <p:nvPr/>
        </p:nvSpPr>
        <p:spPr>
          <a:xfrm>
            <a:off x="432169" y="5927399"/>
            <a:ext cx="5998758" cy="1738938"/>
          </a:xfrm>
          <a:prstGeom prst="rect">
            <a:avLst/>
          </a:prstGeom>
          <a:noFill/>
        </p:spPr>
        <p:txBody>
          <a:bodyPr wrap="square">
            <a:spAutoFit/>
          </a:bodyPr>
          <a:lstStyle/>
          <a:p>
            <a:pPr algn="just"/>
            <a:r>
              <a:rPr lang="en-US" sz="900" b="1" dirty="0">
                <a:solidFill>
                  <a:srgbClr val="5E2E8C"/>
                </a:solidFill>
                <a:latin typeface="Calibri" panose="020F0502020204030204" pitchFamily="34" charset="0"/>
                <a:cs typeface="Calibri" panose="020F0502020204030204" pitchFamily="34" charset="0"/>
              </a:rPr>
              <a:t>Methodology: </a:t>
            </a:r>
            <a:r>
              <a:rPr lang="en-US" sz="900" dirty="0">
                <a:latin typeface="Calibri" panose="020F0502020204030204" pitchFamily="34" charset="0"/>
                <a:cs typeface="Calibri" panose="020F0502020204030204" pitchFamily="34" charset="0"/>
              </a:rPr>
              <a:t>This non-invasive screening  test utilizes massively parallel sequencing of cell-free DNA fragments from maternal blood samples. The workflow consists of automated sample preparation, library preparation, and next generation whole genome sequencing. Both performance of the workflow and algorithm has been validated by </a:t>
            </a:r>
            <a:r>
              <a:rPr lang="en-US" sz="900" dirty="0" err="1">
                <a:latin typeface="Calibri" panose="020F0502020204030204" pitchFamily="34" charset="0"/>
                <a:cs typeface="Calibri" panose="020F0502020204030204" pitchFamily="34" charset="0"/>
              </a:rPr>
              <a:t>Cordlife</a:t>
            </a:r>
            <a:r>
              <a:rPr lang="en-US" sz="900" dirty="0">
                <a:latin typeface="Calibri" panose="020F0502020204030204" pitchFamily="34" charset="0"/>
                <a:cs typeface="Calibri" panose="020F0502020204030204" pitchFamily="34" charset="0"/>
              </a:rPr>
              <a:t>. </a:t>
            </a:r>
          </a:p>
          <a:p>
            <a:pPr algn="just"/>
            <a:endParaRPr lang="en-US" sz="800" dirty="0">
              <a:latin typeface="Calibri" panose="020F0502020204030204" pitchFamily="34" charset="0"/>
              <a:cs typeface="Calibri" panose="020F0502020204030204" pitchFamily="34" charset="0"/>
            </a:endParaRPr>
          </a:p>
          <a:p>
            <a:pPr algn="just"/>
            <a:r>
              <a:rPr lang="en-US" sz="900" b="1" dirty="0">
                <a:solidFill>
                  <a:srgbClr val="5E2E8C"/>
                </a:solidFill>
                <a:latin typeface="Calibri" panose="020F0502020204030204" pitchFamily="34" charset="0"/>
                <a:cs typeface="Calibri" panose="020F0502020204030204" pitchFamily="34" charset="0"/>
              </a:rPr>
              <a:t>Disclaimer: </a:t>
            </a:r>
            <a:r>
              <a:rPr lang="en-US" sz="900" dirty="0" err="1">
                <a:latin typeface="Calibri" panose="020F0502020204030204" pitchFamily="34" charset="0"/>
                <a:cs typeface="Calibri" panose="020F0502020204030204" pitchFamily="34" charset="0"/>
              </a:rPr>
              <a:t>Cordlife</a:t>
            </a:r>
            <a:r>
              <a:rPr lang="en-US" sz="900" dirty="0">
                <a:latin typeface="Calibri" panose="020F0502020204030204" pitchFamily="34" charset="0"/>
                <a:cs typeface="Calibri" panose="020F0502020204030204" pitchFamily="34" charset="0"/>
              </a:rPr>
              <a:t> NIPT is a screening test, not diagnostic. It evaluates genetic information in the maternal blood, which is a mixture of maternal and placental DNA, to determine the chance for specific chromosome abnormalities. The test does NOT tell with certainty if a fetus is affected, and only tests for the conditions ordered by the healthcare provider. A low risk result does not guarantee an unaffected fetus. The manner in which this information is used to guide patient care is the responsibility of the healthcare provider, including advising for the need for genetic counseling or diagnostic testing. Any test should be interpreted in the context of all available clinical findings. The result of this test are not intended to be used as the sole means for management decisions. </a:t>
            </a:r>
            <a:r>
              <a:rPr lang="en-US" sz="900" b="0" dirty="0" err="1">
                <a:solidFill>
                  <a:srgbClr val="222222"/>
                </a:solidFill>
                <a:effectLst/>
                <a:highlight>
                  <a:srgbClr val="FFFFFF"/>
                </a:highlight>
                <a:latin typeface="Calibri" panose="020F0502020204030204" pitchFamily="34" charset="0"/>
                <a:cs typeface="Calibri" panose="020F0502020204030204" pitchFamily="34" charset="0"/>
              </a:rPr>
              <a:t>Cordlife</a:t>
            </a:r>
            <a:r>
              <a:rPr lang="en-US" sz="900" b="0" dirty="0">
                <a:solidFill>
                  <a:srgbClr val="222222"/>
                </a:solidFill>
                <a:effectLst/>
                <a:highlight>
                  <a:srgbClr val="FFFFFF"/>
                </a:highlight>
                <a:latin typeface="Calibri" panose="020F0502020204030204" pitchFamily="34" charset="0"/>
                <a:cs typeface="Calibri" panose="020F0502020204030204" pitchFamily="34" charset="0"/>
              </a:rPr>
              <a:t> shall not be responsible and the client shall exempt </a:t>
            </a:r>
            <a:r>
              <a:rPr lang="en-US" sz="900" b="0" dirty="0" err="1">
                <a:solidFill>
                  <a:srgbClr val="222222"/>
                </a:solidFill>
                <a:effectLst/>
                <a:highlight>
                  <a:srgbClr val="FFFFFF"/>
                </a:highlight>
                <a:latin typeface="Calibri" panose="020F0502020204030204" pitchFamily="34" charset="0"/>
                <a:cs typeface="Calibri" panose="020F0502020204030204" pitchFamily="34" charset="0"/>
              </a:rPr>
              <a:t>Cordlife</a:t>
            </a:r>
            <a:r>
              <a:rPr lang="en-US" sz="900" b="0" dirty="0">
                <a:solidFill>
                  <a:srgbClr val="222222"/>
                </a:solidFill>
                <a:effectLst/>
                <a:highlight>
                  <a:srgbClr val="FFFFFF"/>
                </a:highlight>
                <a:latin typeface="Calibri" panose="020F0502020204030204" pitchFamily="34" charset="0"/>
                <a:cs typeface="Calibri" panose="020F0502020204030204" pitchFamily="34" charset="0"/>
              </a:rPr>
              <a:t> from any loss or effect resulting from the client's decision based on </a:t>
            </a:r>
            <a:r>
              <a:rPr lang="en-US" sz="900" b="0" dirty="0" err="1">
                <a:solidFill>
                  <a:srgbClr val="222222"/>
                </a:solidFill>
                <a:effectLst/>
                <a:highlight>
                  <a:srgbClr val="FFFFFF"/>
                </a:highlight>
                <a:latin typeface="Calibri" panose="020F0502020204030204" pitchFamily="34" charset="0"/>
                <a:cs typeface="Calibri" panose="020F0502020204030204" pitchFamily="34" charset="0"/>
              </a:rPr>
              <a:t>Cordlife</a:t>
            </a:r>
            <a:r>
              <a:rPr lang="en-US" sz="900" b="0" dirty="0">
                <a:solidFill>
                  <a:srgbClr val="222222"/>
                </a:solidFill>
                <a:effectLst/>
                <a:highlight>
                  <a:srgbClr val="FFFFFF"/>
                </a:highlight>
                <a:latin typeface="Calibri" panose="020F0502020204030204" pitchFamily="34" charset="0"/>
                <a:cs typeface="Calibri" panose="020F0502020204030204" pitchFamily="34" charset="0"/>
              </a:rPr>
              <a:t> NIPT test results.</a:t>
            </a:r>
            <a:endParaRPr lang="en-US" sz="900" dirty="0">
              <a:latin typeface="Calibri" panose="020F0502020204030204" pitchFamily="34" charset="0"/>
              <a:cs typeface="Calibri" panose="020F0502020204030204" pitchFamily="34" charset="0"/>
            </a:endParaRPr>
          </a:p>
        </p:txBody>
      </p:sp>
      <p:pic>
        <p:nvPicPr>
          <p:cNvPr id="15" name="Picture 14">
            <a:extLst>
              <a:ext uri="{FF2B5EF4-FFF2-40B4-BE49-F238E27FC236}">
                <a16:creationId xmlns:a16="http://schemas.microsoft.com/office/drawing/2014/main" id="{210DDD2D-54FC-E921-1A8B-EB3171C17E3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7050" y="45194"/>
            <a:ext cx="1413626" cy="652977"/>
          </a:xfrm>
          <a:prstGeom prst="rect">
            <a:avLst/>
          </a:prstGeom>
        </p:spPr>
      </p:pic>
      <p:sp>
        <p:nvSpPr>
          <p:cNvPr id="2" name="TextBox 1">
            <a:extLst>
              <a:ext uri="{FF2B5EF4-FFF2-40B4-BE49-F238E27FC236}">
                <a16:creationId xmlns:a16="http://schemas.microsoft.com/office/drawing/2014/main" id="{77BC69F4-BC32-B86F-01BE-675A0823968C}"/>
              </a:ext>
            </a:extLst>
          </p:cNvPr>
          <p:cNvSpPr txBox="1"/>
          <p:nvPr/>
        </p:nvSpPr>
        <p:spPr>
          <a:xfrm>
            <a:off x="5713863" y="9220678"/>
            <a:ext cx="857250" cy="338554"/>
          </a:xfrm>
          <a:prstGeom prst="rect">
            <a:avLst/>
          </a:prstGeom>
          <a:noFill/>
        </p:spPr>
        <p:txBody>
          <a:bodyPr wrap="square" rtlCol="0">
            <a:spAutoFit/>
          </a:bodyPr>
          <a:lstStyle/>
          <a:p>
            <a:pPr algn="ctr"/>
            <a:r>
              <a:rPr lang="pt-BR" sz="800" b="0" i="0" dirty="0">
                <a:solidFill>
                  <a:srgbClr val="000000"/>
                </a:solidFill>
                <a:effectLst/>
                <a:latin typeface="Calibri" panose="020F0502020204030204" pitchFamily="34" charset="0"/>
                <a:cs typeface="Calibri" panose="020F0502020204030204" pitchFamily="34" charset="0"/>
              </a:rPr>
              <a:t>DCR No.: 3166 </a:t>
            </a:r>
          </a:p>
          <a:p>
            <a:pPr algn="ctr"/>
            <a:r>
              <a:rPr lang="pt-BR" sz="800" b="0" i="0" dirty="0">
                <a:solidFill>
                  <a:srgbClr val="000000"/>
                </a:solidFill>
                <a:effectLst/>
                <a:latin typeface="Calibri" panose="020F0502020204030204" pitchFamily="34" charset="0"/>
                <a:cs typeface="Calibri" panose="020F0502020204030204" pitchFamily="34" charset="0"/>
              </a:rPr>
              <a:t>QR G1.1-6-5-a</a:t>
            </a:r>
            <a:endParaRPr lang="en-ID" sz="800" dirty="0">
              <a:latin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906475CB-D6F9-419F-4AA3-3A2398CC535F}"/>
              </a:ext>
            </a:extLst>
          </p:cNvPr>
          <p:cNvSpPr txBox="1"/>
          <p:nvPr/>
        </p:nvSpPr>
        <p:spPr>
          <a:xfrm>
            <a:off x="398720" y="9214510"/>
            <a:ext cx="2722170" cy="538609"/>
          </a:xfrm>
          <a:prstGeom prst="rect">
            <a:avLst/>
          </a:prstGeom>
          <a:noFill/>
        </p:spPr>
        <p:txBody>
          <a:bodyPr wrap="square" rtlCol="0">
            <a:spAutoFit/>
          </a:bodyPr>
          <a:lstStyle/>
          <a:p>
            <a:r>
              <a:rPr lang="en-US" sz="800" b="1" dirty="0" err="1">
                <a:solidFill>
                  <a:schemeClr val="bg1"/>
                </a:solidFill>
                <a:latin typeface="Calibri" panose="020F0502020204030204" pitchFamily="34" charset="0"/>
                <a:cs typeface="Calibri" panose="020F0502020204030204" pitchFamily="34" charset="0"/>
              </a:rPr>
              <a:t>Cordlife</a:t>
            </a:r>
            <a:r>
              <a:rPr lang="en-US" sz="800" b="1" dirty="0">
                <a:solidFill>
                  <a:schemeClr val="bg1"/>
                </a:solidFill>
                <a:latin typeface="Calibri" panose="020F0502020204030204" pitchFamily="34" charset="0"/>
                <a:cs typeface="Calibri" panose="020F0502020204030204" pitchFamily="34" charset="0"/>
              </a:rPr>
              <a:t> Group Ltd.</a:t>
            </a:r>
          </a:p>
          <a:p>
            <a:r>
              <a:rPr lang="en-US" sz="700" dirty="0">
                <a:solidFill>
                  <a:schemeClr val="bg1"/>
                </a:solidFill>
                <a:latin typeface="Calibri" panose="020F0502020204030204" pitchFamily="34" charset="0"/>
                <a:cs typeface="Calibri" panose="020F0502020204030204" pitchFamily="34" charset="0"/>
              </a:rPr>
              <a:t>1 Yishun Industrial Street 1</a:t>
            </a:r>
          </a:p>
          <a:p>
            <a:r>
              <a:rPr lang="en-US" sz="700" dirty="0">
                <a:solidFill>
                  <a:schemeClr val="bg1"/>
                </a:solidFill>
                <a:latin typeface="Calibri" panose="020F0502020204030204" pitchFamily="34" charset="0"/>
                <a:cs typeface="Calibri" panose="020F0502020204030204" pitchFamily="34" charset="0"/>
              </a:rPr>
              <a:t>#06-01/09 </a:t>
            </a:r>
            <a:r>
              <a:rPr lang="en-US" sz="700" dirty="0" err="1">
                <a:solidFill>
                  <a:schemeClr val="bg1"/>
                </a:solidFill>
                <a:latin typeface="Calibri" panose="020F0502020204030204" pitchFamily="34" charset="0"/>
                <a:cs typeface="Calibri" panose="020F0502020204030204" pitchFamily="34" charset="0"/>
              </a:rPr>
              <a:t>A’Posh</a:t>
            </a:r>
            <a:r>
              <a:rPr lang="en-US" sz="700" dirty="0">
                <a:solidFill>
                  <a:schemeClr val="bg1"/>
                </a:solidFill>
                <a:latin typeface="Calibri" panose="020F0502020204030204" pitchFamily="34" charset="0"/>
                <a:cs typeface="Calibri" panose="020F0502020204030204" pitchFamily="34" charset="0"/>
              </a:rPr>
              <a:t> </a:t>
            </a:r>
            <a:r>
              <a:rPr lang="en-US" sz="700" dirty="0" err="1">
                <a:solidFill>
                  <a:schemeClr val="bg1"/>
                </a:solidFill>
                <a:latin typeface="Calibri" panose="020F0502020204030204" pitchFamily="34" charset="0"/>
                <a:cs typeface="Calibri" panose="020F0502020204030204" pitchFamily="34" charset="0"/>
              </a:rPr>
              <a:t>BizHub</a:t>
            </a:r>
            <a:endParaRPr lang="en-US" sz="700" dirty="0">
              <a:solidFill>
                <a:schemeClr val="bg1"/>
              </a:solidFill>
              <a:latin typeface="Calibri" panose="020F0502020204030204" pitchFamily="34" charset="0"/>
              <a:cs typeface="Calibri" panose="020F0502020204030204" pitchFamily="34" charset="0"/>
            </a:endParaRPr>
          </a:p>
          <a:p>
            <a:r>
              <a:rPr lang="en-US" sz="700" dirty="0">
                <a:solidFill>
                  <a:schemeClr val="bg1"/>
                </a:solidFill>
                <a:latin typeface="Calibri" panose="020F0502020204030204" pitchFamily="34" charset="0"/>
                <a:cs typeface="Calibri" panose="020F0502020204030204" pitchFamily="34" charset="0"/>
              </a:rPr>
              <a:t>Singapore 768160</a:t>
            </a:r>
          </a:p>
        </p:txBody>
      </p:sp>
      <p:sp>
        <p:nvSpPr>
          <p:cNvPr id="11" name="TextBox 10">
            <a:extLst>
              <a:ext uri="{FF2B5EF4-FFF2-40B4-BE49-F238E27FC236}">
                <a16:creationId xmlns:a16="http://schemas.microsoft.com/office/drawing/2014/main" id="{98A67E6F-7861-7307-3838-B85957F99B02}"/>
              </a:ext>
            </a:extLst>
          </p:cNvPr>
          <p:cNvSpPr txBox="1"/>
          <p:nvPr/>
        </p:nvSpPr>
        <p:spPr>
          <a:xfrm>
            <a:off x="2557354" y="9214885"/>
            <a:ext cx="3243371" cy="430887"/>
          </a:xfrm>
          <a:prstGeom prst="rect">
            <a:avLst/>
          </a:prstGeom>
          <a:noFill/>
        </p:spPr>
        <p:txBody>
          <a:bodyPr wrap="square" rtlCol="0">
            <a:spAutoFit/>
          </a:bodyPr>
          <a:lstStyle/>
          <a:p>
            <a:r>
              <a:rPr lang="en-US" sz="800" b="1" dirty="0">
                <a:solidFill>
                  <a:schemeClr val="bg1"/>
                </a:solidFill>
                <a:latin typeface="Calibri" panose="020F0502020204030204" pitchFamily="34" charset="0"/>
                <a:cs typeface="Calibri" panose="020F0502020204030204" pitchFamily="34" charset="0"/>
              </a:rPr>
              <a:t>PT </a:t>
            </a:r>
            <a:r>
              <a:rPr lang="en-US" sz="800" b="1" dirty="0" err="1">
                <a:solidFill>
                  <a:schemeClr val="bg1"/>
                </a:solidFill>
                <a:latin typeface="Calibri" panose="020F0502020204030204" pitchFamily="34" charset="0"/>
                <a:cs typeface="Calibri" panose="020F0502020204030204" pitchFamily="34" charset="0"/>
              </a:rPr>
              <a:t>Cordlife</a:t>
            </a:r>
            <a:r>
              <a:rPr lang="en-US" sz="800" b="1" dirty="0">
                <a:solidFill>
                  <a:schemeClr val="bg1"/>
                </a:solidFill>
                <a:latin typeface="Calibri" panose="020F0502020204030204" pitchFamily="34" charset="0"/>
                <a:cs typeface="Calibri" panose="020F0502020204030204" pitchFamily="34" charset="0"/>
              </a:rPr>
              <a:t> </a:t>
            </a:r>
            <a:r>
              <a:rPr lang="en-US" sz="800" b="1" dirty="0" err="1">
                <a:solidFill>
                  <a:schemeClr val="bg1"/>
                </a:solidFill>
                <a:latin typeface="Calibri" panose="020F0502020204030204" pitchFamily="34" charset="0"/>
                <a:cs typeface="Calibri" panose="020F0502020204030204" pitchFamily="34" charset="0"/>
              </a:rPr>
              <a:t>Persada</a:t>
            </a:r>
            <a:endParaRPr lang="en-US" sz="800" b="1" dirty="0">
              <a:solidFill>
                <a:schemeClr val="bg1"/>
              </a:solidFill>
              <a:latin typeface="Calibri" panose="020F0502020204030204" pitchFamily="34" charset="0"/>
              <a:cs typeface="Calibri" panose="020F0502020204030204" pitchFamily="34" charset="0"/>
            </a:endParaRPr>
          </a:p>
          <a:p>
            <a:r>
              <a:rPr lang="en-US" sz="700" dirty="0">
                <a:solidFill>
                  <a:schemeClr val="bg1"/>
                </a:solidFill>
                <a:latin typeface="Calibri" panose="020F0502020204030204" pitchFamily="34" charset="0"/>
                <a:cs typeface="Calibri" panose="020F0502020204030204" pitchFamily="34" charset="0"/>
              </a:rPr>
              <a:t>Jl. </a:t>
            </a:r>
            <a:r>
              <a:rPr lang="en-US" sz="700" dirty="0" err="1">
                <a:solidFill>
                  <a:schemeClr val="bg1"/>
                </a:solidFill>
                <a:latin typeface="Calibri" panose="020F0502020204030204" pitchFamily="34" charset="0"/>
                <a:cs typeface="Calibri" panose="020F0502020204030204" pitchFamily="34" charset="0"/>
              </a:rPr>
              <a:t>Bungur</a:t>
            </a:r>
            <a:r>
              <a:rPr lang="en-US" sz="700" dirty="0">
                <a:solidFill>
                  <a:schemeClr val="bg1"/>
                </a:solidFill>
                <a:latin typeface="Calibri" panose="020F0502020204030204" pitchFamily="34" charset="0"/>
                <a:cs typeface="Calibri" panose="020F0502020204030204" pitchFamily="34" charset="0"/>
              </a:rPr>
              <a:t> </a:t>
            </a:r>
            <a:r>
              <a:rPr lang="en-US" sz="700" dirty="0" err="1">
                <a:solidFill>
                  <a:schemeClr val="bg1"/>
                </a:solidFill>
                <a:latin typeface="Calibri" panose="020F0502020204030204" pitchFamily="34" charset="0"/>
                <a:cs typeface="Calibri" panose="020F0502020204030204" pitchFamily="34" charset="0"/>
              </a:rPr>
              <a:t>Besar</a:t>
            </a:r>
            <a:r>
              <a:rPr lang="en-US" sz="700" dirty="0">
                <a:solidFill>
                  <a:schemeClr val="bg1"/>
                </a:solidFill>
                <a:latin typeface="Calibri" panose="020F0502020204030204" pitchFamily="34" charset="0"/>
                <a:cs typeface="Calibri" panose="020F0502020204030204" pitchFamily="34" charset="0"/>
              </a:rPr>
              <a:t> Raya No. 23, </a:t>
            </a:r>
            <a:r>
              <a:rPr lang="en-US" sz="700" dirty="0" err="1">
                <a:solidFill>
                  <a:schemeClr val="bg1"/>
                </a:solidFill>
                <a:latin typeface="Calibri" panose="020F0502020204030204" pitchFamily="34" charset="0"/>
                <a:cs typeface="Calibri" panose="020F0502020204030204" pitchFamily="34" charset="0"/>
              </a:rPr>
              <a:t>Gunung</a:t>
            </a:r>
            <a:r>
              <a:rPr lang="en-US" sz="700" dirty="0">
                <a:solidFill>
                  <a:schemeClr val="bg1"/>
                </a:solidFill>
                <a:latin typeface="Calibri" panose="020F0502020204030204" pitchFamily="34" charset="0"/>
                <a:cs typeface="Calibri" panose="020F0502020204030204" pitchFamily="34" charset="0"/>
              </a:rPr>
              <a:t> </a:t>
            </a:r>
            <a:r>
              <a:rPr lang="en-US" sz="700" dirty="0" err="1">
                <a:solidFill>
                  <a:schemeClr val="bg1"/>
                </a:solidFill>
                <a:latin typeface="Calibri" panose="020F0502020204030204" pitchFamily="34" charset="0"/>
                <a:cs typeface="Calibri" panose="020F0502020204030204" pitchFamily="34" charset="0"/>
              </a:rPr>
              <a:t>Sahari</a:t>
            </a:r>
            <a:r>
              <a:rPr lang="en-US" sz="700" dirty="0">
                <a:solidFill>
                  <a:schemeClr val="bg1"/>
                </a:solidFill>
                <a:latin typeface="Calibri" panose="020F0502020204030204" pitchFamily="34" charset="0"/>
                <a:cs typeface="Calibri" panose="020F0502020204030204" pitchFamily="34" charset="0"/>
              </a:rPr>
              <a:t> Selatan</a:t>
            </a:r>
          </a:p>
          <a:p>
            <a:r>
              <a:rPr lang="en-US" sz="700" dirty="0" err="1">
                <a:solidFill>
                  <a:schemeClr val="bg1"/>
                </a:solidFill>
                <a:latin typeface="Calibri" panose="020F0502020204030204" pitchFamily="34" charset="0"/>
                <a:cs typeface="Calibri" panose="020F0502020204030204" pitchFamily="34" charset="0"/>
              </a:rPr>
              <a:t>Kemayoran</a:t>
            </a:r>
            <a:r>
              <a:rPr lang="en-US" sz="700" dirty="0">
                <a:solidFill>
                  <a:schemeClr val="bg1"/>
                </a:solidFill>
                <a:latin typeface="Calibri" panose="020F0502020204030204" pitchFamily="34" charset="0"/>
                <a:cs typeface="Calibri" panose="020F0502020204030204" pitchFamily="34" charset="0"/>
              </a:rPr>
              <a:t>, Jakarta Pusat</a:t>
            </a:r>
          </a:p>
        </p:txBody>
      </p:sp>
      <p:sp>
        <p:nvSpPr>
          <p:cNvPr id="20" name="TextBox 19">
            <a:extLst>
              <a:ext uri="{FF2B5EF4-FFF2-40B4-BE49-F238E27FC236}">
                <a16:creationId xmlns:a16="http://schemas.microsoft.com/office/drawing/2014/main" id="{30B754FE-2293-E11B-9C1E-4A6C0258DE27}"/>
              </a:ext>
            </a:extLst>
          </p:cNvPr>
          <p:cNvSpPr txBox="1"/>
          <p:nvPr/>
        </p:nvSpPr>
        <p:spPr>
          <a:xfrm>
            <a:off x="2452581" y="772625"/>
            <a:ext cx="1964140"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Pregnancy Information</a:t>
            </a:r>
          </a:p>
          <a:p>
            <a:r>
              <a:rPr lang="en-US" sz="700" dirty="0">
                <a:latin typeface="Calibri" panose="020F0502020204030204" pitchFamily="34" charset="0"/>
                <a:cs typeface="Calibri" panose="020F0502020204030204" pitchFamily="34" charset="0"/>
              </a:rPr>
              <a:t>Gestational Age: </a:t>
            </a:r>
            <a:r>
              <a:rPr lang="en-US" sz="700" dirty="0">
                <a:solidFill>
                  <a:schemeClr val="dk1"/>
                </a:solidFill>
                <a:latin typeface="Calibri" panose="020F0502020204030204" pitchFamily="34" charset="0"/>
                <a:ea typeface="Calibri"/>
                <a:cs typeface="Calibri" panose="020F0502020204030204" pitchFamily="34" charset="0"/>
                <a:sym typeface="Calibri"/>
              </a:rPr>
              <a:t>&lt;&lt;W&gt;&gt; Weeks &lt;&lt;D&gt;&gt; Days</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Pregnancy Type:  &lt;&lt;Pregnancy Type&gt;&gt;</a:t>
            </a:r>
          </a:p>
          <a:p>
            <a:r>
              <a:rPr lang="en-US" sz="700" b="1" dirty="0">
                <a:latin typeface="Calibri" panose="020F0502020204030204" pitchFamily="34" charset="0"/>
                <a:cs typeface="Calibri" panose="020F0502020204030204" pitchFamily="34" charset="0"/>
              </a:rPr>
              <a:t>Doctor Information</a:t>
            </a:r>
          </a:p>
          <a:p>
            <a:r>
              <a:rPr lang="en-US" sz="700" dirty="0">
                <a:latin typeface="Calibri" panose="020F0502020204030204" pitchFamily="34" charset="0"/>
                <a:cs typeface="Calibri" panose="020F0502020204030204" pitchFamily="34" charset="0"/>
              </a:rPr>
              <a:t>Physician: &lt;&lt;Doctor&gt;&gt;</a:t>
            </a:r>
          </a:p>
          <a:p>
            <a:r>
              <a:rPr lang="en-US" sz="700" dirty="0">
                <a:latin typeface="Calibri" panose="020F0502020204030204" pitchFamily="34" charset="0"/>
                <a:cs typeface="Calibri" panose="020F0502020204030204" pitchFamily="34" charset="0"/>
              </a:rPr>
              <a:t>Hospital/Clinic: &lt;&lt;Hospital&gt;&gt;</a:t>
            </a:r>
          </a:p>
          <a:p>
            <a:endParaRPr lang="en-US" sz="800" dirty="0">
              <a:latin typeface="Calibri" panose="020F0502020204030204" pitchFamily="34" charset="0"/>
              <a:cs typeface="Calibri" panose="020F0502020204030204" pitchFamily="34" charset="0"/>
            </a:endParaRPr>
          </a:p>
        </p:txBody>
      </p:sp>
      <p:sp>
        <p:nvSpPr>
          <p:cNvPr id="27" name="TextBox 26">
            <a:extLst>
              <a:ext uri="{FF2B5EF4-FFF2-40B4-BE49-F238E27FC236}">
                <a16:creationId xmlns:a16="http://schemas.microsoft.com/office/drawing/2014/main" id="{B12B9E64-17F1-44BB-2354-4BA13081791A}"/>
              </a:ext>
            </a:extLst>
          </p:cNvPr>
          <p:cNvSpPr txBox="1"/>
          <p:nvPr/>
        </p:nvSpPr>
        <p:spPr>
          <a:xfrm>
            <a:off x="4466785" y="766381"/>
            <a:ext cx="1956391" cy="738664"/>
          </a:xfrm>
          <a:prstGeom prst="rect">
            <a:avLst/>
          </a:prstGeom>
          <a:noFill/>
          <a:ln cmpd="tri">
            <a:noFill/>
          </a:ln>
        </p:spPr>
        <p:txBody>
          <a:bodyPr wrap="square" rtlCol="0">
            <a:spAutoFit/>
          </a:bodyPr>
          <a:lstStyle/>
          <a:p>
            <a:r>
              <a:rPr lang="en-US" sz="700" b="1" dirty="0">
                <a:latin typeface="Calibri" panose="020F0502020204030204" pitchFamily="34" charset="0"/>
                <a:cs typeface="Calibri" panose="020F0502020204030204" pitchFamily="34" charset="0"/>
              </a:rPr>
              <a:t>Test Information</a:t>
            </a:r>
          </a:p>
          <a:p>
            <a:r>
              <a:rPr lang="en-US" sz="700" dirty="0">
                <a:latin typeface="Calibri" panose="020F0502020204030204" pitchFamily="34" charset="0"/>
                <a:cs typeface="Calibri" panose="020F0502020204030204" pitchFamily="34" charset="0"/>
              </a:rPr>
              <a:t>Sample Type: Blood</a:t>
            </a:r>
          </a:p>
          <a:p>
            <a:r>
              <a:rPr lang="en-US" sz="700" dirty="0">
                <a:latin typeface="Calibri" panose="020F0502020204030204" pitchFamily="34" charset="0"/>
                <a:cs typeface="Calibri" panose="020F0502020204030204" pitchFamily="34" charset="0"/>
              </a:rPr>
              <a:t>Collection Date: &lt;&lt;Collection Date&gt;&gt;</a:t>
            </a:r>
          </a:p>
          <a:p>
            <a:r>
              <a:rPr lang="en-US" sz="700" dirty="0">
                <a:latin typeface="Calibri" panose="020F0502020204030204" pitchFamily="34" charset="0"/>
                <a:cs typeface="Calibri" panose="020F0502020204030204" pitchFamily="34" charset="0"/>
              </a:rPr>
              <a:t>Receipt Date: &lt;&lt;Receipt Date&gt;&gt;</a:t>
            </a:r>
          </a:p>
          <a:p>
            <a:r>
              <a:rPr lang="en-US" sz="700" dirty="0">
                <a:latin typeface="Calibri" panose="020F0502020204030204" pitchFamily="34" charset="0"/>
                <a:cs typeface="Calibri" panose="020F0502020204030204" pitchFamily="34" charset="0"/>
              </a:rPr>
              <a:t>Report Date: &lt;&lt;Report Date&gt;&gt;</a:t>
            </a:r>
          </a:p>
          <a:p>
            <a:r>
              <a:rPr lang="en-US" sz="700" dirty="0">
                <a:latin typeface="Calibri" panose="020F0502020204030204" pitchFamily="34" charset="0"/>
                <a:cs typeface="Calibri" panose="020F0502020204030204" pitchFamily="34" charset="0"/>
              </a:rPr>
              <a:t>Test Requested: &lt;&lt;Test Requested&gt;&gt;</a:t>
            </a:r>
          </a:p>
        </p:txBody>
      </p:sp>
      <p:sp>
        <p:nvSpPr>
          <p:cNvPr id="9" name="TextBox 8">
            <a:extLst>
              <a:ext uri="{FF2B5EF4-FFF2-40B4-BE49-F238E27FC236}">
                <a16:creationId xmlns:a16="http://schemas.microsoft.com/office/drawing/2014/main" id="{309EF738-C401-87C7-1FAC-90D936AA7ED3}"/>
              </a:ext>
            </a:extLst>
          </p:cNvPr>
          <p:cNvSpPr txBox="1"/>
          <p:nvPr/>
        </p:nvSpPr>
        <p:spPr>
          <a:xfrm>
            <a:off x="434824" y="772625"/>
            <a:ext cx="1956393"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Patient Information</a:t>
            </a:r>
          </a:p>
          <a:p>
            <a:r>
              <a:rPr lang="en-US" sz="700" dirty="0">
                <a:latin typeface="Calibri" panose="020F0502020204030204" pitchFamily="34" charset="0"/>
                <a:cs typeface="Calibri" panose="020F0502020204030204" pitchFamily="34" charset="0"/>
              </a:rPr>
              <a:t>Lab ID: &lt;&lt;Sample Number&gt;&gt;</a:t>
            </a:r>
          </a:p>
          <a:p>
            <a:r>
              <a:rPr lang="en-US" sz="700" dirty="0">
                <a:latin typeface="Calibri" panose="020F0502020204030204" pitchFamily="34" charset="0"/>
                <a:cs typeface="Calibri" panose="020F0502020204030204" pitchFamily="34" charset="0"/>
              </a:rPr>
              <a:t>Patient Name: &lt;&lt;Patient Name&gt;&gt;</a:t>
            </a:r>
          </a:p>
          <a:p>
            <a:r>
              <a:rPr lang="en-US" sz="700" dirty="0">
                <a:latin typeface="Calibri" panose="020F0502020204030204" pitchFamily="34" charset="0"/>
                <a:cs typeface="Calibri" panose="020F0502020204030204" pitchFamily="34" charset="0"/>
              </a:rPr>
              <a:t>Date of Birth: &lt;&lt;DOB&gt;&gt; (&lt;&lt;A&gt;&gt;)</a:t>
            </a:r>
          </a:p>
          <a:p>
            <a:r>
              <a:rPr lang="en-US" sz="700" dirty="0">
                <a:latin typeface="Calibri" panose="020F0502020204030204" pitchFamily="34" charset="0"/>
                <a:cs typeface="Calibri" panose="020F0502020204030204" pitchFamily="34" charset="0"/>
              </a:rPr>
              <a:t>Maternal Weight/Height: </a:t>
            </a:r>
            <a:r>
              <a:rPr lang="en-US" sz="700" dirty="0">
                <a:solidFill>
                  <a:srgbClr val="000000"/>
                </a:solidFill>
                <a:latin typeface="Calibri" panose="020F0502020204030204" pitchFamily="34" charset="0"/>
                <a:ea typeface="Calibri"/>
                <a:cs typeface="Calibri" panose="020F0502020204030204" pitchFamily="34" charset="0"/>
                <a:sym typeface="Calibri"/>
              </a:rPr>
              <a:t>&lt;&lt;kg&gt;&gt;kg / &lt;&lt;cm&gt;&gt;cm </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Indication: </a:t>
            </a:r>
            <a:r>
              <a:rPr lang="en-US" sz="700" dirty="0">
                <a:solidFill>
                  <a:srgbClr val="000000"/>
                </a:solidFill>
                <a:latin typeface="Calibri" panose="020F0502020204030204" pitchFamily="34" charset="0"/>
                <a:ea typeface="Calibri"/>
                <a:cs typeface="Calibri" panose="020F0502020204030204" pitchFamily="34" charset="0"/>
                <a:sym typeface="Calibri"/>
              </a:rPr>
              <a:t>&lt;&lt;Indication&gt;&gt;</a:t>
            </a:r>
            <a:endParaRPr lang="en-US" sz="700" dirty="0">
              <a:latin typeface="Calibri" panose="020F0502020204030204" pitchFamily="34" charset="0"/>
              <a:cs typeface="Calibri" panose="020F0502020204030204" pitchFamily="34" charset="0"/>
            </a:endParaRPr>
          </a:p>
          <a:p>
            <a:endParaRPr lang="en-US" sz="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395848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A205713-3348-4385-2B4B-E68890BDD5BF}"/>
              </a:ext>
            </a:extLst>
          </p:cNvPr>
          <p:cNvSpPr/>
          <p:nvPr/>
        </p:nvSpPr>
        <p:spPr>
          <a:xfrm>
            <a:off x="430623" y="772625"/>
            <a:ext cx="1956394"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6" name="Rectangle 5">
            <a:extLst>
              <a:ext uri="{FF2B5EF4-FFF2-40B4-BE49-F238E27FC236}">
                <a16:creationId xmlns:a16="http://schemas.microsoft.com/office/drawing/2014/main" id="{690747F1-4CEA-40FD-98C3-6C40BF950E8B}"/>
              </a:ext>
            </a:extLst>
          </p:cNvPr>
          <p:cNvSpPr/>
          <p:nvPr/>
        </p:nvSpPr>
        <p:spPr>
          <a:xfrm>
            <a:off x="2452579" y="772625"/>
            <a:ext cx="1956393"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10" name="Rectangle 9">
            <a:extLst>
              <a:ext uri="{FF2B5EF4-FFF2-40B4-BE49-F238E27FC236}">
                <a16:creationId xmlns:a16="http://schemas.microsoft.com/office/drawing/2014/main" id="{94F0FCA8-40AD-49DE-872B-14A5F086A1B6}"/>
              </a:ext>
            </a:extLst>
          </p:cNvPr>
          <p:cNvSpPr/>
          <p:nvPr/>
        </p:nvSpPr>
        <p:spPr>
          <a:xfrm>
            <a:off x="4474534" y="772625"/>
            <a:ext cx="1956393" cy="954107"/>
          </a:xfrm>
          <a:prstGeom prst="rect">
            <a:avLst/>
          </a:prstGeom>
          <a:noFill/>
          <a:ln w="15875" cmpd="thickThin">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12" name="Rectangle 11">
            <a:extLst>
              <a:ext uri="{FF2B5EF4-FFF2-40B4-BE49-F238E27FC236}">
                <a16:creationId xmlns:a16="http://schemas.microsoft.com/office/drawing/2014/main" id="{7CA9F03C-C0C8-69FC-D232-9360D2FE9B59}"/>
              </a:ext>
            </a:extLst>
          </p:cNvPr>
          <p:cNvSpPr/>
          <p:nvPr/>
        </p:nvSpPr>
        <p:spPr>
          <a:xfrm>
            <a:off x="4214805" y="181606"/>
            <a:ext cx="2259657" cy="584775"/>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en-US" sz="3200" b="1" cap="none" spc="0" dirty="0">
                <a:ln/>
                <a:solidFill>
                  <a:srgbClr val="01A3C9"/>
                </a:solidFill>
                <a:effectLst/>
                <a:latin typeface="Calibri" panose="020F0502020204030204" pitchFamily="34" charset="0"/>
                <a:cs typeface="Calibri" panose="020F0502020204030204" pitchFamily="34" charset="0"/>
              </a:rPr>
              <a:t>NIPT </a:t>
            </a:r>
            <a:r>
              <a:rPr lang="en-US" sz="2000" cap="none" spc="0" dirty="0">
                <a:ln/>
                <a:solidFill>
                  <a:srgbClr val="01A3C9"/>
                </a:solidFill>
                <a:effectLst/>
                <a:latin typeface="Calibri" panose="020F0502020204030204" pitchFamily="34" charset="0"/>
                <a:cs typeface="Calibri" panose="020F0502020204030204" pitchFamily="34" charset="0"/>
              </a:rPr>
              <a:t>Test Report</a:t>
            </a:r>
            <a:endParaRPr lang="en-US" sz="3200" cap="none" spc="0" dirty="0">
              <a:ln/>
              <a:solidFill>
                <a:srgbClr val="01A3C9"/>
              </a:solidFill>
              <a:effectLst/>
              <a:latin typeface="Calibri" panose="020F0502020204030204" pitchFamily="34" charset="0"/>
              <a:cs typeface="Calibri" panose="020F0502020204030204" pitchFamily="34" charset="0"/>
            </a:endParaRPr>
          </a:p>
        </p:txBody>
      </p:sp>
      <p:sp>
        <p:nvSpPr>
          <p:cNvPr id="13" name="TextBox 12">
            <a:extLst>
              <a:ext uri="{FF2B5EF4-FFF2-40B4-BE49-F238E27FC236}">
                <a16:creationId xmlns:a16="http://schemas.microsoft.com/office/drawing/2014/main" id="{37754FAC-03F1-BCC7-92A9-9BBA783CFE39}"/>
              </a:ext>
            </a:extLst>
          </p:cNvPr>
          <p:cNvSpPr txBox="1"/>
          <p:nvPr/>
        </p:nvSpPr>
        <p:spPr>
          <a:xfrm>
            <a:off x="5770169" y="9510229"/>
            <a:ext cx="660758" cy="215444"/>
          </a:xfrm>
          <a:prstGeom prst="rect">
            <a:avLst/>
          </a:prstGeom>
          <a:noFill/>
        </p:spPr>
        <p:txBody>
          <a:bodyPr wrap="none" rtlCol="0">
            <a:spAutoFit/>
          </a:bodyPr>
          <a:lstStyle/>
          <a:p>
            <a:r>
              <a:rPr lang="en-US" sz="800" i="1" dirty="0">
                <a:solidFill>
                  <a:schemeClr val="tx1">
                    <a:lumMod val="50000"/>
                    <a:lumOff val="50000"/>
                  </a:schemeClr>
                </a:solidFill>
                <a:latin typeface="Calibri" panose="020F0502020204030204" pitchFamily="34" charset="0"/>
                <a:cs typeface="Calibri" panose="020F0502020204030204" pitchFamily="34" charset="0"/>
              </a:rPr>
              <a:t>Page 1 of 1</a:t>
            </a:r>
          </a:p>
        </p:txBody>
      </p:sp>
      <p:sp>
        <p:nvSpPr>
          <p:cNvPr id="26" name="TextBox 25">
            <a:extLst>
              <a:ext uri="{FF2B5EF4-FFF2-40B4-BE49-F238E27FC236}">
                <a16:creationId xmlns:a16="http://schemas.microsoft.com/office/drawing/2014/main" id="{0C3FE09A-7043-B615-4C39-2E64D394CB1E}"/>
              </a:ext>
            </a:extLst>
          </p:cNvPr>
          <p:cNvSpPr txBox="1"/>
          <p:nvPr/>
        </p:nvSpPr>
        <p:spPr>
          <a:xfrm>
            <a:off x="427072" y="2041439"/>
            <a:ext cx="5996103" cy="261610"/>
          </a:xfrm>
          <a:prstGeom prst="rect">
            <a:avLst/>
          </a:prstGeom>
          <a:noFill/>
        </p:spPr>
        <p:txBody>
          <a:bodyPr wrap="square" rtlCol="0">
            <a:spAutoFit/>
          </a:bodyPr>
          <a:lstStyle/>
          <a:p>
            <a:pPr algn="just"/>
            <a:r>
              <a:rPr lang="en-US" sz="1100" b="1" dirty="0">
                <a:latin typeface="Calibri" panose="020F0502020204030204" pitchFamily="34" charset="0"/>
                <a:cs typeface="Calibri" panose="020F0502020204030204" pitchFamily="34" charset="0"/>
              </a:rPr>
              <a:t>Microdeletions/duplications syndromes</a:t>
            </a:r>
            <a:endParaRPr lang="en-US" sz="900" dirty="0">
              <a:latin typeface="Calibri" panose="020F0502020204030204" pitchFamily="34" charset="0"/>
              <a:cs typeface="Calibri" panose="020F0502020204030204" pitchFamily="34" charset="0"/>
            </a:endParaRPr>
          </a:p>
        </p:txBody>
      </p:sp>
      <p:sp>
        <p:nvSpPr>
          <p:cNvPr id="2" name="Rectangle 1">
            <a:extLst>
              <a:ext uri="{FF2B5EF4-FFF2-40B4-BE49-F238E27FC236}">
                <a16:creationId xmlns:a16="http://schemas.microsoft.com/office/drawing/2014/main" id="{4F66F174-09D0-F6D5-993E-D54D9AC3CAC0}"/>
              </a:ext>
            </a:extLst>
          </p:cNvPr>
          <p:cNvSpPr/>
          <p:nvPr/>
        </p:nvSpPr>
        <p:spPr>
          <a:xfrm>
            <a:off x="446345" y="9243237"/>
            <a:ext cx="5252706" cy="481157"/>
          </a:xfrm>
          <a:prstGeom prst="rect">
            <a:avLst/>
          </a:prstGeom>
          <a:solidFill>
            <a:srgbClr val="00A6C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cs typeface="Calibri" panose="020F0502020204030204" pitchFamily="34" charset="0"/>
            </a:endParaRPr>
          </a:p>
        </p:txBody>
      </p:sp>
      <p:sp>
        <p:nvSpPr>
          <p:cNvPr id="8" name="TextBox 7">
            <a:extLst>
              <a:ext uri="{FF2B5EF4-FFF2-40B4-BE49-F238E27FC236}">
                <a16:creationId xmlns:a16="http://schemas.microsoft.com/office/drawing/2014/main" id="{7F8201BB-400A-5459-CAF8-270EE4D699CB}"/>
              </a:ext>
            </a:extLst>
          </p:cNvPr>
          <p:cNvSpPr txBox="1"/>
          <p:nvPr/>
        </p:nvSpPr>
        <p:spPr>
          <a:xfrm>
            <a:off x="398720" y="9214510"/>
            <a:ext cx="2722170" cy="538609"/>
          </a:xfrm>
          <a:prstGeom prst="rect">
            <a:avLst/>
          </a:prstGeom>
          <a:noFill/>
        </p:spPr>
        <p:txBody>
          <a:bodyPr wrap="square" rtlCol="0">
            <a:spAutoFit/>
          </a:bodyPr>
          <a:lstStyle/>
          <a:p>
            <a:r>
              <a:rPr lang="en-US" sz="800" b="1" dirty="0" err="1">
                <a:solidFill>
                  <a:schemeClr val="bg1"/>
                </a:solidFill>
                <a:latin typeface="Calibri" panose="020F0502020204030204" pitchFamily="34" charset="0"/>
                <a:cs typeface="Calibri" panose="020F0502020204030204" pitchFamily="34" charset="0"/>
              </a:rPr>
              <a:t>Cordlife</a:t>
            </a:r>
            <a:r>
              <a:rPr lang="en-US" sz="800" b="1" dirty="0">
                <a:solidFill>
                  <a:schemeClr val="bg1"/>
                </a:solidFill>
                <a:latin typeface="Calibri" panose="020F0502020204030204" pitchFamily="34" charset="0"/>
                <a:cs typeface="Calibri" panose="020F0502020204030204" pitchFamily="34" charset="0"/>
              </a:rPr>
              <a:t> Group Ltd.</a:t>
            </a:r>
          </a:p>
          <a:p>
            <a:r>
              <a:rPr lang="en-US" sz="700" dirty="0">
                <a:solidFill>
                  <a:schemeClr val="bg1"/>
                </a:solidFill>
                <a:latin typeface="Calibri" panose="020F0502020204030204" pitchFamily="34" charset="0"/>
                <a:cs typeface="Calibri" panose="020F0502020204030204" pitchFamily="34" charset="0"/>
              </a:rPr>
              <a:t>1 Yishun Industrial Street 1</a:t>
            </a:r>
          </a:p>
          <a:p>
            <a:r>
              <a:rPr lang="en-US" sz="700" dirty="0">
                <a:solidFill>
                  <a:schemeClr val="bg1"/>
                </a:solidFill>
                <a:latin typeface="Calibri" panose="020F0502020204030204" pitchFamily="34" charset="0"/>
                <a:cs typeface="Calibri" panose="020F0502020204030204" pitchFamily="34" charset="0"/>
              </a:rPr>
              <a:t>#06-01/09 </a:t>
            </a:r>
            <a:r>
              <a:rPr lang="en-US" sz="700" dirty="0" err="1">
                <a:solidFill>
                  <a:schemeClr val="bg1"/>
                </a:solidFill>
                <a:latin typeface="Calibri" panose="020F0502020204030204" pitchFamily="34" charset="0"/>
                <a:cs typeface="Calibri" panose="020F0502020204030204" pitchFamily="34" charset="0"/>
              </a:rPr>
              <a:t>A’Posh</a:t>
            </a:r>
            <a:r>
              <a:rPr lang="en-US" sz="700" dirty="0">
                <a:solidFill>
                  <a:schemeClr val="bg1"/>
                </a:solidFill>
                <a:latin typeface="Calibri" panose="020F0502020204030204" pitchFamily="34" charset="0"/>
                <a:cs typeface="Calibri" panose="020F0502020204030204" pitchFamily="34" charset="0"/>
              </a:rPr>
              <a:t> </a:t>
            </a:r>
            <a:r>
              <a:rPr lang="en-US" sz="700" dirty="0" err="1">
                <a:solidFill>
                  <a:schemeClr val="bg1"/>
                </a:solidFill>
                <a:latin typeface="Calibri" panose="020F0502020204030204" pitchFamily="34" charset="0"/>
                <a:cs typeface="Calibri" panose="020F0502020204030204" pitchFamily="34" charset="0"/>
              </a:rPr>
              <a:t>BizHub</a:t>
            </a:r>
            <a:endParaRPr lang="en-US" sz="700" dirty="0">
              <a:solidFill>
                <a:schemeClr val="bg1"/>
              </a:solidFill>
              <a:latin typeface="Calibri" panose="020F0502020204030204" pitchFamily="34" charset="0"/>
              <a:cs typeface="Calibri" panose="020F0502020204030204" pitchFamily="34" charset="0"/>
            </a:endParaRPr>
          </a:p>
          <a:p>
            <a:r>
              <a:rPr lang="en-US" sz="700" dirty="0">
                <a:solidFill>
                  <a:schemeClr val="bg1"/>
                </a:solidFill>
                <a:latin typeface="Calibri" panose="020F0502020204030204" pitchFamily="34" charset="0"/>
                <a:cs typeface="Calibri" panose="020F0502020204030204" pitchFamily="34" charset="0"/>
              </a:rPr>
              <a:t>Singapore 768160</a:t>
            </a:r>
          </a:p>
        </p:txBody>
      </p:sp>
      <p:sp>
        <p:nvSpPr>
          <p:cNvPr id="9" name="TextBox 8">
            <a:extLst>
              <a:ext uri="{FF2B5EF4-FFF2-40B4-BE49-F238E27FC236}">
                <a16:creationId xmlns:a16="http://schemas.microsoft.com/office/drawing/2014/main" id="{AE237A4B-BF3F-A231-3F4F-A37D3C359050}"/>
              </a:ext>
            </a:extLst>
          </p:cNvPr>
          <p:cNvSpPr txBox="1"/>
          <p:nvPr/>
        </p:nvSpPr>
        <p:spPr>
          <a:xfrm>
            <a:off x="430623" y="1798467"/>
            <a:ext cx="3742660" cy="307777"/>
          </a:xfrm>
          <a:prstGeom prst="rect">
            <a:avLst/>
          </a:prstGeom>
          <a:noFill/>
        </p:spPr>
        <p:txBody>
          <a:bodyPr wrap="square">
            <a:spAutoFit/>
          </a:bodyPr>
          <a:lstStyle/>
          <a:p>
            <a:r>
              <a:rPr lang="en-US" sz="1400" b="1" dirty="0">
                <a:solidFill>
                  <a:srgbClr val="256D9D"/>
                </a:solidFill>
                <a:latin typeface="Calibri" panose="020F0502020204030204" pitchFamily="34" charset="0"/>
                <a:cs typeface="Calibri" panose="020F0502020204030204" pitchFamily="34" charset="0"/>
              </a:rPr>
              <a:t>APPENDIX</a:t>
            </a:r>
          </a:p>
        </p:txBody>
      </p:sp>
      <p:graphicFrame>
        <p:nvGraphicFramePr>
          <p:cNvPr id="15" name="Table 14">
            <a:extLst>
              <a:ext uri="{FF2B5EF4-FFF2-40B4-BE49-F238E27FC236}">
                <a16:creationId xmlns:a16="http://schemas.microsoft.com/office/drawing/2014/main" id="{D7560F51-55B8-6972-7A07-055C195AA506}"/>
              </a:ext>
            </a:extLst>
          </p:cNvPr>
          <p:cNvGraphicFramePr>
            <a:graphicFrameLocks noGrp="1"/>
          </p:cNvGraphicFramePr>
          <p:nvPr>
            <p:extLst>
              <p:ext uri="{D42A27DB-BD31-4B8C-83A1-F6EECF244321}">
                <p14:modId xmlns:p14="http://schemas.microsoft.com/office/powerpoint/2010/main" val="4041975154"/>
              </p:ext>
            </p:extLst>
          </p:nvPr>
        </p:nvGraphicFramePr>
        <p:xfrm>
          <a:off x="449872" y="2303049"/>
          <a:ext cx="1494000" cy="6797040"/>
        </p:xfrm>
        <a:graphic>
          <a:graphicData uri="http://schemas.openxmlformats.org/drawingml/2006/table">
            <a:tbl>
              <a:tblPr firstRow="1" bandRow="1">
                <a:tableStyleId>{EB9631B5-78F2-41C9-869B-9F39066F8104}</a:tableStyleId>
              </a:tblPr>
              <a:tblGrid>
                <a:gridCol w="1494000">
                  <a:extLst>
                    <a:ext uri="{9D8B030D-6E8A-4147-A177-3AD203B41FA5}">
                      <a16:colId xmlns:a16="http://schemas.microsoft.com/office/drawing/2014/main" val="539532219"/>
                    </a:ext>
                  </a:extLst>
                </a:gridCol>
              </a:tblGrid>
              <a:tr h="0">
                <a:tc>
                  <a:txBody>
                    <a:bodyPr/>
                    <a:lstStyle/>
                    <a:p>
                      <a:pPr algn="ctr"/>
                      <a:r>
                        <a:rPr lang="en-US" sz="800" b="1" dirty="0">
                          <a:solidFill>
                            <a:schemeClr val="bg1"/>
                          </a:solidFill>
                          <a:latin typeface="Calibri" panose="020F0502020204030204" pitchFamily="34" charset="0"/>
                          <a:cs typeface="Calibri" panose="020F0502020204030204" pitchFamily="34" charset="0"/>
                        </a:rPr>
                        <a:t>Condition</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extLst>
                  <a:ext uri="{0D108BD9-81ED-4DB2-BD59-A6C34878D82A}">
                    <a16:rowId xmlns:a16="http://schemas.microsoft.com/office/drawing/2014/main" val="2794387008"/>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1p32-p31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483159712"/>
                  </a:ext>
                </a:extLst>
              </a:tr>
              <a:tr h="0">
                <a:tc>
                  <a:txBody>
                    <a:bodyPr/>
                    <a:lstStyle/>
                    <a:p>
                      <a:pPr algn="ctr"/>
                      <a:r>
                        <a:rPr lang="en-US" sz="650" b="0" dirty="0">
                          <a:latin typeface="Calibri" panose="020F0502020204030204" pitchFamily="34" charset="0"/>
                          <a:cs typeface="Calibri" panose="020F0502020204030204" pitchFamily="34" charset="0"/>
                        </a:rPr>
                        <a:t>1q41-q42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63445317"/>
                  </a:ext>
                </a:extLst>
              </a:tr>
              <a:tr h="0">
                <a:tc>
                  <a:txBody>
                    <a:bodyPr/>
                    <a:lstStyle/>
                    <a:p>
                      <a:pPr algn="ctr"/>
                      <a:r>
                        <a:rPr lang="en-US" sz="650" b="0" dirty="0">
                          <a:latin typeface="Calibri" panose="020F0502020204030204" pitchFamily="34" charset="0"/>
                          <a:cs typeface="Calibri" panose="020F0502020204030204" pitchFamily="34" charset="0"/>
                        </a:rPr>
                        <a:t>1q43-q44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2868477542"/>
                  </a:ext>
                </a:extLst>
              </a:tr>
              <a:tr h="0">
                <a:tc>
                  <a:txBody>
                    <a:bodyPr/>
                    <a:lstStyle/>
                    <a:p>
                      <a:pPr algn="ctr"/>
                      <a:r>
                        <a:rPr lang="en-US" sz="650" b="0" dirty="0">
                          <a:latin typeface="Calibri" panose="020F0502020204030204" pitchFamily="34" charset="0"/>
                          <a:cs typeface="Calibri" panose="020F0502020204030204" pitchFamily="34" charset="0"/>
                        </a:rPr>
                        <a:t>2p12-p11.2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16924696"/>
                  </a:ext>
                </a:extLst>
              </a:tr>
              <a:tr h="0">
                <a:tc>
                  <a:txBody>
                    <a:bodyPr/>
                    <a:lstStyle/>
                    <a:p>
                      <a:pPr algn="ctr"/>
                      <a:r>
                        <a:rPr lang="en-US" sz="650" b="0" dirty="0">
                          <a:latin typeface="Calibri" panose="020F0502020204030204" pitchFamily="34" charset="0"/>
                          <a:cs typeface="Calibri" panose="020F0502020204030204" pitchFamily="34" charset="0"/>
                        </a:rPr>
                        <a:t>2p15-p16.1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726759511"/>
                  </a:ext>
                </a:extLst>
              </a:tr>
              <a:tr h="0">
                <a:tc>
                  <a:txBody>
                    <a:bodyPr/>
                    <a:lstStyle/>
                    <a:p>
                      <a:pPr algn="ctr"/>
                      <a:r>
                        <a:rPr lang="en-US" sz="650" b="0" dirty="0">
                          <a:latin typeface="Calibri" panose="020F0502020204030204" pitchFamily="34" charset="0"/>
                          <a:cs typeface="Calibri" panose="020F0502020204030204" pitchFamily="34" charset="0"/>
                        </a:rPr>
                        <a:t>2q13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80286878"/>
                  </a:ext>
                </a:extLst>
              </a:tr>
              <a:tr h="0">
                <a:tc>
                  <a:txBody>
                    <a:bodyPr/>
                    <a:lstStyle/>
                    <a:p>
                      <a:pPr algn="ctr"/>
                      <a:r>
                        <a:rPr lang="en-US" sz="650" b="0" dirty="0">
                          <a:latin typeface="Calibri" panose="020F0502020204030204" pitchFamily="34" charset="0"/>
                          <a:cs typeface="Calibri" panose="020F0502020204030204" pitchFamily="34" charset="0"/>
                        </a:rPr>
                        <a:t>2q13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856382517"/>
                  </a:ext>
                </a:extLst>
              </a:tr>
              <a:tr h="0">
                <a:tc>
                  <a:txBody>
                    <a:bodyPr/>
                    <a:lstStyle/>
                    <a:p>
                      <a:pPr algn="ctr"/>
                      <a:r>
                        <a:rPr lang="en-US" sz="650" b="0" dirty="0">
                          <a:latin typeface="Calibri" panose="020F0502020204030204" pitchFamily="34" charset="0"/>
                          <a:cs typeface="Calibri" panose="020F0502020204030204" pitchFamily="34" charset="0"/>
                        </a:rPr>
                        <a:t>2q31.1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7209564"/>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latin typeface="Calibri" panose="020F0502020204030204" pitchFamily="34" charset="0"/>
                          <a:cs typeface="Calibri" panose="020F0502020204030204" pitchFamily="34" charset="0"/>
                        </a:rPr>
                        <a:t>2q31.1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053804985"/>
                  </a:ext>
                </a:extLst>
              </a:tr>
              <a:tr h="0">
                <a:tc>
                  <a:txBody>
                    <a:bodyPr/>
                    <a:lstStyle/>
                    <a:p>
                      <a:pPr algn="ctr"/>
                      <a:r>
                        <a:rPr lang="en-US" sz="650" b="0" dirty="0">
                          <a:latin typeface="Calibri" panose="020F0502020204030204" pitchFamily="34" charset="0"/>
                          <a:cs typeface="Calibri" panose="020F0502020204030204" pitchFamily="34" charset="0"/>
                        </a:rPr>
                        <a:t>2q35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8924974"/>
                  </a:ext>
                </a:extLst>
              </a:tr>
              <a:tr h="0">
                <a:tc>
                  <a:txBody>
                    <a:bodyPr/>
                    <a:lstStyle/>
                    <a:p>
                      <a:pPr algn="ctr"/>
                      <a:r>
                        <a:rPr lang="en-US" sz="650" b="0" dirty="0">
                          <a:latin typeface="Calibri" panose="020F0502020204030204" pitchFamily="34" charset="0"/>
                          <a:cs typeface="Calibri" panose="020F0502020204030204" pitchFamily="34" charset="0"/>
                        </a:rPr>
                        <a:t>3p25.3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398754339"/>
                  </a:ext>
                </a:extLst>
              </a:tr>
              <a:tr h="0">
                <a:tc>
                  <a:txBody>
                    <a:bodyPr/>
                    <a:lstStyle/>
                    <a:p>
                      <a:pPr algn="ctr"/>
                      <a:r>
                        <a:rPr lang="en-US" sz="650" b="0" dirty="0">
                          <a:latin typeface="Calibri" panose="020F0502020204030204" pitchFamily="34" charset="0"/>
                          <a:cs typeface="Calibri" panose="020F0502020204030204" pitchFamily="34" charset="0"/>
                        </a:rPr>
                        <a:t>3pter-p25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163217093"/>
                  </a:ext>
                </a:extLst>
              </a:tr>
              <a:tr h="0">
                <a:tc>
                  <a:txBody>
                    <a:bodyPr/>
                    <a:lstStyle/>
                    <a:p>
                      <a:pPr algn="ctr"/>
                      <a:r>
                        <a:rPr lang="en-US" sz="650" b="0" dirty="0">
                          <a:latin typeface="Calibri" panose="020F0502020204030204" pitchFamily="34" charset="0"/>
                          <a:cs typeface="Calibri" panose="020F0502020204030204" pitchFamily="34" charset="0"/>
                        </a:rPr>
                        <a:t>3q13.31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956480181"/>
                  </a:ext>
                </a:extLst>
              </a:tr>
              <a:tr h="0">
                <a:tc>
                  <a:txBody>
                    <a:bodyPr/>
                    <a:lstStyle/>
                    <a:p>
                      <a:pPr algn="ctr"/>
                      <a:r>
                        <a:rPr lang="en-US" sz="650" b="0" dirty="0">
                          <a:latin typeface="Calibri" panose="020F0502020204030204" pitchFamily="34" charset="0"/>
                          <a:cs typeface="Calibri" panose="020F0502020204030204" pitchFamily="34" charset="0"/>
                        </a:rPr>
                        <a:t>Dandy-Walker syndrome (DWS)</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18225163"/>
                  </a:ext>
                </a:extLst>
              </a:tr>
              <a:tr h="0">
                <a:tc>
                  <a:txBody>
                    <a:bodyPr/>
                    <a:lstStyle/>
                    <a:p>
                      <a:pPr algn="ctr"/>
                      <a:r>
                        <a:rPr lang="en-US" sz="650" b="0" dirty="0">
                          <a:latin typeface="Calibri" panose="020F0502020204030204" pitchFamily="34" charset="0"/>
                          <a:cs typeface="Calibri" panose="020F0502020204030204" pitchFamily="34" charset="0"/>
                        </a:rPr>
                        <a:t>3q26 microduplication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848936596"/>
                  </a:ext>
                </a:extLst>
              </a:tr>
              <a:tr h="0">
                <a:tc>
                  <a:txBody>
                    <a:bodyPr/>
                    <a:lstStyle/>
                    <a:p>
                      <a:pPr algn="ctr"/>
                      <a:r>
                        <a:rPr lang="en-US" sz="650" b="0" dirty="0">
                          <a:latin typeface="Calibri" panose="020F0502020204030204" pitchFamily="34" charset="0"/>
                          <a:cs typeface="Calibri" panose="020F0502020204030204" pitchFamily="34" charset="0"/>
                        </a:rPr>
                        <a:t>3q29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456227924"/>
                  </a:ext>
                </a:extLst>
              </a:tr>
              <a:tr h="0">
                <a:tc>
                  <a:txBody>
                    <a:bodyPr/>
                    <a:lstStyle/>
                    <a:p>
                      <a:pPr algn="ctr"/>
                      <a:r>
                        <a:rPr lang="en-US" sz="650" b="0" dirty="0">
                          <a:latin typeface="Calibri" panose="020F0502020204030204" pitchFamily="34" charset="0"/>
                          <a:cs typeface="Calibri" panose="020F0502020204030204" pitchFamily="34" charset="0"/>
                        </a:rPr>
                        <a:t>4q21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202156577"/>
                  </a:ext>
                </a:extLst>
              </a:tr>
              <a:tr h="0">
                <a:tc>
                  <a:txBody>
                    <a:bodyPr/>
                    <a:lstStyle/>
                    <a:p>
                      <a:pPr algn="ctr"/>
                      <a:r>
                        <a:rPr lang="en-US" sz="650" b="0" dirty="0" err="1">
                          <a:latin typeface="Calibri" panose="020F0502020204030204" pitchFamily="34" charset="0"/>
                          <a:cs typeface="Calibri" panose="020F0502020204030204" pitchFamily="34" charset="0"/>
                        </a:rPr>
                        <a:t>Axenfeld</a:t>
                      </a:r>
                      <a:r>
                        <a:rPr lang="en-US" sz="650" b="0" dirty="0">
                          <a:latin typeface="Calibri" panose="020F0502020204030204" pitchFamily="34" charset="0"/>
                          <a:cs typeface="Calibri" panose="020F0502020204030204" pitchFamily="34" charset="0"/>
                        </a:rPr>
                        <a:t>-Rieger syndrome type 1 (RIEG1)</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87792254"/>
                  </a:ext>
                </a:extLst>
              </a:tr>
              <a:tr h="0">
                <a:tc>
                  <a:txBody>
                    <a:bodyPr/>
                    <a:lstStyle/>
                    <a:p>
                      <a:pPr algn="ctr"/>
                      <a:r>
                        <a:rPr lang="en-US" sz="650" b="0" dirty="0">
                          <a:latin typeface="Calibri" panose="020F0502020204030204" pitchFamily="34" charset="0"/>
                          <a:cs typeface="Calibri" panose="020F0502020204030204" pitchFamily="34" charset="0"/>
                        </a:rPr>
                        <a:t>5p13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3577161626"/>
                  </a:ext>
                </a:extLst>
              </a:tr>
              <a:tr h="0">
                <a:tc>
                  <a:txBody>
                    <a:bodyPr/>
                    <a:lstStyle/>
                    <a:p>
                      <a:pPr algn="ctr"/>
                      <a:r>
                        <a:rPr lang="en-US" sz="650" b="0" dirty="0">
                          <a:latin typeface="Calibri" panose="020F0502020204030204" pitchFamily="34" charset="0"/>
                          <a:cs typeface="Calibri" panose="020F0502020204030204" pitchFamily="34" charset="0"/>
                        </a:rPr>
                        <a:t>5q12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55556699"/>
                  </a:ext>
                </a:extLst>
              </a:tr>
              <a:tr h="0">
                <a:tc>
                  <a:txBody>
                    <a:bodyPr/>
                    <a:lstStyle/>
                    <a:p>
                      <a:pPr algn="ctr"/>
                      <a:r>
                        <a:rPr lang="en-US" sz="650" b="0" dirty="0">
                          <a:latin typeface="Calibri" panose="020F0502020204030204" pitchFamily="34" charset="0"/>
                          <a:cs typeface="Calibri" panose="020F0502020204030204" pitchFamily="34" charset="0"/>
                        </a:rPr>
                        <a:t>5q14.3 deletion (proximal)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561977403"/>
                  </a:ext>
                </a:extLst>
              </a:tr>
              <a:tr h="0">
                <a:tc>
                  <a:txBody>
                    <a:bodyPr/>
                    <a:lstStyle/>
                    <a:p>
                      <a:pPr algn="ctr"/>
                      <a:r>
                        <a:rPr lang="en-US" sz="650" b="0" dirty="0">
                          <a:latin typeface="Calibri" panose="020F0502020204030204" pitchFamily="34" charset="0"/>
                          <a:cs typeface="Calibri" panose="020F0502020204030204" pitchFamily="34" charset="0"/>
                        </a:rPr>
                        <a:t>Sotos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427112923"/>
                  </a:ext>
                </a:extLst>
              </a:tr>
              <a:tr h="0">
                <a:tc>
                  <a:txBody>
                    <a:bodyPr/>
                    <a:lstStyle/>
                    <a:p>
                      <a:pPr algn="ctr"/>
                      <a:r>
                        <a:rPr lang="en-US" sz="650" b="0" dirty="0">
                          <a:latin typeface="Calibri" panose="020F0502020204030204" pitchFamily="34" charset="0"/>
                          <a:cs typeface="Calibri" panose="020F0502020204030204" pitchFamily="34" charset="0"/>
                        </a:rPr>
                        <a:t>6p22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2493543873"/>
                  </a:ext>
                </a:extLst>
              </a:tr>
              <a:tr h="0">
                <a:tc>
                  <a:txBody>
                    <a:bodyPr/>
                    <a:lstStyle/>
                    <a:p>
                      <a:pPr algn="ctr"/>
                      <a:r>
                        <a:rPr lang="en-US" sz="650" b="0" dirty="0">
                          <a:latin typeface="Calibri" panose="020F0502020204030204" pitchFamily="34" charset="0"/>
                          <a:cs typeface="Calibri" panose="020F0502020204030204" pitchFamily="34" charset="0"/>
                        </a:rPr>
                        <a:t>6q11-q14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388680145"/>
                  </a:ext>
                </a:extLst>
              </a:tr>
              <a:tr h="0">
                <a:tc>
                  <a:txBody>
                    <a:bodyPr/>
                    <a:lstStyle/>
                    <a:p>
                      <a:pPr algn="ctr"/>
                      <a:r>
                        <a:rPr lang="en-US" sz="650" b="0" dirty="0">
                          <a:latin typeface="Calibri" panose="020F0502020204030204" pitchFamily="34" charset="0"/>
                          <a:cs typeface="Calibri" panose="020F0502020204030204" pitchFamily="34" charset="0"/>
                        </a:rPr>
                        <a:t>6q24-q25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2955994710"/>
                  </a:ext>
                </a:extLst>
              </a:tr>
              <a:tr h="0">
                <a:tc>
                  <a:txBody>
                    <a:bodyPr/>
                    <a:lstStyle/>
                    <a:p>
                      <a:pPr algn="ctr"/>
                      <a:r>
                        <a:rPr lang="en-US" sz="650" b="0" dirty="0">
                          <a:latin typeface="Calibri" panose="020F0502020204030204" pitchFamily="34" charset="0"/>
                          <a:cs typeface="Calibri" panose="020F0502020204030204" pitchFamily="34" charset="0"/>
                        </a:rPr>
                        <a:t>Coffin-Siris syndrome 1 (CSS1)</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787323870"/>
                  </a:ext>
                </a:extLst>
              </a:tr>
              <a:tr h="0">
                <a:tc>
                  <a:txBody>
                    <a:bodyPr/>
                    <a:lstStyle/>
                    <a:p>
                      <a:pPr algn="ctr"/>
                      <a:r>
                        <a:rPr lang="en-US" sz="650" b="0" dirty="0">
                          <a:latin typeface="Calibri" panose="020F0502020204030204" pitchFamily="34" charset="0"/>
                          <a:cs typeface="Calibri" panose="020F0502020204030204" pitchFamily="34" charset="0"/>
                        </a:rPr>
                        <a:t>Chordoma</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369855090"/>
                  </a:ext>
                </a:extLst>
              </a:tr>
              <a:tr h="0">
                <a:tc>
                  <a:txBody>
                    <a:bodyPr/>
                    <a:lstStyle/>
                    <a:p>
                      <a:pPr algn="ctr"/>
                      <a:r>
                        <a:rPr lang="en-US" sz="650" b="0" dirty="0">
                          <a:latin typeface="Calibri" panose="020F0502020204030204" pitchFamily="34" charset="0"/>
                          <a:cs typeface="Calibri" panose="020F0502020204030204" pitchFamily="34" charset="0"/>
                        </a:rPr>
                        <a:t>Greig cephalopolysyndactyly syndrome (GCPS)</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282668844"/>
                  </a:ext>
                </a:extLst>
              </a:tr>
              <a:tr h="0">
                <a:tc>
                  <a:txBody>
                    <a:bodyPr/>
                    <a:lstStyle/>
                    <a:p>
                      <a:pPr algn="ctr"/>
                      <a:r>
                        <a:rPr lang="en-US" sz="650" b="0" dirty="0">
                          <a:latin typeface="Calibri" panose="020F0502020204030204" pitchFamily="34" charset="0"/>
                          <a:cs typeface="Calibri" panose="020F0502020204030204" pitchFamily="34" charset="0"/>
                        </a:rPr>
                        <a:t>7p22.1 microduplication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211917872"/>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7q11.23 deletion (distal)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018279524"/>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Williams-Beuren syndrome (WBS, duplication)</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933795288"/>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Currarino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90005565"/>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7q36.3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534733420"/>
                  </a:ext>
                </a:extLst>
              </a:tr>
            </a:tbl>
          </a:graphicData>
        </a:graphic>
      </p:graphicFrame>
      <p:graphicFrame>
        <p:nvGraphicFramePr>
          <p:cNvPr id="16" name="Table 15">
            <a:extLst>
              <a:ext uri="{FF2B5EF4-FFF2-40B4-BE49-F238E27FC236}">
                <a16:creationId xmlns:a16="http://schemas.microsoft.com/office/drawing/2014/main" id="{4E574D0D-0392-B0FF-4304-BFB4DE31579B}"/>
              </a:ext>
            </a:extLst>
          </p:cNvPr>
          <p:cNvGraphicFramePr>
            <a:graphicFrameLocks noGrp="1"/>
          </p:cNvGraphicFramePr>
          <p:nvPr>
            <p:extLst>
              <p:ext uri="{D42A27DB-BD31-4B8C-83A1-F6EECF244321}">
                <p14:modId xmlns:p14="http://schemas.microsoft.com/office/powerpoint/2010/main" val="3568833279"/>
              </p:ext>
            </p:extLst>
          </p:nvPr>
        </p:nvGraphicFramePr>
        <p:xfrm>
          <a:off x="2055851" y="2303049"/>
          <a:ext cx="1494000" cy="6530340"/>
        </p:xfrm>
        <a:graphic>
          <a:graphicData uri="http://schemas.openxmlformats.org/drawingml/2006/table">
            <a:tbl>
              <a:tblPr firstRow="1" bandRow="1">
                <a:tableStyleId>{EB9631B5-78F2-41C9-869B-9F39066F8104}</a:tableStyleId>
              </a:tblPr>
              <a:tblGrid>
                <a:gridCol w="1494000">
                  <a:extLst>
                    <a:ext uri="{9D8B030D-6E8A-4147-A177-3AD203B41FA5}">
                      <a16:colId xmlns:a16="http://schemas.microsoft.com/office/drawing/2014/main" val="539532219"/>
                    </a:ext>
                  </a:extLst>
                </a:gridCol>
              </a:tblGrid>
              <a:tr h="0">
                <a:tc>
                  <a:txBody>
                    <a:bodyPr/>
                    <a:lstStyle/>
                    <a:p>
                      <a:pPr algn="ctr"/>
                      <a:r>
                        <a:rPr lang="en-US" sz="800" b="1" dirty="0">
                          <a:solidFill>
                            <a:schemeClr val="bg1"/>
                          </a:solidFill>
                          <a:latin typeface="Calibri" panose="020F0502020204030204" pitchFamily="34" charset="0"/>
                          <a:cs typeface="Calibri" panose="020F0502020204030204" pitchFamily="34" charset="0"/>
                        </a:rPr>
                        <a:t>Condition</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extLst>
                  <a:ext uri="{0D108BD9-81ED-4DB2-BD59-A6C34878D82A}">
                    <a16:rowId xmlns:a16="http://schemas.microsoft.com/office/drawing/2014/main" val="3100742599"/>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8p11.2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483159712"/>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8p23.1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63445317"/>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8q12 microduplication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2868477542"/>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Nablus mask-like facial syndrome (NMLFS)</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16924696"/>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Trichorhinophalangeal syndrome type 2 (TRPS2)</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726759511"/>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9p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80286878"/>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9p13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856382517"/>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9p24.3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7209564"/>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9q33.3q34.11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053804985"/>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Early infantile epileptic encephalopathy 4 (EIEE4)</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8924974"/>
                  </a:ext>
                </a:extLst>
              </a:tr>
              <a:tr h="0">
                <a:tc>
                  <a:txBody>
                    <a:bodyPr/>
                    <a:lstStyle/>
                    <a:p>
                      <a:pPr algn="ctr"/>
                      <a:r>
                        <a:rPr lang="en-US" sz="650" b="0" dirty="0" err="1">
                          <a:solidFill>
                            <a:schemeClr val="tx1"/>
                          </a:solidFill>
                          <a:latin typeface="Calibri" panose="020F0502020204030204" pitchFamily="34" charset="0"/>
                          <a:cs typeface="Calibri" panose="020F0502020204030204" pitchFamily="34" charset="0"/>
                        </a:rPr>
                        <a:t>Kleefstra</a:t>
                      </a:r>
                      <a:r>
                        <a:rPr lang="en-US" sz="650" b="0" dirty="0">
                          <a:solidFill>
                            <a:schemeClr val="tx1"/>
                          </a:solidFill>
                          <a:latin typeface="Calibri" panose="020F0502020204030204" pitchFamily="34" charset="0"/>
                          <a:cs typeface="Calibri" panose="020F0502020204030204" pitchFamily="34" charset="0"/>
                        </a:rPr>
                        <a:t> syndrome 1 (KLEFS1)</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398754339"/>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10p11.21-p12.31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163217093"/>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DiGeorge syndrome/ </a:t>
                      </a:r>
                      <a:r>
                        <a:rPr lang="en-US" sz="650" b="0" dirty="0" err="1">
                          <a:solidFill>
                            <a:schemeClr val="tx1"/>
                          </a:solidFill>
                          <a:latin typeface="Calibri" panose="020F0502020204030204" pitchFamily="34" charset="0"/>
                          <a:cs typeface="Calibri" panose="020F0502020204030204" pitchFamily="34" charset="0"/>
                        </a:rPr>
                        <a:t>velocardiofacial</a:t>
                      </a:r>
                      <a:r>
                        <a:rPr lang="en-US" sz="650" b="0" dirty="0">
                          <a:solidFill>
                            <a:schemeClr val="tx1"/>
                          </a:solidFill>
                          <a:latin typeface="Calibri" panose="020F0502020204030204" pitchFamily="34" charset="0"/>
                          <a:cs typeface="Calibri" panose="020F0502020204030204" pitchFamily="34" charset="0"/>
                        </a:rPr>
                        <a:t> syndrome complex 2 (DSG2)</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956480181"/>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10q22.3-q23.2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18225163"/>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Split-hand/foot malformation 3 (SHFM3)</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848936596"/>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10q26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456227924"/>
                  </a:ext>
                </a:extLst>
              </a:tr>
              <a:tr h="0">
                <a:tc>
                  <a:txBody>
                    <a:bodyPr/>
                    <a:lstStyle/>
                    <a:p>
                      <a:pPr algn="ctr"/>
                      <a:r>
                        <a:rPr lang="en-US" sz="650" b="0" dirty="0" err="1">
                          <a:solidFill>
                            <a:schemeClr val="tx1"/>
                          </a:solidFill>
                          <a:latin typeface="Calibri" panose="020F0502020204030204" pitchFamily="34" charset="0"/>
                          <a:cs typeface="Calibri" panose="020F0502020204030204" pitchFamily="34" charset="0"/>
                        </a:rPr>
                        <a:t>Potocki</a:t>
                      </a:r>
                      <a:r>
                        <a:rPr lang="en-US" sz="650" b="0" dirty="0">
                          <a:solidFill>
                            <a:schemeClr val="tx1"/>
                          </a:solidFill>
                          <a:latin typeface="Calibri" panose="020F0502020204030204" pitchFamily="34" charset="0"/>
                          <a:cs typeface="Calibri" panose="020F0502020204030204" pitchFamily="34" charset="0"/>
                        </a:rPr>
                        <a:t>-Shaffer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202156577"/>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WAGR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87792254"/>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WAGRO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3577161626"/>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11q13.2-q13.4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55556699"/>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11q22.2-q22.3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561977403"/>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11q23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427112923"/>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12p12.1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2493543873"/>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12q14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388680145"/>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12q15q21.1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2955994710"/>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13q14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362167248"/>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14q11-q22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3969948542"/>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Frias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777954135"/>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14q24.1-q24.3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930510364"/>
                  </a:ext>
                </a:extLst>
              </a:tr>
            </a:tbl>
          </a:graphicData>
        </a:graphic>
      </p:graphicFrame>
      <p:graphicFrame>
        <p:nvGraphicFramePr>
          <p:cNvPr id="14" name="Table 13">
            <a:extLst>
              <a:ext uri="{FF2B5EF4-FFF2-40B4-BE49-F238E27FC236}">
                <a16:creationId xmlns:a16="http://schemas.microsoft.com/office/drawing/2014/main" id="{0C088642-F55A-08A6-266A-8D4A2F306AEE}"/>
              </a:ext>
            </a:extLst>
          </p:cNvPr>
          <p:cNvGraphicFramePr>
            <a:graphicFrameLocks noGrp="1"/>
          </p:cNvGraphicFramePr>
          <p:nvPr>
            <p:extLst>
              <p:ext uri="{D42A27DB-BD31-4B8C-83A1-F6EECF244321}">
                <p14:modId xmlns:p14="http://schemas.microsoft.com/office/powerpoint/2010/main" val="2373499878"/>
              </p:ext>
            </p:extLst>
          </p:nvPr>
        </p:nvGraphicFramePr>
        <p:xfrm>
          <a:off x="3677663" y="2289597"/>
          <a:ext cx="1494000" cy="6537960"/>
        </p:xfrm>
        <a:graphic>
          <a:graphicData uri="http://schemas.openxmlformats.org/drawingml/2006/table">
            <a:tbl>
              <a:tblPr firstRow="1" bandRow="1">
                <a:tableStyleId>{EB9631B5-78F2-41C9-869B-9F39066F8104}</a:tableStyleId>
              </a:tblPr>
              <a:tblGrid>
                <a:gridCol w="1494000">
                  <a:extLst>
                    <a:ext uri="{9D8B030D-6E8A-4147-A177-3AD203B41FA5}">
                      <a16:colId xmlns:a16="http://schemas.microsoft.com/office/drawing/2014/main" val="4146296308"/>
                    </a:ext>
                  </a:extLst>
                </a:gridCol>
              </a:tblGrid>
              <a:tr h="0">
                <a:tc>
                  <a:txBody>
                    <a:bodyPr/>
                    <a:lstStyle/>
                    <a:p>
                      <a:pPr algn="ctr"/>
                      <a:r>
                        <a:rPr lang="en-US" sz="800" b="1" dirty="0">
                          <a:solidFill>
                            <a:schemeClr val="bg1"/>
                          </a:solidFill>
                          <a:latin typeface="Calibri" panose="020F0502020204030204" pitchFamily="34" charset="0"/>
                          <a:cs typeface="Calibri" panose="020F0502020204030204" pitchFamily="34" charset="0"/>
                        </a:rPr>
                        <a:t>Condition</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F9ED5"/>
                    </a:solidFill>
                  </a:tcPr>
                </a:tc>
                <a:extLst>
                  <a:ext uri="{0D108BD9-81ED-4DB2-BD59-A6C34878D82A}">
                    <a16:rowId xmlns:a16="http://schemas.microsoft.com/office/drawing/2014/main" val="2439181473"/>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15q13.3 deletion syndrome {BP4 to BP5} (loss)</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4104265420"/>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15q13.3 deletion syndrome {BP4 to BP5} (gain)</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91712797"/>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15q14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4188818073"/>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15q25.2 deletion (proximal)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98567691"/>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15q26-qter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705711504"/>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16p11.2-p12.2 microduplication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385983929"/>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16p12.2 deletion (proximal)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3079236532"/>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16p13.11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015207"/>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16p13.11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3176220738"/>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Polycystic kidney disease, infantile severe, with tuberous sclerosis (PKDTS)</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12707525"/>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Rubinstein-</a:t>
                      </a:r>
                      <a:r>
                        <a:rPr lang="en-US" sz="650" b="0" dirty="0" err="1">
                          <a:solidFill>
                            <a:schemeClr val="tx1"/>
                          </a:solidFill>
                          <a:latin typeface="Calibri" panose="020F0502020204030204" pitchFamily="34" charset="0"/>
                          <a:cs typeface="Calibri" panose="020F0502020204030204" pitchFamily="34" charset="0"/>
                        </a:rPr>
                        <a:t>Taybi</a:t>
                      </a:r>
                      <a:r>
                        <a:rPr lang="en-US" sz="650" b="0" dirty="0">
                          <a:solidFill>
                            <a:schemeClr val="tx1"/>
                          </a:solidFill>
                          <a:latin typeface="Calibri" panose="020F0502020204030204" pitchFamily="34" charset="0"/>
                          <a:cs typeface="Calibri" panose="020F0502020204030204" pitchFamily="34" charset="0"/>
                        </a:rPr>
                        <a:t>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2456147548"/>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Alpha-thalassemia/intellectual disability syndrome, chromosome 16-related    (ATR-16)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54007853"/>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16q22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2366248318"/>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Smith-</a:t>
                      </a:r>
                      <a:r>
                        <a:rPr lang="en-US" sz="650" b="0" dirty="0" err="1">
                          <a:solidFill>
                            <a:schemeClr val="tx1"/>
                          </a:solidFill>
                          <a:latin typeface="Calibri" panose="020F0502020204030204" pitchFamily="34" charset="0"/>
                          <a:cs typeface="Calibri" panose="020F0502020204030204" pitchFamily="34" charset="0"/>
                        </a:rPr>
                        <a:t>Magenis</a:t>
                      </a:r>
                      <a:r>
                        <a:rPr lang="en-US" sz="650" b="0" dirty="0">
                          <a:solidFill>
                            <a:schemeClr val="tx1"/>
                          </a:solidFill>
                          <a:latin typeface="Calibri" panose="020F0502020204030204" pitchFamily="34" charset="0"/>
                          <a:cs typeface="Calibri" panose="020F0502020204030204" pitchFamily="34" charset="0"/>
                        </a:rPr>
                        <a:t>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890740816"/>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Yuan-</a:t>
                      </a:r>
                      <a:r>
                        <a:rPr lang="en-US" sz="650" b="0" dirty="0" err="1">
                          <a:solidFill>
                            <a:schemeClr val="tx1"/>
                          </a:solidFill>
                          <a:latin typeface="Calibri" panose="020F0502020204030204" pitchFamily="34" charset="0"/>
                          <a:cs typeface="Calibri" panose="020F0502020204030204" pitchFamily="34" charset="0"/>
                        </a:rPr>
                        <a:t>Harel</a:t>
                      </a:r>
                      <a:r>
                        <a:rPr lang="en-US" sz="650" b="0" dirty="0">
                          <a:solidFill>
                            <a:schemeClr val="tx1"/>
                          </a:solidFill>
                          <a:latin typeface="Calibri" panose="020F0502020204030204" pitchFamily="34" charset="0"/>
                          <a:cs typeface="Calibri" panose="020F0502020204030204" pitchFamily="34" charset="0"/>
                        </a:rPr>
                        <a:t>-</a:t>
                      </a:r>
                      <a:r>
                        <a:rPr lang="en-US" sz="650" b="0" dirty="0" err="1">
                          <a:solidFill>
                            <a:schemeClr val="tx1"/>
                          </a:solidFill>
                          <a:latin typeface="Calibri" panose="020F0502020204030204" pitchFamily="34" charset="0"/>
                          <a:cs typeface="Calibri" panose="020F0502020204030204" pitchFamily="34" charset="0"/>
                        </a:rPr>
                        <a:t>Lupski</a:t>
                      </a:r>
                      <a:r>
                        <a:rPr lang="en-US" sz="650" b="0" dirty="0">
                          <a:solidFill>
                            <a:schemeClr val="tx1"/>
                          </a:solidFill>
                          <a:latin typeface="Calibri" panose="020F0502020204030204" pitchFamily="34" charset="0"/>
                          <a:cs typeface="Calibri" panose="020F0502020204030204" pitchFamily="34" charset="0"/>
                        </a:rPr>
                        <a:t> syndrome (YUHAL)</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2558612885"/>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17p12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36706184"/>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17p12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3379405845"/>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17p13.1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250331364"/>
                  </a:ext>
                </a:extLst>
              </a:tr>
              <a:tr h="0">
                <a:tc>
                  <a:txBody>
                    <a:bodyPr/>
                    <a:lstStyle/>
                    <a:p>
                      <a:pPr algn="ctr"/>
                      <a:r>
                        <a:rPr lang="en-US" sz="650" b="0" dirty="0">
                          <a:latin typeface="Calibri" panose="020F0502020204030204" pitchFamily="34" charset="0"/>
                          <a:cs typeface="Calibri" panose="020F0502020204030204" pitchFamily="34" charset="0"/>
                        </a:rPr>
                        <a:t>Miller-</a:t>
                      </a:r>
                      <a:r>
                        <a:rPr lang="en-US" sz="650" b="0" dirty="0" err="1">
                          <a:latin typeface="Calibri" panose="020F0502020204030204" pitchFamily="34" charset="0"/>
                          <a:cs typeface="Calibri" panose="020F0502020204030204" pitchFamily="34" charset="0"/>
                        </a:rPr>
                        <a:t>Dieker</a:t>
                      </a:r>
                      <a:r>
                        <a:rPr lang="en-US" sz="650" b="0" dirty="0">
                          <a:latin typeface="Calibri" panose="020F0502020204030204" pitchFamily="34" charset="0"/>
                          <a:cs typeface="Calibri" panose="020F0502020204030204" pitchFamily="34" charset="0"/>
                        </a:rPr>
                        <a:t> lissencephaly syndrome (MDLS) (loss)</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588768049"/>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latin typeface="Calibri" panose="020F0502020204030204" pitchFamily="34" charset="0"/>
                          <a:cs typeface="Calibri" panose="020F0502020204030204" pitchFamily="34" charset="0"/>
                        </a:rPr>
                        <a:t>Miller-</a:t>
                      </a:r>
                      <a:r>
                        <a:rPr lang="en-US" sz="650" b="0" dirty="0" err="1">
                          <a:latin typeface="Calibri" panose="020F0502020204030204" pitchFamily="34" charset="0"/>
                          <a:cs typeface="Calibri" panose="020F0502020204030204" pitchFamily="34" charset="0"/>
                        </a:rPr>
                        <a:t>Dieker</a:t>
                      </a:r>
                      <a:r>
                        <a:rPr lang="en-US" sz="650" b="0" dirty="0">
                          <a:latin typeface="Calibri" panose="020F0502020204030204" pitchFamily="34" charset="0"/>
                          <a:cs typeface="Calibri" panose="020F0502020204030204" pitchFamily="34" charset="0"/>
                        </a:rPr>
                        <a:t> lissencephaly syndrome (MDLS) (gain)</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565207520"/>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17p13.3 telomeric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4112975206"/>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17q12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56623734"/>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17q21.31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3251986198"/>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17q23.1-q23.2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826728635"/>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Tetrasomy 18p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94690209"/>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18p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834845250"/>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18q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97547691"/>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19p13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2111042736"/>
                  </a:ext>
                </a:extLst>
              </a:tr>
            </a:tbl>
          </a:graphicData>
        </a:graphic>
      </p:graphicFrame>
      <p:graphicFrame>
        <p:nvGraphicFramePr>
          <p:cNvPr id="17" name="Table 16">
            <a:extLst>
              <a:ext uri="{FF2B5EF4-FFF2-40B4-BE49-F238E27FC236}">
                <a16:creationId xmlns:a16="http://schemas.microsoft.com/office/drawing/2014/main" id="{11523695-CCB6-CE92-18CB-C19558E1AF7C}"/>
              </a:ext>
            </a:extLst>
          </p:cNvPr>
          <p:cNvGraphicFramePr>
            <a:graphicFrameLocks noGrp="1"/>
          </p:cNvGraphicFramePr>
          <p:nvPr>
            <p:extLst>
              <p:ext uri="{D42A27DB-BD31-4B8C-83A1-F6EECF244321}">
                <p14:modId xmlns:p14="http://schemas.microsoft.com/office/powerpoint/2010/main" val="2128821312"/>
              </p:ext>
            </p:extLst>
          </p:nvPr>
        </p:nvGraphicFramePr>
        <p:xfrm>
          <a:off x="5280740" y="2278021"/>
          <a:ext cx="1494000" cy="4130040"/>
        </p:xfrm>
        <a:graphic>
          <a:graphicData uri="http://schemas.openxmlformats.org/drawingml/2006/table">
            <a:tbl>
              <a:tblPr firstRow="1" bandRow="1">
                <a:tableStyleId>{EB9631B5-78F2-41C9-869B-9F39066F8104}</a:tableStyleId>
              </a:tblPr>
              <a:tblGrid>
                <a:gridCol w="1494000">
                  <a:extLst>
                    <a:ext uri="{9D8B030D-6E8A-4147-A177-3AD203B41FA5}">
                      <a16:colId xmlns:a16="http://schemas.microsoft.com/office/drawing/2014/main" val="2922790161"/>
                    </a:ext>
                  </a:extLst>
                </a:gridCol>
              </a:tblGrid>
              <a:tr h="0">
                <a:tc>
                  <a:txBody>
                    <a:bodyPr/>
                    <a:lstStyle/>
                    <a:p>
                      <a:pPr algn="ctr"/>
                      <a:r>
                        <a:rPr lang="en-US" sz="800" b="1" dirty="0">
                          <a:solidFill>
                            <a:schemeClr val="bg1"/>
                          </a:solidFill>
                          <a:latin typeface="Calibri" panose="020F0502020204030204" pitchFamily="34" charset="0"/>
                          <a:cs typeface="Calibri" panose="020F0502020204030204" pitchFamily="34" charset="0"/>
                        </a:rPr>
                        <a:t>Condition</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F9ED5"/>
                    </a:solidFill>
                  </a:tcPr>
                </a:tc>
                <a:extLst>
                  <a:ext uri="{0D108BD9-81ED-4DB2-BD59-A6C34878D82A}">
                    <a16:rowId xmlns:a16="http://schemas.microsoft.com/office/drawing/2014/main" val="3785984452"/>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19q13.11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2952309620"/>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20p13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86100667"/>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21q22.11-q22.12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4291573014"/>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22q11.2 deletion syndrome (distal, D-E/F)</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32711275"/>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22q11.2 deletion syndrome (LCR22 B/C-D)</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3974414553"/>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22q13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8145738"/>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22q13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206294772"/>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Xp11.22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51573655"/>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Xp11.22-p11.23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758761900"/>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Xp11.23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58632838"/>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Xp11.3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369507797"/>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Xp21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49580792"/>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Xp21.2 microduplication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883735959"/>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Xp22.31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21112468"/>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Xq21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13479262"/>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Xq22.3 telomeric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724566251"/>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Xq27.3-q28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3930330418"/>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Xq28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524365485"/>
                  </a:ext>
                </a:extLst>
              </a:tr>
              <a:tr h="0">
                <a:tc>
                  <a:txBody>
                    <a:bodyPr/>
                    <a:lstStyle/>
                    <a:p>
                      <a:pPr algn="ctr"/>
                      <a:endParaRPr lang="en-US" sz="650" b="0" dirty="0">
                        <a:solidFill>
                          <a:schemeClr val="tx1"/>
                        </a:solidFill>
                        <a:latin typeface="Calibri" panose="020F0502020204030204" pitchFamily="34" charset="0"/>
                        <a:cs typeface="Calibri" panose="020F0502020204030204" pitchFamily="34" charset="0"/>
                      </a:endParaRP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027956119"/>
                  </a:ext>
                </a:extLst>
              </a:tr>
            </a:tbl>
          </a:graphicData>
        </a:graphic>
      </p:graphicFrame>
      <p:sp>
        <p:nvSpPr>
          <p:cNvPr id="5" name="TextBox 4">
            <a:extLst>
              <a:ext uri="{FF2B5EF4-FFF2-40B4-BE49-F238E27FC236}">
                <a16:creationId xmlns:a16="http://schemas.microsoft.com/office/drawing/2014/main" id="{367B9596-4263-5061-70D9-D1F16D7BF501}"/>
              </a:ext>
            </a:extLst>
          </p:cNvPr>
          <p:cNvSpPr txBox="1"/>
          <p:nvPr/>
        </p:nvSpPr>
        <p:spPr>
          <a:xfrm>
            <a:off x="2557354" y="9214885"/>
            <a:ext cx="3243371" cy="430887"/>
          </a:xfrm>
          <a:prstGeom prst="rect">
            <a:avLst/>
          </a:prstGeom>
          <a:noFill/>
        </p:spPr>
        <p:txBody>
          <a:bodyPr wrap="square" rtlCol="0">
            <a:spAutoFit/>
          </a:bodyPr>
          <a:lstStyle/>
          <a:p>
            <a:r>
              <a:rPr lang="en-US" sz="800" b="1" dirty="0">
                <a:solidFill>
                  <a:schemeClr val="bg1"/>
                </a:solidFill>
                <a:latin typeface="Calibri" panose="020F0502020204030204" pitchFamily="34" charset="0"/>
                <a:cs typeface="Calibri" panose="020F0502020204030204" pitchFamily="34" charset="0"/>
              </a:rPr>
              <a:t>PT </a:t>
            </a:r>
            <a:r>
              <a:rPr lang="en-US" sz="800" b="1" dirty="0" err="1">
                <a:solidFill>
                  <a:schemeClr val="bg1"/>
                </a:solidFill>
                <a:latin typeface="Calibri" panose="020F0502020204030204" pitchFamily="34" charset="0"/>
                <a:cs typeface="Calibri" panose="020F0502020204030204" pitchFamily="34" charset="0"/>
              </a:rPr>
              <a:t>Cordlife</a:t>
            </a:r>
            <a:r>
              <a:rPr lang="en-US" sz="800" b="1" dirty="0">
                <a:solidFill>
                  <a:schemeClr val="bg1"/>
                </a:solidFill>
                <a:latin typeface="Calibri" panose="020F0502020204030204" pitchFamily="34" charset="0"/>
                <a:cs typeface="Calibri" panose="020F0502020204030204" pitchFamily="34" charset="0"/>
              </a:rPr>
              <a:t> </a:t>
            </a:r>
            <a:r>
              <a:rPr lang="en-US" sz="800" b="1" dirty="0" err="1">
                <a:solidFill>
                  <a:schemeClr val="bg1"/>
                </a:solidFill>
                <a:latin typeface="Calibri" panose="020F0502020204030204" pitchFamily="34" charset="0"/>
                <a:cs typeface="Calibri" panose="020F0502020204030204" pitchFamily="34" charset="0"/>
              </a:rPr>
              <a:t>Persada</a:t>
            </a:r>
            <a:endParaRPr lang="en-US" sz="800" b="1" dirty="0">
              <a:solidFill>
                <a:schemeClr val="bg1"/>
              </a:solidFill>
              <a:latin typeface="Calibri" panose="020F0502020204030204" pitchFamily="34" charset="0"/>
              <a:cs typeface="Calibri" panose="020F0502020204030204" pitchFamily="34" charset="0"/>
            </a:endParaRPr>
          </a:p>
          <a:p>
            <a:r>
              <a:rPr lang="en-US" sz="700" dirty="0">
                <a:solidFill>
                  <a:schemeClr val="bg1"/>
                </a:solidFill>
                <a:latin typeface="Calibri" panose="020F0502020204030204" pitchFamily="34" charset="0"/>
                <a:cs typeface="Calibri" panose="020F0502020204030204" pitchFamily="34" charset="0"/>
              </a:rPr>
              <a:t>Jl. </a:t>
            </a:r>
            <a:r>
              <a:rPr lang="en-US" sz="700" dirty="0" err="1">
                <a:solidFill>
                  <a:schemeClr val="bg1"/>
                </a:solidFill>
                <a:latin typeface="Calibri" panose="020F0502020204030204" pitchFamily="34" charset="0"/>
                <a:cs typeface="Calibri" panose="020F0502020204030204" pitchFamily="34" charset="0"/>
              </a:rPr>
              <a:t>Bungur</a:t>
            </a:r>
            <a:r>
              <a:rPr lang="en-US" sz="700" dirty="0">
                <a:solidFill>
                  <a:schemeClr val="bg1"/>
                </a:solidFill>
                <a:latin typeface="Calibri" panose="020F0502020204030204" pitchFamily="34" charset="0"/>
                <a:cs typeface="Calibri" panose="020F0502020204030204" pitchFamily="34" charset="0"/>
              </a:rPr>
              <a:t> </a:t>
            </a:r>
            <a:r>
              <a:rPr lang="en-US" sz="700" dirty="0" err="1">
                <a:solidFill>
                  <a:schemeClr val="bg1"/>
                </a:solidFill>
                <a:latin typeface="Calibri" panose="020F0502020204030204" pitchFamily="34" charset="0"/>
                <a:cs typeface="Calibri" panose="020F0502020204030204" pitchFamily="34" charset="0"/>
              </a:rPr>
              <a:t>Besar</a:t>
            </a:r>
            <a:r>
              <a:rPr lang="en-US" sz="700" dirty="0">
                <a:solidFill>
                  <a:schemeClr val="bg1"/>
                </a:solidFill>
                <a:latin typeface="Calibri" panose="020F0502020204030204" pitchFamily="34" charset="0"/>
                <a:cs typeface="Calibri" panose="020F0502020204030204" pitchFamily="34" charset="0"/>
              </a:rPr>
              <a:t> Raya No. 23, </a:t>
            </a:r>
            <a:r>
              <a:rPr lang="en-US" sz="700" dirty="0" err="1">
                <a:solidFill>
                  <a:schemeClr val="bg1"/>
                </a:solidFill>
                <a:latin typeface="Calibri" panose="020F0502020204030204" pitchFamily="34" charset="0"/>
                <a:cs typeface="Calibri" panose="020F0502020204030204" pitchFamily="34" charset="0"/>
              </a:rPr>
              <a:t>Gunung</a:t>
            </a:r>
            <a:r>
              <a:rPr lang="en-US" sz="700" dirty="0">
                <a:solidFill>
                  <a:schemeClr val="bg1"/>
                </a:solidFill>
                <a:latin typeface="Calibri" panose="020F0502020204030204" pitchFamily="34" charset="0"/>
                <a:cs typeface="Calibri" panose="020F0502020204030204" pitchFamily="34" charset="0"/>
              </a:rPr>
              <a:t> </a:t>
            </a:r>
            <a:r>
              <a:rPr lang="en-US" sz="700" dirty="0" err="1">
                <a:solidFill>
                  <a:schemeClr val="bg1"/>
                </a:solidFill>
                <a:latin typeface="Calibri" panose="020F0502020204030204" pitchFamily="34" charset="0"/>
                <a:cs typeface="Calibri" panose="020F0502020204030204" pitchFamily="34" charset="0"/>
              </a:rPr>
              <a:t>Sahari</a:t>
            </a:r>
            <a:r>
              <a:rPr lang="en-US" sz="700" dirty="0">
                <a:solidFill>
                  <a:schemeClr val="bg1"/>
                </a:solidFill>
                <a:latin typeface="Calibri" panose="020F0502020204030204" pitchFamily="34" charset="0"/>
                <a:cs typeface="Calibri" panose="020F0502020204030204" pitchFamily="34" charset="0"/>
              </a:rPr>
              <a:t> Selatan</a:t>
            </a:r>
          </a:p>
          <a:p>
            <a:r>
              <a:rPr lang="en-US" sz="700" dirty="0" err="1">
                <a:solidFill>
                  <a:schemeClr val="bg1"/>
                </a:solidFill>
                <a:latin typeface="Calibri" panose="020F0502020204030204" pitchFamily="34" charset="0"/>
                <a:cs typeface="Calibri" panose="020F0502020204030204" pitchFamily="34" charset="0"/>
              </a:rPr>
              <a:t>Kemayoran</a:t>
            </a:r>
            <a:r>
              <a:rPr lang="en-US" sz="700" dirty="0">
                <a:solidFill>
                  <a:schemeClr val="bg1"/>
                </a:solidFill>
                <a:latin typeface="Calibri" panose="020F0502020204030204" pitchFamily="34" charset="0"/>
                <a:cs typeface="Calibri" panose="020F0502020204030204" pitchFamily="34" charset="0"/>
              </a:rPr>
              <a:t>, Jakarta Pusat</a:t>
            </a:r>
          </a:p>
        </p:txBody>
      </p:sp>
      <p:pic>
        <p:nvPicPr>
          <p:cNvPr id="19" name="Picture 18">
            <a:extLst>
              <a:ext uri="{FF2B5EF4-FFF2-40B4-BE49-F238E27FC236}">
                <a16:creationId xmlns:a16="http://schemas.microsoft.com/office/drawing/2014/main" id="{11D313CE-1103-8AE5-9FD2-B950BEF1D5F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7050" y="45194"/>
            <a:ext cx="1413626" cy="652977"/>
          </a:xfrm>
          <a:prstGeom prst="rect">
            <a:avLst/>
          </a:prstGeom>
        </p:spPr>
      </p:pic>
      <p:sp>
        <p:nvSpPr>
          <p:cNvPr id="7" name="TextBox 6">
            <a:extLst>
              <a:ext uri="{FF2B5EF4-FFF2-40B4-BE49-F238E27FC236}">
                <a16:creationId xmlns:a16="http://schemas.microsoft.com/office/drawing/2014/main" id="{F65FD7EF-FD67-13C7-7AEC-D8418F31F4B0}"/>
              </a:ext>
            </a:extLst>
          </p:cNvPr>
          <p:cNvSpPr txBox="1"/>
          <p:nvPr/>
        </p:nvSpPr>
        <p:spPr>
          <a:xfrm>
            <a:off x="5713863" y="9220678"/>
            <a:ext cx="857250" cy="338554"/>
          </a:xfrm>
          <a:prstGeom prst="rect">
            <a:avLst/>
          </a:prstGeom>
          <a:noFill/>
        </p:spPr>
        <p:txBody>
          <a:bodyPr wrap="square" rtlCol="0">
            <a:spAutoFit/>
          </a:bodyPr>
          <a:lstStyle/>
          <a:p>
            <a:pPr algn="ctr"/>
            <a:r>
              <a:rPr lang="pt-BR" sz="800" b="0" i="0" dirty="0">
                <a:solidFill>
                  <a:srgbClr val="000000"/>
                </a:solidFill>
                <a:effectLst/>
                <a:latin typeface="Calibri" panose="020F0502020204030204" pitchFamily="34" charset="0"/>
                <a:cs typeface="Calibri" panose="020F0502020204030204" pitchFamily="34" charset="0"/>
              </a:rPr>
              <a:t>DCR No.: 3166 </a:t>
            </a:r>
          </a:p>
          <a:p>
            <a:pPr algn="ctr"/>
            <a:r>
              <a:rPr lang="pt-BR" sz="800" b="0" i="0" dirty="0">
                <a:solidFill>
                  <a:srgbClr val="000000"/>
                </a:solidFill>
                <a:effectLst/>
                <a:latin typeface="Calibri" panose="020F0502020204030204" pitchFamily="34" charset="0"/>
                <a:cs typeface="Calibri" panose="020F0502020204030204" pitchFamily="34" charset="0"/>
              </a:rPr>
              <a:t>QR G1.1-6-5-a</a:t>
            </a:r>
            <a:endParaRPr lang="en-ID" sz="800" dirty="0">
              <a:latin typeface="Calibri" panose="020F0502020204030204" pitchFamily="34" charset="0"/>
              <a:cs typeface="Calibri" panose="020F0502020204030204" pitchFamily="34" charset="0"/>
            </a:endParaRPr>
          </a:p>
        </p:txBody>
      </p:sp>
      <p:sp>
        <p:nvSpPr>
          <p:cNvPr id="18" name="TextBox 17">
            <a:extLst>
              <a:ext uri="{FF2B5EF4-FFF2-40B4-BE49-F238E27FC236}">
                <a16:creationId xmlns:a16="http://schemas.microsoft.com/office/drawing/2014/main" id="{F75E4337-7B8C-E1D5-A073-70E5D1CBB3DE}"/>
              </a:ext>
            </a:extLst>
          </p:cNvPr>
          <p:cNvSpPr txBox="1"/>
          <p:nvPr/>
        </p:nvSpPr>
        <p:spPr>
          <a:xfrm>
            <a:off x="2452581" y="772625"/>
            <a:ext cx="1964140"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Pregnancy Information</a:t>
            </a:r>
          </a:p>
          <a:p>
            <a:r>
              <a:rPr lang="en-US" sz="700" dirty="0">
                <a:latin typeface="Calibri" panose="020F0502020204030204" pitchFamily="34" charset="0"/>
                <a:cs typeface="Calibri" panose="020F0502020204030204" pitchFamily="34" charset="0"/>
              </a:rPr>
              <a:t>Gestational Age: </a:t>
            </a:r>
            <a:r>
              <a:rPr lang="en-US" sz="700" dirty="0">
                <a:solidFill>
                  <a:schemeClr val="dk1"/>
                </a:solidFill>
                <a:latin typeface="Calibri" panose="020F0502020204030204" pitchFamily="34" charset="0"/>
                <a:ea typeface="Calibri"/>
                <a:cs typeface="Calibri" panose="020F0502020204030204" pitchFamily="34" charset="0"/>
                <a:sym typeface="Calibri"/>
              </a:rPr>
              <a:t>&lt;&lt;W&gt;&gt; Weeks &lt;&lt;D&gt;&gt; Days</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Pregnancy Type:  &lt;&lt;Pregnancy Type&gt;&gt;</a:t>
            </a:r>
          </a:p>
          <a:p>
            <a:r>
              <a:rPr lang="en-US" sz="700" b="1" dirty="0">
                <a:latin typeface="Calibri" panose="020F0502020204030204" pitchFamily="34" charset="0"/>
                <a:cs typeface="Calibri" panose="020F0502020204030204" pitchFamily="34" charset="0"/>
              </a:rPr>
              <a:t>Doctor Information</a:t>
            </a:r>
          </a:p>
          <a:p>
            <a:r>
              <a:rPr lang="en-US" sz="700" dirty="0">
                <a:latin typeface="Calibri" panose="020F0502020204030204" pitchFamily="34" charset="0"/>
                <a:cs typeface="Calibri" panose="020F0502020204030204" pitchFamily="34" charset="0"/>
              </a:rPr>
              <a:t>Physician: &lt;&lt;Doctor&gt;&gt;</a:t>
            </a:r>
          </a:p>
          <a:p>
            <a:r>
              <a:rPr lang="en-US" sz="700" dirty="0">
                <a:latin typeface="Calibri" panose="020F0502020204030204" pitchFamily="34" charset="0"/>
                <a:cs typeface="Calibri" panose="020F0502020204030204" pitchFamily="34" charset="0"/>
              </a:rPr>
              <a:t>Hospital/Clinic: &lt;&lt;Hospital&gt;&gt;</a:t>
            </a:r>
          </a:p>
          <a:p>
            <a:endParaRPr lang="en-US" sz="800" dirty="0">
              <a:latin typeface="Calibri" panose="020F0502020204030204" pitchFamily="34" charset="0"/>
              <a:cs typeface="Calibri" panose="020F0502020204030204" pitchFamily="34" charset="0"/>
            </a:endParaRPr>
          </a:p>
        </p:txBody>
      </p:sp>
      <p:sp>
        <p:nvSpPr>
          <p:cNvPr id="23" name="TextBox 22">
            <a:extLst>
              <a:ext uri="{FF2B5EF4-FFF2-40B4-BE49-F238E27FC236}">
                <a16:creationId xmlns:a16="http://schemas.microsoft.com/office/drawing/2014/main" id="{5DD80E06-6A64-E926-ECC7-73CAEDABE882}"/>
              </a:ext>
            </a:extLst>
          </p:cNvPr>
          <p:cNvSpPr txBox="1"/>
          <p:nvPr/>
        </p:nvSpPr>
        <p:spPr>
          <a:xfrm>
            <a:off x="4466785" y="766381"/>
            <a:ext cx="1956391" cy="738664"/>
          </a:xfrm>
          <a:prstGeom prst="rect">
            <a:avLst/>
          </a:prstGeom>
          <a:noFill/>
          <a:ln cmpd="tri">
            <a:noFill/>
          </a:ln>
        </p:spPr>
        <p:txBody>
          <a:bodyPr wrap="square" rtlCol="0">
            <a:spAutoFit/>
          </a:bodyPr>
          <a:lstStyle/>
          <a:p>
            <a:r>
              <a:rPr lang="en-US" sz="700" b="1" dirty="0">
                <a:latin typeface="Calibri" panose="020F0502020204030204" pitchFamily="34" charset="0"/>
                <a:cs typeface="Calibri" panose="020F0502020204030204" pitchFamily="34" charset="0"/>
              </a:rPr>
              <a:t>Test Information</a:t>
            </a:r>
          </a:p>
          <a:p>
            <a:r>
              <a:rPr lang="en-US" sz="700" dirty="0">
                <a:latin typeface="Calibri" panose="020F0502020204030204" pitchFamily="34" charset="0"/>
                <a:cs typeface="Calibri" panose="020F0502020204030204" pitchFamily="34" charset="0"/>
              </a:rPr>
              <a:t>Sample Type: Blood</a:t>
            </a:r>
          </a:p>
          <a:p>
            <a:r>
              <a:rPr lang="en-US" sz="700" dirty="0">
                <a:latin typeface="Calibri" panose="020F0502020204030204" pitchFamily="34" charset="0"/>
                <a:cs typeface="Calibri" panose="020F0502020204030204" pitchFamily="34" charset="0"/>
              </a:rPr>
              <a:t>Collection Date: &lt;&lt;Collection Date&gt;&gt;</a:t>
            </a:r>
          </a:p>
          <a:p>
            <a:r>
              <a:rPr lang="en-US" sz="700" dirty="0">
                <a:latin typeface="Calibri" panose="020F0502020204030204" pitchFamily="34" charset="0"/>
                <a:cs typeface="Calibri" panose="020F0502020204030204" pitchFamily="34" charset="0"/>
              </a:rPr>
              <a:t>Receipt Date: &lt;&lt;Receipt Date&gt;&gt;</a:t>
            </a:r>
          </a:p>
          <a:p>
            <a:r>
              <a:rPr lang="en-US" sz="700" dirty="0">
                <a:latin typeface="Calibri" panose="020F0502020204030204" pitchFamily="34" charset="0"/>
                <a:cs typeface="Calibri" panose="020F0502020204030204" pitchFamily="34" charset="0"/>
              </a:rPr>
              <a:t>Report Date: &lt;&lt;Report Date&gt;&gt;</a:t>
            </a:r>
          </a:p>
          <a:p>
            <a:r>
              <a:rPr lang="en-US" sz="700" dirty="0">
                <a:latin typeface="Calibri" panose="020F0502020204030204" pitchFamily="34" charset="0"/>
                <a:cs typeface="Calibri" panose="020F0502020204030204" pitchFamily="34" charset="0"/>
              </a:rPr>
              <a:t>Test Requested: &lt;&lt;Test Requested&gt;&gt;</a:t>
            </a:r>
          </a:p>
        </p:txBody>
      </p:sp>
      <p:sp>
        <p:nvSpPr>
          <p:cNvPr id="3" name="TextBox 2">
            <a:extLst>
              <a:ext uri="{FF2B5EF4-FFF2-40B4-BE49-F238E27FC236}">
                <a16:creationId xmlns:a16="http://schemas.microsoft.com/office/drawing/2014/main" id="{2955FCE7-8F03-F42C-F3B5-9F907C1DF46F}"/>
              </a:ext>
            </a:extLst>
          </p:cNvPr>
          <p:cNvSpPr txBox="1"/>
          <p:nvPr/>
        </p:nvSpPr>
        <p:spPr>
          <a:xfrm>
            <a:off x="434824" y="772625"/>
            <a:ext cx="1956393"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Patient Information</a:t>
            </a:r>
          </a:p>
          <a:p>
            <a:r>
              <a:rPr lang="en-US" sz="700" dirty="0">
                <a:latin typeface="Calibri" panose="020F0502020204030204" pitchFamily="34" charset="0"/>
                <a:cs typeface="Calibri" panose="020F0502020204030204" pitchFamily="34" charset="0"/>
              </a:rPr>
              <a:t>Lab ID: &lt;&lt;Sample Number&gt;&gt;</a:t>
            </a:r>
          </a:p>
          <a:p>
            <a:r>
              <a:rPr lang="en-US" sz="700" dirty="0">
                <a:latin typeface="Calibri" panose="020F0502020204030204" pitchFamily="34" charset="0"/>
                <a:cs typeface="Calibri" panose="020F0502020204030204" pitchFamily="34" charset="0"/>
              </a:rPr>
              <a:t>Patient Name: &lt;&lt;Patient Name&gt;&gt;</a:t>
            </a:r>
          </a:p>
          <a:p>
            <a:r>
              <a:rPr lang="en-US" sz="700" dirty="0">
                <a:latin typeface="Calibri" panose="020F0502020204030204" pitchFamily="34" charset="0"/>
                <a:cs typeface="Calibri" panose="020F0502020204030204" pitchFamily="34" charset="0"/>
              </a:rPr>
              <a:t>Date of Birth: &lt;&lt;DOB&gt;&gt; (&lt;&lt;A&gt;&gt;)</a:t>
            </a:r>
          </a:p>
          <a:p>
            <a:r>
              <a:rPr lang="en-US" sz="700" dirty="0">
                <a:latin typeface="Calibri" panose="020F0502020204030204" pitchFamily="34" charset="0"/>
                <a:cs typeface="Calibri" panose="020F0502020204030204" pitchFamily="34" charset="0"/>
              </a:rPr>
              <a:t>Maternal Weight/Height: </a:t>
            </a:r>
            <a:r>
              <a:rPr lang="en-US" sz="700" dirty="0">
                <a:solidFill>
                  <a:srgbClr val="000000"/>
                </a:solidFill>
                <a:latin typeface="Calibri" panose="020F0502020204030204" pitchFamily="34" charset="0"/>
                <a:ea typeface="Calibri"/>
                <a:cs typeface="Calibri" panose="020F0502020204030204" pitchFamily="34" charset="0"/>
                <a:sym typeface="Calibri"/>
              </a:rPr>
              <a:t>&lt;&lt;kg&gt;&gt;kg / &lt;&lt;cm&gt;&gt;cm </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Indication: </a:t>
            </a:r>
            <a:r>
              <a:rPr lang="en-US" sz="700" dirty="0">
                <a:solidFill>
                  <a:srgbClr val="000000"/>
                </a:solidFill>
                <a:latin typeface="Calibri" panose="020F0502020204030204" pitchFamily="34" charset="0"/>
                <a:ea typeface="Calibri"/>
                <a:cs typeface="Calibri" panose="020F0502020204030204" pitchFamily="34" charset="0"/>
                <a:sym typeface="Calibri"/>
              </a:rPr>
              <a:t>&lt;&lt;Indication&gt;&gt;</a:t>
            </a:r>
            <a:endParaRPr lang="en-US" sz="700" dirty="0">
              <a:latin typeface="Calibri" panose="020F0502020204030204" pitchFamily="34" charset="0"/>
              <a:cs typeface="Calibri" panose="020F0502020204030204" pitchFamily="34" charset="0"/>
            </a:endParaRPr>
          </a:p>
          <a:p>
            <a:endParaRPr lang="en-US" sz="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769692988"/>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10950</TotalTime>
  <Words>2706</Words>
  <Application>Microsoft Macintosh PowerPoint</Application>
  <PresentationFormat>A4 Paper (210x297 mm)</PresentationFormat>
  <Paragraphs>433</Paragraphs>
  <Slides>4</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vt:i4>
      </vt:variant>
    </vt:vector>
  </HeadingPairs>
  <TitlesOfParts>
    <vt:vector size="9" baseType="lpstr">
      <vt:lpstr>Aptos</vt:lpstr>
      <vt:lpstr>Aptos Display</vt:lpstr>
      <vt:lpstr>Arial</vt:lpstr>
      <vt:lpstr>Calibri</vt:lpstr>
      <vt:lpstr>Office Theme</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Dwi</dc:creator>
  <cp:lastModifiedBy>sam martin</cp:lastModifiedBy>
  <cp:revision>90</cp:revision>
  <dcterms:created xsi:type="dcterms:W3CDTF">2024-06-13T04:30:46Z</dcterms:created>
  <dcterms:modified xsi:type="dcterms:W3CDTF">2025-08-05T05:41:07Z</dcterms:modified>
</cp:coreProperties>
</file>