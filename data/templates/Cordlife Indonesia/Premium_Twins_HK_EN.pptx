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40" r:id="rId2"/>
    <p:sldId id="341" r:id="rId3"/>
    <p:sldId id="342" r:id="rId4"/>
    <p:sldId id="34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Hong Kong" id="{E9ACCF87-03BC-4AB8-AB7F-163DDA8A2C49}">
          <p14:sldIdLst/>
        </p14:section>
        <p14:section name="Hong Kong version" id="{1BC3D3C4-929D-40D4-A52A-066B8F9AF03F}">
          <p14:sldIdLst>
            <p14:sldId id="340"/>
            <p14:sldId id="341"/>
            <p14:sldId id="342"/>
            <p14:sldId id="34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9ED5"/>
    <a:srgbClr val="00A6C8"/>
    <a:srgbClr val="099049"/>
    <a:srgbClr val="009A43"/>
    <a:srgbClr val="E5F6F9"/>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793" autoAdjust="0"/>
  </p:normalViewPr>
  <p:slideViewPr>
    <p:cSldViewPr snapToGrid="0">
      <p:cViewPr varScale="1">
        <p:scale>
          <a:sx n="185" d="100"/>
          <a:sy n="185" d="100"/>
        </p:scale>
        <p:origin x="51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62702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1501645251"/>
              </p:ext>
            </p:extLst>
          </p:nvPr>
        </p:nvGraphicFramePr>
        <p:xfrm>
          <a:off x="446345" y="3545404"/>
          <a:ext cx="5984582" cy="2156460"/>
        </p:xfrm>
        <a:graphic>
          <a:graphicData uri="http://schemas.openxmlformats.org/drawingml/2006/table">
            <a:tbl>
              <a:tblPr firstRow="1" bandRow="1">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r>
                        <a:rPr lang="en-US" sz="700" b="1" dirty="0">
                          <a:latin typeface="Calibri" panose="020F0502020204030204" pitchFamily="34" charset="0"/>
                          <a:cs typeface="Calibri" panose="020F0502020204030204" pitchFamily="34" charset="0"/>
                        </a:rPr>
                        <a:t>(before)</a:t>
                      </a:r>
                      <a:endParaRPr lang="en-US" sz="105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p>
                      <a:pPr marL="0" marR="0" lvl="0" indent="0" algn="ctr" defTabSz="685800" rtl="0" eaLnBrk="1" fontAlgn="auto" latinLnBrk="0" hangingPunct="1">
                        <a:lnSpc>
                          <a:spcPct val="100000"/>
                        </a:lnSpc>
                        <a:spcBef>
                          <a:spcPts val="0"/>
                        </a:spcBef>
                        <a:spcAft>
                          <a:spcPts val="0"/>
                        </a:spcAft>
                        <a:buClrTx/>
                        <a:buSzTx/>
                        <a:buFontTx/>
                        <a:buNone/>
                        <a:tabLst/>
                        <a:defRPr/>
                      </a:pPr>
                      <a:r>
                        <a:rPr lang="en-US" sz="700" b="1" dirty="0">
                          <a:latin typeface="Calibri" panose="020F0502020204030204" pitchFamily="34" charset="0"/>
                          <a:cs typeface="Calibri" panose="020F0502020204030204" pitchFamily="34" charset="0"/>
                        </a:rPr>
                        <a:t>(after)</a:t>
                      </a: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Trisomy 9</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&lt;&lt;T9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NA</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&lt;&lt;T9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979932079"/>
                  </a:ext>
                </a:extLst>
              </a:tr>
              <a:tr h="0">
                <a:tc>
                  <a:txBody>
                    <a:bodyPr/>
                    <a:lstStyle/>
                    <a:p>
                      <a:pPr algn="ctr"/>
                      <a:r>
                        <a:rPr lang="en-US" sz="1000" b="1" dirty="0">
                          <a:latin typeface="Calibri" panose="020F0502020204030204" pitchFamily="34" charset="0"/>
                          <a:cs typeface="Calibri" panose="020F0502020204030204" pitchFamily="34" charset="0"/>
                        </a:rPr>
                        <a:t>Trisomy 16</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&lt;&lt;T16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&lt;&lt;T16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730202693"/>
                  </a:ext>
                </a:extLst>
              </a:tr>
              <a:tr h="0">
                <a:tc>
                  <a:txBody>
                    <a:bodyPr/>
                    <a:lstStyle/>
                    <a:p>
                      <a:pPr algn="ctr"/>
                      <a:r>
                        <a:rPr lang="en-US" sz="1000" b="1" dirty="0">
                          <a:latin typeface="Calibri" panose="020F0502020204030204" pitchFamily="34" charset="0"/>
                          <a:cs typeface="Calibri" panose="020F0502020204030204" pitchFamily="34" charset="0"/>
                        </a:rPr>
                        <a:t>Trisomy 22</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&lt;&lt;T22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&lt;&lt;T22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014447478"/>
                  </a:ext>
                </a:extLst>
              </a:tr>
              <a:tr h="0">
                <a:tc>
                  <a:txBody>
                    <a:bodyPr/>
                    <a:lstStyle/>
                    <a:p>
                      <a:pPr algn="ctr"/>
                      <a:r>
                        <a:rPr lang="en-US" sz="1000" b="1" dirty="0">
                          <a:latin typeface="Calibri" panose="020F0502020204030204" pitchFamily="34" charset="0"/>
                          <a:cs typeface="Calibri" panose="020F0502020204030204" pitchFamily="34" charset="0"/>
                        </a:rPr>
                        <a:t>All other autosomal trisomy</a:t>
                      </a:r>
                      <a:endParaRPr lang="en-US" sz="1000" b="1" baseline="50000" dirty="0">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&lt;&lt;Other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&lt;&lt;Other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3608254715"/>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7422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0377AA96-D5DD-60DA-BB6F-97D671D82B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9" name="TextBox 8">
            <a:extLst>
              <a:ext uri="{FF2B5EF4-FFF2-40B4-BE49-F238E27FC236}">
                <a16:creationId xmlns:a16="http://schemas.microsoft.com/office/drawing/2014/main" id="{219DD452-4A7F-1546-4110-88F211464B8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68012B77-FB6A-D207-5D5B-1AA20CE3049D}"/>
              </a:ext>
            </a:extLst>
          </p:cNvPr>
          <p:cNvSpPr txBox="1"/>
          <p:nvPr/>
        </p:nvSpPr>
        <p:spPr>
          <a:xfrm>
            <a:off x="446345" y="9203303"/>
            <a:ext cx="1165704"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27" name="Rectangle: Rounded Corners 26">
            <a:extLst>
              <a:ext uri="{FF2B5EF4-FFF2-40B4-BE49-F238E27FC236}">
                <a16:creationId xmlns:a16="http://schemas.microsoft.com/office/drawing/2014/main" id="{54A9A9BA-2CD0-FD62-010D-DECF988F6010}"/>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0" name="TextBox 29">
            <a:extLst>
              <a:ext uri="{FF2B5EF4-FFF2-40B4-BE49-F238E27FC236}">
                <a16:creationId xmlns:a16="http://schemas.microsoft.com/office/drawing/2014/main" id="{6ADD0727-D545-C7F4-634E-BCE2A3DA86FE}"/>
              </a:ext>
            </a:extLst>
          </p:cNvPr>
          <p:cNvSpPr txBox="1"/>
          <p:nvPr/>
        </p:nvSpPr>
        <p:spPr>
          <a:xfrm>
            <a:off x="498896" y="9427924"/>
            <a:ext cx="3795213"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B3F3595C-4A9A-C62A-E7AD-D66543DAE6BA}"/>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EE1A0DB3-54C9-76C6-E49F-73A51AF4DA5B}"/>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3" name="TextBox 12">
            <a:extLst>
              <a:ext uri="{FF2B5EF4-FFF2-40B4-BE49-F238E27FC236}">
                <a16:creationId xmlns:a16="http://schemas.microsoft.com/office/drawing/2014/main" id="{A5AB032F-4C0E-7E75-E9EB-9C8F5C79C7B7}"/>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2" name="TextBox 1">
            <a:extLst>
              <a:ext uri="{FF2B5EF4-FFF2-40B4-BE49-F238E27FC236}">
                <a16:creationId xmlns:a16="http://schemas.microsoft.com/office/drawing/2014/main" id="{C9AE9244-37B0-32EB-B0D0-159499256DE9}"/>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80DD2FA-C0C3-CEA3-5273-E9FC8F35FF45}"/>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020041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3740187786"/>
              </p:ext>
            </p:extLst>
          </p:nvPr>
        </p:nvGraphicFramePr>
        <p:xfrm>
          <a:off x="464687" y="2286588"/>
          <a:ext cx="5984584" cy="2156298"/>
        </p:xfrm>
        <a:graphic>
          <a:graphicData uri="http://schemas.openxmlformats.org/drawingml/2006/table">
            <a:tbl>
              <a:tblPr firstRow="1" bandRow="1">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rgbClr val="2AA9DB"/>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a:t>
                      </a:r>
                      <a:r>
                        <a:rPr lang="en-US" sz="900" b="1" dirty="0" err="1">
                          <a:latin typeface="Calibri" panose="020F0502020204030204" pitchFamily="34" charset="0"/>
                          <a:cs typeface="Calibri" panose="020F0502020204030204" pitchFamily="34" charset="0"/>
                        </a:rPr>
                        <a:t>willi</a:t>
                      </a:r>
                      <a:r>
                        <a:rPr lang="en-US" sz="900" b="1" dirty="0">
                          <a:latin typeface="Calibri" panose="020F0502020204030204" pitchFamily="34" charset="0"/>
                          <a:cs typeface="Calibri" panose="020F0502020204030204" pitchFamily="34" charset="0"/>
                        </a:rPr>
                        <a:t>/Angelman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tc>
                  <a:txBody>
                    <a:bodyPr/>
                    <a:lstStyle/>
                    <a:p>
                      <a:pPr algn="ctr"/>
                      <a:endParaRPr lang="en-US" sz="900" b="1"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3"/>
            <a:ext cx="5984582" cy="800297"/>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findings. These 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pic>
        <p:nvPicPr>
          <p:cNvPr id="18" name="Picture 17">
            <a:extLst>
              <a:ext uri="{FF2B5EF4-FFF2-40B4-BE49-F238E27FC236}">
                <a16:creationId xmlns:a16="http://schemas.microsoft.com/office/drawing/2014/main" id="{E18D27C2-D3DD-5020-619F-EF12EC57E1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8" name="TextBox 27">
            <a:extLst>
              <a:ext uri="{FF2B5EF4-FFF2-40B4-BE49-F238E27FC236}">
                <a16:creationId xmlns:a16="http://schemas.microsoft.com/office/drawing/2014/main" id="{EBCC1B0D-6385-50F0-3E27-888C3C8BD82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560F6E5-72BC-6AB6-31A1-9A190496C162}"/>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4" name="Rectangle: Rounded Corners 13">
            <a:extLst>
              <a:ext uri="{FF2B5EF4-FFF2-40B4-BE49-F238E27FC236}">
                <a16:creationId xmlns:a16="http://schemas.microsoft.com/office/drawing/2014/main" id="{1DE05240-10CC-3980-503B-4C07AF93046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4EE5B8A2-B21D-7996-66D4-2465F77EE26A}"/>
              </a:ext>
            </a:extLst>
          </p:cNvPr>
          <p:cNvSpPr txBox="1"/>
          <p:nvPr/>
        </p:nvSpPr>
        <p:spPr>
          <a:xfrm>
            <a:off x="498897" y="9427924"/>
            <a:ext cx="3674386"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810CDD7C-B043-462A-D6D2-80BFC239CAA3}"/>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7FDBCD2E-5443-A177-D902-C1E3B55FCD8E}"/>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0" name="TextBox 19">
            <a:extLst>
              <a:ext uri="{FF2B5EF4-FFF2-40B4-BE49-F238E27FC236}">
                <a16:creationId xmlns:a16="http://schemas.microsoft.com/office/drawing/2014/main" id="{5744D646-7AC7-D741-A059-E349A9CE3002}"/>
              </a:ext>
            </a:extLst>
          </p:cNvPr>
          <p:cNvSpPr txBox="1"/>
          <p:nvPr/>
        </p:nvSpPr>
        <p:spPr>
          <a:xfrm>
            <a:off x="498897" y="4737128"/>
            <a:ext cx="5846298" cy="230832"/>
          </a:xfrm>
          <a:prstGeom prst="rect">
            <a:avLst/>
          </a:prstGeom>
          <a:noFill/>
        </p:spPr>
        <p:txBody>
          <a:bodyPr wrap="square">
            <a:spAutoFit/>
          </a:bodyPr>
          <a:lstStyle/>
          <a:p>
            <a:pPr marL="83820" lvl="0"/>
            <a:r>
              <a:rPr lang="en-US" sz="900" dirty="0">
                <a:latin typeface="Calibri" panose="020F0502020204030204" pitchFamily="34" charset="0"/>
                <a:ea typeface="Calibri"/>
                <a:cs typeface="Calibri" panose="020F0502020204030204" pitchFamily="34" charset="0"/>
                <a:sym typeface="Calibri"/>
              </a:rPr>
              <a:t>&lt;&lt;MDI&gt;&gt;</a:t>
            </a:r>
          </a:p>
        </p:txBody>
      </p:sp>
      <p:sp>
        <p:nvSpPr>
          <p:cNvPr id="5" name="TextBox 4">
            <a:extLst>
              <a:ext uri="{FF2B5EF4-FFF2-40B4-BE49-F238E27FC236}">
                <a16:creationId xmlns:a16="http://schemas.microsoft.com/office/drawing/2014/main" id="{D6BE3C54-ACBC-C530-A9BB-EF76AD58DDEE}"/>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7779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202358035"/>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15" name="Picture 14">
            <a:extLst>
              <a:ext uri="{FF2B5EF4-FFF2-40B4-BE49-F238E27FC236}">
                <a16:creationId xmlns:a16="http://schemas.microsoft.com/office/drawing/2014/main" id="{210DDD2D-54FC-E921-1A8B-EB3171C17E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2" name="TextBox 1">
            <a:extLst>
              <a:ext uri="{FF2B5EF4-FFF2-40B4-BE49-F238E27FC236}">
                <a16:creationId xmlns:a16="http://schemas.microsoft.com/office/drawing/2014/main" id="{77BC69F4-BC32-B86F-01BE-675A0823968C}"/>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06475CB-D6F9-419F-4AA3-3A2398CC535F}"/>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11" name="TextBox 10">
            <a:extLst>
              <a:ext uri="{FF2B5EF4-FFF2-40B4-BE49-F238E27FC236}">
                <a16:creationId xmlns:a16="http://schemas.microsoft.com/office/drawing/2014/main" id="{98A67E6F-7861-7307-3838-B85957F99B02}"/>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sp>
        <p:nvSpPr>
          <p:cNvPr id="20" name="TextBox 19">
            <a:extLst>
              <a:ext uri="{FF2B5EF4-FFF2-40B4-BE49-F238E27FC236}">
                <a16:creationId xmlns:a16="http://schemas.microsoft.com/office/drawing/2014/main" id="{30B754FE-2293-E11B-9C1E-4A6C0258DE27}"/>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B12B9E64-17F1-44BB-2354-4BA13081791A}"/>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9" name="TextBox 8">
            <a:extLst>
              <a:ext uri="{FF2B5EF4-FFF2-40B4-BE49-F238E27FC236}">
                <a16:creationId xmlns:a16="http://schemas.microsoft.com/office/drawing/2014/main" id="{530C6D41-FD02-C870-10FA-05C2168DD488}"/>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4F66F174-09D0-F6D5-993E-D54D9AC3CAC0}"/>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7F8201BB-400A-5459-CAF8-270EE4D699CB}"/>
              </a:ext>
            </a:extLst>
          </p:cNvPr>
          <p:cNvSpPr txBox="1"/>
          <p:nvPr/>
        </p:nvSpPr>
        <p:spPr>
          <a:xfrm>
            <a:off x="398720" y="9214510"/>
            <a:ext cx="2722170" cy="538609"/>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r>
              <a:rPr lang="en-US" sz="700" dirty="0">
                <a:solidFill>
                  <a:schemeClr val="bg1"/>
                </a:solidFill>
                <a:latin typeface="Calibri" panose="020F0502020204030204" pitchFamily="34" charset="0"/>
                <a:cs typeface="Calibri" panose="020F0502020204030204" pitchFamily="34" charset="0"/>
              </a:rPr>
              <a:t>1 Yishun Industrial Street 1</a:t>
            </a:r>
          </a:p>
          <a:p>
            <a:r>
              <a:rPr lang="en-US" sz="700" dirty="0">
                <a:solidFill>
                  <a:schemeClr val="bg1"/>
                </a:solidFill>
                <a:latin typeface="Calibri" panose="020F0502020204030204" pitchFamily="34" charset="0"/>
                <a:cs typeface="Calibri" panose="020F0502020204030204" pitchFamily="34" charset="0"/>
              </a:rPr>
              <a:t>#06-01/09 </a:t>
            </a:r>
            <a:r>
              <a:rPr lang="en-US" sz="700" dirty="0" err="1">
                <a:solidFill>
                  <a:schemeClr val="bg1"/>
                </a:solidFill>
                <a:latin typeface="Calibri" panose="020F0502020204030204" pitchFamily="34" charset="0"/>
                <a:cs typeface="Calibri" panose="020F0502020204030204" pitchFamily="34" charset="0"/>
              </a:rPr>
              <a:t>A’Posh</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BizHub</a:t>
            </a:r>
            <a:endParaRPr lang="en-US" sz="700"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Singapore 768160</a:t>
            </a: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3528742476"/>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3478357220"/>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1693368026"/>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1353286334"/>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F9ED5"/>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A6C8">
                        <a:alpha val="1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5F6F9"/>
                    </a:solidFill>
                  </a:tcPr>
                </a:tc>
                <a:extLst>
                  <a:ext uri="{0D108BD9-81ED-4DB2-BD59-A6C34878D82A}">
                    <a16:rowId xmlns:a16="http://schemas.microsoft.com/office/drawing/2014/main" val="1027956119"/>
                  </a:ext>
                </a:extLst>
              </a:tr>
            </a:tbl>
          </a:graphicData>
        </a:graphic>
      </p:graphicFrame>
      <p:sp>
        <p:nvSpPr>
          <p:cNvPr id="5" name="TextBox 4">
            <a:extLst>
              <a:ext uri="{FF2B5EF4-FFF2-40B4-BE49-F238E27FC236}">
                <a16:creationId xmlns:a16="http://schemas.microsoft.com/office/drawing/2014/main" id="{367B9596-4263-5061-70D9-D1F16D7BF501}"/>
              </a:ext>
            </a:extLst>
          </p:cNvPr>
          <p:cNvSpPr txBox="1"/>
          <p:nvPr/>
        </p:nvSpPr>
        <p:spPr>
          <a:xfrm>
            <a:off x="2557354" y="9214885"/>
            <a:ext cx="3243371" cy="430887"/>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p:txBody>
      </p:sp>
      <p:pic>
        <p:nvPicPr>
          <p:cNvPr id="19" name="Picture 18">
            <a:extLst>
              <a:ext uri="{FF2B5EF4-FFF2-40B4-BE49-F238E27FC236}">
                <a16:creationId xmlns:a16="http://schemas.microsoft.com/office/drawing/2014/main" id="{11D313CE-1103-8AE5-9FD2-B950BEF1D5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050" y="45194"/>
            <a:ext cx="1413626" cy="652977"/>
          </a:xfrm>
          <a:prstGeom prst="rect">
            <a:avLst/>
          </a:prstGeom>
        </p:spPr>
      </p:pic>
      <p:sp>
        <p:nvSpPr>
          <p:cNvPr id="7" name="TextBox 6">
            <a:extLst>
              <a:ext uri="{FF2B5EF4-FFF2-40B4-BE49-F238E27FC236}">
                <a16:creationId xmlns:a16="http://schemas.microsoft.com/office/drawing/2014/main" id="{F65FD7EF-FD67-13C7-7AEC-D8418F31F4B0}"/>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3166 </a:t>
            </a:r>
          </a:p>
          <a:p>
            <a:pPr algn="ctr"/>
            <a:r>
              <a:rPr lang="pt-BR" sz="800" b="0" i="0" dirty="0">
                <a:solidFill>
                  <a:srgbClr val="000000"/>
                </a:solidFill>
                <a:effectLst/>
                <a:latin typeface="Calibri" panose="020F0502020204030204" pitchFamily="34" charset="0"/>
                <a:cs typeface="Calibri" panose="020F0502020204030204" pitchFamily="34" charset="0"/>
              </a:rPr>
              <a:t>QR G1.1-6-5-a</a:t>
            </a:r>
            <a:endParaRPr lang="en-ID" sz="8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F75E4337-7B8C-E1D5-A073-70E5D1CBB3DE}"/>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5DD80E06-6A64-E926-ECC7-73CAEDABE882}"/>
              </a:ext>
            </a:extLst>
          </p:cNvPr>
          <p:cNvSpPr txBox="1"/>
          <p:nvPr/>
        </p:nvSpPr>
        <p:spPr>
          <a:xfrm>
            <a:off x="4466785" y="766381"/>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3" name="TextBox 2">
            <a:extLst>
              <a:ext uri="{FF2B5EF4-FFF2-40B4-BE49-F238E27FC236}">
                <a16:creationId xmlns:a16="http://schemas.microsoft.com/office/drawing/2014/main" id="{FA017856-27D6-6D0A-F263-4C49B37C5AF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6969298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10951</TotalTime>
  <Words>2636</Words>
  <Application>Microsoft Macintosh PowerPoint</Application>
  <PresentationFormat>A4 Paper (210x297 mm)</PresentationFormat>
  <Paragraphs>412</Paragraphs>
  <Slides>4</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92</cp:revision>
  <dcterms:created xsi:type="dcterms:W3CDTF">2024-06-13T04:30:46Z</dcterms:created>
  <dcterms:modified xsi:type="dcterms:W3CDTF">2026-01-05T03:18:09Z</dcterms:modified>
</cp:coreProperties>
</file>