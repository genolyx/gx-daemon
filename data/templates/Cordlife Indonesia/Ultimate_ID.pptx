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339" r:id="rId2"/>
    <p:sldId id="338" r:id="rId3"/>
    <p:sldId id="340" r:id="rId4"/>
    <p:sldId id="341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E6E229-C8AF-48D0-00DD-7C10297B2569}" name="Lab Manager" initials="LM" userId="d14a33ac0ceee803" providerId="Windows Live"/>
  <p188:author id="{CB6C2E59-5052-A676-A62D-8EC3A2F35C0D}" name="Lab Exec02" initials="LE" userId="2570120b052f3b7b" providerId="Windows Live"/>
  <p188:author id="{C3F37261-C495-8902-B2E6-D7FCA57F3785}" name="Meri Virtin" initials="MV" userId="05a2d77c8c74f754" providerId="Windows Live"/>
  <p188:author id="{4A23E062-0C49-A1F7-BE07-CACFFB8CC98F}" name="Dwi Astuti Handayani" initials="DAH" userId="Dwi Astuti Handayani" providerId="None"/>
  <p188:author id="{F97F367D-8195-4952-2436-DB42D502EDB7}" name="Dwi" initials="D" userId="S::dwi.astuti@cordlife.com::7129da7c-f5bb-45a1-9e5d-0cc5ac434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00A6C8"/>
    <a:srgbClr val="099049"/>
    <a:srgbClr val="009A43"/>
    <a:srgbClr val="E5F6F9"/>
    <a:srgbClr val="1975C0"/>
    <a:srgbClr val="5E2E8C"/>
    <a:srgbClr val="632C8F"/>
    <a:srgbClr val="1973BA"/>
    <a:srgbClr val="2AA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0781" autoAdjust="0"/>
  </p:normalViewPr>
  <p:slideViewPr>
    <p:cSldViewPr snapToGrid="0">
      <p:cViewPr varScale="1">
        <p:scale>
          <a:sx n="135" d="100"/>
          <a:sy n="135" d="100"/>
        </p:scale>
        <p:origin x="5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9E9B-57B9-4CBC-9B6F-C0875E2CCF71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0B0AA-EC77-4154-9376-38D730BD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04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18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2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3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3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1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v.geneticsupportfoundation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05713-3348-4385-2B4B-E68890BDD5BF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747F1-4CEA-40FD-98C3-6C40BF950E8B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0FCA8-40AD-49DE-872B-14A5F086A1B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6FB33D-4B4C-56BE-5DC6-6C14A78D3ADB}"/>
              </a:ext>
            </a:extLst>
          </p:cNvPr>
          <p:cNvSpPr txBox="1"/>
          <p:nvPr/>
        </p:nvSpPr>
        <p:spPr>
          <a:xfrm>
            <a:off x="452696" y="1911472"/>
            <a:ext cx="3859287" cy="711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INTERPRETASI (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2700" marR="5080" lvl="0">
              <a:lnSpc>
                <a:spcPct val="122200"/>
              </a:lnSpc>
              <a:spcBef>
                <a:spcPts val="95"/>
              </a:spcBef>
            </a:pPr>
            <a:r>
              <a:rPr lang="en-US" sz="1100" b="1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&lt;&lt;Interpretation&gt;&gt;</a:t>
            </a:r>
            <a:endParaRPr lang="en-US" sz="110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just"/>
            <a:endParaRPr lang="en-US" sz="12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264A46-8BCE-0626-AF69-52E456E30DDC}"/>
              </a:ext>
            </a:extLst>
          </p:cNvPr>
          <p:cNvSpPr txBox="1"/>
          <p:nvPr/>
        </p:nvSpPr>
        <p:spPr>
          <a:xfrm>
            <a:off x="4441862" y="1975938"/>
            <a:ext cx="196979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&lt;&lt;FF_YFF&gt;&gt;%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Jenis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Kelamin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&lt;&lt;Gender&gt;&gt;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681959-5FC1-8178-5CA3-CB804C551E76}"/>
              </a:ext>
            </a:extLst>
          </p:cNvPr>
          <p:cNvSpPr/>
          <p:nvPr/>
        </p:nvSpPr>
        <p:spPr>
          <a:xfrm>
            <a:off x="4408972" y="1899689"/>
            <a:ext cx="2021955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C25077C-3F86-82CD-EEBC-1345FC094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247669"/>
              </p:ext>
            </p:extLst>
          </p:nvPr>
        </p:nvGraphicFramePr>
        <p:xfrm>
          <a:off x="446345" y="3545404"/>
          <a:ext cx="5984582" cy="297942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3522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34132603"/>
                    </a:ext>
                  </a:extLst>
                </a:gridCol>
                <a:gridCol w="1012260">
                  <a:extLst>
                    <a:ext uri="{9D8B030D-6E8A-4147-A177-3AD203B41FA5}">
                      <a16:colId xmlns:a16="http://schemas.microsoft.com/office/drawing/2014/main" val="52472932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NPP/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sebelum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setelah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&lt;&lt;ST21_TT21&gt;&gt;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&lt;&lt;T18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&lt;&lt;ST18_TT18&gt;&gt;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&lt;&lt;T18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2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&lt;&lt;ST13_TT13&gt;&gt;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18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&lt;&lt;T9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&lt;&lt;T9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32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&lt;&lt;T16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&lt;&lt;T16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202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&lt;&lt;T22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&lt;&lt;T22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44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Turner)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80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X)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Klinefelter)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8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Jacob)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06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autosomal 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lainnya</a:t>
                      </a:r>
                      <a:endParaRPr lang="en-US" sz="90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&lt;&lt;Other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&lt;&lt;Other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25471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46345" y="3232822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FD5668-A2A3-535F-995B-C8E0C0ABE794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D14529-C7C6-BEDC-6A17-B75DBD3A2218}"/>
              </a:ext>
            </a:extLst>
          </p:cNvPr>
          <p:cNvCxnSpPr>
            <a:cxnSpLocks/>
          </p:cNvCxnSpPr>
          <p:nvPr/>
        </p:nvCxnSpPr>
        <p:spPr>
          <a:xfrm>
            <a:off x="533400" y="2594922"/>
            <a:ext cx="3681005" cy="0"/>
          </a:xfrm>
          <a:prstGeom prst="line">
            <a:avLst/>
          </a:prstGeom>
          <a:ln>
            <a:solidFill>
              <a:srgbClr val="1975C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845B88-6304-C188-11BF-EC9C14685CB0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D7F0E2-04DD-6B22-ABD8-6956309937FF}"/>
              </a:ext>
            </a:extLst>
          </p:cNvPr>
          <p:cNvSpPr txBox="1"/>
          <p:nvPr/>
        </p:nvSpPr>
        <p:spPr>
          <a:xfrm>
            <a:off x="412897" y="6665518"/>
            <a:ext cx="599875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NPP dan NPN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https://ppv.geneticsupportfoundation.org/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data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sebelum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publikasi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studi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17.885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wanita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(Dar, et al. Am J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Obstet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Gynecol. 2014 Nov; 211(5): 527.e1-527.e17)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populasi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Nilai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skor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diperoleh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distribusi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kelompok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normal dan abnormal Gaussian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persentase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chromosome read % (Unique Read %)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Z-score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NPP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aktual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serta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ultrasonografi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riwayat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pribadi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keluarga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disertakan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penilaian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425E74-126B-618D-3860-13906278BBB1}"/>
              </a:ext>
            </a:extLst>
          </p:cNvPr>
          <p:cNvSpPr/>
          <p:nvPr/>
        </p:nvSpPr>
        <p:spPr>
          <a:xfrm>
            <a:off x="430623" y="1899689"/>
            <a:ext cx="3875010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ACED1-6AC2-2602-5A69-7520452AAE52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6B20D6-42AA-FAAA-B8DB-FC1082E5765C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275569-4B51-0C50-4A6E-8BB71CABF2DF}"/>
              </a:ext>
            </a:extLst>
          </p:cNvPr>
          <p:cNvSpPr txBox="1"/>
          <p:nvPr/>
        </p:nvSpPr>
        <p:spPr>
          <a:xfrm>
            <a:off x="498896" y="9427924"/>
            <a:ext cx="3910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Cordlife 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Yuyus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Kusnadi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PhD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325EAC-62AA-A7EB-F0F1-768D35F74BB7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504FAF-4B49-9A77-E843-DAEBC3060E89}"/>
              </a:ext>
            </a:extLst>
          </p:cNvPr>
          <p:cNvSpPr txBox="1"/>
          <p:nvPr/>
        </p:nvSpPr>
        <p:spPr>
          <a:xfrm>
            <a:off x="498898" y="2594922"/>
            <a:ext cx="371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berlaku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dipilih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NIPT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menilai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perlu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disarankan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lanjut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berisiko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AFBD31-BD43-5915-9922-97C1F21F17F6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B77B73-667D-521E-4256-E9CB47B8D2EE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942883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66A867-4455-152D-1CC5-E07801B192A2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E8A61-CAF4-1672-1AA6-B712F7B4EDA4}"/>
              </a:ext>
            </a:extLst>
          </p:cNvPr>
          <p:cNvSpPr txBox="1"/>
          <p:nvPr/>
        </p:nvSpPr>
        <p:spPr>
          <a:xfrm>
            <a:off x="432169" y="2107226"/>
            <a:ext cx="599875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Autosomal dan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Seks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berpotensi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ketidakakuratan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antaranya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transfusi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transplantasi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punca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Terutama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pengurangan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vanishing fetus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kematian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maka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413E1D-0DC0-0BFF-A4D7-A5163CBFCA5B}"/>
              </a:ext>
            </a:extLst>
          </p:cNvPr>
          <p:cNvSpPr txBox="1"/>
          <p:nvPr/>
        </p:nvSpPr>
        <p:spPr>
          <a:xfrm>
            <a:off x="430623" y="1878333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KETERBATASAN PEMERIKSAAN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14A75-A2B9-0827-6C3B-317B8E8C6411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BDD3D3-E185-AAF7-C476-ED95527FCC7D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96A22-0D09-0985-EFB5-3652E6030941}"/>
              </a:ext>
            </a:extLst>
          </p:cNvPr>
          <p:cNvSpPr txBox="1"/>
          <p:nvPr/>
        </p:nvSpPr>
        <p:spPr>
          <a:xfrm>
            <a:off x="498896" y="9427924"/>
            <a:ext cx="3910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Cordlife 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Yuyus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Kusnadi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PhD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6CFBF3-4FFF-B10F-96BA-D4F96DA7FA0E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FB79BE-F8BA-DCA6-C589-2EDFF46C914A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66A346-702F-262F-10B1-03E550FF1E5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CDDCEE-B6DB-063C-6013-864C6ADA4BF6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E9B2F-17FA-1994-9BBE-E3EB5041D1E0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373B08-C09B-2359-E13F-E60FC5C59A27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CA2585-58FB-B3A9-6380-B413FCA4A70F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2720535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43535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TENTANG CORDLIFE NIPT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3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3C67E-DF8C-C2DA-0A2D-B06FBC379BE1}"/>
              </a:ext>
            </a:extLst>
          </p:cNvPr>
          <p:cNvSpPr txBox="1"/>
          <p:nvPr/>
        </p:nvSpPr>
        <p:spPr>
          <a:xfrm>
            <a:off x="430623" y="201675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Definisi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702B0D-E9ED-91A1-3997-E42203777706}"/>
              </a:ext>
            </a:extLst>
          </p:cNvPr>
          <p:cNvSpPr txBox="1"/>
          <p:nvPr/>
        </p:nvSpPr>
        <p:spPr>
          <a:xfrm>
            <a:off x="3444723" y="2216684"/>
            <a:ext cx="29862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(NPP)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(NPN)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diperiksakan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23869-0372-6D8D-187B-E0E46E51B6AD}"/>
              </a:ext>
            </a:extLst>
          </p:cNvPr>
          <p:cNvSpPr txBox="1"/>
          <p:nvPr/>
        </p:nvSpPr>
        <p:spPr>
          <a:xfrm>
            <a:off x="430623" y="2226464"/>
            <a:ext cx="2982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CC831-1D0D-CAC5-759D-5FFAAE033D14}"/>
              </a:ext>
            </a:extLst>
          </p:cNvPr>
          <p:cNvSpPr txBox="1"/>
          <p:nvPr/>
        </p:nvSpPr>
        <p:spPr>
          <a:xfrm>
            <a:off x="430622" y="574101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D1364F-2D63-4BE1-C34A-665BA6715115}"/>
              </a:ext>
            </a:extLst>
          </p:cNvPr>
          <p:cNvSpPr txBox="1"/>
          <p:nvPr/>
        </p:nvSpPr>
        <p:spPr>
          <a:xfrm>
            <a:off x="435930" y="5931957"/>
            <a:ext cx="5998758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invasif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massively parallel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potongan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Alur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terdiri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otomatis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library,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dan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next generation whole genome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Kemampuan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maupun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algoritme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Penafian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mengevaluasi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TIDAK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memberitahukan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secara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menguji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kondisi-kondisi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diminta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menjamin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Bagaimana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memandu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perawatan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termasuk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dibaca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kaitannya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klinis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dimaksudkan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mengambil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laksana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membebaskan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efek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timbul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77E85-5567-A504-E77C-AA92EE25C50C}"/>
              </a:ext>
            </a:extLst>
          </p:cNvPr>
          <p:cNvSpPr txBox="1"/>
          <p:nvPr/>
        </p:nvSpPr>
        <p:spPr>
          <a:xfrm>
            <a:off x="446345" y="328866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Gambaran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2ACAE-EF50-D385-0298-964884111D5F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7D28F-DB88-1628-45AB-4764BF435B7A}"/>
              </a:ext>
            </a:extLst>
          </p:cNvPr>
          <p:cNvSpPr txBox="1"/>
          <p:nvPr/>
        </p:nvSpPr>
        <p:spPr>
          <a:xfrm>
            <a:off x="398720" y="9214510"/>
            <a:ext cx="2722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  <a:p>
            <a:endParaRPr lang="en-US" sz="7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284C9A-CFC3-294F-CA8F-1E7CDC1831A7}"/>
              </a:ext>
            </a:extLst>
          </p:cNvPr>
          <p:cNvGraphicFramePr>
            <a:graphicFrameLocks noGrp="1"/>
          </p:cNvGraphicFramePr>
          <p:nvPr/>
        </p:nvGraphicFramePr>
        <p:xfrm>
          <a:off x="515895" y="3565125"/>
          <a:ext cx="5915028" cy="2127485"/>
        </p:xfrm>
        <a:graphic>
          <a:graphicData uri="http://schemas.openxmlformats.org/drawingml/2006/table">
            <a:tbl>
              <a:tblPr/>
              <a:tblGrid>
                <a:gridCol w="696955">
                  <a:extLst>
                    <a:ext uri="{9D8B030D-6E8A-4147-A177-3AD203B41FA5}">
                      <a16:colId xmlns:a16="http://schemas.microsoft.com/office/drawing/2014/main" val="828020576"/>
                    </a:ext>
                  </a:extLst>
                </a:gridCol>
                <a:gridCol w="520845">
                  <a:extLst>
                    <a:ext uri="{9D8B030D-6E8A-4147-A177-3AD203B41FA5}">
                      <a16:colId xmlns:a16="http://schemas.microsoft.com/office/drawing/2014/main" val="3384034683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6906497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477495698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05723627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265217624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64419702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4983325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1396855724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3134404346"/>
                    </a:ext>
                  </a:extLst>
                </a:gridCol>
              </a:tblGrid>
              <a:tr h="3241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Aneuploidi</a:t>
                      </a:r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Kromosom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Sensitivitas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Spesifisitas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33463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T21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79797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T18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48907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T13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142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86.2 - 100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99.95%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99.83 - 99.99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92.31%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75.86 - 97.86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52948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30270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75215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435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47E540-83E1-6A8E-E9E6-7965BB5F9A07}"/>
              </a:ext>
            </a:extLst>
          </p:cNvPr>
          <p:cNvSpPr txBox="1"/>
          <p:nvPr/>
        </p:nvSpPr>
        <p:spPr>
          <a:xfrm>
            <a:off x="427072" y="8028772"/>
            <a:ext cx="5996103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>
                <a:latin typeface="Calibri" panose="020F0502020204030204" pitchFamily="34" charset="0"/>
                <a:cs typeface="Calibri" panose="020F0502020204030204" pitchFamily="34" charset="0"/>
              </a:rPr>
              <a:t>Referensi</a:t>
            </a:r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800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YM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Dennis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Lo,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RWK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Chiu,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chromosomal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aneuploidies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maternal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plasma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nucleic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acid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analysis;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Clinical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chemistry,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2008.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Bianchi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OW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sequencing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versus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standard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Engl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J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2014;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370:799-808.</a:t>
            </a:r>
          </a:p>
          <a:p>
            <a:pPr marL="104140" marR="10795" lvl="0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Anthony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update: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position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statement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the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American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College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Genetics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Genomics.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13:1056-65.</a:t>
            </a:r>
          </a:p>
          <a:p>
            <a:pPr marL="108585" marR="8255" lvl="0" indent="-95885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Chen,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Validation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fraction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estimation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its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application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testing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detection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multiple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pregnancies.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2019.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39(13):1273-1282.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A98AB8-B916-DFB9-FB91-9644089BECF7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8A2FB-92A6-45BD-98E6-9588D702B3F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A71075-6AF2-E007-0FEC-1E9D054CA883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1AB12-850E-A599-3FDA-623CED6A497D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E19D1-FAC2-A0F9-D238-96B9814FD66D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D98470-1A84-3D02-1C6C-49F74583923A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6AEB3B-2BBD-E2D6-BBBE-BF3E8FC75D0A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E62E91-855C-1D0E-6C9A-CC735657C0D7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4160163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3FE09A-7043-B615-4C39-2E64D394CB1E}"/>
              </a:ext>
            </a:extLst>
          </p:cNvPr>
          <p:cNvSpPr txBox="1"/>
          <p:nvPr/>
        </p:nvSpPr>
        <p:spPr>
          <a:xfrm>
            <a:off x="427072" y="2041439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Autosom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37A4B-BF3F-A231-3F4F-A37D3C359050}"/>
              </a:ext>
            </a:extLst>
          </p:cNvPr>
          <p:cNvSpPr txBox="1"/>
          <p:nvPr/>
        </p:nvSpPr>
        <p:spPr>
          <a:xfrm>
            <a:off x="430623" y="1798467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LAMPIRAN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4D46825-2C1F-0A8F-13BB-094F3348A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35459"/>
              </p:ext>
            </p:extLst>
          </p:nvPr>
        </p:nvGraphicFramePr>
        <p:xfrm>
          <a:off x="446345" y="2300803"/>
          <a:ext cx="5252706" cy="4664536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758031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2494675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</a:tblGrid>
              <a:tr h="28244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5317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2383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&lt;&lt;T3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18909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&lt;&lt;T4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32079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&lt;&lt;T5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202693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&lt;&lt;T6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447478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&lt;&lt;T7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80914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&lt;&lt;T8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1876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&lt;&lt;T10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88664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06044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&lt;&lt;T12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254715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&lt;&lt;T14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997572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&lt;&lt;T15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977052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&lt;&lt;T17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600014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&lt;&lt;T19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370171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&lt;&lt;T20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6802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44C9565-0086-D5D0-E8CE-146F1BB5F490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12928-0D33-9926-0A9F-9CDB2E315B1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450E6A-A49A-B265-BC28-B1F917FFF218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B0AA61-2E95-FFA4-261C-C7EECD1529D9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E084F3-4B77-A27D-7E9C-A0BDDC3FD96B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75ECE-0F30-9AA3-981A-C83C406760FA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C49AF2-C249-8F49-1664-748B32F9616D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E88605-B91E-198A-F4A7-4B21D8DB4E5B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2604646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12990</TotalTime>
  <Words>1931</Words>
  <Application>Microsoft Macintosh PowerPoint</Application>
  <PresentationFormat>A4 Paper (210x297 mm)</PresentationFormat>
  <Paragraphs>318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</dc:creator>
  <cp:lastModifiedBy>sam martin</cp:lastModifiedBy>
  <cp:revision>120</cp:revision>
  <dcterms:created xsi:type="dcterms:W3CDTF">2024-06-13T04:30:46Z</dcterms:created>
  <dcterms:modified xsi:type="dcterms:W3CDTF">2026-01-05T03:19:03Z</dcterms:modified>
</cp:coreProperties>
</file>