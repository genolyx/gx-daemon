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94" r:id="rId2"/>
    <p:sldId id="295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0E6E229-C8AF-48D0-00DD-7C10297B2569}" name="Lab Manager" initials="LM" userId="d14a33ac0ceee803" providerId="Windows Live"/>
  <p188:author id="{CB6C2E59-5052-A676-A62D-8EC3A2F35C0D}" name="Lab Exec02" initials="LE" userId="2570120b052f3b7b" providerId="Windows Live"/>
  <p188:author id="{C3F37261-C495-8902-B2E6-D7FCA57F3785}" name="Meri Virtin" initials="MV" userId="05a2d77c8c74f754" providerId="Windows Live"/>
  <p188:author id="{4A23E062-0C49-A1F7-BE07-CACFFB8CC98F}" name="Dwi Astuti Handayani" initials="DAH" userId="Dwi Astuti Handayani" providerId="None"/>
  <p188:author id="{F97F367D-8195-4952-2436-DB42D502EDB7}" name="Dwi" initials="D" userId="S::dwi.astuti@cordlife.com::7129da7c-f5bb-45a1-9e5d-0cc5ac43401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F6FA"/>
    <a:srgbClr val="00A6C8"/>
    <a:srgbClr val="0F9ED5"/>
    <a:srgbClr val="099049"/>
    <a:srgbClr val="009A43"/>
    <a:srgbClr val="E5F6F9"/>
    <a:srgbClr val="1975C0"/>
    <a:srgbClr val="5E2E8C"/>
    <a:srgbClr val="632C8F"/>
    <a:srgbClr val="1973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25" autoAdjust="0"/>
    <p:restoredTop sz="90825" autoAdjust="0"/>
  </p:normalViewPr>
  <p:slideViewPr>
    <p:cSldViewPr snapToGrid="0">
      <p:cViewPr varScale="1">
        <p:scale>
          <a:sx n="195" d="100"/>
          <a:sy n="195" d="100"/>
        </p:scale>
        <p:origin x="4736" y="-2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09E9B-57B9-4CBC-9B6F-C0875E2CCF71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20B0AA-EC77-4154-9376-38D730BDF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719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716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44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90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86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38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10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22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19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31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93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84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866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48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F875B-3630-45B7-8F1C-7ABA6E502FCC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416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7754FAC-03F1-BCC7-92A9-9BBA783CFE39}"/>
              </a:ext>
            </a:extLst>
          </p:cNvPr>
          <p:cNvSpPr txBox="1"/>
          <p:nvPr/>
        </p:nvSpPr>
        <p:spPr>
          <a:xfrm>
            <a:off x="5770169" y="9510229"/>
            <a:ext cx="6607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Page 1 of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66F174-09D0-F6D5-993E-D54D9AC3CAC0}"/>
              </a:ext>
            </a:extLst>
          </p:cNvPr>
          <p:cNvSpPr/>
          <p:nvPr/>
        </p:nvSpPr>
        <p:spPr>
          <a:xfrm>
            <a:off x="446345" y="9243237"/>
            <a:ext cx="5252706" cy="481157"/>
          </a:xfrm>
          <a:prstGeom prst="rect">
            <a:avLst/>
          </a:prstGeom>
          <a:solidFill>
            <a:srgbClr val="00A6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8201BB-400A-5459-CAF8-270EE4D699CB}"/>
              </a:ext>
            </a:extLst>
          </p:cNvPr>
          <p:cNvSpPr txBox="1"/>
          <p:nvPr/>
        </p:nvSpPr>
        <p:spPr>
          <a:xfrm>
            <a:off x="398720" y="9214510"/>
            <a:ext cx="27221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Group Ltd.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C92CBA-7626-367C-8C94-4171AEFD885D}"/>
              </a:ext>
            </a:extLst>
          </p:cNvPr>
          <p:cNvSpPr txBox="1"/>
          <p:nvPr/>
        </p:nvSpPr>
        <p:spPr>
          <a:xfrm>
            <a:off x="2557354" y="9214885"/>
            <a:ext cx="324337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Laboratory: PT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Persada</a:t>
            </a:r>
            <a:endParaRPr lang="en-US" sz="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Jl.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Bungur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Besar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Raya No. 23,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Gunung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Sahari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Selatan</a:t>
            </a:r>
          </a:p>
          <a:p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Kemayoran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Jakarta Pusat</a:t>
            </a: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Phone: 62-21-8086-4674    Email: info@id.cordlife.com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15CD08-94EF-E556-6F1E-7AE8D89E58AE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EF4A7E-F207-ADB3-D11F-4153EE3E1171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2C0D68-911E-B22B-2178-5B58D39EC7CF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700C3E-043C-94FD-6212-92BF90931ECB}"/>
              </a:ext>
            </a:extLst>
          </p:cNvPr>
          <p:cNvSpPr txBox="1"/>
          <p:nvPr/>
        </p:nvSpPr>
        <p:spPr>
          <a:xfrm>
            <a:off x="4466785" y="766381"/>
            <a:ext cx="1956391" cy="738664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Test Information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Sample Type: Blood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Collection Date: &lt;&lt;Collection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Receipt Date: &lt;&lt;Receipt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Report Date: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Test Requested: &lt;&lt;Test Requested&gt;&gt;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FFF080-BECA-4ED0-6787-EAC4BDE8F31B}"/>
              </a:ext>
            </a:extLst>
          </p:cNvPr>
          <p:cNvSpPr txBox="1"/>
          <p:nvPr/>
        </p:nvSpPr>
        <p:spPr>
          <a:xfrm>
            <a:off x="2452581" y="772625"/>
            <a:ext cx="19641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Pregnancy Information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Gestational Age: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Pregnancy Type:  &lt;&lt;Pregnancy Type&gt;&gt;</a:t>
            </a:r>
          </a:p>
          <a:p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Doctor Information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Physician: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Hospital/Clinic: &lt;&lt;Hospital&gt;&gt;</a:t>
            </a:r>
          </a:p>
          <a:p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9D795F-AC3A-78CE-8B33-300E1F29EC0F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DCR No.: 3382</a:t>
            </a:r>
          </a:p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QR G1.1-6-1-d</a:t>
            </a:r>
            <a:endParaRPr lang="en-ID" sz="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D0B603-A52C-1368-FBC0-FA017871DBF6}"/>
              </a:ext>
            </a:extLst>
          </p:cNvPr>
          <p:cNvSpPr txBox="1"/>
          <p:nvPr/>
        </p:nvSpPr>
        <p:spPr>
          <a:xfrm>
            <a:off x="434824" y="772625"/>
            <a:ext cx="195639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Patient Information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Lab ID: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Patient Name: &lt;&lt;Patient Name&gt;&gt;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Date of Birth: &lt;&lt;DOB&gt;&gt; (&lt;&lt;A&gt;&gt;)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Maternal Weight/Height: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Indication: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&lt;&lt;Indication&gt;&gt;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B7896A-4FD5-9ECE-C15B-867424E51E83}"/>
              </a:ext>
            </a:extLst>
          </p:cNvPr>
          <p:cNvSpPr txBox="1"/>
          <p:nvPr/>
        </p:nvSpPr>
        <p:spPr>
          <a:xfrm>
            <a:off x="427072" y="2002805"/>
            <a:ext cx="59961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Microdeletions/duplications syndromes</a:t>
            </a:r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4340E7-B558-482F-8301-B369CE3C8736}"/>
              </a:ext>
            </a:extLst>
          </p:cNvPr>
          <p:cNvSpPr txBox="1"/>
          <p:nvPr/>
        </p:nvSpPr>
        <p:spPr>
          <a:xfrm>
            <a:off x="430623" y="1759833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APPENDIX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447A8C9-AC21-C3EC-3675-AAD78F2CEA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710805"/>
              </p:ext>
            </p:extLst>
          </p:nvPr>
        </p:nvGraphicFramePr>
        <p:xfrm>
          <a:off x="427072" y="2224493"/>
          <a:ext cx="5996104" cy="8438946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499026">
                  <a:extLst>
                    <a:ext uri="{9D8B030D-6E8A-4147-A177-3AD203B41FA5}">
                      <a16:colId xmlns:a16="http://schemas.microsoft.com/office/drawing/2014/main" val="2337673480"/>
                    </a:ext>
                  </a:extLst>
                </a:gridCol>
                <a:gridCol w="1499026">
                  <a:extLst>
                    <a:ext uri="{9D8B030D-6E8A-4147-A177-3AD203B41FA5}">
                      <a16:colId xmlns:a16="http://schemas.microsoft.com/office/drawing/2014/main" val="2581359693"/>
                    </a:ext>
                  </a:extLst>
                </a:gridCol>
                <a:gridCol w="1499026">
                  <a:extLst>
                    <a:ext uri="{9D8B030D-6E8A-4147-A177-3AD203B41FA5}">
                      <a16:colId xmlns:a16="http://schemas.microsoft.com/office/drawing/2014/main" val="3877669906"/>
                    </a:ext>
                  </a:extLst>
                </a:gridCol>
                <a:gridCol w="1499026">
                  <a:extLst>
                    <a:ext uri="{9D8B030D-6E8A-4147-A177-3AD203B41FA5}">
                      <a16:colId xmlns:a16="http://schemas.microsoft.com/office/drawing/2014/main" val="1755932021"/>
                    </a:ext>
                  </a:extLst>
                </a:gridCol>
              </a:tblGrid>
              <a:tr h="212306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Condition</a:t>
                      </a:r>
                    </a:p>
                  </a:txBody>
                  <a:tcPr>
                    <a:lnL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Result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Condition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Result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89798"/>
                  </a:ext>
                </a:extLst>
              </a:tr>
              <a:tr h="19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1p36 terminal region (includes GABRD) gain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&lt;&lt;1p36 terminal region (includes GABRD) gain&gt;&gt;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trisomy 5p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trisomy 5p&gt;&gt;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5400" cmpd="sng">
                      <a:noFill/>
                    </a:lnT>
                    <a:solidFill>
                      <a:srgbClr val="E6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375672"/>
                  </a:ext>
                </a:extLst>
              </a:tr>
              <a:tr h="19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1q21.1 recurrent region (distal, BP3-BP4) (includes GJA5) gain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&lt;&lt;1q21.1 recurrent region (distal, BP3-BP4) (includes GJA5) gain&gt;&gt;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monosomy 5q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monosomy 5q&gt;&gt;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87788622"/>
                  </a:ext>
                </a:extLst>
              </a:tr>
              <a:tr h="19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1q21.1 recurrent region (distal, BP3-BP4) (includes GJA5) loss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&lt;&lt;1q21.1 recurrent region (distal, BP3-BP4) (includes GJA5) loss&gt;&gt;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trisomy 5q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trisomy 5q&gt;&gt;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6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794827"/>
                  </a:ext>
                </a:extLst>
              </a:tr>
              <a:tr h="19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1q43q44 terminal region (includes AKT3)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&lt;&lt;1q43q44 terminal region (includes AKT3)&gt;&gt;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6q24 region (includes PLAGL1)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&lt;&lt;6q24 region (includes PLAGL1)&gt;&gt;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04084517"/>
                  </a:ext>
                </a:extLst>
              </a:tr>
              <a:tr h="19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monosomy 1p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monosomy 1p&gt;&gt;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trisomy 6p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trisomy 6p&gt;&gt;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6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815925"/>
                  </a:ext>
                </a:extLst>
              </a:tr>
              <a:tr h="19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Monosomy 1q21-q32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&lt;&lt;Monosomy 1q21-q32&gt;&gt;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monosomy 6q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monosomy 6q&gt;&gt;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828381455"/>
                  </a:ext>
                </a:extLst>
              </a:tr>
              <a:tr h="19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Monosomy 1q42-qter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&lt;&lt;Monosomy 1q42-qter&gt;&gt;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trisomy 6q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trisomy 6q&gt;&gt;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6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371862"/>
                  </a:ext>
                </a:extLst>
              </a:tr>
              <a:tr h="19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Trisomy 1q23-qter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&lt;&lt;Trisomy 1q23-qter&gt;&gt;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7p22.1 region (includes ACTB)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&lt;&lt;7p22.1 region (includes ACTB)&gt;&gt;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18104625"/>
                  </a:ext>
                </a:extLst>
              </a:tr>
              <a:tr h="19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2p15p16.1 region (includes BCL11A)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&lt;&lt;2p15p16.1 region (includes BCL11A)&gt;&gt;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7q11.23 recurrent (Williams-Beuren syndrome) region (includes ELN) gain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&lt;&lt;7q11.23 recurrent (Williams-Beuren syndrome) region (includes ELN) gain&gt;&gt;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6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231018"/>
                  </a:ext>
                </a:extLst>
              </a:tr>
              <a:tr h="19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2p24.3 MYCN-DDX1 duplication region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&lt;&lt;2p24.3 MYCN-DDX1 duplication region&gt;&gt;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7q11.23 recurrent distal region (includes HIP1, YWHAG)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&lt;&lt;7q11.23 recurrent distal region (includes HIP1, YWHAG)&gt;&gt;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71089960"/>
                  </a:ext>
                </a:extLst>
              </a:tr>
              <a:tr h="19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2q11.2 recurrent region (includes ARID5A, TMEM127)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&lt;&lt;2q11.2 recurrent region (includes ARID5A, TMEM127)&gt;&gt;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7q36.3 ZRS (SHH cis-regulatory) duplication region (within LMBR1 intron 5)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&lt;&lt;7q36.3 ZRS (SHH cis-regulatory) duplication region (within LMBR1 intron 5)&gt;&gt;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6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609756"/>
                  </a:ext>
                </a:extLst>
              </a:tr>
              <a:tr h="19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2q13 recurrent region (distal) (includes BCL2L11) gain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&lt;&lt;2q13 recurrent region (distal) (includes BCL2L11) gain&gt;&gt;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monosomy 7p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monosomy 7p&gt;&gt;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006001716"/>
                  </a:ext>
                </a:extLst>
              </a:tr>
              <a:tr h="19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2q13 recurrent region (distal) (includes BCL2L11) loss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&lt;&lt;2q13 recurrent region (distal) (includes BCL2L11) loss&gt;&gt;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trisomy 7p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trisomy 7p&gt;&gt;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6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84205"/>
                  </a:ext>
                </a:extLst>
              </a:tr>
              <a:tr h="19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monosomy 2p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monosomy 2p&gt;&gt;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monosomy 7q32-qter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&lt;&lt;monosomy 7q32-qter&gt;&gt;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222232125"/>
                  </a:ext>
                </a:extLst>
              </a:tr>
              <a:tr h="19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trisomy 2p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trisomy 2p&gt;&gt;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Trisomy 7q21-q31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&lt;&lt;Trisomy 7q21-q31&gt;&gt;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6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15"/>
                  </a:ext>
                </a:extLst>
              </a:tr>
              <a:tr h="19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monosomy 2q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monosomy 2q&gt;&gt;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Trisomy 7q32-qter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&lt;&lt;Trisomy 7q32-qter&gt;&gt;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228727006"/>
                  </a:ext>
                </a:extLst>
              </a:tr>
              <a:tr h="19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trisomy 2q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trisomy 2q&gt;&gt;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8p23.1 recurrent region (includes GATA4) gain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&lt;&lt;8p23.1 recurrent region (includes GATA4) gain&gt;&gt;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6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126958"/>
                  </a:ext>
                </a:extLst>
              </a:tr>
              <a:tr h="19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3q24 Region (includes ZIC1)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&lt;&lt;3q24 Region (includes ZIC1)&gt;&gt;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8p23.1 recurrent region (includes GATA4) loss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&lt;&lt;8p23.1 recurrent region (includes GATA4) loss&gt;&gt;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628920137"/>
                  </a:ext>
                </a:extLst>
              </a:tr>
              <a:tr h="19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3q29 recurrent region (includes DLG1)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&lt;&lt;3q29 recurrent region (includes DLG1)&gt;&gt;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trisomy 8q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trisomy 8q&gt;&gt;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6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144175"/>
                  </a:ext>
                </a:extLst>
              </a:tr>
              <a:tr h="19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Monosomy 3p11-p21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&lt;&lt;Monosomy 3p11-p21&gt;&gt;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monosomy 9p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monosomy 9p&gt;&gt;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66142583"/>
                  </a:ext>
                </a:extLst>
              </a:tr>
              <a:tr h="19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Monosomy 3p25-pter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&lt;&lt;Monosomy 3p25-pter&gt;&gt;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trisomy 9p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trisomy 9p&gt;&gt;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6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7646"/>
                  </a:ext>
                </a:extLst>
              </a:tr>
              <a:tr h="19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trisomy 3p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trisomy 3p&gt;&gt;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monosomy 9q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monosomy 9q&gt;&gt;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97329918"/>
                  </a:ext>
                </a:extLst>
              </a:tr>
              <a:tr h="19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monosomy 3q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monosomy 3q&gt;&gt;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trisomy 9q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trisomy 9q&gt;&gt;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6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364660"/>
                  </a:ext>
                </a:extLst>
              </a:tr>
              <a:tr h="19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trisomy 3q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trisomy 3q&gt;&gt;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10q22.3q23.2 recurrent region (includes BMPR1A)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&lt;&lt;10q22.3q23.2 recurrent region (includes BMPR1A)&gt;&gt;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11574338"/>
                  </a:ext>
                </a:extLst>
              </a:tr>
              <a:tr h="19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monosomy 3p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monosomy 3p&gt;&gt;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monosomy 10p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monosomy 10p&gt;&gt;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6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994337"/>
                  </a:ext>
                </a:extLst>
              </a:tr>
              <a:tr h="19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4p16.3 terminal (Wolf-Hirschhorn syndrome) region gain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&lt;&lt;4p16.3 terminal (Wolf-Hirschhorn syndrome) region gain&gt;&gt;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trisomy 10p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trisomy 10p&gt;&gt;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71362111"/>
                  </a:ext>
                </a:extLst>
              </a:tr>
              <a:tr h="19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monosomy 4p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monosomy 4p&gt;&gt;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monosomy 10q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monosomy 10q&gt;&gt;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6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372303"/>
                  </a:ext>
                </a:extLst>
              </a:tr>
              <a:tr h="19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trisomy 4p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trisomy 4p&gt;&gt;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trisomy 10q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trisomy 10q&gt;&gt;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20167396"/>
                  </a:ext>
                </a:extLst>
              </a:tr>
              <a:tr h="19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Monosomy 4q21-q31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&lt;&lt;Monosomy 4q21-q31&gt;&gt;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11p11.2 (Potocki-Shaffer syndrome) region (includes ALX4, EXT2)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&lt;&lt;11p11.2 (Potocki-Shaffer syndrome) region (includes ALX4, EXT2)&gt;&gt;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6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068396"/>
                  </a:ext>
                </a:extLst>
              </a:tr>
              <a:tr h="19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Monosomy 4q31-qter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&lt;&lt;Monosomy 4q31-qter&gt;&gt;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11p13 (WAGR syndrome) region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&lt;&lt;11p13 (WAGR syndrome) region&gt;&gt;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595716559"/>
                  </a:ext>
                </a:extLst>
              </a:tr>
              <a:tr h="19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trisomy 4q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trisomy 4q&gt;&gt;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11q13.2q13.4 recurrent region (includes SHANK2, FGFs)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&lt;&lt;11q13.2q13.4 recurrent region (includes SHANK2, FGFs)&gt;&gt;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6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065329"/>
                  </a:ext>
                </a:extLst>
              </a:tr>
              <a:tr h="19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monosomy 4p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monosomy 4p&gt;&gt;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trisomy 11p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trisomy 11p&gt;&gt;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00828428"/>
                  </a:ext>
                </a:extLst>
              </a:tr>
              <a:tr h="19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5p15 terminal (Cri du chat syndrome) region gain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&lt;&lt;5p15 terminal (Cri du chat syndrome) region gain&gt;&gt;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monosomy 11q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monosomy 11q&gt;&gt;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>
                      <a:noFill/>
                    </a:lnB>
                    <a:solidFill>
                      <a:srgbClr val="E6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1148163"/>
                  </a:ext>
                </a:extLst>
              </a:tr>
              <a:tr h="19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5q35 recurrent (Sotos syndrome) region (includes NSD1) gain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&lt;&lt;5q35 recurrent (Sotos syndrome) region (includes NSD1) gain&gt;&gt;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trisomy 11q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trisomy 11q&gt;&gt;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05158876"/>
                  </a:ext>
                </a:extLst>
              </a:tr>
              <a:tr h="19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5q35 recurrent (Sotos syndrome) region (includes NSD1) loss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&lt;&lt;5q35 recurrent (Sotos syndrome) region (includes NSD1) loss&gt;&gt;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monosomy 12p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monosomy 12p&gt;&gt;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455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7531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7754FAC-03F1-BCC7-92A9-9BBA783CFE39}"/>
              </a:ext>
            </a:extLst>
          </p:cNvPr>
          <p:cNvSpPr txBox="1"/>
          <p:nvPr/>
        </p:nvSpPr>
        <p:spPr>
          <a:xfrm>
            <a:off x="5770169" y="9510229"/>
            <a:ext cx="6607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Page 2 of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66F174-09D0-F6D5-993E-D54D9AC3CAC0}"/>
              </a:ext>
            </a:extLst>
          </p:cNvPr>
          <p:cNvSpPr/>
          <p:nvPr/>
        </p:nvSpPr>
        <p:spPr>
          <a:xfrm>
            <a:off x="446345" y="9243237"/>
            <a:ext cx="5252706" cy="481157"/>
          </a:xfrm>
          <a:prstGeom prst="rect">
            <a:avLst/>
          </a:prstGeom>
          <a:solidFill>
            <a:srgbClr val="00A6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8201BB-400A-5459-CAF8-270EE4D699CB}"/>
              </a:ext>
            </a:extLst>
          </p:cNvPr>
          <p:cNvSpPr txBox="1"/>
          <p:nvPr/>
        </p:nvSpPr>
        <p:spPr>
          <a:xfrm>
            <a:off x="398720" y="9214510"/>
            <a:ext cx="27221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Group Ltd.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6446D6-2F7A-3F6C-48EA-C2106B038029}"/>
              </a:ext>
            </a:extLst>
          </p:cNvPr>
          <p:cNvSpPr txBox="1"/>
          <p:nvPr/>
        </p:nvSpPr>
        <p:spPr>
          <a:xfrm>
            <a:off x="2557354" y="9214885"/>
            <a:ext cx="324337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Laboratory: PT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Persada</a:t>
            </a:r>
            <a:endParaRPr lang="en-US" sz="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Jl.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Bungur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Besar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Raya No. 23,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Gunung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Sahari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Selatan</a:t>
            </a:r>
          </a:p>
          <a:p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Kemayoran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Jakarta Pusat</a:t>
            </a: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Phone: 62-21-8086-4674    Email: info@id.cordlife.com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63D355-13CE-650E-017F-7B7CA8214976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3D65BD-8205-410F-6EAD-92C942E260E3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072F90-3196-2A37-F307-8B4B8FC29D97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E55613-D86F-9231-8EE8-BAA21CE9A001}"/>
              </a:ext>
            </a:extLst>
          </p:cNvPr>
          <p:cNvSpPr txBox="1"/>
          <p:nvPr/>
        </p:nvSpPr>
        <p:spPr>
          <a:xfrm>
            <a:off x="4466785" y="766381"/>
            <a:ext cx="1956391" cy="738664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Test Information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Sample Type: Blood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Collection Date: &lt;&lt;Collection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Receipt Date: &lt;&lt;Receipt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Report Date: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Test Requested: &lt;&lt;Test Requested&gt;&gt;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B6D607-3870-949B-A61F-B1F4BF950F04}"/>
              </a:ext>
            </a:extLst>
          </p:cNvPr>
          <p:cNvSpPr txBox="1"/>
          <p:nvPr/>
        </p:nvSpPr>
        <p:spPr>
          <a:xfrm>
            <a:off x="2452581" y="772625"/>
            <a:ext cx="19641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Pregnancy Information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Gestational Age: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Pregnancy Type:  &lt;&lt;Pregnancy Type&gt;&gt;</a:t>
            </a:r>
          </a:p>
          <a:p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Doctor Information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Physician: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Hospital/Clinic: &lt;&lt;Hospital&gt;&gt;</a:t>
            </a:r>
          </a:p>
          <a:p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196080-12E9-E07A-8AFB-7F64DCD6E9DF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DCR No.: 3382</a:t>
            </a:r>
          </a:p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QR G1.1-6-1-d</a:t>
            </a:r>
            <a:endParaRPr lang="en-ID" sz="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11FF6-89AA-B6F7-268F-DD5A0C8EB62A}"/>
              </a:ext>
            </a:extLst>
          </p:cNvPr>
          <p:cNvSpPr txBox="1"/>
          <p:nvPr/>
        </p:nvSpPr>
        <p:spPr>
          <a:xfrm>
            <a:off x="434824" y="772625"/>
            <a:ext cx="195639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Patient Information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Lab ID: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Patient Name: &lt;&lt;Patient Name&gt;&gt;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Date of Birth: &lt;&lt;DOB&gt;&gt; (&lt;&lt;A&gt;&gt;)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Maternal Weight/Height: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Indication: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&lt;&lt;Indication&gt;&gt;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9BE66D-5B42-DDD8-D601-191C690EB95F}"/>
              </a:ext>
            </a:extLst>
          </p:cNvPr>
          <p:cNvSpPr txBox="1"/>
          <p:nvPr/>
        </p:nvSpPr>
        <p:spPr>
          <a:xfrm>
            <a:off x="427072" y="2002805"/>
            <a:ext cx="59961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Microdeletions/duplications syndromes</a:t>
            </a:r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C1BEB1-CE92-E3E9-CF86-6162FF7BD310}"/>
              </a:ext>
            </a:extLst>
          </p:cNvPr>
          <p:cNvSpPr txBox="1"/>
          <p:nvPr/>
        </p:nvSpPr>
        <p:spPr>
          <a:xfrm>
            <a:off x="430623" y="1759833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APPENDIX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0DE4937-FFEC-4A90-E553-56D74E7436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290817"/>
              </p:ext>
            </p:extLst>
          </p:nvPr>
        </p:nvGraphicFramePr>
        <p:xfrm>
          <a:off x="427072" y="2224494"/>
          <a:ext cx="5996104" cy="10208509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499026">
                  <a:extLst>
                    <a:ext uri="{9D8B030D-6E8A-4147-A177-3AD203B41FA5}">
                      <a16:colId xmlns:a16="http://schemas.microsoft.com/office/drawing/2014/main" val="2337673480"/>
                    </a:ext>
                  </a:extLst>
                </a:gridCol>
                <a:gridCol w="1499026">
                  <a:extLst>
                    <a:ext uri="{9D8B030D-6E8A-4147-A177-3AD203B41FA5}">
                      <a16:colId xmlns:a16="http://schemas.microsoft.com/office/drawing/2014/main" val="2581359693"/>
                    </a:ext>
                  </a:extLst>
                </a:gridCol>
                <a:gridCol w="1499026">
                  <a:extLst>
                    <a:ext uri="{9D8B030D-6E8A-4147-A177-3AD203B41FA5}">
                      <a16:colId xmlns:a16="http://schemas.microsoft.com/office/drawing/2014/main" val="3877669906"/>
                    </a:ext>
                  </a:extLst>
                </a:gridCol>
                <a:gridCol w="1499026">
                  <a:extLst>
                    <a:ext uri="{9D8B030D-6E8A-4147-A177-3AD203B41FA5}">
                      <a16:colId xmlns:a16="http://schemas.microsoft.com/office/drawing/2014/main" val="1755932021"/>
                    </a:ext>
                  </a:extLst>
                </a:gridCol>
              </a:tblGrid>
              <a:tr h="214411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Condition</a:t>
                      </a:r>
                    </a:p>
                  </a:txBody>
                  <a:tcPr>
                    <a:lnL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Result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Condition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Result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89798"/>
                  </a:ext>
                </a:extLst>
              </a:tr>
              <a:tr h="1874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12p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trisomy 12p&gt;&gt;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17q11.2 recurrent region (includes NF1) gain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&lt;&lt;17q11.2 recurrent region (includes NF1) gain&gt;&gt;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5400" cmpd="sng">
                      <a:noFill/>
                    </a:lnT>
                    <a:solidFill>
                      <a:srgbClr val="E6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375672"/>
                  </a:ext>
                </a:extLst>
              </a:tr>
              <a:tr h="1874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12q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trisomy 12q&gt;&gt;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17q11.2 recurrent region (includes NF1) loss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&lt;&lt;17q11.2 recurrent region (includes NF1) loss&gt;&gt;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87788622"/>
                  </a:ext>
                </a:extLst>
              </a:tr>
              <a:tr h="1874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Monosomy 13q14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&lt;&lt;Monosomy 13q14&gt;&gt;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17q12 recurrent (RCAD syndrome) region (includes HNF1B) gain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&lt;&lt;17q12 recurrent (RCAD syndrome) region (includes HNF1B) gain&gt;&gt;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6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794827"/>
                  </a:ext>
                </a:extLst>
              </a:tr>
              <a:tr h="1874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Monosomy 13q21-qter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&lt;&lt;Monosomy 13q21-qter&gt;&gt;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17q12 recurrent (RCAD syndrome) region (includes HNF1B) loss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&lt;&lt;17q12 recurrent (RCAD syndrome) region (includes HNF1B) loss&gt;&gt;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04084517"/>
                  </a:ext>
                </a:extLst>
              </a:tr>
              <a:tr h="1874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Trisomy 13cen-q14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&lt;&lt;Trisomy 13cen-q14&gt;&gt;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17q21.31 recurrent (KdVS) region (includes KANSL1)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&lt;&lt;17q21.31 recurrent (</a:t>
                      </a:r>
                      <a:r>
                        <a:rPr lang="en-US" sz="600" b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KdVS</a:t>
                      </a:r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 region (includes KANSL1)&gt;&gt;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6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815925"/>
                  </a:ext>
                </a:extLst>
              </a:tr>
              <a:tr h="1874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Trisomy 13q21-qter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&lt;&lt;Trisomy 13q21-qter&gt;&gt;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17q23.1q23.2 recurrent region (includes TBX2, TBX4) gain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&lt;&lt;17q23.1q23.2 recurrent region (includes TBX2, TBX4) gain&gt;&gt;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828381455"/>
                  </a:ext>
                </a:extLst>
              </a:tr>
              <a:tr h="1874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14q11.2 region including CHD8 and SUPT16H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&lt;&lt;14q11.2 region including CHD8 and SUPT16H&gt;&gt;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17q23.1q23.2 recurrent region (includes TBX2, TBX4) loss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&lt;&lt;17q23.1q23.2 recurrent region (includes TBX2, TBX4) loss&gt;&gt;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6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371862"/>
                  </a:ext>
                </a:extLst>
              </a:tr>
              <a:tr h="1874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DLK1-MEG3 Intergenic Region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&lt;&lt;DLK1-MEG3 Intergenic Region&gt;&gt;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SOX9 upstream enhancer region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&lt;&lt;SOX9 upstream enhancer region&gt;&gt;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18104625"/>
                  </a:ext>
                </a:extLst>
              </a:tr>
              <a:tr h="1874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14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trisomy 14&gt;&gt;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Trisomy 17pter-q21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&lt;&lt;Trisomy 17pter-q21&gt;&gt;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6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231018"/>
                  </a:ext>
                </a:extLst>
              </a:tr>
              <a:tr h="1874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Trisomy 14q24-qter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&lt;&lt;Trisomy 14q24-qter&gt;&gt;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monosomy 18p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monosomy 18p&gt;&gt;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71089960"/>
                  </a:ext>
                </a:extLst>
              </a:tr>
              <a:tr h="1874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15q11.2q13 recurrent (PWS/AS) region (Class I, BP1-BP3 and Class II, BP2-BP3) gain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&lt;&lt;15q11.2q13 recurrent (PWS/AS) region (Class I, BP1-BP3 and Class II, BP2-BP3) gain&gt;&gt;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tetrasomy 18p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tetrasomy 18p&gt;&gt;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6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609756"/>
                  </a:ext>
                </a:extLst>
              </a:tr>
              <a:tr h="1874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15q13.3 recurrent region (BP4-BP5) (includes CHRNA7)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&lt;&lt;15q13.3 recurrent region (BP4-BP5) (includes CHRNA7)&gt;&gt;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Trisomy 18pter-q12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&lt;&lt;Trisomy 18pter-q12&gt;&gt;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006001716"/>
                  </a:ext>
                </a:extLst>
              </a:tr>
              <a:tr h="1874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15q13.3 recurrent region (D-CHRNA7 to BP5) (includes CHRNA7, OTUD7A)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&lt;&lt;15q13.3 recurrent region (D-CHRNA7 to BP5) (includes CHRNA7, OTUD7A)&gt;&gt;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Monosomy 18q21-qter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&lt;&lt;Monosomy 18q21-qter&gt;&gt;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6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84205"/>
                  </a:ext>
                </a:extLst>
              </a:tr>
              <a:tr h="1874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15q24 recurrent region (LCR A-LCR C)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&lt;&lt;15q24 recurrent region (LCR A-LCR C)&gt;&gt;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Trisomy 18q12-qter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&lt;&lt;Trisomy 18q12-qter&gt;&gt;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222232125"/>
                  </a:ext>
                </a:extLst>
              </a:tr>
              <a:tr h="1874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15q24 recurrent region (LCR A-LCR D) (includes SIN3A)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&lt;&lt;15q24 recurrent region (LCR A-LCR D) (includes SIN3A)&gt;&gt;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monosomy 20p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monosomy 20p&gt;&gt;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6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15"/>
                  </a:ext>
                </a:extLst>
              </a:tr>
              <a:tr h="1874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15q24 recurrent region (LCR C-LCR D) (includes SIN3A) 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&lt;&lt;15q24 recurrent region (LCR C-LCR D) (includes SIN3A) 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Trisomy 20p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&lt;&lt;Trisomy 20p&gt;&gt;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228727006"/>
                  </a:ext>
                </a:extLst>
              </a:tr>
              <a:tr h="1874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15q25.2 recurrent region (proximal, LCR-A/B-C) (includes RPS17)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&lt;&lt;15q25.2 recurrent region (proximal, LCR-A/B-C) (includes RPS17)&gt;&gt;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monosomy 21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monosomy 21&gt;&gt;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6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126958"/>
                  </a:ext>
                </a:extLst>
              </a:tr>
              <a:tr h="1874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Supernumerary inv dup (15)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&lt;&lt;Supernumerary inv dup (15)&gt;&gt;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22q11.2 recurrent (DGS) region (proximal, A-B, A-C, or A-D) (includes TBX1) gain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&lt;&lt;22q11.2 recurrent (DGS) region (proximal, A-B, A-C, or A-D) (includes TBX1) gain&gt;&gt;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628920137"/>
                  </a:ext>
                </a:extLst>
              </a:tr>
              <a:tr h="1874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Trisomy 15q22-qter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&lt;&lt;Trisomy 15q22-qter&gt;&gt;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22q11.2 recurrent region (central, B-D or C-D) (includes CRKL)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&lt;&lt;22q11.2 recurrent region (central, B-D or C-D) (includes CRKL)&gt;&gt;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6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144175"/>
                  </a:ext>
                </a:extLst>
              </a:tr>
              <a:tr h="1874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16p11.2 recurrent region (distal, BP2-BP3) (includes SH2B1)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&lt;&lt;16p11.2 recurrent region (distal, BP2-BP3) (includes SH2B1)&gt;&gt;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22q11.2 recurrent region (distal type I, D-E or D-F)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&lt;&lt;22q11.2 recurrent region (distal type I, D-E or D-F)&gt;&gt;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66142583"/>
                  </a:ext>
                </a:extLst>
              </a:tr>
              <a:tr h="1874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16p11.2 recurrent region (proximal, BP4-BP5) (includes TBX6) gain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&lt;&lt;16p11.2 recurrent region (proximal, BP4-BP5) (includes TBX6) gain&gt;&gt;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22q11.2 recurrent region (distal type III, D-G, D-H) (includes SMARCB1)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&lt;&lt;22q11.2 recurrent region (distal type III, D-G, D-H) (includes SMARCB1)&gt;&gt;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6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37646"/>
                  </a:ext>
                </a:extLst>
              </a:tr>
              <a:tr h="1874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16p11.2 recurrent region (proximal, BP4-BP5) (includes TBX6) loss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&lt;&lt;16p11.2 recurrent region (proximal, BP4-BP5) (includes TBX6) loss&gt;&gt;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22q11.2 recurrent region (distal type III, E-H or F-H) (includes SMARCB1)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&lt;&lt;22q11.2 recurrent region (distal type III, E-H or F-H) (includes SMARCB1)&gt;&gt;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97329918"/>
                  </a:ext>
                </a:extLst>
              </a:tr>
              <a:tr h="1874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16p12.2 recurrent region (proximal) (includes EEF2K, CDR2)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&lt;&lt;16p12.2 recurrent region (proximal) (includes EEF2K, CDR2)&gt;&gt;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22q11.2 recurrent region (distal type III, F-G) (includes SMARCB1)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&lt;&lt;22q11.2 recurrent region (distal type III, F-G) (includes SMARCB1)&gt;&gt;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6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364660"/>
                  </a:ext>
                </a:extLst>
              </a:tr>
              <a:tr h="1874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16p13.11 recurrent region (BP1-BP3, BP2-BP3, or BP2-BP4) (includes MYH11) gain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&lt;&lt;16p13.11 recurrent region (BP1-BP3, BP2-BP3, or BP2-BP4) (includes MYH11) gain&gt;&gt;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22q11.21 recurrent (CES) region (includes CECR2)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&lt;&lt;22q11.21 recurrent (CES) region (includes CECR2)&gt;&gt;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11574338"/>
                  </a:ext>
                </a:extLst>
              </a:tr>
              <a:tr h="1874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16p13.11 recurrent region (BP1-BP3, BP2-BP3, or BP2-BP4) (includes MYH11) loss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&lt;&lt;16p13.11 recurrent region (BP1-BP3, BP2-BP3, or BP2-BP4) (includes MYH11) loss&gt;&gt;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Xp22.31 recurrent region (includes STS)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&lt;&lt;Xp22.31 recurrent region (includes STS)&gt;&gt;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6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994337"/>
                  </a:ext>
                </a:extLst>
              </a:tr>
              <a:tr h="1874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16p13.3 region (includes CREBBP)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&lt;&lt;16p13.3 region (includes CREBBP)&gt;&gt;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Xp21.2 region (includes NR0B1)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&lt;&lt;Xp21.2 region (includes NR0B1)&gt;&gt;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71362111"/>
                  </a:ext>
                </a:extLst>
              </a:tr>
              <a:tr h="1874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16p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trisomy 16p&gt;&gt;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Xp11.23 region (includes MAOA and MAOB)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&lt;&lt;Xp11.23 region (includes MAOA and MAOB)&gt;&gt;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6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372303"/>
                  </a:ext>
                </a:extLst>
              </a:tr>
              <a:tr h="1874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monosomy 16q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monosomy 16q&gt;&gt;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Xp11.22p11.23 recurrent region (includes SHROOM4)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&lt;&lt;Xp11.22p11.23 recurrent region (includes SHROOM4)&gt;&gt;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20167396"/>
                  </a:ext>
                </a:extLst>
              </a:tr>
              <a:tr h="1874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Partial trisomy 16q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&lt;&lt;Partial trisomy 16q&gt;&gt;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Xp11.22 region (includes HUWE1)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&lt;&lt;Xp11.22 region (includes HUWE1)&gt;&gt;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6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068396"/>
                  </a:ext>
                </a:extLst>
              </a:tr>
              <a:tr h="1874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17p11.2 recurrent (SMS/PLS) region (includes RAI1) gain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&lt;&lt;17p11.2 recurrent (SMS/PLS) region (includes RAI1) gain&gt;&gt;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Xq25 region (includes STAG2) gain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&lt;&lt;Xq25 region (includes STAG2) gain&gt;&gt;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595716559"/>
                  </a:ext>
                </a:extLst>
              </a:tr>
              <a:tr h="1874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17p11.2 recurrent (SMS/PLS) region (includes RAI1) loss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&lt;&lt;17p11.2 recurrent (SMS/PLS) region (includes RAI1) loss&gt;&gt;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Xq25 region (includes STAG2) loss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&lt;&lt;Xq25 region (includes STAG2) loss&gt;&gt;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6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065329"/>
                  </a:ext>
                </a:extLst>
              </a:tr>
              <a:tr h="1874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17p12 recurrent (HNPP/CMT1A) region (includes PMP22) gain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&lt;&lt;17p12 recurrent (HNPP/CMT1A) region (includes PMP22) gain&gt;&gt;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Xq28 recurrent region (includes GDI1)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&lt;&lt;Xq28 recurrent region (includes GDI1)&gt;&gt;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00828428"/>
                  </a:ext>
                </a:extLst>
              </a:tr>
              <a:tr h="1874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17p12 recurrent (HNPP/CMT1A) region (includes PMP22) loss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&lt;&lt;17p12 recurrent (HNPP/CMT1A) region (includes PMP22) loss&gt;&gt;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Xq28 recurrent region (int22h1/int22h2-flanked) (includes RAB39B) gain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&lt;&lt;Xq28 recurrent region (int22h1/int22h2-flanked) (includes RAB39B) gain&gt;&gt;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>
                      <a:noFill/>
                    </a:lnB>
                    <a:solidFill>
                      <a:srgbClr val="E6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1148163"/>
                  </a:ext>
                </a:extLst>
              </a:tr>
              <a:tr h="1874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17p13.3 (Miller-Dieker syndrome) region (includes YWHAE and PAFAH1B1) gain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&lt;&lt;17p13.3 (Miller-Dieker syndrome) region (includes YWHAE and PAFAH1B1) gain&gt;&gt;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Xq28 recurrent region (int22h1/int22h2-flanked) (includes RAB39B) loss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&lt;&lt;Xq28 recurrent region (int22h1/int22h2-flanked) (includes RAB39B) loss&gt;&gt;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05158876"/>
                  </a:ext>
                </a:extLst>
              </a:tr>
              <a:tr h="1874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17p13.3 (Miller-Dieker syndrome) region (includes YWHAE and PAFAH1B1) loss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&lt;&lt;17p13.3 (Miller-Dieker syndrome) region (includes YWHAE and PAFAH1B1) loss&gt;&gt;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Xq28 region (includes MECP2) gain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6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Xq28 region (includes MECP2) gain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603396"/>
                  </a:ext>
                </a:extLst>
              </a:tr>
              <a:tr h="1874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Xq28 region (includes MECP2) loss</a:t>
                      </a:r>
                    </a:p>
                  </a:txBody>
                  <a:tcPr marL="9525" marR="9525" marT="9525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Xq28 region (includes MECP2) loss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9123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7612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13166</TotalTime>
  <Words>2498</Words>
  <Application>Microsoft Macintosh PowerPoint</Application>
  <PresentationFormat>A4 Paper (210x297 mm)</PresentationFormat>
  <Paragraphs>352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Dwi</dc:creator>
  <cp:lastModifiedBy>sam martin</cp:lastModifiedBy>
  <cp:revision>131</cp:revision>
  <dcterms:created xsi:type="dcterms:W3CDTF">2024-06-13T04:30:46Z</dcterms:created>
  <dcterms:modified xsi:type="dcterms:W3CDTF">2025-12-12T02:48:51Z</dcterms:modified>
</cp:coreProperties>
</file>